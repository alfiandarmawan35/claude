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dmin purchase" id="{ce80675a-b99c-33c3-b9c3-1ba33c050410}">
          <p14:sldIdLst>
            <p14:sldId id="259"/>
            <p14:sldId id="260"/>
            <p14:sldId id="261"/>
            <p14:sldId id="262"/>
          </p14:sldIdLst>
        </p14:section>
        <p14:section name="Approve PO" id="{accbaff2-0a82-13fa-2bd7-4dd465bd8df3}">
          <p14:sldIdLst>
            <p14:sldId id="263"/>
            <p14:sldId id="264"/>
          </p14:sldIdLst>
        </p14:section>
        <p14:section name="Referensi" id="{78805a83-32ae-e752-d355-e616ae851680}">
          <p14:sldIdLst>
            <p14:sldId id="265"/>
            <p14:sldId id="266"/>
          </p14:sldIdLst>
        </p14:section>
        <p14:section name="Default-1" id="{a4508879-e4d7-2b05-3d9f-03c453a3e255}">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ini untuk dua peran di web PID POS, menu Permintaan DC: admin purchase yang membuat Purchase Order (PO) per vendor dari sisa Purchase Request (PUR), dan Approve PO yang menyetujuinya level demi level sampai PO final di SAP.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dua peran. Admin purchase membuat PO per vendor dari sisa PUR dan memperbaiki PO yang ditolak. Approve PO memeriksa lalu menyetujui atau menolak PO per level. Keduanya bekerja di Permintaan DC, tab Giliran saya atau tab 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purchase membuat PO, bisa disimpan sebagai draft di web dulu (qty sudah dicadangkan), lalu diajukan sehingga masuk SAP sebagai Draft dan menunggu approval level 1 sampai level terakhir. Hanya persetujuan level terakhir yang membuat PO final. PO ditolak kembali ke admin purchase untuk diubah dan diajukan ulang; PO yang dibatalkan mengembalikan qty ke sisa PUR. PO final tidak bisa diubah atau dibatalkan dari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Permintaan DC, tab PO atau Giliran saya, lalu klik permintaan berstatus Buat PO atau PO ditolak. Panel Purchase Order langsung tampil: ringkasan qty PUR, yang sudah di-PO, dan sisanya; kartu PO per vendor; dan tombol + Buat PO. Tabel permintaan bisa dibuka lewat tombol Detail permintaan.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Klik + Buat PO; form selalu mulai kosong. Pilih vendor dari daftar SAP, satu PO untuk satu vendor. Isi barang dengan Salin dari PUR (semua barang yang masih bersisa, qty sama dengan sisa), Cari barang PUR untuk menambah satu per satu, atau Tempel dari Excel. Gunakan filter dek bila PO ingin dibuat per dek.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Periksa setiap baris: qty tidak boleh melebihi sisa, harga beli terisi dari PO final terakhir vendor itu dan bisa diubah, pajak bisa diubah per baris. Tambahkan catatan bila perlu dan periksa total di kiri bawah. Simpan draft hanya menyimpan di web dan mencadangkan qty; Ajukan approval mengirim PO ke SAP sebagai Draft dan menunggu Approve PO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 belum final, admin purchase yang mengelola PO. Mengubah PO yang menunggu approval membuat approval mulai lagi dari level 1. PO ditolak menampilkan alasan merah dan diperbaiki lewat Ubah &amp; ajukan ulang. PO final tidak bisa diubah atau dibatalkan dari web. Satu PUR boleh dipecah ke beberapa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Penyetuju membuka tab Giliran saya; permintaan berstatus Approval PO · Draft SAP sedang menunggu. Buka permintaannya, cari kartu PO yang menunggu approval di level Anda, lalu klik Lihat dan periksa vendor, harga, pajak, qty, dek, dan catatan pengiriman.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Klik Setujui untuk menaikkan PO ke level berikutnya. Di level terakhir, Draft SAP yang sama menjadi PO final dan nomor PO tampil di web. Untuk menolak, isi catatan alasannya lalu klik Tolak; Draft SAP dihapus dan admin purchase bisa mengubah lalu mengajukan ulang. Bila pembuatan PO di SAP gagal, klik Setujui lagi setelah penyebabnya diatasi.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galat yang paling sering muncul beserta penyebab dan cara mengatasinya.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Pertanyaan yang sering muncul dari admin purchase dan penyetuju 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Untuk belajar ulang, gunakan video tutorial Admin Purchase &amp; Approve 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AMPUL-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SI-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AMPUL">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1783080"/>
            <a:ext cx="7498080" cy="12344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Shape 0"/>
          <p:cNvSpPr/>
          <p:nvPr/>
        </p:nvSpPr>
        <p:spPr>
          <a:xfrm>
            <a:off x="612648" y="3127248"/>
            <a:ext cx="6766560" cy="0"/>
          </a:xfrm>
          <a:prstGeom prst="line">
            <a:avLst/>
          </a:prstGeom>
          <a:noFill/>
          <a:ln w="15875">
            <a:solidFill>
              <a:srgbClr val="FFFFFF"/>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SI">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12648" y="1783080"/>
            <a:ext cx="7498080" cy="1234440"/>
          </a:xfrm>
          <a:prstGeom prst="rect">
            <a:avLst/>
          </a:prstGeom>
          <a:noFill/>
          <a:ln/>
        </p:spPr>
        <p:txBody>
          <a:bodyPr wrap="square" lIns="0" tIns="0" rIns="0" bIns="0" rtlCol="0" anchor="b"/>
          <a:lstStyle/>
          <a:p>
            <a:pPr algn="l" indent="0" marL="0">
              <a:buNone/>
            </a:pPr>
            <a:r>
              <a:rPr lang="en-US" sz="4000" b="1" dirty="0">
                <a:solidFill>
                  <a:schemeClr val="bg1"/>
                </a:solidFill>
              </a:rPr>
              <a:t>Panduan Admin Purchase &amp; Approve PO</a:t>
            </a:r>
            <a:endParaRPr lang="en-US" sz="4000" dirty="0"/>
          </a:p>
        </p:txBody>
      </p:sp>
      <p:sp>
        <p:nvSpPr>
          <p:cNvPr id="3" name="Text 1"/>
          <p:cNvSpPr txBox="1"/>
          <p:nvPr/>
        </p:nvSpPr>
        <p:spPr>
          <a:xfrm>
            <a:off x="612648" y="3246120"/>
            <a:ext cx="6949440" cy="457200"/>
          </a:xfrm>
          <a:prstGeom prst="rect">
            <a:avLst/>
          </a:prstGeom>
          <a:noFill/>
          <a:ln/>
        </p:spPr>
        <p:txBody>
          <a:bodyPr wrap="square" lIns="0" tIns="0" rIns="0" bIns="0" rtlCol="0" anchor="t"/>
          <a:lstStyle/>
          <a:p>
            <a:pPr indent="0" marL="0">
              <a:buNone/>
            </a:pPr>
            <a:r>
              <a:rPr lang="en-US" sz="2000" b="1" dirty="0">
                <a:solidFill>
                  <a:srgbClr val="FFFFFF"/>
                </a:solidFill>
              </a:rPr>
              <a:t>PID POS · Membuat dan menyetujui Purchase Order</a:t>
            </a:r>
            <a:endParaRPr lang="en-US" sz="2000" dirty="0"/>
          </a:p>
        </p:txBody>
      </p:sp>
      <p:sp>
        <p:nvSpPr>
          <p:cNvPr id="4" name="Text 2"/>
          <p:cNvSpPr txBox="1"/>
          <p:nvPr/>
        </p:nvSpPr>
        <p:spPr>
          <a:xfrm>
            <a:off x="612648" y="3749040"/>
            <a:ext cx="6766560" cy="365760"/>
          </a:xfrm>
          <a:prstGeom prst="rect">
            <a:avLst/>
          </a:prstGeom>
          <a:noFill/>
          <a:ln/>
        </p:spPr>
        <p:txBody>
          <a:bodyPr wrap="square" lIns="0" tIns="0" rIns="0" bIns="0" rtlCol="0" anchor="t"/>
          <a:lstStyle/>
          <a:p>
            <a:pPr indent="0" marL="0">
              <a:buNone/>
            </a:pPr>
            <a:r>
              <a:rPr lang="en-US" sz="1600" dirty="0">
                <a:solidFill>
                  <a:srgbClr val="D6E4F5"/>
                </a:solidFill>
              </a:rPr>
              <a:t>PT Pelita Indonesia Djaya (PELNI Services)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2800" b="1" dirty="0">
                <a:solidFill>
                  <a:schemeClr val="tx2"/>
                </a:solidFill>
              </a:rPr>
              <a:t>Dua peran, satu alur Purchase Order</a:t>
            </a:r>
            <a:endParaRPr lang="en-US" sz="2800" dirty="0"/>
          </a:p>
        </p:txBody>
      </p:sp>
      <p:sp>
        <p:nvSpPr>
          <p:cNvPr id="3" name="Peran Admin purchase"/>
          <p:cNvSpPr/>
          <p:nvPr/>
        </p:nvSpPr>
        <p:spPr>
          <a:xfrm>
            <a:off x="685800" y="1737360"/>
            <a:ext cx="5303520" cy="3246120"/>
          </a:xfrm>
          <a:prstGeom prst="roundRect">
            <a:avLst>
              <a:gd name="adj" fmla="val 2817"/>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4" name="Ikon Admin purchase latar"/>
          <p:cNvSpPr/>
          <p:nvPr/>
        </p:nvSpPr>
        <p:spPr>
          <a:xfrm>
            <a:off x="1005840" y="2011680"/>
            <a:ext cx="777240" cy="777240"/>
          </a:xfrm>
          <a:prstGeom prst="ellipse">
            <a:avLst/>
          </a:prstGeom>
          <a:solidFill>
            <a:srgbClr val="274289"/>
          </a:solidFill>
          <a:ln w="12700">
            <a:solidFill>
              <a:srgbClr val="274289"/>
            </a:solidFill>
            <a:prstDash val="solid"/>
          </a:ln>
        </p:spPr>
      </p:sp>
      <p:pic>
        <p:nvPicPr>
          <p:cNvPr id="5" name="Ikon Admin purchase" descr="Admin purchase">    </p:cNvPr>
          <p:cNvPicPr>
            <a:picLocks noChangeAspect="1"/>
          </p:cNvPicPr>
          <p:nvPr/>
        </p:nvPicPr>
        <p:blipFill>
          <a:blip r:embed="rId1"/>
          <a:stretch>
            <a:fillRect/>
          </a:stretch>
        </p:blipFill>
        <p:spPr>
          <a:xfrm>
            <a:off x="1197864" y="2203704"/>
            <a:ext cx="393192" cy="393192"/>
          </a:xfrm>
          <a:prstGeom prst="rect">
            <a:avLst/>
          </a:prstGeom>
        </p:spPr>
      </p:pic>
      <p:sp>
        <p:nvSpPr>
          <p:cNvPr id="6" name="Text 3"/>
          <p:cNvSpPr txBox="1"/>
          <p:nvPr/>
        </p:nvSpPr>
        <p:spPr>
          <a:xfrm>
            <a:off x="1965960" y="2176272"/>
            <a:ext cx="3749040" cy="457200"/>
          </a:xfrm>
          <a:prstGeom prst="rect">
            <a:avLst/>
          </a:prstGeom>
          <a:noFill/>
          <a:ln/>
        </p:spPr>
        <p:txBody>
          <a:bodyPr wrap="square" lIns="0" tIns="0" rIns="0" bIns="0" rtlCol="0" anchor="t"/>
          <a:lstStyle/>
          <a:p>
            <a:pPr indent="0" marL="0">
              <a:buNone/>
            </a:pPr>
            <a:r>
              <a:rPr lang="en-US" sz="2400" b="1" dirty="0">
                <a:solidFill>
                  <a:srgbClr val="274289"/>
                </a:solidFill>
              </a:rPr>
              <a:t>Admin purchase</a:t>
            </a:r>
            <a:endParaRPr lang="en-US" sz="2400" dirty="0"/>
          </a:p>
        </p:txBody>
      </p:sp>
      <p:sp>
        <p:nvSpPr>
          <p:cNvPr id="7" name="Text 4"/>
          <p:cNvSpPr txBox="1"/>
          <p:nvPr/>
        </p:nvSpPr>
        <p:spPr>
          <a:xfrm>
            <a:off x="1005840" y="3017520"/>
            <a:ext cx="4663440" cy="685800"/>
          </a:xfrm>
          <a:prstGeom prst="rect">
            <a:avLst/>
          </a:prstGeom>
          <a:noFill/>
          <a:ln/>
        </p:spPr>
        <p:txBody>
          <a:bodyPr wrap="square" lIns="0" tIns="0" rIns="0" bIns="0" rtlCol="0" anchor="t"/>
          <a:lstStyle/>
          <a:p>
            <a:pPr indent="0" marL="0">
              <a:buNone/>
            </a:pPr>
            <a:r>
              <a:rPr lang="en-US" sz="1500" dirty="0">
                <a:solidFill>
                  <a:srgbClr val="1B2437"/>
                </a:solidFill>
              </a:rPr>
              <a:t>Membuat PO per vendor dari sisa Purchase Request (PUR), dan memperbaiki PO yang ditolak.</a:t>
            </a:r>
            <a:endParaRPr lang="en-US" sz="1500" dirty="0"/>
          </a:p>
        </p:txBody>
      </p:sp>
      <p:sp>
        <p:nvSpPr>
          <p:cNvPr id="8" name="Text 5"/>
          <p:cNvSpPr txBox="1"/>
          <p:nvPr/>
        </p:nvSpPr>
        <p:spPr>
          <a:xfrm>
            <a:off x="1005840" y="3840480"/>
            <a:ext cx="4663440" cy="365760"/>
          </a:xfrm>
          <a:prstGeom prst="rect">
            <a:avLst/>
          </a:prstGeom>
          <a:noFill/>
          <a:ln/>
        </p:spPr>
        <p:txBody>
          <a:bodyPr wrap="square" lIns="0" tIns="0" rIns="0" bIns="0" rtlCol="0" anchor="t"/>
          <a:lstStyle/>
          <a:p>
            <a:pPr indent="0" marL="0">
              <a:buNone/>
            </a:pPr>
            <a:r>
              <a:rPr lang="en-US" sz="1300" b="1" dirty="0">
                <a:solidFill>
                  <a:srgbClr val="5B6B86"/>
                </a:solidFill>
              </a:rPr>
              <a:t>Tombol utama: </a:t>
            </a:r>
            <a:pPr indent="0" marL="0">
              <a:buNone/>
            </a:pPr>
            <a:r>
              <a:rPr lang="en-US" sz="1300" b="1" dirty="0">
                <a:solidFill>
                  <a:srgbClr val="274289"/>
                </a:solidFill>
              </a:rPr>
              <a:t>+ Buat PO · Ajukan approval · Ubah &amp; ajukan ulang</a:t>
            </a:r>
            <a:endParaRPr lang="en-US" sz="1300" dirty="0"/>
          </a:p>
        </p:txBody>
      </p:sp>
      <p:sp>
        <p:nvSpPr>
          <p:cNvPr id="9" name="Text 6"/>
          <p:cNvSpPr txBox="1"/>
          <p:nvPr/>
        </p:nvSpPr>
        <p:spPr>
          <a:xfrm>
            <a:off x="1005840" y="4297680"/>
            <a:ext cx="4663440" cy="365760"/>
          </a:xfrm>
          <a:prstGeom prst="rect">
            <a:avLst/>
          </a:prstGeom>
          <a:noFill/>
          <a:ln/>
        </p:spPr>
        <p:txBody>
          <a:bodyPr wrap="square" lIns="0" tIns="0" rIns="0" bIns="0" rtlCol="0" anchor="t"/>
          <a:lstStyle/>
          <a:p>
            <a:pPr indent="0" marL="0">
              <a:buNone/>
            </a:pPr>
            <a:r>
              <a:rPr lang="en-US" sz="1300" b="1" dirty="0">
                <a:solidFill>
                  <a:srgbClr val="5B6B86"/>
                </a:solidFill>
              </a:rPr>
              <a:t>Tugas Anda saat status: </a:t>
            </a:r>
            <a:pPr indent="0" marL="0">
              <a:buNone/>
            </a:pPr>
            <a:r>
              <a:rPr lang="en-US" sz="1300" b="1" dirty="0">
                <a:solidFill>
                  <a:srgbClr val="274289"/>
                </a:solidFill>
              </a:rPr>
              <a:t>Buat PO · PO ditolak</a:t>
            </a:r>
            <a:endParaRPr lang="en-US" sz="1300" dirty="0"/>
          </a:p>
        </p:txBody>
      </p:sp>
      <p:sp>
        <p:nvSpPr>
          <p:cNvPr id="10" name="Peran Approve PO"/>
          <p:cNvSpPr/>
          <p:nvPr/>
        </p:nvSpPr>
        <p:spPr>
          <a:xfrm>
            <a:off x="6217920" y="1737360"/>
            <a:ext cx="5303520" cy="3246120"/>
          </a:xfrm>
          <a:prstGeom prst="roundRect">
            <a:avLst>
              <a:gd name="adj" fmla="val 2817"/>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11" name="Ikon Approve PO latar"/>
          <p:cNvSpPr/>
          <p:nvPr/>
        </p:nvSpPr>
        <p:spPr>
          <a:xfrm>
            <a:off x="6537960" y="2011680"/>
            <a:ext cx="777240" cy="777240"/>
          </a:xfrm>
          <a:prstGeom prst="ellipse">
            <a:avLst/>
          </a:prstGeom>
          <a:solidFill>
            <a:srgbClr val="5AB4E5"/>
          </a:solidFill>
          <a:ln w="12700">
            <a:solidFill>
              <a:srgbClr val="5AB4E5"/>
            </a:solidFill>
            <a:prstDash val="solid"/>
          </a:ln>
        </p:spPr>
      </p:sp>
      <p:pic>
        <p:nvPicPr>
          <p:cNvPr id="12" name="Ikon Approve PO" descr="Approve PO">    </p:cNvPr>
          <p:cNvPicPr>
            <a:picLocks noChangeAspect="1"/>
          </p:cNvPicPr>
          <p:nvPr/>
        </p:nvPicPr>
        <p:blipFill>
          <a:blip r:embed="rId2"/>
          <a:stretch>
            <a:fillRect/>
          </a:stretch>
        </p:blipFill>
        <p:spPr>
          <a:xfrm>
            <a:off x="6729984" y="2203704"/>
            <a:ext cx="393192" cy="393192"/>
          </a:xfrm>
          <a:prstGeom prst="rect">
            <a:avLst/>
          </a:prstGeom>
        </p:spPr>
      </p:pic>
      <p:sp>
        <p:nvSpPr>
          <p:cNvPr id="13" name="Text 9"/>
          <p:cNvSpPr txBox="1"/>
          <p:nvPr/>
        </p:nvSpPr>
        <p:spPr>
          <a:xfrm>
            <a:off x="7498080" y="2176272"/>
            <a:ext cx="3749040" cy="457200"/>
          </a:xfrm>
          <a:prstGeom prst="rect">
            <a:avLst/>
          </a:prstGeom>
          <a:noFill/>
          <a:ln/>
        </p:spPr>
        <p:txBody>
          <a:bodyPr wrap="square" lIns="0" tIns="0" rIns="0" bIns="0" rtlCol="0" anchor="t"/>
          <a:lstStyle/>
          <a:p>
            <a:pPr indent="0" marL="0">
              <a:buNone/>
            </a:pPr>
            <a:r>
              <a:rPr lang="en-US" sz="2400" b="1" dirty="0">
                <a:solidFill>
                  <a:srgbClr val="274289"/>
                </a:solidFill>
              </a:rPr>
              <a:t>Approve PO</a:t>
            </a:r>
            <a:endParaRPr lang="en-US" sz="2400" dirty="0"/>
          </a:p>
        </p:txBody>
      </p:sp>
      <p:sp>
        <p:nvSpPr>
          <p:cNvPr id="14" name="Text 10"/>
          <p:cNvSpPr txBox="1"/>
          <p:nvPr/>
        </p:nvSpPr>
        <p:spPr>
          <a:xfrm>
            <a:off x="6537960" y="3017520"/>
            <a:ext cx="4663440" cy="685800"/>
          </a:xfrm>
          <a:prstGeom prst="rect">
            <a:avLst/>
          </a:prstGeom>
          <a:noFill/>
          <a:ln/>
        </p:spPr>
        <p:txBody>
          <a:bodyPr wrap="square" lIns="0" tIns="0" rIns="0" bIns="0" rtlCol="0" anchor="t"/>
          <a:lstStyle/>
          <a:p>
            <a:pPr indent="0" marL="0">
              <a:buNone/>
            </a:pPr>
            <a:r>
              <a:rPr lang="en-US" sz="1500" dirty="0">
                <a:solidFill>
                  <a:srgbClr val="1B2437"/>
                </a:solidFill>
              </a:rPr>
              <a:t>Memeriksa PO yang diajukan, lalu menyetujui atau menolaknya, level demi level.</a:t>
            </a:r>
            <a:endParaRPr lang="en-US" sz="1500" dirty="0"/>
          </a:p>
        </p:txBody>
      </p:sp>
      <p:sp>
        <p:nvSpPr>
          <p:cNvPr id="15" name="Text 11"/>
          <p:cNvSpPr txBox="1"/>
          <p:nvPr/>
        </p:nvSpPr>
        <p:spPr>
          <a:xfrm>
            <a:off x="6537960" y="3840480"/>
            <a:ext cx="4663440" cy="365760"/>
          </a:xfrm>
          <a:prstGeom prst="rect">
            <a:avLst/>
          </a:prstGeom>
          <a:noFill/>
          <a:ln/>
        </p:spPr>
        <p:txBody>
          <a:bodyPr wrap="square" lIns="0" tIns="0" rIns="0" bIns="0" rtlCol="0" anchor="t"/>
          <a:lstStyle/>
          <a:p>
            <a:pPr indent="0" marL="0">
              <a:buNone/>
            </a:pPr>
            <a:r>
              <a:rPr lang="en-US" sz="1300" b="1" dirty="0">
                <a:solidFill>
                  <a:srgbClr val="5B6B86"/>
                </a:solidFill>
              </a:rPr>
              <a:t>Tombol utama: </a:t>
            </a:r>
            <a:pPr indent="0" marL="0">
              <a:buNone/>
            </a:pPr>
            <a:r>
              <a:rPr lang="en-US" sz="1300" b="1" dirty="0">
                <a:solidFill>
                  <a:srgbClr val="274289"/>
                </a:solidFill>
              </a:rPr>
              <a:t>Setujui · Tolak</a:t>
            </a:r>
            <a:endParaRPr lang="en-US" sz="1300" dirty="0"/>
          </a:p>
        </p:txBody>
      </p:sp>
      <p:sp>
        <p:nvSpPr>
          <p:cNvPr id="16" name="Text 12"/>
          <p:cNvSpPr txBox="1"/>
          <p:nvPr/>
        </p:nvSpPr>
        <p:spPr>
          <a:xfrm>
            <a:off x="6537960" y="4297680"/>
            <a:ext cx="4663440" cy="365760"/>
          </a:xfrm>
          <a:prstGeom prst="rect">
            <a:avLst/>
          </a:prstGeom>
          <a:noFill/>
          <a:ln/>
        </p:spPr>
        <p:txBody>
          <a:bodyPr wrap="square" lIns="0" tIns="0" rIns="0" bIns="0" rtlCol="0" anchor="t"/>
          <a:lstStyle/>
          <a:p>
            <a:pPr indent="0" marL="0">
              <a:buNone/>
            </a:pPr>
            <a:r>
              <a:rPr lang="en-US" sz="1300" b="1" dirty="0">
                <a:solidFill>
                  <a:srgbClr val="5B6B86"/>
                </a:solidFill>
              </a:rPr>
              <a:t>Tugas Anda saat status: </a:t>
            </a:r>
            <a:pPr indent="0" marL="0">
              <a:buNone/>
            </a:pPr>
            <a:r>
              <a:rPr lang="en-US" sz="1300" b="1" dirty="0">
                <a:solidFill>
                  <a:srgbClr val="274289"/>
                </a:solidFill>
              </a:rPr>
              <a:t>Approval PO · Draft SAP</a:t>
            </a:r>
            <a:endParaRPr lang="en-US" sz="1300" dirty="0"/>
          </a:p>
        </p:txBody>
      </p:sp>
      <p:sp>
        <p:nvSpPr>
          <p:cNvPr id="17" name="Text 13"/>
          <p:cNvSpPr txBox="1"/>
          <p:nvPr/>
        </p:nvSpPr>
        <p:spPr>
          <a:xfrm>
            <a:off x="1600200" y="5257800"/>
            <a:ext cx="9921240" cy="411480"/>
          </a:xfrm>
          <a:prstGeom prst="rect">
            <a:avLst/>
          </a:prstGeom>
          <a:noFill/>
          <a:ln/>
        </p:spPr>
        <p:txBody>
          <a:bodyPr wrap="square" lIns="0" tIns="0" rIns="0" bIns="0" rtlCol="0" anchor="t"/>
          <a:lstStyle/>
          <a:p>
            <a:pPr indent="0" marL="0">
              <a:buNone/>
            </a:pPr>
            <a:r>
              <a:rPr lang="en-US" sz="1300" dirty="0">
                <a:solidFill>
                  <a:srgbClr val="5B6B86"/>
                </a:solidFill>
              </a:rPr>
              <a:t>Keduanya bekerja di </a:t>
            </a:r>
            <a:pPr indent="0" marL="0">
              <a:buNone/>
            </a:pPr>
            <a:r>
              <a:rPr lang="en-US" sz="1300" b="1" dirty="0">
                <a:solidFill>
                  <a:srgbClr val="274289"/>
                </a:solidFill>
              </a:rPr>
              <a:t>Permintaan DC → tab Giliran saya</a:t>
            </a:r>
            <a:pPr indent="0" marL="0">
              <a:buNone/>
            </a:pPr>
            <a:r>
              <a:rPr lang="en-US" sz="1300" dirty="0">
                <a:solidFill>
                  <a:srgbClr val="5B6B86"/>
                </a:solidFill>
              </a:rPr>
              <a:t> (yang menunggu Anda) atau </a:t>
            </a:r>
            <a:pPr indent="0" marL="0">
              <a:buNone/>
            </a:pPr>
            <a:r>
              <a:rPr lang="en-US" sz="1300" b="1" dirty="0">
                <a:solidFill>
                  <a:srgbClr val="274289"/>
                </a:solidFill>
              </a:rPr>
              <a:t>tab PO</a:t>
            </a:r>
            <a:pPr indent="0" marL="0">
              <a:buNone/>
            </a:pPr>
            <a:r>
              <a:rPr lang="en-US" sz="1300" dirty="0">
                <a:solidFill>
                  <a:srgbClr val="5B6B86"/>
                </a:solidFill>
              </a:rPr>
              <a:t> (semua permintaan di tahap PO).</a:t>
            </a:r>
            <a:endParaRPr lang="en-US" sz="1300" dirty="0"/>
          </a:p>
        </p:txBody>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2800" b="1" dirty="0">
                <a:solidFill>
                  <a:schemeClr val="tx2"/>
                </a:solidFill>
              </a:rPr>
              <a:t>Alur status PO: final hanya setelah level approval terakhir</a:t>
            </a:r>
            <a:endParaRPr lang="en-US" sz="2800" dirty="0"/>
          </a:p>
        </p:txBody>
      </p:sp>
      <p:sp>
        <p:nvSpPr>
          <p:cNvPr id="3" name="Status Buat PO"/>
          <p:cNvSpPr/>
          <p:nvPr/>
        </p:nvSpPr>
        <p:spPr>
          <a:xfrm>
            <a:off x="685800" y="2057400"/>
            <a:ext cx="1965960" cy="914400"/>
          </a:xfrm>
          <a:prstGeom prst="roundRect">
            <a:avLst>
              <a:gd name="adj" fmla="val 10000"/>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4" name="Text 2"/>
          <p:cNvSpPr txBox="1"/>
          <p:nvPr/>
        </p:nvSpPr>
        <p:spPr>
          <a:xfrm>
            <a:off x="758952" y="2130552"/>
            <a:ext cx="1819656" cy="768096"/>
          </a:xfrm>
          <a:prstGeom prst="rect">
            <a:avLst/>
          </a:prstGeom>
          <a:noFill/>
          <a:ln/>
        </p:spPr>
        <p:txBody>
          <a:bodyPr wrap="square" lIns="0" tIns="0" rIns="0" bIns="0" rtlCol="0" anchor="ctr"/>
          <a:lstStyle/>
          <a:p>
            <a:pPr algn="ctr" indent="0" marL="0">
              <a:buNone/>
            </a:pPr>
            <a:r>
              <a:rPr lang="en-US" sz="1500" b="1" dirty="0">
                <a:solidFill>
                  <a:srgbClr val="274289"/>
                </a:solidFill>
              </a:rPr>
              <a:t>Buat PO</a:t>
            </a:r>
            <a:endParaRPr lang="en-US" sz="1500" dirty="0"/>
          </a:p>
          <a:p>
            <a:pPr algn="ctr" indent="0" marL="0">
              <a:buNone/>
            </a:pPr>
            <a:r>
              <a:rPr lang="en-US" sz="1150" dirty="0">
                <a:solidFill>
                  <a:srgbClr val="5B6B86"/>
                </a:solidFill>
              </a:rPr>
              <a:t>admin purchase</a:t>
            </a:r>
            <a:endParaRPr lang="en-US" sz="1500" dirty="0"/>
          </a:p>
        </p:txBody>
      </p:sp>
      <p:sp>
        <p:nvSpPr>
          <p:cNvPr id="5" name="Panah"/>
          <p:cNvSpPr/>
          <p:nvPr/>
        </p:nvSpPr>
        <p:spPr>
          <a:xfrm>
            <a:off x="2679192" y="2514600"/>
            <a:ext cx="201168" cy="0"/>
          </a:xfrm>
          <a:prstGeom prst="line">
            <a:avLst/>
          </a:prstGeom>
          <a:noFill/>
          <a:ln w="25400">
            <a:solidFill>
              <a:srgbClr val="3D6FC2"/>
            </a:solidFill>
            <a:prstDash val="solid"/>
            <a:tailEnd type="triangle"/>
          </a:ln>
        </p:spPr>
      </p:sp>
      <p:sp>
        <p:nvSpPr>
          <p:cNvPr id="6" name="Status Draft"/>
          <p:cNvSpPr/>
          <p:nvPr/>
        </p:nvSpPr>
        <p:spPr>
          <a:xfrm>
            <a:off x="2907792" y="2057400"/>
            <a:ext cx="1965960" cy="914400"/>
          </a:xfrm>
          <a:prstGeom prst="roundRect">
            <a:avLst>
              <a:gd name="adj" fmla="val 10000"/>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7" name="Text 5"/>
          <p:cNvSpPr txBox="1"/>
          <p:nvPr/>
        </p:nvSpPr>
        <p:spPr>
          <a:xfrm>
            <a:off x="2980944" y="2130552"/>
            <a:ext cx="1819656" cy="768096"/>
          </a:xfrm>
          <a:prstGeom prst="rect">
            <a:avLst/>
          </a:prstGeom>
          <a:noFill/>
          <a:ln/>
        </p:spPr>
        <p:txBody>
          <a:bodyPr wrap="square" lIns="0" tIns="0" rIns="0" bIns="0" rtlCol="0" anchor="ctr"/>
          <a:lstStyle/>
          <a:p>
            <a:pPr algn="ctr" indent="0" marL="0">
              <a:buNone/>
            </a:pPr>
            <a:r>
              <a:rPr lang="en-US" sz="1500" b="1" dirty="0">
                <a:solidFill>
                  <a:srgbClr val="274289"/>
                </a:solidFill>
              </a:rPr>
              <a:t>Draft</a:t>
            </a:r>
            <a:endParaRPr lang="en-US" sz="1500" dirty="0"/>
          </a:p>
          <a:p>
            <a:pPr algn="ctr" indent="0" marL="0">
              <a:buNone/>
            </a:pPr>
            <a:r>
              <a:rPr lang="en-US" sz="1150" dirty="0">
                <a:solidFill>
                  <a:srgbClr val="5B6B86"/>
                </a:solidFill>
              </a:rPr>
              <a:t>di web, qty dicadangkan</a:t>
            </a:r>
            <a:endParaRPr lang="en-US" sz="1500" dirty="0"/>
          </a:p>
        </p:txBody>
      </p:sp>
      <p:sp>
        <p:nvSpPr>
          <p:cNvPr id="8" name="Panah"/>
          <p:cNvSpPr/>
          <p:nvPr/>
        </p:nvSpPr>
        <p:spPr>
          <a:xfrm>
            <a:off x="4901184" y="2514600"/>
            <a:ext cx="201168" cy="0"/>
          </a:xfrm>
          <a:prstGeom prst="line">
            <a:avLst/>
          </a:prstGeom>
          <a:noFill/>
          <a:ln w="25400">
            <a:solidFill>
              <a:srgbClr val="3D6FC2"/>
            </a:solidFill>
            <a:prstDash val="solid"/>
            <a:tailEnd type="triangle"/>
          </a:ln>
        </p:spPr>
      </p:sp>
      <p:sp>
        <p:nvSpPr>
          <p:cNvPr id="9" name="Status Menunggu approval"/>
          <p:cNvSpPr/>
          <p:nvPr/>
        </p:nvSpPr>
        <p:spPr>
          <a:xfrm>
            <a:off x="5129784" y="2057400"/>
            <a:ext cx="1965960" cy="914400"/>
          </a:xfrm>
          <a:prstGeom prst="roundRect">
            <a:avLst>
              <a:gd name="adj" fmla="val 10000"/>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10" name="Text 8"/>
          <p:cNvSpPr txBox="1"/>
          <p:nvPr/>
        </p:nvSpPr>
        <p:spPr>
          <a:xfrm>
            <a:off x="5202936" y="2130552"/>
            <a:ext cx="1819656" cy="768096"/>
          </a:xfrm>
          <a:prstGeom prst="rect">
            <a:avLst/>
          </a:prstGeom>
          <a:noFill/>
          <a:ln/>
        </p:spPr>
        <p:txBody>
          <a:bodyPr wrap="square" lIns="0" tIns="0" rIns="0" bIns="0" rtlCol="0" anchor="ctr"/>
          <a:lstStyle/>
          <a:p>
            <a:pPr algn="ctr" indent="0" marL="0">
              <a:buNone/>
            </a:pPr>
            <a:r>
              <a:rPr lang="en-US" sz="1500" b="1" dirty="0">
                <a:solidFill>
                  <a:srgbClr val="274289"/>
                </a:solidFill>
              </a:rPr>
              <a:t>Menunggu approval</a:t>
            </a:r>
            <a:endParaRPr lang="en-US" sz="1500" dirty="0"/>
          </a:p>
          <a:p>
            <a:pPr algn="ctr" indent="0" marL="0">
              <a:buNone/>
            </a:pPr>
            <a:r>
              <a:rPr lang="en-US" sz="1150" dirty="0">
                <a:solidFill>
                  <a:srgbClr val="5B6B86"/>
                </a:solidFill>
              </a:rPr>
              <a:t>Draft SAP · level 1 s.d. n</a:t>
            </a:r>
            <a:endParaRPr lang="en-US" sz="1500" dirty="0"/>
          </a:p>
        </p:txBody>
      </p:sp>
      <p:sp>
        <p:nvSpPr>
          <p:cNvPr id="11" name="Panah"/>
          <p:cNvSpPr/>
          <p:nvPr/>
        </p:nvSpPr>
        <p:spPr>
          <a:xfrm>
            <a:off x="7123176" y="2514600"/>
            <a:ext cx="201168" cy="0"/>
          </a:xfrm>
          <a:prstGeom prst="line">
            <a:avLst/>
          </a:prstGeom>
          <a:noFill/>
          <a:ln w="25400">
            <a:solidFill>
              <a:srgbClr val="3D6FC2"/>
            </a:solidFill>
            <a:prstDash val="solid"/>
            <a:tailEnd type="triangle"/>
          </a:ln>
        </p:spPr>
      </p:sp>
      <p:sp>
        <p:nvSpPr>
          <p:cNvPr id="12" name="Status PO final di SAP"/>
          <p:cNvSpPr/>
          <p:nvPr/>
        </p:nvSpPr>
        <p:spPr>
          <a:xfrm>
            <a:off x="7351776" y="2057400"/>
            <a:ext cx="1965960" cy="914400"/>
          </a:xfrm>
          <a:prstGeom prst="roundRect">
            <a:avLst>
              <a:gd name="adj" fmla="val 10000"/>
            </a:avLst>
          </a:prstGeom>
          <a:solidFill>
            <a:srgbClr val="274289"/>
          </a:solidFill>
          <a:ln w="9525">
            <a:solidFill>
              <a:srgbClr val="274289"/>
            </a:solidFill>
            <a:prstDash val="solid"/>
          </a:ln>
          <a:effectLst>
            <a:outerShdw sx="100000" sy="100000" kx="0" ky="0" algn="bl" rotWithShape="0" blurRad="101600" dist="25400" dir="5400000">
              <a:srgbClr val="274289">
                <a:alpha val="12000"/>
              </a:srgbClr>
            </a:outerShdw>
          </a:effectLst>
        </p:spPr>
      </p:sp>
      <p:sp>
        <p:nvSpPr>
          <p:cNvPr id="13" name="Text 11"/>
          <p:cNvSpPr txBox="1"/>
          <p:nvPr/>
        </p:nvSpPr>
        <p:spPr>
          <a:xfrm>
            <a:off x="7424928" y="2130552"/>
            <a:ext cx="1819656" cy="768096"/>
          </a:xfrm>
          <a:prstGeom prst="rect">
            <a:avLst/>
          </a:prstGeom>
          <a:noFill/>
          <a:ln/>
        </p:spPr>
        <p:txBody>
          <a:bodyPr wrap="square" lIns="0" tIns="0" rIns="0" bIns="0" rtlCol="0" anchor="ctr"/>
          <a:lstStyle/>
          <a:p>
            <a:pPr algn="ctr" indent="0" marL="0">
              <a:buNone/>
            </a:pPr>
            <a:r>
              <a:rPr lang="en-US" sz="1500" b="1" dirty="0">
                <a:solidFill>
                  <a:srgbClr val="FFFFFF"/>
                </a:solidFill>
              </a:rPr>
              <a:t>PO final di SAP</a:t>
            </a:r>
            <a:endParaRPr lang="en-US" sz="1500" dirty="0"/>
          </a:p>
          <a:p>
            <a:pPr algn="ctr" indent="0" marL="0">
              <a:buNone/>
            </a:pPr>
            <a:r>
              <a:rPr lang="en-US" sz="1150" dirty="0">
                <a:solidFill>
                  <a:srgbClr val="D6E4F5"/>
                </a:solidFill>
              </a:rPr>
              <a:t>nomor PO terbit</a:t>
            </a:r>
            <a:endParaRPr lang="en-US" sz="1500" dirty="0"/>
          </a:p>
        </p:txBody>
      </p:sp>
      <p:sp>
        <p:nvSpPr>
          <p:cNvPr id="14" name="Text 12"/>
          <p:cNvSpPr txBox="1"/>
          <p:nvPr/>
        </p:nvSpPr>
        <p:spPr>
          <a:xfrm>
            <a:off x="4453128" y="1755648"/>
            <a:ext cx="1097280" cy="274320"/>
          </a:xfrm>
          <a:prstGeom prst="rect">
            <a:avLst/>
          </a:prstGeom>
          <a:noFill/>
          <a:ln/>
        </p:spPr>
        <p:txBody>
          <a:bodyPr wrap="square" lIns="0" tIns="0" rIns="0" bIns="0" rtlCol="0" anchor="t"/>
          <a:lstStyle/>
          <a:p>
            <a:pPr algn="ctr" indent="0" marL="0">
              <a:buNone/>
            </a:pPr>
            <a:r>
              <a:rPr lang="en-US" sz="1100" dirty="0">
                <a:solidFill>
                  <a:srgbClr val="5B6B86"/>
                </a:solidFill>
              </a:rPr>
              <a:t>Ajukan</a:t>
            </a:r>
            <a:endParaRPr lang="en-US" sz="1100" dirty="0"/>
          </a:p>
        </p:txBody>
      </p:sp>
      <p:sp>
        <p:nvSpPr>
          <p:cNvPr id="15" name="Text 13"/>
          <p:cNvSpPr txBox="1"/>
          <p:nvPr/>
        </p:nvSpPr>
        <p:spPr>
          <a:xfrm>
            <a:off x="6400800" y="1755648"/>
            <a:ext cx="1920240" cy="274320"/>
          </a:xfrm>
          <a:prstGeom prst="rect">
            <a:avLst/>
          </a:prstGeom>
          <a:noFill/>
          <a:ln/>
        </p:spPr>
        <p:txBody>
          <a:bodyPr wrap="square" lIns="0" tIns="0" rIns="0" bIns="0" rtlCol="0" anchor="t"/>
          <a:lstStyle/>
          <a:p>
            <a:pPr algn="ctr" indent="0" marL="0">
              <a:buNone/>
            </a:pPr>
            <a:r>
              <a:rPr lang="en-US" sz="1100" dirty="0">
                <a:solidFill>
                  <a:srgbClr val="5B6B86"/>
                </a:solidFill>
              </a:rPr>
              <a:t>Setujui level terakhir</a:t>
            </a:r>
            <a:endParaRPr lang="en-US" sz="1100" dirty="0"/>
          </a:p>
        </p:txBody>
      </p:sp>
      <p:sp>
        <p:nvSpPr>
          <p:cNvPr id="16" name="Status Ditolak"/>
          <p:cNvSpPr/>
          <p:nvPr/>
        </p:nvSpPr>
        <p:spPr>
          <a:xfrm>
            <a:off x="5129784" y="3703320"/>
            <a:ext cx="1965960" cy="914400"/>
          </a:xfrm>
          <a:prstGeom prst="roundRect">
            <a:avLst>
              <a:gd name="adj" fmla="val 10000"/>
            </a:avLst>
          </a:prstGeom>
          <a:solidFill>
            <a:srgbClr val="FBECEA"/>
          </a:solidFill>
          <a:ln w="9525">
            <a:solidFill>
              <a:srgbClr val="FBECEA"/>
            </a:solidFill>
            <a:prstDash val="solid"/>
          </a:ln>
          <a:effectLst>
            <a:outerShdw sx="100000" sy="100000" kx="0" ky="0" algn="bl" rotWithShape="0" blurRad="101600" dist="25400" dir="5400000">
              <a:srgbClr val="274289">
                <a:alpha val="12000"/>
              </a:srgbClr>
            </a:outerShdw>
          </a:effectLst>
        </p:spPr>
      </p:sp>
      <p:sp>
        <p:nvSpPr>
          <p:cNvPr id="17" name="Text 15"/>
          <p:cNvSpPr txBox="1"/>
          <p:nvPr/>
        </p:nvSpPr>
        <p:spPr>
          <a:xfrm>
            <a:off x="5202936" y="3776472"/>
            <a:ext cx="1819656" cy="768096"/>
          </a:xfrm>
          <a:prstGeom prst="rect">
            <a:avLst/>
          </a:prstGeom>
          <a:noFill/>
          <a:ln/>
        </p:spPr>
        <p:txBody>
          <a:bodyPr wrap="square" lIns="0" tIns="0" rIns="0" bIns="0" rtlCol="0" anchor="ctr"/>
          <a:lstStyle/>
          <a:p>
            <a:pPr algn="ctr" indent="0" marL="0">
              <a:buNone/>
            </a:pPr>
            <a:r>
              <a:rPr lang="en-US" sz="1500" b="1" dirty="0">
                <a:solidFill>
                  <a:srgbClr val="C0392B"/>
                </a:solidFill>
              </a:rPr>
              <a:t>Ditolak</a:t>
            </a:r>
            <a:endParaRPr lang="en-US" sz="1500" dirty="0"/>
          </a:p>
          <a:p>
            <a:pPr algn="ctr" indent="0" marL="0">
              <a:buNone/>
            </a:pPr>
            <a:r>
              <a:rPr lang="en-US" sz="1150" dirty="0">
                <a:solidFill>
                  <a:srgbClr val="5B6B86"/>
                </a:solidFill>
              </a:rPr>
              <a:t>Draft SAP dihapus, qty kembali</a:t>
            </a:r>
            <a:endParaRPr lang="en-US" sz="1500" dirty="0"/>
          </a:p>
        </p:txBody>
      </p:sp>
      <p:sp>
        <p:nvSpPr>
          <p:cNvPr id="18" name="Ke ditolak"/>
          <p:cNvSpPr/>
          <p:nvPr/>
        </p:nvSpPr>
        <p:spPr>
          <a:xfrm>
            <a:off x="6112764" y="2999232"/>
            <a:ext cx="0" cy="676656"/>
          </a:xfrm>
          <a:prstGeom prst="line">
            <a:avLst/>
          </a:prstGeom>
          <a:noFill/>
          <a:ln w="25400">
            <a:solidFill>
              <a:srgbClr val="C0392B"/>
            </a:solidFill>
            <a:prstDash val="dash"/>
            <a:tailEnd type="triangle"/>
          </a:ln>
        </p:spPr>
      </p:sp>
      <p:sp>
        <p:nvSpPr>
          <p:cNvPr id="19" name="Text 17"/>
          <p:cNvSpPr txBox="1"/>
          <p:nvPr/>
        </p:nvSpPr>
        <p:spPr>
          <a:xfrm>
            <a:off x="6204204" y="3200400"/>
            <a:ext cx="1463040" cy="274320"/>
          </a:xfrm>
          <a:prstGeom prst="rect">
            <a:avLst/>
          </a:prstGeom>
          <a:noFill/>
          <a:ln/>
        </p:spPr>
        <p:txBody>
          <a:bodyPr wrap="square" lIns="0" tIns="0" rIns="0" bIns="0" rtlCol="0" anchor="t"/>
          <a:lstStyle/>
          <a:p>
            <a:pPr indent="0" marL="0">
              <a:buNone/>
            </a:pPr>
            <a:r>
              <a:rPr lang="en-US" sz="1100" dirty="0">
                <a:solidFill>
                  <a:srgbClr val="C0392B"/>
                </a:solidFill>
              </a:rPr>
              <a:t>Tolak + alasan</a:t>
            </a:r>
            <a:endParaRPr lang="en-US" sz="1100" dirty="0"/>
          </a:p>
        </p:txBody>
      </p:sp>
      <p:sp>
        <p:nvSpPr>
          <p:cNvPr id="20" name="Ajukan ulang"/>
          <p:cNvSpPr/>
          <p:nvPr/>
        </p:nvSpPr>
        <p:spPr>
          <a:xfrm>
            <a:off x="3890772" y="4160520"/>
            <a:ext cx="1239012" cy="0"/>
          </a:xfrm>
          <a:prstGeom prst="line">
            <a:avLst/>
          </a:prstGeom>
          <a:noFill/>
          <a:ln w="25400">
            <a:solidFill>
              <a:srgbClr val="3D6FC2"/>
            </a:solidFill>
            <a:prstDash val="dash"/>
            <a:headEnd type="triangle"/>
          </a:ln>
        </p:spPr>
      </p:sp>
      <p:sp>
        <p:nvSpPr>
          <p:cNvPr id="21" name="Ajukan ulang naik"/>
          <p:cNvSpPr/>
          <p:nvPr/>
        </p:nvSpPr>
        <p:spPr>
          <a:xfrm>
            <a:off x="3890772" y="2999232"/>
            <a:ext cx="0" cy="1161288"/>
          </a:xfrm>
          <a:prstGeom prst="line">
            <a:avLst/>
          </a:prstGeom>
          <a:noFill/>
          <a:ln w="25400">
            <a:solidFill>
              <a:srgbClr val="3D6FC2"/>
            </a:solidFill>
            <a:prstDash val="dash"/>
          </a:ln>
        </p:spPr>
      </p:sp>
      <p:sp>
        <p:nvSpPr>
          <p:cNvPr id="22" name="Text 20"/>
          <p:cNvSpPr txBox="1"/>
          <p:nvPr/>
        </p:nvSpPr>
        <p:spPr>
          <a:xfrm>
            <a:off x="3963924" y="4233672"/>
            <a:ext cx="1051560" cy="274320"/>
          </a:xfrm>
          <a:prstGeom prst="rect">
            <a:avLst/>
          </a:prstGeom>
          <a:noFill/>
          <a:ln/>
        </p:spPr>
        <p:txBody>
          <a:bodyPr wrap="square" lIns="0" tIns="0" rIns="0" bIns="0" rtlCol="0" anchor="t"/>
          <a:lstStyle/>
          <a:p>
            <a:pPr indent="0" marL="0">
              <a:buNone/>
            </a:pPr>
            <a:r>
              <a:rPr lang="en-US" sz="1000" dirty="0">
                <a:solidFill>
                  <a:srgbClr val="3D6FC2"/>
                </a:solidFill>
              </a:rPr>
              <a:t>Ubah &amp; ajukan ulang</a:t>
            </a:r>
            <a:endParaRPr lang="en-US" sz="1000" dirty="0"/>
          </a:p>
        </p:txBody>
      </p:sp>
      <p:sp>
        <p:nvSpPr>
          <p:cNvPr id="23" name="Status Dibatalkan"/>
          <p:cNvSpPr/>
          <p:nvPr/>
        </p:nvSpPr>
        <p:spPr>
          <a:xfrm>
            <a:off x="685800" y="3703320"/>
            <a:ext cx="1965960" cy="914400"/>
          </a:xfrm>
          <a:prstGeom prst="roundRect">
            <a:avLst>
              <a:gd name="adj" fmla="val 10000"/>
            </a:avLst>
          </a:prstGeom>
          <a:solidFill>
            <a:srgbClr val="EEF3FA"/>
          </a:solidFill>
          <a:ln w="9525">
            <a:solidFill>
              <a:srgbClr val="EEF3FA"/>
            </a:solidFill>
            <a:prstDash val="solid"/>
          </a:ln>
          <a:effectLst>
            <a:outerShdw sx="100000" sy="100000" kx="0" ky="0" algn="bl" rotWithShape="0" blurRad="101600" dist="25400" dir="5400000">
              <a:srgbClr val="274289">
                <a:alpha val="12000"/>
              </a:srgbClr>
            </a:outerShdw>
          </a:effectLst>
        </p:spPr>
      </p:sp>
      <p:sp>
        <p:nvSpPr>
          <p:cNvPr id="24" name="Text 22"/>
          <p:cNvSpPr txBox="1"/>
          <p:nvPr/>
        </p:nvSpPr>
        <p:spPr>
          <a:xfrm>
            <a:off x="758952" y="3776472"/>
            <a:ext cx="1819656" cy="768096"/>
          </a:xfrm>
          <a:prstGeom prst="rect">
            <a:avLst/>
          </a:prstGeom>
          <a:noFill/>
          <a:ln/>
        </p:spPr>
        <p:txBody>
          <a:bodyPr wrap="square" lIns="0" tIns="0" rIns="0" bIns="0" rtlCol="0" anchor="ctr"/>
          <a:lstStyle/>
          <a:p>
            <a:pPr algn="ctr" indent="0" marL="0">
              <a:buNone/>
            </a:pPr>
            <a:r>
              <a:rPr lang="en-US" sz="1500" b="1" dirty="0">
                <a:solidFill>
                  <a:srgbClr val="5B6B86"/>
                </a:solidFill>
              </a:rPr>
              <a:t>Dibatalkan</a:t>
            </a:r>
            <a:endParaRPr lang="en-US" sz="1500" dirty="0"/>
          </a:p>
          <a:p>
            <a:pPr algn="ctr" indent="0" marL="0">
              <a:buNone/>
            </a:pPr>
            <a:r>
              <a:rPr lang="en-US" sz="1150" dirty="0">
                <a:solidFill>
                  <a:srgbClr val="5B6B86"/>
                </a:solidFill>
              </a:rPr>
              <a:t>qty kembali ke sisa PUR</a:t>
            </a:r>
            <a:endParaRPr lang="en-US" sz="1500" dirty="0"/>
          </a:p>
        </p:txBody>
      </p:sp>
      <p:sp>
        <p:nvSpPr>
          <p:cNvPr id="25" name="Ke dibatalkan"/>
          <p:cNvSpPr/>
          <p:nvPr/>
        </p:nvSpPr>
        <p:spPr>
          <a:xfrm>
            <a:off x="1668780" y="2999232"/>
            <a:ext cx="0" cy="676656"/>
          </a:xfrm>
          <a:prstGeom prst="line">
            <a:avLst/>
          </a:prstGeom>
          <a:noFill/>
          <a:ln w="19050">
            <a:solidFill>
              <a:srgbClr val="5B6B86"/>
            </a:solidFill>
            <a:prstDash val="dash"/>
            <a:tailEnd type="triangle"/>
          </a:ln>
        </p:spPr>
      </p:sp>
      <p:sp>
        <p:nvSpPr>
          <p:cNvPr id="26" name="Text 24"/>
          <p:cNvSpPr txBox="1"/>
          <p:nvPr/>
        </p:nvSpPr>
        <p:spPr>
          <a:xfrm>
            <a:off x="1760220" y="3200400"/>
            <a:ext cx="1097280" cy="274320"/>
          </a:xfrm>
          <a:prstGeom prst="rect">
            <a:avLst/>
          </a:prstGeom>
          <a:noFill/>
          <a:ln/>
        </p:spPr>
        <p:txBody>
          <a:bodyPr wrap="square" lIns="0" tIns="0" rIns="0" bIns="0" rtlCol="0" anchor="t"/>
          <a:lstStyle/>
          <a:p>
            <a:pPr indent="0" marL="0">
              <a:buNone/>
            </a:pPr>
            <a:r>
              <a:rPr lang="en-US" sz="1100" dirty="0">
                <a:solidFill>
                  <a:srgbClr val="5B6B86"/>
                </a:solidFill>
              </a:rPr>
              <a:t>Batalkan</a:t>
            </a:r>
            <a:endParaRPr lang="en-US" sz="1100" dirty="0"/>
          </a:p>
        </p:txBody>
      </p:sp>
      <p:sp>
        <p:nvSpPr>
          <p:cNvPr id="27" name="Catatan final"/>
          <p:cNvSpPr/>
          <p:nvPr/>
        </p:nvSpPr>
        <p:spPr>
          <a:xfrm>
            <a:off x="9555480" y="2057400"/>
            <a:ext cx="1965960" cy="2560320"/>
          </a:xfrm>
          <a:prstGeom prst="roundRect">
            <a:avLst>
              <a:gd name="adj" fmla="val 4651"/>
            </a:avLst>
          </a:prstGeom>
          <a:solidFill>
            <a:srgbClr val="EEF3FA"/>
          </a:solidFill>
          <a:ln w="9525">
            <a:solidFill>
              <a:srgbClr val="EEF3FA"/>
            </a:solidFill>
            <a:prstDash val="solid"/>
          </a:ln>
          <a:effectLst>
            <a:outerShdw sx="100000" sy="100000" kx="0" ky="0" algn="bl" rotWithShape="0" blurRad="101600" dist="25400" dir="5400000">
              <a:srgbClr val="274289">
                <a:alpha val="12000"/>
              </a:srgbClr>
            </a:outerShdw>
          </a:effectLst>
        </p:spPr>
      </p:sp>
      <p:sp>
        <p:nvSpPr>
          <p:cNvPr id="28" name="Text 26"/>
          <p:cNvSpPr txBox="1"/>
          <p:nvPr/>
        </p:nvSpPr>
        <p:spPr>
          <a:xfrm>
            <a:off x="9692640" y="2194560"/>
            <a:ext cx="1691640" cy="2286000"/>
          </a:xfrm>
          <a:prstGeom prst="rect">
            <a:avLst/>
          </a:prstGeom>
          <a:noFill/>
          <a:ln/>
        </p:spPr>
        <p:txBody>
          <a:bodyPr wrap="square" lIns="0" tIns="0" rIns="0" bIns="0" rtlCol="0" anchor="t"/>
          <a:lstStyle/>
          <a:p>
            <a:pPr indent="0" marL="0">
              <a:buNone/>
            </a:pPr>
            <a:r>
              <a:rPr lang="en-US" sz="1250" b="1" dirty="0">
                <a:solidFill>
                  <a:srgbClr val="274289"/>
                </a:solidFill>
              </a:rPr>
              <a:t>PO final</a:t>
            </a:r>
            <a:endParaRPr lang="en-US" sz="1250" dirty="0"/>
          </a:p>
          <a:p>
            <a:pPr indent="0" marL="0">
              <a:buNone/>
            </a:pPr>
            <a:r>
              <a:rPr lang="en-US" sz="1250" dirty="0">
                <a:solidFill>
                  <a:srgbClr val="1B2437"/>
                </a:solidFill>
              </a:rPr>
              <a:t>tidak bisa diubah atau dibatalkan dari web; pembatalannya di SAP.</a:t>
            </a:r>
            <a:endParaRPr lang="en-US" sz="1250" dirty="0"/>
          </a:p>
        </p:txBody>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2800" b="1" dirty="0">
                <a:solidFill>
                  <a:schemeClr val="tx2"/>
                </a:solidFill>
              </a:rPr>
              <a:t>Admin purchase · 1. Menemukan permintaan yang siap di-PO</a:t>
            </a:r>
            <a:endParaRPr lang="en-US" sz="2800" dirty="0"/>
          </a:p>
        </p:txBody>
      </p:sp>
      <p:sp>
        <p:nvSpPr>
          <p:cNvPr id="3" name="Tab PO dan panel Purchase Order bingkai"/>
          <p:cNvSpPr/>
          <p:nvPr/>
        </p:nvSpPr>
        <p:spPr>
          <a:xfrm>
            <a:off x="621792" y="1677162"/>
            <a:ext cx="6437376" cy="4509516"/>
          </a:xfrm>
          <a:prstGeom prst="roundRect">
            <a:avLst>
              <a:gd name="adj" fmla="val 2028"/>
            </a:avLst>
          </a:prstGeom>
          <a:solidFill>
            <a:srgbClr val="E4EAF4"/>
          </a:solidFill>
          <a:ln w="9525">
            <a:solidFill>
              <a:srgbClr val="E4EAF4"/>
            </a:solidFill>
            <a:prstDash val="solid"/>
          </a:ln>
          <a:effectLst>
            <a:outerShdw sx="100000" sy="100000" kx="0" ky="0" algn="bl" rotWithShape="0" blurRad="101600" dist="25400" dir="5400000">
              <a:srgbClr val="274289">
                <a:alpha val="12000"/>
              </a:srgbClr>
            </a:outerShdw>
          </a:effectLst>
        </p:spPr>
      </p:sp>
      <p:pic>
        <p:nvPicPr>
          <p:cNvPr id="4" name="Tab PO dan panel Purchase Order" descr="Layar PID POS: Tab PO dan panel Purchase Order">    </p:cNvPr>
          <p:cNvPicPr>
            <a:picLocks noChangeAspect="1"/>
          </p:cNvPicPr>
          <p:nvPr/>
        </p:nvPicPr>
        <p:blipFill>
          <a:blip r:embed="rId1"/>
          <a:stretch>
            <a:fillRect/>
          </a:stretch>
        </p:blipFill>
        <p:spPr>
          <a:xfrm>
            <a:off x="685800" y="1741170"/>
            <a:ext cx="6309360" cy="4381500"/>
          </a:xfrm>
          <a:prstGeom prst="rect">
            <a:avLst/>
          </a:prstGeom>
        </p:spPr>
      </p:pic>
      <p:sp>
        <p:nvSpPr>
          <p:cNvPr id="5" name="Sorotan Tab PO dan panel Purchase Order 1"/>
          <p:cNvSpPr/>
          <p:nvPr/>
        </p:nvSpPr>
        <p:spPr>
          <a:xfrm>
            <a:off x="3334004" y="2359279"/>
            <a:ext cx="455041" cy="230124"/>
          </a:xfrm>
          <a:prstGeom prst="roundRect">
            <a:avLst>
              <a:gd name="adj" fmla="val 19868"/>
            </a:avLst>
          </a:prstGeom>
          <a:ln w="28575">
            <a:solidFill>
              <a:srgbClr val="F2762E"/>
            </a:solidFill>
            <a:prstDash val="solid"/>
          </a:ln>
        </p:spPr>
      </p:sp>
      <p:sp>
        <p:nvSpPr>
          <p:cNvPr id="6" name="Nomor 1"/>
          <p:cNvSpPr/>
          <p:nvPr/>
        </p:nvSpPr>
        <p:spPr>
          <a:xfrm>
            <a:off x="3205988" y="2231263"/>
            <a:ext cx="292608" cy="292608"/>
          </a:xfrm>
          <a:prstGeom prst="ellipse">
            <a:avLst/>
          </a:prstGeom>
          <a:solidFill>
            <a:srgbClr val="F2762E"/>
          </a:solidFill>
          <a:ln w="19050">
            <a:solidFill>
              <a:srgbClr val="FFFFFF"/>
            </a:solidFill>
            <a:prstDash val="solid"/>
          </a:ln>
        </p:spPr>
      </p:sp>
      <p:sp>
        <p:nvSpPr>
          <p:cNvPr id="7" name="Text 4"/>
          <p:cNvSpPr txBox="1"/>
          <p:nvPr/>
        </p:nvSpPr>
        <p:spPr>
          <a:xfrm>
            <a:off x="3205988" y="2231263"/>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8" name="Sorotan Tab PO dan panel Purchase Order 2"/>
          <p:cNvSpPr/>
          <p:nvPr/>
        </p:nvSpPr>
        <p:spPr>
          <a:xfrm>
            <a:off x="751840" y="3282315"/>
            <a:ext cx="1760728" cy="490093"/>
          </a:xfrm>
          <a:prstGeom prst="roundRect">
            <a:avLst>
              <a:gd name="adj" fmla="val 9329"/>
            </a:avLst>
          </a:prstGeom>
          <a:ln w="28575">
            <a:solidFill>
              <a:srgbClr val="F2762E"/>
            </a:solidFill>
            <a:prstDash val="solid"/>
          </a:ln>
        </p:spPr>
      </p:sp>
      <p:sp>
        <p:nvSpPr>
          <p:cNvPr id="9" name="Nomor 2"/>
          <p:cNvSpPr/>
          <p:nvPr/>
        </p:nvSpPr>
        <p:spPr>
          <a:xfrm>
            <a:off x="623824" y="3154299"/>
            <a:ext cx="292608" cy="292608"/>
          </a:xfrm>
          <a:prstGeom prst="ellipse">
            <a:avLst/>
          </a:prstGeom>
          <a:solidFill>
            <a:srgbClr val="F2762E"/>
          </a:solidFill>
          <a:ln w="19050">
            <a:solidFill>
              <a:srgbClr val="FFFFFF"/>
            </a:solidFill>
            <a:prstDash val="solid"/>
          </a:ln>
        </p:spPr>
      </p:sp>
      <p:sp>
        <p:nvSpPr>
          <p:cNvPr id="10" name="Text 7"/>
          <p:cNvSpPr txBox="1"/>
          <p:nvPr/>
        </p:nvSpPr>
        <p:spPr>
          <a:xfrm>
            <a:off x="623824" y="3154299"/>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Sorotan Tab PO dan panel Purchase Order 3"/>
          <p:cNvSpPr/>
          <p:nvPr/>
        </p:nvSpPr>
        <p:spPr>
          <a:xfrm>
            <a:off x="2700147" y="4263771"/>
            <a:ext cx="4056634" cy="431673"/>
          </a:xfrm>
          <a:prstGeom prst="roundRect">
            <a:avLst>
              <a:gd name="adj" fmla="val 10591"/>
            </a:avLst>
          </a:prstGeom>
          <a:ln w="28575">
            <a:solidFill>
              <a:srgbClr val="F2762E"/>
            </a:solidFill>
            <a:prstDash val="solid"/>
          </a:ln>
        </p:spPr>
      </p:sp>
      <p:sp>
        <p:nvSpPr>
          <p:cNvPr id="12" name="Nomor 3"/>
          <p:cNvSpPr/>
          <p:nvPr/>
        </p:nvSpPr>
        <p:spPr>
          <a:xfrm>
            <a:off x="2572131" y="4135755"/>
            <a:ext cx="292608" cy="292608"/>
          </a:xfrm>
          <a:prstGeom prst="ellipse">
            <a:avLst/>
          </a:prstGeom>
          <a:solidFill>
            <a:srgbClr val="F2762E"/>
          </a:solidFill>
          <a:ln w="19050">
            <a:solidFill>
              <a:srgbClr val="FFFFFF"/>
            </a:solidFill>
            <a:prstDash val="solid"/>
          </a:ln>
        </p:spPr>
      </p:sp>
      <p:sp>
        <p:nvSpPr>
          <p:cNvPr id="13" name="Text 10"/>
          <p:cNvSpPr txBox="1"/>
          <p:nvPr/>
        </p:nvSpPr>
        <p:spPr>
          <a:xfrm>
            <a:off x="2572131" y="4135755"/>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4" name="Sorotan Tab PO dan panel Purchase Order 4"/>
          <p:cNvSpPr/>
          <p:nvPr/>
        </p:nvSpPr>
        <p:spPr>
          <a:xfrm>
            <a:off x="6237478" y="3992118"/>
            <a:ext cx="519303" cy="235966"/>
          </a:xfrm>
          <a:prstGeom prst="roundRect">
            <a:avLst>
              <a:gd name="adj" fmla="val 19376"/>
            </a:avLst>
          </a:prstGeom>
          <a:ln w="28575">
            <a:solidFill>
              <a:srgbClr val="F2762E"/>
            </a:solidFill>
            <a:prstDash val="solid"/>
          </a:ln>
        </p:spPr>
      </p:sp>
      <p:sp>
        <p:nvSpPr>
          <p:cNvPr id="15" name="Nomor 4"/>
          <p:cNvSpPr/>
          <p:nvPr/>
        </p:nvSpPr>
        <p:spPr>
          <a:xfrm>
            <a:off x="6109462" y="3864102"/>
            <a:ext cx="292608" cy="292608"/>
          </a:xfrm>
          <a:prstGeom prst="ellipse">
            <a:avLst/>
          </a:prstGeom>
          <a:solidFill>
            <a:srgbClr val="F2762E"/>
          </a:solidFill>
          <a:ln w="19050">
            <a:solidFill>
              <a:srgbClr val="FFFFFF"/>
            </a:solidFill>
            <a:prstDash val="solid"/>
          </a:ln>
        </p:spPr>
      </p:sp>
      <p:sp>
        <p:nvSpPr>
          <p:cNvPr id="16" name="Text 13"/>
          <p:cNvSpPr txBox="1"/>
          <p:nvPr/>
        </p:nvSpPr>
        <p:spPr>
          <a:xfrm>
            <a:off x="6109462" y="386410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17" name="Langkah 1"/>
          <p:cNvSpPr/>
          <p:nvPr/>
        </p:nvSpPr>
        <p:spPr>
          <a:xfrm>
            <a:off x="7315200" y="1783080"/>
            <a:ext cx="329184" cy="329184"/>
          </a:xfrm>
          <a:prstGeom prst="ellipse">
            <a:avLst/>
          </a:prstGeom>
          <a:solidFill>
            <a:srgbClr val="274289"/>
          </a:solidFill>
          <a:ln w="12700">
            <a:solidFill>
              <a:srgbClr val="274289"/>
            </a:solidFill>
            <a:prstDash val="solid"/>
          </a:ln>
        </p:spPr>
      </p:sp>
      <p:sp>
        <p:nvSpPr>
          <p:cNvPr id="18" name="Text 15"/>
          <p:cNvSpPr txBox="1"/>
          <p:nvPr/>
        </p:nvSpPr>
        <p:spPr>
          <a:xfrm>
            <a:off x="7315200" y="17830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9" name="Text 16"/>
          <p:cNvSpPr txBox="1"/>
          <p:nvPr/>
        </p:nvSpPr>
        <p:spPr>
          <a:xfrm>
            <a:off x="7772400" y="1764792"/>
            <a:ext cx="3749040" cy="566928"/>
          </a:xfrm>
          <a:prstGeom prst="rect">
            <a:avLst/>
          </a:prstGeom>
          <a:noFill/>
          <a:ln/>
        </p:spPr>
        <p:txBody>
          <a:bodyPr wrap="square" lIns="0" tIns="0" rIns="0" bIns="0" rtlCol="0" anchor="t"/>
          <a:lstStyle/>
          <a:p>
            <a:pPr indent="0" marL="0">
              <a:buNone/>
            </a:pPr>
            <a:r>
              <a:rPr lang="en-US" sz="1350" b="1" dirty="0">
                <a:solidFill>
                  <a:srgbClr val="274289"/>
                </a:solidFill>
              </a:rPr>
              <a:t>Buka Permintaan DC → tab PO</a:t>
            </a:r>
            <a:endParaRPr lang="en-US" sz="1350" dirty="0"/>
          </a:p>
          <a:p>
            <a:pPr indent="0" marL="0">
              <a:buNone/>
            </a:pPr>
            <a:r>
              <a:rPr lang="en-US" sz="1350" dirty="0">
                <a:solidFill>
                  <a:srgbClr val="1B2437"/>
                </a:solidFill>
              </a:rPr>
              <a:t>atau tab Giliran saya.</a:t>
            </a:r>
            <a:endParaRPr lang="en-US" sz="1350" dirty="0"/>
          </a:p>
        </p:txBody>
      </p:sp>
      <p:sp>
        <p:nvSpPr>
          <p:cNvPr id="20" name="Langkah 2"/>
          <p:cNvSpPr/>
          <p:nvPr/>
        </p:nvSpPr>
        <p:spPr>
          <a:xfrm>
            <a:off x="7315200" y="2459736"/>
            <a:ext cx="329184" cy="329184"/>
          </a:xfrm>
          <a:prstGeom prst="ellipse">
            <a:avLst/>
          </a:prstGeom>
          <a:solidFill>
            <a:srgbClr val="274289"/>
          </a:solidFill>
          <a:ln w="12700">
            <a:solidFill>
              <a:srgbClr val="274289"/>
            </a:solidFill>
            <a:prstDash val="solid"/>
          </a:ln>
        </p:spPr>
      </p:sp>
      <p:sp>
        <p:nvSpPr>
          <p:cNvPr id="21" name="Text 18"/>
          <p:cNvSpPr txBox="1"/>
          <p:nvPr/>
        </p:nvSpPr>
        <p:spPr>
          <a:xfrm>
            <a:off x="7315200" y="24597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2" name="Text 19"/>
          <p:cNvSpPr txBox="1"/>
          <p:nvPr/>
        </p:nvSpPr>
        <p:spPr>
          <a:xfrm>
            <a:off x="7772400" y="2441448"/>
            <a:ext cx="3749040" cy="777240"/>
          </a:xfrm>
          <a:prstGeom prst="rect">
            <a:avLst/>
          </a:prstGeom>
          <a:noFill/>
          <a:ln/>
        </p:spPr>
        <p:txBody>
          <a:bodyPr wrap="square" lIns="0" tIns="0" rIns="0" bIns="0" rtlCol="0" anchor="t"/>
          <a:lstStyle/>
          <a:p>
            <a:pPr indent="0" marL="0">
              <a:buNone/>
            </a:pPr>
            <a:r>
              <a:rPr lang="en-US" sz="1350" b="1" dirty="0">
                <a:solidFill>
                  <a:srgbClr val="274289"/>
                </a:solidFill>
              </a:rPr>
              <a:t>Klik permintaan</a:t>
            </a:r>
            <a:endParaRPr lang="en-US" sz="1350" dirty="0"/>
          </a:p>
          <a:p>
            <a:pPr indent="0" marL="0">
              <a:buNone/>
            </a:pPr>
            <a:r>
              <a:rPr lang="en-US" sz="1350" dirty="0">
                <a:solidFill>
                  <a:srgbClr val="1B2437"/>
                </a:solidFill>
              </a:rPr>
              <a:t>berstatus Buat PO (PUR sudah di SAP dan masih ada sisa) atau PO ditolak.</a:t>
            </a:r>
            <a:endParaRPr lang="en-US" sz="1350" dirty="0"/>
          </a:p>
        </p:txBody>
      </p:sp>
      <p:sp>
        <p:nvSpPr>
          <p:cNvPr id="23" name="Langkah 3"/>
          <p:cNvSpPr/>
          <p:nvPr/>
        </p:nvSpPr>
        <p:spPr>
          <a:xfrm>
            <a:off x="7315200" y="3346704"/>
            <a:ext cx="329184" cy="329184"/>
          </a:xfrm>
          <a:prstGeom prst="ellipse">
            <a:avLst/>
          </a:prstGeom>
          <a:solidFill>
            <a:srgbClr val="274289"/>
          </a:solidFill>
          <a:ln w="12700">
            <a:solidFill>
              <a:srgbClr val="274289"/>
            </a:solidFill>
            <a:prstDash val="solid"/>
          </a:ln>
        </p:spPr>
      </p:sp>
      <p:sp>
        <p:nvSpPr>
          <p:cNvPr id="24" name="Text 21"/>
          <p:cNvSpPr txBox="1"/>
          <p:nvPr/>
        </p:nvSpPr>
        <p:spPr>
          <a:xfrm>
            <a:off x="7315200" y="33467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5" name="Text 22"/>
          <p:cNvSpPr txBox="1"/>
          <p:nvPr/>
        </p:nvSpPr>
        <p:spPr>
          <a:xfrm>
            <a:off x="7772400" y="3328416"/>
            <a:ext cx="3749040" cy="960120"/>
          </a:xfrm>
          <a:prstGeom prst="rect">
            <a:avLst/>
          </a:prstGeom>
          <a:noFill/>
          <a:ln/>
        </p:spPr>
        <p:txBody>
          <a:bodyPr wrap="square" lIns="0" tIns="0" rIns="0" bIns="0" rtlCol="0" anchor="t"/>
          <a:lstStyle/>
          <a:p>
            <a:pPr indent="0" marL="0">
              <a:buNone/>
            </a:pPr>
            <a:r>
              <a:rPr lang="en-US" sz="1350" b="1" dirty="0">
                <a:solidFill>
                  <a:srgbClr val="274289"/>
                </a:solidFill>
              </a:rPr>
              <a:t>Baca ringkasan</a:t>
            </a:r>
            <a:endParaRPr lang="en-US" sz="1350" dirty="0"/>
          </a:p>
          <a:p>
            <a:pPr indent="0" marL="0">
              <a:buNone/>
            </a:pPr>
            <a:r>
              <a:rPr lang="en-US" sz="1350" dirty="0">
                <a:solidFill>
                  <a:srgbClr val="1B2437"/>
                </a:solidFill>
              </a:rPr>
              <a:t>Qty PUR, sudah di-PO, sisa belum di-PO, dan bilah progres. Di bawahnya satu kartu per vendor.</a:t>
            </a:r>
            <a:endParaRPr lang="en-US" sz="1350" dirty="0"/>
          </a:p>
        </p:txBody>
      </p:sp>
      <p:sp>
        <p:nvSpPr>
          <p:cNvPr id="26" name="Langkah 4"/>
          <p:cNvSpPr/>
          <p:nvPr/>
        </p:nvSpPr>
        <p:spPr>
          <a:xfrm>
            <a:off x="7315200" y="4416552"/>
            <a:ext cx="329184" cy="329184"/>
          </a:xfrm>
          <a:prstGeom prst="ellipse">
            <a:avLst/>
          </a:prstGeom>
          <a:solidFill>
            <a:srgbClr val="274289"/>
          </a:solidFill>
          <a:ln w="12700">
            <a:solidFill>
              <a:srgbClr val="274289"/>
            </a:solidFill>
            <a:prstDash val="solid"/>
          </a:ln>
        </p:spPr>
      </p:sp>
      <p:sp>
        <p:nvSpPr>
          <p:cNvPr id="27" name="Text 24"/>
          <p:cNvSpPr txBox="1"/>
          <p:nvPr/>
        </p:nvSpPr>
        <p:spPr>
          <a:xfrm>
            <a:off x="7315200" y="44165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8" name="Text 25"/>
          <p:cNvSpPr txBox="1"/>
          <p:nvPr/>
        </p:nvSpPr>
        <p:spPr>
          <a:xfrm>
            <a:off x="7772400" y="4398264"/>
            <a:ext cx="3749040" cy="777240"/>
          </a:xfrm>
          <a:prstGeom prst="rect">
            <a:avLst/>
          </a:prstGeom>
          <a:noFill/>
          <a:ln/>
        </p:spPr>
        <p:txBody>
          <a:bodyPr wrap="square" lIns="0" tIns="0" rIns="0" bIns="0" rtlCol="0" anchor="t"/>
          <a:lstStyle/>
          <a:p>
            <a:pPr indent="0" marL="0">
              <a:buNone/>
            </a:pPr>
            <a:r>
              <a:rPr lang="en-US" sz="1350" b="1" dirty="0">
                <a:solidFill>
                  <a:srgbClr val="274289"/>
                </a:solidFill>
              </a:rPr>
              <a:t>Klik + Buat PO</a:t>
            </a:r>
            <a:endParaRPr lang="en-US" sz="1350" dirty="0"/>
          </a:p>
          <a:p>
            <a:pPr indent="0" marL="0">
              <a:buNone/>
            </a:pPr>
            <a:r>
              <a:rPr lang="en-US" sz="1350" dirty="0">
                <a:solidFill>
                  <a:srgbClr val="1B2437"/>
                </a:solidFill>
              </a:rPr>
              <a:t>Hanya muncul bila masih ada sisa dan tidak ada PO yang menunggu approval.</a:t>
            </a:r>
            <a:endParaRPr lang="en-US" sz="1350" dirty="0"/>
          </a:p>
        </p:txBody>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2800" b="1" dirty="0">
                <a:solidFill>
                  <a:schemeClr val="tx2"/>
                </a:solidFill>
              </a:rPr>
              <a:t>Admin purchase · 2. Pilih vendor dan isi barang</a:t>
            </a:r>
            <a:endParaRPr lang="en-US" sz="2800" dirty="0"/>
          </a:p>
        </p:txBody>
      </p:sp>
      <p:sp>
        <p:nvSpPr>
          <p:cNvPr id="3" name="Memilih vendor bingkai"/>
          <p:cNvSpPr/>
          <p:nvPr/>
        </p:nvSpPr>
        <p:spPr>
          <a:xfrm>
            <a:off x="635098" y="1673352"/>
            <a:ext cx="5313485" cy="4197096"/>
          </a:xfrm>
          <a:prstGeom prst="roundRect">
            <a:avLst>
              <a:gd name="adj" fmla="val 2179"/>
            </a:avLst>
          </a:prstGeom>
          <a:solidFill>
            <a:srgbClr val="E4EAF4"/>
          </a:solidFill>
          <a:ln w="9525">
            <a:solidFill>
              <a:srgbClr val="E4EAF4"/>
            </a:solidFill>
            <a:prstDash val="solid"/>
          </a:ln>
          <a:effectLst>
            <a:outerShdw sx="100000" sy="100000" kx="0" ky="0" algn="bl" rotWithShape="0" blurRad="101600" dist="25400" dir="5400000">
              <a:srgbClr val="274289">
                <a:alpha val="12000"/>
              </a:srgbClr>
            </a:outerShdw>
          </a:effectLst>
        </p:spPr>
      </p:sp>
      <p:pic>
        <p:nvPicPr>
          <p:cNvPr id="4" name="Memilih vendor" descr="Layar PID POS: Memilih vendor">    </p:cNvPr>
          <p:cNvPicPr>
            <a:picLocks noChangeAspect="1"/>
          </p:cNvPicPr>
          <p:nvPr/>
        </p:nvPicPr>
        <p:blipFill>
          <a:blip r:embed="rId1"/>
          <a:stretch>
            <a:fillRect/>
          </a:stretch>
        </p:blipFill>
        <p:spPr>
          <a:xfrm>
            <a:off x="699106" y="1737360"/>
            <a:ext cx="5185469" cy="4069080"/>
          </a:xfrm>
          <a:prstGeom prst="rect">
            <a:avLst/>
          </a:prstGeom>
        </p:spPr>
      </p:pic>
      <p:sp>
        <p:nvSpPr>
          <p:cNvPr id="5" name="Sorotan Memilih vendor 1"/>
          <p:cNvSpPr/>
          <p:nvPr/>
        </p:nvSpPr>
        <p:spPr>
          <a:xfrm>
            <a:off x="873389" y="3226269"/>
            <a:ext cx="2419799" cy="472206"/>
          </a:xfrm>
          <a:prstGeom prst="roundRect">
            <a:avLst>
              <a:gd name="adj" fmla="val 9682"/>
            </a:avLst>
          </a:prstGeom>
          <a:ln w="28575">
            <a:solidFill>
              <a:srgbClr val="F2762E"/>
            </a:solidFill>
            <a:prstDash val="solid"/>
          </a:ln>
        </p:spPr>
      </p:sp>
      <p:sp>
        <p:nvSpPr>
          <p:cNvPr id="6" name="Nomor 1"/>
          <p:cNvSpPr/>
          <p:nvPr/>
        </p:nvSpPr>
        <p:spPr>
          <a:xfrm>
            <a:off x="745373" y="3098253"/>
            <a:ext cx="292608" cy="292608"/>
          </a:xfrm>
          <a:prstGeom prst="ellipse">
            <a:avLst/>
          </a:prstGeom>
          <a:solidFill>
            <a:srgbClr val="F2762E"/>
          </a:solidFill>
          <a:ln w="19050">
            <a:solidFill>
              <a:srgbClr val="FFFFFF"/>
            </a:solidFill>
            <a:prstDash val="solid"/>
          </a:ln>
        </p:spPr>
      </p:sp>
      <p:sp>
        <p:nvSpPr>
          <p:cNvPr id="7" name="Text 4"/>
          <p:cNvSpPr txBox="1"/>
          <p:nvPr/>
        </p:nvSpPr>
        <p:spPr>
          <a:xfrm>
            <a:off x="745373" y="3098253"/>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8" name="Mengisi barang bingkai"/>
          <p:cNvSpPr/>
          <p:nvPr/>
        </p:nvSpPr>
        <p:spPr>
          <a:xfrm>
            <a:off x="6108192" y="1734665"/>
            <a:ext cx="5477256" cy="4074471"/>
          </a:xfrm>
          <a:prstGeom prst="roundRect">
            <a:avLst>
              <a:gd name="adj" fmla="val 2244"/>
            </a:avLst>
          </a:prstGeom>
          <a:solidFill>
            <a:srgbClr val="E4EAF4"/>
          </a:solidFill>
          <a:ln w="9525">
            <a:solidFill>
              <a:srgbClr val="E4EAF4"/>
            </a:solidFill>
            <a:prstDash val="solid"/>
          </a:ln>
          <a:effectLst>
            <a:outerShdw sx="100000" sy="100000" kx="0" ky="0" algn="bl" rotWithShape="0" blurRad="101600" dist="25400" dir="5400000">
              <a:srgbClr val="274289">
                <a:alpha val="12000"/>
              </a:srgbClr>
            </a:outerShdw>
          </a:effectLst>
        </p:spPr>
      </p:sp>
      <p:pic>
        <p:nvPicPr>
          <p:cNvPr id="9" name="Mengisi barang" descr="Layar PID POS: Mengisi barang">    </p:cNvPr>
          <p:cNvPicPr>
            <a:picLocks noChangeAspect="1"/>
          </p:cNvPicPr>
          <p:nvPr/>
        </p:nvPicPr>
        <p:blipFill>
          <a:blip r:embed="rId2"/>
          <a:stretch>
            <a:fillRect/>
          </a:stretch>
        </p:blipFill>
        <p:spPr>
          <a:xfrm>
            <a:off x="6172200" y="1798673"/>
            <a:ext cx="5349240" cy="3946455"/>
          </a:xfrm>
          <a:prstGeom prst="rect">
            <a:avLst/>
          </a:prstGeom>
        </p:spPr>
      </p:pic>
      <p:sp>
        <p:nvSpPr>
          <p:cNvPr id="10" name="Sorotan Mengisi barang 1"/>
          <p:cNvSpPr/>
          <p:nvPr/>
        </p:nvSpPr>
        <p:spPr>
          <a:xfrm>
            <a:off x="6352854" y="3712179"/>
            <a:ext cx="1059416" cy="295239"/>
          </a:xfrm>
          <a:prstGeom prst="roundRect">
            <a:avLst>
              <a:gd name="adj" fmla="val 15486"/>
            </a:avLst>
          </a:prstGeom>
          <a:ln w="28575">
            <a:solidFill>
              <a:srgbClr val="F2762E"/>
            </a:solidFill>
            <a:prstDash val="solid"/>
          </a:ln>
        </p:spPr>
      </p:sp>
      <p:sp>
        <p:nvSpPr>
          <p:cNvPr id="11" name="Nomor 2"/>
          <p:cNvSpPr/>
          <p:nvPr/>
        </p:nvSpPr>
        <p:spPr>
          <a:xfrm>
            <a:off x="6224838" y="3584163"/>
            <a:ext cx="292608" cy="292608"/>
          </a:xfrm>
          <a:prstGeom prst="ellipse">
            <a:avLst/>
          </a:prstGeom>
          <a:solidFill>
            <a:srgbClr val="F2762E"/>
          </a:solidFill>
          <a:ln w="19050">
            <a:solidFill>
              <a:srgbClr val="FFFFFF"/>
            </a:solidFill>
            <a:prstDash val="solid"/>
          </a:ln>
        </p:spPr>
      </p:sp>
      <p:sp>
        <p:nvSpPr>
          <p:cNvPr id="12" name="Text 8"/>
          <p:cNvSpPr txBox="1"/>
          <p:nvPr/>
        </p:nvSpPr>
        <p:spPr>
          <a:xfrm>
            <a:off x="6224838" y="3584163"/>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3" name="Sorotan Mengisi barang 2"/>
          <p:cNvSpPr/>
          <p:nvPr/>
        </p:nvSpPr>
        <p:spPr>
          <a:xfrm>
            <a:off x="9014917" y="3712179"/>
            <a:ext cx="2325869" cy="557140"/>
          </a:xfrm>
          <a:prstGeom prst="roundRect">
            <a:avLst>
              <a:gd name="adj" fmla="val 8206"/>
            </a:avLst>
          </a:prstGeom>
          <a:ln w="28575">
            <a:solidFill>
              <a:srgbClr val="F2762E"/>
            </a:solidFill>
            <a:prstDash val="solid"/>
          </a:ln>
        </p:spPr>
      </p:sp>
      <p:sp>
        <p:nvSpPr>
          <p:cNvPr id="14" name="Nomor 3"/>
          <p:cNvSpPr/>
          <p:nvPr/>
        </p:nvSpPr>
        <p:spPr>
          <a:xfrm>
            <a:off x="8886901" y="3584163"/>
            <a:ext cx="292608" cy="292608"/>
          </a:xfrm>
          <a:prstGeom prst="ellipse">
            <a:avLst/>
          </a:prstGeom>
          <a:solidFill>
            <a:srgbClr val="F2762E"/>
          </a:solidFill>
          <a:ln w="19050">
            <a:solidFill>
              <a:srgbClr val="FFFFFF"/>
            </a:solidFill>
            <a:prstDash val="solid"/>
          </a:ln>
        </p:spPr>
      </p:sp>
      <p:sp>
        <p:nvSpPr>
          <p:cNvPr id="15" name="Text 11"/>
          <p:cNvSpPr txBox="1"/>
          <p:nvPr/>
        </p:nvSpPr>
        <p:spPr>
          <a:xfrm>
            <a:off x="8886901" y="3584163"/>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6" name="Sorotan Mengisi barang 3"/>
          <p:cNvSpPr/>
          <p:nvPr/>
        </p:nvSpPr>
        <p:spPr>
          <a:xfrm>
            <a:off x="7386107" y="3712179"/>
            <a:ext cx="1073767" cy="295239"/>
          </a:xfrm>
          <a:prstGeom prst="roundRect">
            <a:avLst>
              <a:gd name="adj" fmla="val 15486"/>
            </a:avLst>
          </a:prstGeom>
          <a:ln w="28575">
            <a:solidFill>
              <a:srgbClr val="F2762E"/>
            </a:solidFill>
            <a:prstDash val="solid"/>
          </a:ln>
        </p:spPr>
      </p:sp>
      <p:sp>
        <p:nvSpPr>
          <p:cNvPr id="17" name="Nomor 4"/>
          <p:cNvSpPr/>
          <p:nvPr/>
        </p:nvSpPr>
        <p:spPr>
          <a:xfrm>
            <a:off x="7258091" y="3584163"/>
            <a:ext cx="292608" cy="292608"/>
          </a:xfrm>
          <a:prstGeom prst="ellipse">
            <a:avLst/>
          </a:prstGeom>
          <a:solidFill>
            <a:srgbClr val="F2762E"/>
          </a:solidFill>
          <a:ln w="19050">
            <a:solidFill>
              <a:srgbClr val="FFFFFF"/>
            </a:solidFill>
            <a:prstDash val="solid"/>
          </a:ln>
        </p:spPr>
      </p:sp>
      <p:sp>
        <p:nvSpPr>
          <p:cNvPr id="18" name="Text 14"/>
          <p:cNvSpPr txBox="1"/>
          <p:nvPr/>
        </p:nvSpPr>
        <p:spPr>
          <a:xfrm>
            <a:off x="7258091" y="3584163"/>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19" name="Text 15"/>
          <p:cNvSpPr txBox="1"/>
          <p:nvPr/>
        </p:nvSpPr>
        <p:spPr>
          <a:xfrm>
            <a:off x="1600200" y="5897880"/>
            <a:ext cx="9921240" cy="502920"/>
          </a:xfrm>
          <a:prstGeom prst="rect">
            <a:avLst/>
          </a:prstGeom>
          <a:noFill/>
          <a:ln/>
        </p:spPr>
        <p:txBody>
          <a:bodyPr wrap="square" lIns="0" tIns="0" rIns="0" bIns="0" rtlCol="0" anchor="t"/>
          <a:lstStyle/>
          <a:p>
            <a:pPr indent="0" marL="0">
              <a:buNone/>
            </a:pPr>
            <a:r>
              <a:rPr lang="en-US" sz="1200" b="1" dirty="0">
                <a:solidFill>
                  <a:srgbClr val="274289"/>
                </a:solidFill>
              </a:rPr>
              <a:t>1 Vendor: </a:t>
            </a:r>
            <a:pPr indent="0" marL="0">
              <a:buNone/>
            </a:pPr>
            <a:r>
              <a:rPr lang="en-US" sz="1200" dirty="0">
                <a:solidFill>
                  <a:srgbClr val="1B2437"/>
                </a:solidFill>
              </a:rPr>
              <a:t>ketik kode/nama, klik dari daftar SAP; satu PO untuk satu vendor (salah pilih → Ganti vendor).  </a:t>
            </a:r>
            <a:pPr indent="0" marL="0">
              <a:buNone/>
            </a:pPr>
            <a:r>
              <a:rPr lang="en-US" sz="1200" b="1" dirty="0">
                <a:solidFill>
                  <a:srgbClr val="274289"/>
                </a:solidFill>
              </a:rPr>
              <a:t>2 Salin dari PUR: </a:t>
            </a:r>
            <a:pPr indent="0" marL="0">
              <a:buNone/>
            </a:pPr>
            <a:r>
              <a:rPr lang="en-US" sz="1200" dirty="0">
                <a:solidFill>
                  <a:srgbClr val="1B2437"/>
                </a:solidFill>
              </a:rPr>
              <a:t>semua barang bersisa, qty = sisa.  </a:t>
            </a:r>
            <a:pPr indent="0" marL="0">
              <a:buNone/>
            </a:pPr>
            <a:r>
              <a:rPr lang="en-US" sz="1200" b="1" dirty="0">
                <a:solidFill>
                  <a:srgbClr val="274289"/>
                </a:solidFill>
              </a:rPr>
              <a:t>3 Cari barang PUR: </a:t>
            </a:r>
            <a:pPr indent="0" marL="0">
              <a:buNone/>
            </a:pPr>
            <a:r>
              <a:rPr lang="en-US" sz="1200" dirty="0">
                <a:solidFill>
                  <a:srgbClr val="1B2437"/>
                </a:solidFill>
              </a:rPr>
              <a:t>tambah satu per satu.  </a:t>
            </a:r>
            <a:pPr indent="0" marL="0">
              <a:buNone/>
            </a:pPr>
            <a:r>
              <a:rPr lang="en-US" sz="1200" b="1" dirty="0">
                <a:solidFill>
                  <a:srgbClr val="274289"/>
                </a:solidFill>
              </a:rPr>
              <a:t>4 Tempel dari Excel. </a:t>
            </a:r>
            <a:pPr indent="0" marL="0">
              <a:buNone/>
            </a:pPr>
            <a:r>
              <a:rPr lang="en-US" sz="1200" dirty="0">
                <a:solidFill>
                  <a:srgbClr val="1B2437"/>
                </a:solidFill>
              </a:rPr>
              <a:t>Filter dek dipakai bila PO dibuat per dek.</a:t>
            </a:r>
            <a:endParaRPr lang="en-US" sz="1200" dirty="0"/>
          </a:p>
        </p:txBody>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2800" b="1" dirty="0">
                <a:solidFill>
                  <a:schemeClr val="tx2"/>
                </a:solidFill>
              </a:rPr>
              <a:t>Admin purchase · 3. Periksa tiap baris, lalu simpan atau ajukan</a:t>
            </a:r>
            <a:endParaRPr lang="en-US" sz="2800" dirty="0"/>
          </a:p>
        </p:txBody>
      </p:sp>
      <p:sp>
        <p:nvSpPr>
          <p:cNvPr id="3" name="PO terisi bingkai"/>
          <p:cNvSpPr/>
          <p:nvPr/>
        </p:nvSpPr>
        <p:spPr>
          <a:xfrm>
            <a:off x="636248" y="1673352"/>
            <a:ext cx="4853985" cy="4654296"/>
          </a:xfrm>
          <a:prstGeom prst="roundRect">
            <a:avLst>
              <a:gd name="adj" fmla="val 1965"/>
            </a:avLst>
          </a:prstGeom>
          <a:solidFill>
            <a:srgbClr val="E4EAF4"/>
          </a:solidFill>
          <a:ln w="9525">
            <a:solidFill>
              <a:srgbClr val="E4EAF4"/>
            </a:solidFill>
            <a:prstDash val="solid"/>
          </a:ln>
          <a:effectLst>
            <a:outerShdw sx="100000" sy="100000" kx="0" ky="0" algn="bl" rotWithShape="0" blurRad="101600" dist="25400" dir="5400000">
              <a:srgbClr val="274289">
                <a:alpha val="12000"/>
              </a:srgbClr>
            </a:outerShdw>
          </a:effectLst>
        </p:spPr>
      </p:sp>
      <p:pic>
        <p:nvPicPr>
          <p:cNvPr id="4" name="PO terisi" descr="Layar PID POS: PO terisi">    </p:cNvPr>
          <p:cNvPicPr>
            <a:picLocks noChangeAspect="1"/>
          </p:cNvPicPr>
          <p:nvPr/>
        </p:nvPicPr>
        <p:blipFill>
          <a:blip r:embed="rId1"/>
          <a:stretch>
            <a:fillRect/>
          </a:stretch>
        </p:blipFill>
        <p:spPr>
          <a:xfrm>
            <a:off x="700256" y="1737360"/>
            <a:ext cx="4725969" cy="4526280"/>
          </a:xfrm>
          <a:prstGeom prst="rect">
            <a:avLst/>
          </a:prstGeom>
        </p:spPr>
      </p:pic>
      <p:sp>
        <p:nvSpPr>
          <p:cNvPr id="5" name="Sorotan PO terisi 1"/>
          <p:cNvSpPr/>
          <p:nvPr/>
        </p:nvSpPr>
        <p:spPr>
          <a:xfrm>
            <a:off x="2688730" y="3725834"/>
            <a:ext cx="758529" cy="1671393"/>
          </a:xfrm>
          <a:prstGeom prst="roundRect">
            <a:avLst>
              <a:gd name="adj" fmla="val 6027"/>
            </a:avLst>
          </a:prstGeom>
          <a:ln w="28575">
            <a:solidFill>
              <a:srgbClr val="F2762E"/>
            </a:solidFill>
            <a:prstDash val="solid"/>
          </a:ln>
        </p:spPr>
      </p:sp>
      <p:sp>
        <p:nvSpPr>
          <p:cNvPr id="6" name="Nomor 1"/>
          <p:cNvSpPr/>
          <p:nvPr/>
        </p:nvSpPr>
        <p:spPr>
          <a:xfrm>
            <a:off x="2560714" y="3597818"/>
            <a:ext cx="292608" cy="292608"/>
          </a:xfrm>
          <a:prstGeom prst="ellipse">
            <a:avLst/>
          </a:prstGeom>
          <a:solidFill>
            <a:srgbClr val="F2762E"/>
          </a:solidFill>
          <a:ln w="19050">
            <a:solidFill>
              <a:srgbClr val="FFFFFF"/>
            </a:solidFill>
            <a:prstDash val="solid"/>
          </a:ln>
        </p:spPr>
      </p:sp>
      <p:sp>
        <p:nvSpPr>
          <p:cNvPr id="7" name="Text 4"/>
          <p:cNvSpPr txBox="1"/>
          <p:nvPr/>
        </p:nvSpPr>
        <p:spPr>
          <a:xfrm>
            <a:off x="2560714" y="359781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8" name="Sorotan PO terisi 2"/>
          <p:cNvSpPr/>
          <p:nvPr/>
        </p:nvSpPr>
        <p:spPr>
          <a:xfrm>
            <a:off x="3481146" y="3725834"/>
            <a:ext cx="676118" cy="1671393"/>
          </a:xfrm>
          <a:prstGeom prst="roundRect">
            <a:avLst>
              <a:gd name="adj" fmla="val 6762"/>
            </a:avLst>
          </a:prstGeom>
          <a:ln w="28575">
            <a:solidFill>
              <a:srgbClr val="F2762E"/>
            </a:solidFill>
            <a:prstDash val="solid"/>
          </a:ln>
        </p:spPr>
      </p:sp>
      <p:sp>
        <p:nvSpPr>
          <p:cNvPr id="9" name="Nomor 2"/>
          <p:cNvSpPr/>
          <p:nvPr/>
        </p:nvSpPr>
        <p:spPr>
          <a:xfrm>
            <a:off x="3353130" y="3597818"/>
            <a:ext cx="292608" cy="292608"/>
          </a:xfrm>
          <a:prstGeom prst="ellipse">
            <a:avLst/>
          </a:prstGeom>
          <a:solidFill>
            <a:srgbClr val="F2762E"/>
          </a:solidFill>
          <a:ln w="19050">
            <a:solidFill>
              <a:srgbClr val="FFFFFF"/>
            </a:solidFill>
            <a:prstDash val="solid"/>
          </a:ln>
        </p:spPr>
      </p:sp>
      <p:sp>
        <p:nvSpPr>
          <p:cNvPr id="10" name="Text 7"/>
          <p:cNvSpPr txBox="1"/>
          <p:nvPr/>
        </p:nvSpPr>
        <p:spPr>
          <a:xfrm>
            <a:off x="3353130" y="359781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Sorotan PO terisi 3"/>
          <p:cNvSpPr/>
          <p:nvPr/>
        </p:nvSpPr>
        <p:spPr>
          <a:xfrm>
            <a:off x="4178472" y="3725834"/>
            <a:ext cx="758529" cy="1671393"/>
          </a:xfrm>
          <a:prstGeom prst="roundRect">
            <a:avLst>
              <a:gd name="adj" fmla="val 6027"/>
            </a:avLst>
          </a:prstGeom>
          <a:ln w="28575">
            <a:solidFill>
              <a:srgbClr val="F2762E"/>
            </a:solidFill>
            <a:prstDash val="solid"/>
          </a:ln>
        </p:spPr>
      </p:sp>
      <p:sp>
        <p:nvSpPr>
          <p:cNvPr id="12" name="Nomor 3"/>
          <p:cNvSpPr/>
          <p:nvPr/>
        </p:nvSpPr>
        <p:spPr>
          <a:xfrm>
            <a:off x="4050456" y="3597818"/>
            <a:ext cx="292608" cy="292608"/>
          </a:xfrm>
          <a:prstGeom prst="ellipse">
            <a:avLst/>
          </a:prstGeom>
          <a:solidFill>
            <a:srgbClr val="F2762E"/>
          </a:solidFill>
          <a:ln w="19050">
            <a:solidFill>
              <a:srgbClr val="FFFFFF"/>
            </a:solidFill>
            <a:prstDash val="solid"/>
          </a:ln>
        </p:spPr>
      </p:sp>
      <p:sp>
        <p:nvSpPr>
          <p:cNvPr id="13" name="Text 10"/>
          <p:cNvSpPr txBox="1"/>
          <p:nvPr/>
        </p:nvSpPr>
        <p:spPr>
          <a:xfrm>
            <a:off x="4050456" y="359781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4" name="Sorotan PO terisi 4"/>
          <p:cNvSpPr/>
          <p:nvPr/>
        </p:nvSpPr>
        <p:spPr>
          <a:xfrm>
            <a:off x="3056411" y="3117259"/>
            <a:ext cx="2219744" cy="314776"/>
          </a:xfrm>
          <a:prstGeom prst="roundRect">
            <a:avLst>
              <a:gd name="adj" fmla="val 14525"/>
            </a:avLst>
          </a:prstGeom>
          <a:ln w="28575">
            <a:solidFill>
              <a:srgbClr val="F2762E"/>
            </a:solidFill>
            <a:prstDash val="solid"/>
          </a:ln>
        </p:spPr>
      </p:sp>
      <p:sp>
        <p:nvSpPr>
          <p:cNvPr id="15" name="Nomor 4"/>
          <p:cNvSpPr/>
          <p:nvPr/>
        </p:nvSpPr>
        <p:spPr>
          <a:xfrm>
            <a:off x="2928395" y="2989243"/>
            <a:ext cx="292608" cy="292608"/>
          </a:xfrm>
          <a:prstGeom prst="ellipse">
            <a:avLst/>
          </a:prstGeom>
          <a:solidFill>
            <a:srgbClr val="F2762E"/>
          </a:solidFill>
          <a:ln w="19050">
            <a:solidFill>
              <a:srgbClr val="FFFFFF"/>
            </a:solidFill>
            <a:prstDash val="solid"/>
          </a:ln>
        </p:spPr>
      </p:sp>
      <p:sp>
        <p:nvSpPr>
          <p:cNvPr id="16" name="Text 13"/>
          <p:cNvSpPr txBox="1"/>
          <p:nvPr/>
        </p:nvSpPr>
        <p:spPr>
          <a:xfrm>
            <a:off x="2928395" y="2989243"/>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17" name="Sorotan PO terisi 5"/>
          <p:cNvSpPr/>
          <p:nvPr/>
        </p:nvSpPr>
        <p:spPr>
          <a:xfrm>
            <a:off x="3199046" y="5833661"/>
            <a:ext cx="1433668" cy="279910"/>
          </a:xfrm>
          <a:prstGeom prst="roundRect">
            <a:avLst>
              <a:gd name="adj" fmla="val 16334"/>
            </a:avLst>
          </a:prstGeom>
          <a:ln w="28575">
            <a:solidFill>
              <a:srgbClr val="F2762E"/>
            </a:solidFill>
            <a:prstDash val="solid"/>
          </a:ln>
        </p:spPr>
      </p:sp>
      <p:sp>
        <p:nvSpPr>
          <p:cNvPr id="18" name="Nomor 5"/>
          <p:cNvSpPr/>
          <p:nvPr/>
        </p:nvSpPr>
        <p:spPr>
          <a:xfrm>
            <a:off x="3071030" y="5705645"/>
            <a:ext cx="292608" cy="292608"/>
          </a:xfrm>
          <a:prstGeom prst="ellipse">
            <a:avLst/>
          </a:prstGeom>
          <a:solidFill>
            <a:srgbClr val="F2762E"/>
          </a:solidFill>
          <a:ln w="19050">
            <a:solidFill>
              <a:srgbClr val="FFFFFF"/>
            </a:solidFill>
            <a:prstDash val="solid"/>
          </a:ln>
        </p:spPr>
      </p:sp>
      <p:sp>
        <p:nvSpPr>
          <p:cNvPr id="19" name="Text 16"/>
          <p:cNvSpPr txBox="1"/>
          <p:nvPr/>
        </p:nvSpPr>
        <p:spPr>
          <a:xfrm>
            <a:off x="3071030" y="5705645"/>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715000" y="1737360"/>
          <a:ext cx="5806440" cy="914400"/>
        </p:xfrm>
        <a:graphic>
          <a:graphicData uri="http://schemas.openxmlformats.org/drawingml/2006/table">
            <a:tbl>
              <a:tblPr/>
              <a:tblGrid>
                <a:gridCol w="365760"/>
                <a:gridCol w="1600200"/>
                <a:gridCol w="3840480"/>
              </a:tblGrid>
              <a:tr h="0">
                <a:tc>
                  <a:txBody>
                    <a:bodyPr/>
                    <a:lstStyle/>
                    <a:p>
                      <a:pPr indent="0" marL="0">
                        <a:buNone/>
                      </a:pP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27428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Kolom</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27428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Aturan</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274289"/>
                    </a:solidFill>
                  </a:tcPr>
                </a:tc>
              </a:tr>
              <a:tr h="0">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Qty PO</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Tidak boleh melebihi Sisa (sisa PUR dikurangi PO vendor lain yang masih aktif); melebihi = baris merah</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Harga beli (sblm PPN)</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Terisi dari PO final terakhir vendor itu; ubah bila berbeda; wajib diisi</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r>
              <a:tr h="0">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Pajak</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Bawaan dari master barang setelah aturan pajak; bisa diubah per baris</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Catatan</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Opsional, mis. “Kirim ke DC Jakarta paling lambat 30 Okt”</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715000" y="4343400"/>
          <a:ext cx="5806440" cy="914400"/>
        </p:xfrm>
        <a:graphic>
          <a:graphicData uri="http://schemas.openxmlformats.org/drawingml/2006/table">
            <a:tbl>
              <a:tblPr/>
              <a:tblGrid>
                <a:gridCol w="1417320"/>
                <a:gridCol w="3017520"/>
                <a:gridCol w="137160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5 Tombol</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27428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Hasil</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27428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Status PO</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274289"/>
                    </a:solidFill>
                  </a:tcPr>
                </a:tc>
              </a:tr>
              <a:tr h="0">
                <a:tc>
                  <a:txBody>
                    <a:bodyPr/>
                    <a:lstStyle/>
                    <a:p>
                      <a:pPr indent="0" marL="0">
                        <a:buNone/>
                      </a:pPr>
                      <a:r>
                        <a:rPr lang="en-US" sz="1150" b="1" dirty="0">
                          <a:solidFill>
                            <a:srgbClr val="274289"/>
                          </a:solidFill>
                          <a:latin typeface="Calibri" pitchFamily="34" charset="0"/>
                          <a:ea typeface="Calibri" pitchFamily="34" charset="-122"/>
                          <a:cs typeface="Calibri" pitchFamily="34" charset="-120"/>
                        </a:rPr>
                        <a:t>Simpan draft</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Tersimpan di web, belum ke SAP; qty sudah dicadangkan</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Draft</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274289"/>
                          </a:solidFill>
                          <a:latin typeface="Calibri" pitchFamily="34" charset="0"/>
                          <a:ea typeface="Calibri" pitchFamily="34" charset="-122"/>
                          <a:cs typeface="Calibri" pitchFamily="34" charset="-120"/>
                        </a:rPr>
                        <a:t>Ajukan approval</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Masuk SAP sebagai Draft, menunggu Approve PO level 1</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150" dirty="0">
                          <a:solidFill>
                            <a:srgbClr val="1B2437"/>
                          </a:solidFill>
                          <a:latin typeface="Calibri" pitchFamily="34" charset="0"/>
                          <a:ea typeface="Calibri" pitchFamily="34" charset="-122"/>
                          <a:cs typeface="Calibri" pitchFamily="34" charset="-120"/>
                        </a:rPr>
                        <a:t>Menunggu approval</a:t>
                      </a:r>
                      <a:endParaRPr lang="en-US" sz="11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r>
            </a:tbl>
          </a:graphicData>
        </a:graphic>
      </p:graphicFrame>
      <p:sp>
        <p:nvSpPr>
          <p:cNvPr id="22" name="Text 17"/>
          <p:cNvSpPr txBox="1"/>
          <p:nvPr/>
        </p:nvSpPr>
        <p:spPr>
          <a:xfrm>
            <a:off x="5715000" y="5669280"/>
            <a:ext cx="5806440" cy="457200"/>
          </a:xfrm>
          <a:prstGeom prst="rect">
            <a:avLst/>
          </a:prstGeom>
          <a:noFill/>
          <a:ln/>
        </p:spPr>
        <p:txBody>
          <a:bodyPr wrap="square" lIns="0" tIns="0" rIns="0" bIns="0" rtlCol="0" anchor="t"/>
          <a:lstStyle/>
          <a:p>
            <a:pPr indent="0" marL="0">
              <a:buNone/>
            </a:pPr>
            <a:r>
              <a:rPr lang="en-US" sz="1150" i="1" dirty="0">
                <a:solidFill>
                  <a:srgbClr val="5B6B86"/>
                </a:solidFill>
              </a:rPr>
              <a:t>Tombol tidak aktif bila vendor belum dipilih, belum ada barang, ada baris merah, atau total Rp 0.</a:t>
            </a:r>
            <a:endParaRPr lang="en-US" sz="1150" dirty="0"/>
          </a:p>
        </p:txBody>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2800" b="1" dirty="0">
                <a:solidFill>
                  <a:schemeClr val="tx2"/>
                </a:solidFill>
              </a:rPr>
              <a:t>Admin purchase · 4. Mengelola PO sebelum final</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35640" cy="914400"/>
        </p:xfrm>
        <a:graphic>
          <a:graphicData uri="http://schemas.openxmlformats.org/drawingml/2006/table">
            <a:tbl>
              <a:tblPr/>
              <a:tblGrid>
                <a:gridCol w="2011680"/>
                <a:gridCol w="3108960"/>
                <a:gridCol w="5715000"/>
              </a:tblGrid>
              <a:tr h="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Status PO</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27428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Tombol di kartu</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27428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Akibat</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274289"/>
                    </a:solidFill>
                  </a:tcPr>
                </a:tc>
              </a:tr>
              <a:tr h="0">
                <a:tc>
                  <a:txBody>
                    <a:bodyPr/>
                    <a:lstStyle/>
                    <a:p>
                      <a:pPr indent="0" marL="0">
                        <a:buNone/>
                      </a:pPr>
                      <a:r>
                        <a:rPr lang="en-US" sz="1250" b="1" dirty="0">
                          <a:solidFill>
                            <a:srgbClr val="274289"/>
                          </a:solidFill>
                          <a:latin typeface="Calibri" pitchFamily="34" charset="0"/>
                          <a:ea typeface="Calibri" pitchFamily="34" charset="-122"/>
                          <a:cs typeface="Calibri" pitchFamily="34" charset="-120"/>
                        </a:rPr>
                        <a:t>Draft</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Ubah · Ajukan · Batalkan</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Ajukan = Draft SAP, approval mulai level 1</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274289"/>
                          </a:solidFill>
                          <a:latin typeface="Calibri" pitchFamily="34" charset="0"/>
                          <a:ea typeface="Calibri" pitchFamily="34" charset="-122"/>
                          <a:cs typeface="Calibri" pitchFamily="34" charset="-120"/>
                        </a:rPr>
                        <a:t>Menunggu approval</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Ubah · Batalkan</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Ubah + Ajukan = Draft SAP diperbarui, approval mulai lagi dari level 1; Ubah + Simpan draft = pengajuan ditarik</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r>
              <a:tr h="0">
                <a:tc>
                  <a:txBody>
                    <a:bodyPr/>
                    <a:lstStyle/>
                    <a:p>
                      <a:pPr indent="0" marL="0">
                        <a:buNone/>
                      </a:pPr>
                      <a:r>
                        <a:rPr lang="en-US" sz="1250" b="1" dirty="0">
                          <a:solidFill>
                            <a:srgbClr val="C0392B"/>
                          </a:solidFill>
                          <a:latin typeface="Calibri" pitchFamily="34" charset="0"/>
                          <a:ea typeface="Calibri" pitchFamily="34" charset="-122"/>
                          <a:cs typeface="Calibri" pitchFamily="34" charset="-120"/>
                        </a:rPr>
                        <a:t>Ditolak</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Ubah &amp; ajukan ulang · Ajukan · Batalkan</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Alasan penolakan tampil merah di kartu</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2E7D4F"/>
                          </a:solidFill>
                          <a:latin typeface="Calibri" pitchFamily="34" charset="0"/>
                          <a:ea typeface="Calibri" pitchFamily="34" charset="-122"/>
                          <a:cs typeface="Calibri" pitchFamily="34" charset="-120"/>
                        </a:rPr>
                        <a:t>Final</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Lihat</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Tidak bisa diubah/dibatalkan dari web; pembatalan di SAP</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r>
              <a:tr h="0">
                <a:tc>
                  <a:txBody>
                    <a:bodyPr/>
                    <a:lstStyle/>
                    <a:p>
                      <a:pPr indent="0" marL="0">
                        <a:buNone/>
                      </a:pPr>
                      <a:r>
                        <a:rPr lang="en-US" sz="1250" b="1" dirty="0">
                          <a:solidFill>
                            <a:srgbClr val="5B6B86"/>
                          </a:solidFill>
                          <a:latin typeface="Calibri" pitchFamily="34" charset="0"/>
                          <a:ea typeface="Calibri" pitchFamily="34" charset="-122"/>
                          <a:cs typeface="Calibri" pitchFamily="34" charset="-120"/>
                        </a:rPr>
                        <a:t>Dibatalkan</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Lihat</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Draft SAP dihapus; qty kembali menjadi sisa PUR</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bl>
          </a:graphicData>
        </a:graphic>
      </p:graphicFrame>
      <p:sp>
        <p:nvSpPr>
          <p:cNvPr id="4" name="Kartu PO ditolak bingkai"/>
          <p:cNvSpPr/>
          <p:nvPr/>
        </p:nvSpPr>
        <p:spPr>
          <a:xfrm>
            <a:off x="621792" y="4634747"/>
            <a:ext cx="6163056" cy="1246105"/>
          </a:xfrm>
          <a:prstGeom prst="roundRect">
            <a:avLst>
              <a:gd name="adj" fmla="val 7338"/>
            </a:avLst>
          </a:prstGeom>
          <a:solidFill>
            <a:srgbClr val="E4EAF4"/>
          </a:solidFill>
          <a:ln w="9525">
            <a:solidFill>
              <a:srgbClr val="E4EAF4"/>
            </a:solidFill>
            <a:prstDash val="solid"/>
          </a:ln>
          <a:effectLst>
            <a:outerShdw sx="100000" sy="100000" kx="0" ky="0" algn="bl" rotWithShape="0" blurRad="101600" dist="25400" dir="5400000">
              <a:srgbClr val="274289">
                <a:alpha val="12000"/>
              </a:srgbClr>
            </a:outerShdw>
          </a:effectLst>
        </p:spPr>
      </p:sp>
      <p:pic>
        <p:nvPicPr>
          <p:cNvPr id="5" name="Kartu PO ditolak" descr="Layar PID POS: Kartu PO ditolak">    </p:cNvPr>
          <p:cNvPicPr>
            <a:picLocks noChangeAspect="1"/>
          </p:cNvPicPr>
          <p:nvPr/>
        </p:nvPicPr>
        <p:blipFill>
          <a:blip r:embed="rId1"/>
          <a:stretch>
            <a:fillRect/>
          </a:stretch>
        </p:blipFill>
        <p:spPr>
          <a:xfrm>
            <a:off x="685800" y="4698755"/>
            <a:ext cx="6035040" cy="1118089"/>
          </a:xfrm>
          <a:prstGeom prst="rect">
            <a:avLst/>
          </a:prstGeom>
        </p:spPr>
      </p:pic>
      <p:sp>
        <p:nvSpPr>
          <p:cNvPr id="6" name="Sorotan Kartu PO ditolak 1"/>
          <p:cNvSpPr/>
          <p:nvPr/>
        </p:nvSpPr>
        <p:spPr>
          <a:xfrm>
            <a:off x="4558474" y="5208358"/>
            <a:ext cx="1049699" cy="296970"/>
          </a:xfrm>
          <a:prstGeom prst="roundRect">
            <a:avLst>
              <a:gd name="adj" fmla="val 15395"/>
            </a:avLst>
          </a:prstGeom>
          <a:ln w="28575">
            <a:solidFill>
              <a:srgbClr val="F2762E"/>
            </a:solidFill>
            <a:prstDash val="solid"/>
          </a:ln>
        </p:spPr>
      </p:sp>
      <p:sp>
        <p:nvSpPr>
          <p:cNvPr id="7" name="Text 3"/>
          <p:cNvSpPr txBox="1"/>
          <p:nvPr/>
        </p:nvSpPr>
        <p:spPr>
          <a:xfrm>
            <a:off x="7040880" y="4663440"/>
            <a:ext cx="4480560" cy="1188720"/>
          </a:xfrm>
          <a:prstGeom prst="rect">
            <a:avLst/>
          </a:prstGeom>
          <a:noFill/>
          <a:ln/>
        </p:spPr>
        <p:txBody>
          <a:bodyPr wrap="square" lIns="0" tIns="0" rIns="0" bIns="0" rtlCol="0" anchor="t"/>
          <a:lstStyle/>
          <a:p>
            <a:pPr indent="0" marL="0">
              <a:buNone/>
            </a:pPr>
            <a:r>
              <a:rPr lang="en-US" sz="1300" b="1" dirty="0">
                <a:solidFill>
                  <a:srgbClr val="274289"/>
                </a:solidFill>
              </a:rPr>
              <a:t>Beberapa vendor: </a:t>
            </a:r>
            <a:pPr indent="0" marL="0">
              <a:buNone/>
            </a:pPr>
            <a:r>
              <a:rPr lang="en-US" sz="1300" dirty="0">
                <a:solidFill>
                  <a:srgbClr val="1B2437"/>
                </a:solidFill>
              </a:rPr>
              <a:t>buat PO pertama, lalu + Buat PO lagi untuk sisanya. Kolom Sisa sudah dikurangi PO aktif vendor lain, jadi qty tidak bisa dobel.</a:t>
            </a:r>
            <a:endParaRPr lang="en-US" sz="1300" dirty="0"/>
          </a:p>
        </p:txBody>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2800" b="1" dirty="0">
                <a:solidFill>
                  <a:schemeClr val="tx2"/>
                </a:solidFill>
              </a:rPr>
              <a:t>Approve PO · Temukan, periksa, putuskan</a:t>
            </a:r>
            <a:endParaRPr lang="en-US" sz="2800" dirty="0"/>
          </a:p>
        </p:txBody>
      </p:sp>
      <p:sp>
        <p:nvSpPr>
          <p:cNvPr id="3" name="PO menunggu approval bingkai"/>
          <p:cNvSpPr/>
          <p:nvPr/>
        </p:nvSpPr>
        <p:spPr>
          <a:xfrm>
            <a:off x="621792" y="1678432"/>
            <a:ext cx="5248656" cy="3684016"/>
          </a:xfrm>
          <a:prstGeom prst="roundRect">
            <a:avLst>
              <a:gd name="adj" fmla="val 2482"/>
            </a:avLst>
          </a:prstGeom>
          <a:solidFill>
            <a:srgbClr val="E4EAF4"/>
          </a:solidFill>
          <a:ln w="9525">
            <a:solidFill>
              <a:srgbClr val="E4EAF4"/>
            </a:solidFill>
            <a:prstDash val="solid"/>
          </a:ln>
          <a:effectLst>
            <a:outerShdw sx="100000" sy="100000" kx="0" ky="0" algn="bl" rotWithShape="0" blurRad="101600" dist="25400" dir="5400000">
              <a:srgbClr val="274289">
                <a:alpha val="12000"/>
              </a:srgbClr>
            </a:outerShdw>
          </a:effectLst>
        </p:spPr>
      </p:sp>
      <p:pic>
        <p:nvPicPr>
          <p:cNvPr id="4" name="PO menunggu approval" descr="Layar PID POS: PO menunggu approval">    </p:cNvPr>
          <p:cNvPicPr>
            <a:picLocks noChangeAspect="1"/>
          </p:cNvPicPr>
          <p:nvPr/>
        </p:nvPicPr>
        <p:blipFill>
          <a:blip r:embed="rId1"/>
          <a:stretch>
            <a:fillRect/>
          </a:stretch>
        </p:blipFill>
        <p:spPr>
          <a:xfrm>
            <a:off x="685800" y="1742440"/>
            <a:ext cx="5120640" cy="3556000"/>
          </a:xfrm>
          <a:prstGeom prst="rect">
            <a:avLst/>
          </a:prstGeom>
        </p:spPr>
      </p:pic>
      <p:sp>
        <p:nvSpPr>
          <p:cNvPr id="5" name="Sorotan PO menunggu approval 1"/>
          <p:cNvSpPr/>
          <p:nvPr/>
        </p:nvSpPr>
        <p:spPr>
          <a:xfrm>
            <a:off x="734229" y="2238925"/>
            <a:ext cx="581152" cy="197104"/>
          </a:xfrm>
          <a:prstGeom prst="roundRect">
            <a:avLst>
              <a:gd name="adj" fmla="val 23196"/>
            </a:avLst>
          </a:prstGeom>
          <a:ln w="28575">
            <a:solidFill>
              <a:srgbClr val="F2762E"/>
            </a:solidFill>
            <a:prstDash val="solid"/>
          </a:ln>
        </p:spPr>
      </p:sp>
      <p:sp>
        <p:nvSpPr>
          <p:cNvPr id="6" name="Nomor 1"/>
          <p:cNvSpPr/>
          <p:nvPr/>
        </p:nvSpPr>
        <p:spPr>
          <a:xfrm>
            <a:off x="606213" y="2110909"/>
            <a:ext cx="292608" cy="292608"/>
          </a:xfrm>
          <a:prstGeom prst="ellipse">
            <a:avLst/>
          </a:prstGeom>
          <a:solidFill>
            <a:srgbClr val="F2762E"/>
          </a:solidFill>
          <a:ln w="19050">
            <a:solidFill>
              <a:srgbClr val="FFFFFF"/>
            </a:solidFill>
            <a:prstDash val="solid"/>
          </a:ln>
        </p:spPr>
      </p:sp>
      <p:sp>
        <p:nvSpPr>
          <p:cNvPr id="7" name="Text 4"/>
          <p:cNvSpPr txBox="1"/>
          <p:nvPr/>
        </p:nvSpPr>
        <p:spPr>
          <a:xfrm>
            <a:off x="606213" y="2110909"/>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8" name="Sorotan PO menunggu approval 2"/>
          <p:cNvSpPr/>
          <p:nvPr/>
        </p:nvSpPr>
        <p:spPr>
          <a:xfrm>
            <a:off x="734229" y="2988056"/>
            <a:ext cx="1439333" cy="408093"/>
          </a:xfrm>
          <a:prstGeom prst="roundRect">
            <a:avLst>
              <a:gd name="adj" fmla="val 11203"/>
            </a:avLst>
          </a:prstGeom>
          <a:ln w="28575">
            <a:solidFill>
              <a:srgbClr val="F2762E"/>
            </a:solidFill>
            <a:prstDash val="solid"/>
          </a:ln>
        </p:spPr>
      </p:sp>
      <p:sp>
        <p:nvSpPr>
          <p:cNvPr id="9" name="Nomor 2"/>
          <p:cNvSpPr/>
          <p:nvPr/>
        </p:nvSpPr>
        <p:spPr>
          <a:xfrm>
            <a:off x="606213" y="2860040"/>
            <a:ext cx="292608" cy="292608"/>
          </a:xfrm>
          <a:prstGeom prst="ellipse">
            <a:avLst/>
          </a:prstGeom>
          <a:solidFill>
            <a:srgbClr val="F2762E"/>
          </a:solidFill>
          <a:ln w="19050">
            <a:solidFill>
              <a:srgbClr val="FFFFFF"/>
            </a:solidFill>
            <a:prstDash val="solid"/>
          </a:ln>
        </p:spPr>
      </p:sp>
      <p:sp>
        <p:nvSpPr>
          <p:cNvPr id="10" name="Text 7"/>
          <p:cNvSpPr txBox="1"/>
          <p:nvPr/>
        </p:nvSpPr>
        <p:spPr>
          <a:xfrm>
            <a:off x="606213" y="2860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Sorotan PO menunggu approval 3"/>
          <p:cNvSpPr/>
          <p:nvPr/>
        </p:nvSpPr>
        <p:spPr>
          <a:xfrm>
            <a:off x="2315464" y="4761315"/>
            <a:ext cx="3302677" cy="564557"/>
          </a:xfrm>
          <a:prstGeom prst="roundRect">
            <a:avLst>
              <a:gd name="adj" fmla="val 8098"/>
            </a:avLst>
          </a:prstGeom>
          <a:ln w="28575">
            <a:solidFill>
              <a:srgbClr val="F2762E"/>
            </a:solidFill>
            <a:prstDash val="solid"/>
          </a:ln>
        </p:spPr>
      </p:sp>
      <p:sp>
        <p:nvSpPr>
          <p:cNvPr id="12" name="Nomor 3"/>
          <p:cNvSpPr/>
          <p:nvPr/>
        </p:nvSpPr>
        <p:spPr>
          <a:xfrm>
            <a:off x="2187448" y="4633299"/>
            <a:ext cx="292608" cy="292608"/>
          </a:xfrm>
          <a:prstGeom prst="ellipse">
            <a:avLst/>
          </a:prstGeom>
          <a:solidFill>
            <a:srgbClr val="F2762E"/>
          </a:solidFill>
          <a:ln w="19050">
            <a:solidFill>
              <a:srgbClr val="FFFFFF"/>
            </a:solidFill>
            <a:prstDash val="solid"/>
          </a:ln>
        </p:spPr>
      </p:sp>
      <p:sp>
        <p:nvSpPr>
          <p:cNvPr id="13" name="Text 10"/>
          <p:cNvSpPr txBox="1"/>
          <p:nvPr/>
        </p:nvSpPr>
        <p:spPr>
          <a:xfrm>
            <a:off x="2187448" y="4633299"/>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4" name="Langkah 1"/>
          <p:cNvSpPr/>
          <p:nvPr/>
        </p:nvSpPr>
        <p:spPr>
          <a:xfrm>
            <a:off x="6126480" y="1783080"/>
            <a:ext cx="329184" cy="329184"/>
          </a:xfrm>
          <a:prstGeom prst="ellipse">
            <a:avLst/>
          </a:prstGeom>
          <a:solidFill>
            <a:srgbClr val="274289"/>
          </a:solidFill>
          <a:ln w="12700">
            <a:solidFill>
              <a:srgbClr val="274289"/>
            </a:solidFill>
            <a:prstDash val="solid"/>
          </a:ln>
        </p:spPr>
      </p:sp>
      <p:sp>
        <p:nvSpPr>
          <p:cNvPr id="15" name="Text 12"/>
          <p:cNvSpPr txBox="1"/>
          <p:nvPr/>
        </p:nvSpPr>
        <p:spPr>
          <a:xfrm>
            <a:off x="6126480" y="17830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6" name="Text 13"/>
          <p:cNvSpPr txBox="1"/>
          <p:nvPr/>
        </p:nvSpPr>
        <p:spPr>
          <a:xfrm>
            <a:off x="6583680" y="1764792"/>
            <a:ext cx="4937760" cy="566928"/>
          </a:xfrm>
          <a:prstGeom prst="rect">
            <a:avLst/>
          </a:prstGeom>
          <a:noFill/>
          <a:ln/>
        </p:spPr>
        <p:txBody>
          <a:bodyPr wrap="square" lIns="0" tIns="0" rIns="0" bIns="0" rtlCol="0" anchor="t"/>
          <a:lstStyle/>
          <a:p>
            <a:pPr indent="0" marL="0">
              <a:buNone/>
            </a:pPr>
            <a:r>
              <a:rPr lang="en-US" sz="1300" b="1" dirty="0">
                <a:solidFill>
                  <a:srgbClr val="274289"/>
                </a:solidFill>
              </a:rPr>
              <a:t>Tab Giliran saya</a:t>
            </a:r>
            <a:endParaRPr lang="en-US" sz="1300" dirty="0"/>
          </a:p>
          <a:p>
            <a:pPr indent="0" marL="0">
              <a:buNone/>
            </a:pPr>
            <a:r>
              <a:rPr lang="en-US" sz="1300" dirty="0">
                <a:solidFill>
                  <a:srgbClr val="1B2437"/>
                </a:solidFill>
              </a:rPr>
              <a:t>Permintaan berstatus Approval PO · Draft SAP menunggu Anda (angka di tab = jumlahnya).</a:t>
            </a:r>
            <a:endParaRPr lang="en-US" sz="1300" dirty="0"/>
          </a:p>
        </p:txBody>
      </p:sp>
      <p:sp>
        <p:nvSpPr>
          <p:cNvPr id="17" name="Langkah 2"/>
          <p:cNvSpPr/>
          <p:nvPr/>
        </p:nvSpPr>
        <p:spPr>
          <a:xfrm>
            <a:off x="6126480" y="2441448"/>
            <a:ext cx="329184" cy="329184"/>
          </a:xfrm>
          <a:prstGeom prst="ellipse">
            <a:avLst/>
          </a:prstGeom>
          <a:solidFill>
            <a:srgbClr val="274289"/>
          </a:solidFill>
          <a:ln w="12700">
            <a:solidFill>
              <a:srgbClr val="274289"/>
            </a:solidFill>
            <a:prstDash val="solid"/>
          </a:ln>
        </p:spPr>
      </p:sp>
      <p:sp>
        <p:nvSpPr>
          <p:cNvPr id="18" name="Text 15"/>
          <p:cNvSpPr txBox="1"/>
          <p:nvPr/>
        </p:nvSpPr>
        <p:spPr>
          <a:xfrm>
            <a:off x="6126480" y="24414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9" name="Text 16"/>
          <p:cNvSpPr txBox="1"/>
          <p:nvPr/>
        </p:nvSpPr>
        <p:spPr>
          <a:xfrm>
            <a:off x="6583680" y="2423160"/>
            <a:ext cx="4937760" cy="566928"/>
          </a:xfrm>
          <a:prstGeom prst="rect">
            <a:avLst/>
          </a:prstGeom>
          <a:noFill/>
          <a:ln/>
        </p:spPr>
        <p:txBody>
          <a:bodyPr wrap="square" lIns="0" tIns="0" rIns="0" bIns="0" rtlCol="0" anchor="t"/>
          <a:lstStyle/>
          <a:p>
            <a:pPr indent="0" marL="0">
              <a:buNone/>
            </a:pPr>
            <a:r>
              <a:rPr lang="en-US" sz="1300" b="1" dirty="0">
                <a:solidFill>
                  <a:srgbClr val="274289"/>
                </a:solidFill>
              </a:rPr>
              <a:t>Buka permintaannya</a:t>
            </a:r>
            <a:endParaRPr lang="en-US" sz="1300" dirty="0"/>
          </a:p>
          <a:p>
            <a:pPr indent="0" marL="0">
              <a:buNone/>
            </a:pPr>
            <a:r>
              <a:rPr lang="en-US" sz="1300" dirty="0">
                <a:solidFill>
                  <a:srgbClr val="1B2437"/>
                </a:solidFill>
              </a:rPr>
              <a:t>Kotak Approval PO hanya muncul bila level itu giliran Anda.</a:t>
            </a:r>
            <a:endParaRPr lang="en-US" sz="1300" dirty="0"/>
          </a:p>
        </p:txBody>
      </p:sp>
      <p:sp>
        <p:nvSpPr>
          <p:cNvPr id="20" name="Langkah 3"/>
          <p:cNvSpPr/>
          <p:nvPr/>
        </p:nvSpPr>
        <p:spPr>
          <a:xfrm>
            <a:off x="6126480" y="3099816"/>
            <a:ext cx="329184" cy="329184"/>
          </a:xfrm>
          <a:prstGeom prst="ellipse">
            <a:avLst/>
          </a:prstGeom>
          <a:solidFill>
            <a:srgbClr val="274289"/>
          </a:solidFill>
          <a:ln w="12700">
            <a:solidFill>
              <a:srgbClr val="274289"/>
            </a:solidFill>
            <a:prstDash val="solid"/>
          </a:ln>
        </p:spPr>
      </p:sp>
      <p:sp>
        <p:nvSpPr>
          <p:cNvPr id="21" name="Text 18"/>
          <p:cNvSpPr txBox="1"/>
          <p:nvPr/>
        </p:nvSpPr>
        <p:spPr>
          <a:xfrm>
            <a:off x="6126480" y="30998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2" name="Text 19"/>
          <p:cNvSpPr txBox="1"/>
          <p:nvPr/>
        </p:nvSpPr>
        <p:spPr>
          <a:xfrm>
            <a:off x="6583680" y="3081528"/>
            <a:ext cx="4937760" cy="502920"/>
          </a:xfrm>
          <a:prstGeom prst="rect">
            <a:avLst/>
          </a:prstGeom>
          <a:noFill/>
          <a:ln/>
        </p:spPr>
        <p:txBody>
          <a:bodyPr wrap="square" lIns="0" tIns="0" rIns="0" bIns="0" rtlCol="0" anchor="t"/>
          <a:lstStyle/>
          <a:p>
            <a:pPr indent="0" marL="0">
              <a:buNone/>
            </a:pPr>
            <a:r>
              <a:rPr lang="en-US" sz="1300" b="1" dirty="0">
                <a:solidFill>
                  <a:srgbClr val="274289"/>
                </a:solidFill>
              </a:rPr>
              <a:t>Kartu “Menunggu approval · level n” → Lihat</a:t>
            </a:r>
            <a:endParaRPr lang="en-US" sz="1300" dirty="0"/>
          </a:p>
          <a:p>
            <a:pPr indent="0" marL="0">
              <a:buNone/>
            </a:pPr>
            <a:r>
              <a:rPr lang="en-US" sz="1300" dirty="0">
                <a:solidFill>
                  <a:srgbClr val="1B2437"/>
                </a:solidFill>
              </a:rPr>
              <a:t>Periksa sebelum memutuskan:</a:t>
            </a:r>
            <a:endParaRPr lang="en-US" sz="1300" dirty="0"/>
          </a:p>
        </p:txBody>
      </p:sp>
      <p:sp>
        <p:nvSpPr>
          <p:cNvPr id="23" name="Text 20"/>
          <p:cNvSpPr txBox="1"/>
          <p:nvPr/>
        </p:nvSpPr>
        <p:spPr>
          <a:xfrm>
            <a:off x="6583680" y="3657600"/>
            <a:ext cx="4937760" cy="1463040"/>
          </a:xfrm>
          <a:prstGeom prst="rect">
            <a:avLst/>
          </a:prstGeom>
          <a:noFill/>
          <a:ln/>
        </p:spPr>
        <p:txBody>
          <a:bodyPr wrap="square" lIns="0" tIns="0" rIns="0" bIns="0" rtlCol="0" anchor="t"/>
          <a:lstStyle/>
          <a:p>
            <a:pPr indent="0" marL="0">
              <a:spcAft>
                <a:spcPts val="200"/>
              </a:spcAft>
              <a:buNone/>
            </a:pPr>
            <a:r>
              <a:rPr lang="en-US" sz="1250" dirty="0">
                <a:solidFill>
                  <a:srgbClr val="1B2437"/>
                </a:solidFill>
              </a:rPr>
              <a:t>✓  Vendor benar dan aktif di SAP</a:t>
            </a:r>
            <a:endParaRPr lang="en-US" sz="1250" dirty="0"/>
          </a:p>
          <a:p>
            <a:pPr indent="0" marL="0">
              <a:spcAft>
                <a:spcPts val="200"/>
              </a:spcAft>
              <a:buNone/>
            </a:pPr>
            <a:r>
              <a:rPr lang="en-US" sz="1250" dirty="0">
                <a:solidFill>
                  <a:srgbClr val="1B2437"/>
                </a:solidFill>
              </a:rPr>
              <a:t>✓  Harga beli wajar dibanding PO sebelumnya</a:t>
            </a:r>
            <a:endParaRPr lang="en-US" sz="1250" dirty="0"/>
          </a:p>
          <a:p>
            <a:pPr indent="0" marL="0">
              <a:spcAft>
                <a:spcPts val="200"/>
              </a:spcAft>
              <a:buNone/>
            </a:pPr>
            <a:r>
              <a:rPr lang="en-US" sz="1250" dirty="0">
                <a:solidFill>
                  <a:srgbClr val="1B2437"/>
                </a:solidFill>
              </a:rPr>
              <a:t>✓  Pajak per baris sesuai (mis. VAT I-E 11%, VAT I-C 0%)</a:t>
            </a:r>
            <a:endParaRPr lang="en-US" sz="1250" dirty="0"/>
          </a:p>
          <a:p>
            <a:pPr indent="0" marL="0">
              <a:spcAft>
                <a:spcPts val="200"/>
              </a:spcAft>
              <a:buNone/>
            </a:pPr>
            <a:r>
              <a:rPr lang="en-US" sz="1250" dirty="0">
                <a:solidFill>
                  <a:srgbClr val="1B2437"/>
                </a:solidFill>
              </a:rPr>
              <a:t>✓  Qty dan dek sesuai permintaan kapal</a:t>
            </a:r>
            <a:endParaRPr lang="en-US" sz="1250" dirty="0"/>
          </a:p>
          <a:p>
            <a:pPr indent="0" marL="0">
              <a:spcAft>
                <a:spcPts val="200"/>
              </a:spcAft>
              <a:buNone/>
            </a:pPr>
            <a:r>
              <a:rPr lang="en-US" sz="1250" dirty="0">
                <a:solidFill>
                  <a:srgbClr val="1B2437"/>
                </a:solidFill>
              </a:rPr>
              <a:t>✓  Catatan pengiriman (tanggal, DC tujuan) jelas</a:t>
            </a:r>
            <a:endParaRPr lang="en-US" sz="1250" dirty="0"/>
          </a:p>
        </p:txBody>
      </p:sp>
      <p:sp>
        <p:nvSpPr>
          <p:cNvPr id="24" name="Kotak Approval PO bingkai"/>
          <p:cNvSpPr/>
          <p:nvPr/>
        </p:nvSpPr>
        <p:spPr>
          <a:xfrm>
            <a:off x="621792" y="5389972"/>
            <a:ext cx="5248656" cy="1198695"/>
          </a:xfrm>
          <a:prstGeom prst="roundRect">
            <a:avLst>
              <a:gd name="adj" fmla="val 7628"/>
            </a:avLst>
          </a:prstGeom>
          <a:solidFill>
            <a:srgbClr val="E4EAF4"/>
          </a:solidFill>
          <a:ln w="9525">
            <a:solidFill>
              <a:srgbClr val="E4EAF4"/>
            </a:solidFill>
            <a:prstDash val="solid"/>
          </a:ln>
          <a:effectLst>
            <a:outerShdw sx="100000" sy="100000" kx="0" ky="0" algn="bl" rotWithShape="0" blurRad="101600" dist="25400" dir="5400000">
              <a:srgbClr val="274289">
                <a:alpha val="12000"/>
              </a:srgbClr>
            </a:outerShdw>
          </a:effectLst>
        </p:spPr>
      </p:sp>
      <p:pic>
        <p:nvPicPr>
          <p:cNvPr id="25" name="Kotak Approval PO" descr="Layar PID POS: Kotak Approval PO">    </p:cNvPr>
          <p:cNvPicPr>
            <a:picLocks noChangeAspect="1"/>
          </p:cNvPicPr>
          <p:nvPr/>
        </p:nvPicPr>
        <p:blipFill>
          <a:blip r:embed="rId2"/>
          <a:stretch>
            <a:fillRect/>
          </a:stretch>
        </p:blipFill>
        <p:spPr>
          <a:xfrm>
            <a:off x="685800" y="5453980"/>
            <a:ext cx="5120640" cy="1070679"/>
          </a:xfrm>
          <a:prstGeom prst="rect">
            <a:avLst/>
          </a:prstGeom>
        </p:spPr>
      </p:pic>
      <p:sp>
        <p:nvSpPr>
          <p:cNvPr id="26" name="Sorotan Kotak Approval PO 1"/>
          <p:cNvSpPr/>
          <p:nvPr/>
        </p:nvSpPr>
        <p:spPr>
          <a:xfrm>
            <a:off x="5173841" y="6140335"/>
            <a:ext cx="570807" cy="330292"/>
          </a:xfrm>
          <a:prstGeom prst="roundRect">
            <a:avLst>
              <a:gd name="adj" fmla="val 13842"/>
            </a:avLst>
          </a:prstGeom>
          <a:ln w="28575">
            <a:solidFill>
              <a:srgbClr val="F2762E"/>
            </a:solidFill>
            <a:prstDash val="solid"/>
          </a:ln>
        </p:spPr>
      </p:sp>
      <p:sp>
        <p:nvSpPr>
          <p:cNvPr id="27" name="Sorotan Kotak Approval PO 2"/>
          <p:cNvSpPr/>
          <p:nvPr/>
        </p:nvSpPr>
        <p:spPr>
          <a:xfrm>
            <a:off x="743712" y="6140335"/>
            <a:ext cx="497101" cy="330292"/>
          </a:xfrm>
          <a:prstGeom prst="roundRect">
            <a:avLst>
              <a:gd name="adj" fmla="val 13842"/>
            </a:avLst>
          </a:prstGeom>
          <a:ln w="28575">
            <a:solidFill>
              <a:srgbClr val="F2762E"/>
            </a:solidFill>
            <a:prstDash val="solid"/>
          </a:ln>
        </p:spPr>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2800" b="1" dirty="0">
                <a:solidFill>
                  <a:schemeClr val="tx2"/>
                </a:solidFill>
              </a:rPr>
              <a:t>Approve PO · Setujui atau tolak</a:t>
            </a:r>
            <a:endParaRPr lang="en-US" sz="2800" dirty="0"/>
          </a:p>
        </p:txBody>
      </p:sp>
      <p:sp>
        <p:nvSpPr>
          <p:cNvPr id="3" name="Kotak Approval PO bingkai"/>
          <p:cNvSpPr/>
          <p:nvPr/>
        </p:nvSpPr>
        <p:spPr>
          <a:xfrm>
            <a:off x="1557064" y="1673352"/>
            <a:ext cx="9093112" cy="2002536"/>
          </a:xfrm>
          <a:prstGeom prst="roundRect">
            <a:avLst>
              <a:gd name="adj" fmla="val 4566"/>
            </a:avLst>
          </a:prstGeom>
          <a:solidFill>
            <a:srgbClr val="E4EAF4"/>
          </a:solidFill>
          <a:ln w="9525">
            <a:solidFill>
              <a:srgbClr val="E4EAF4"/>
            </a:solidFill>
            <a:prstDash val="solid"/>
          </a:ln>
          <a:effectLst>
            <a:outerShdw sx="100000" sy="100000" kx="0" ky="0" algn="bl" rotWithShape="0" blurRad="101600" dist="25400" dir="5400000">
              <a:srgbClr val="274289">
                <a:alpha val="12000"/>
              </a:srgbClr>
            </a:outerShdw>
          </a:effectLst>
        </p:spPr>
      </p:sp>
      <p:pic>
        <p:nvPicPr>
          <p:cNvPr id="4" name="Kotak Approval PO" descr="Layar PID POS: Kotak Approval PO">    </p:cNvPr>
          <p:cNvPicPr>
            <a:picLocks noChangeAspect="1"/>
          </p:cNvPicPr>
          <p:nvPr/>
        </p:nvPicPr>
        <p:blipFill>
          <a:blip r:embed="rId1"/>
          <a:stretch>
            <a:fillRect/>
          </a:stretch>
        </p:blipFill>
        <p:spPr>
          <a:xfrm>
            <a:off x="1621072" y="1737360"/>
            <a:ext cx="8965096" cy="1874520"/>
          </a:xfrm>
          <a:prstGeom prst="rect">
            <a:avLst/>
          </a:prstGeom>
        </p:spPr>
      </p:pic>
      <p:sp>
        <p:nvSpPr>
          <p:cNvPr id="5" name="Sorotan Kotak Approval PO 1"/>
          <p:cNvSpPr/>
          <p:nvPr/>
        </p:nvSpPr>
        <p:spPr>
          <a:xfrm>
            <a:off x="9499225" y="2959608"/>
            <a:ext cx="958165" cy="537077"/>
          </a:xfrm>
          <a:prstGeom prst="roundRect">
            <a:avLst>
              <a:gd name="adj" fmla="val 8513"/>
            </a:avLst>
          </a:prstGeom>
          <a:ln w="28575">
            <a:solidFill>
              <a:srgbClr val="F2762E"/>
            </a:solidFill>
            <a:prstDash val="solid"/>
          </a:ln>
        </p:spPr>
      </p:sp>
      <p:sp>
        <p:nvSpPr>
          <p:cNvPr id="6" name="Nomor 1"/>
          <p:cNvSpPr/>
          <p:nvPr/>
        </p:nvSpPr>
        <p:spPr>
          <a:xfrm>
            <a:off x="9371209" y="2831592"/>
            <a:ext cx="292608" cy="292608"/>
          </a:xfrm>
          <a:prstGeom prst="ellipse">
            <a:avLst/>
          </a:prstGeom>
          <a:solidFill>
            <a:srgbClr val="F2762E"/>
          </a:solidFill>
          <a:ln w="19050">
            <a:solidFill>
              <a:srgbClr val="FFFFFF"/>
            </a:solidFill>
            <a:prstDash val="solid"/>
          </a:ln>
        </p:spPr>
      </p:sp>
      <p:sp>
        <p:nvSpPr>
          <p:cNvPr id="7" name="Text 4"/>
          <p:cNvSpPr txBox="1"/>
          <p:nvPr/>
        </p:nvSpPr>
        <p:spPr>
          <a:xfrm>
            <a:off x="9371209" y="283159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8" name="Sorotan Kotak Approval PO 2"/>
          <p:cNvSpPr/>
          <p:nvPr/>
        </p:nvSpPr>
        <p:spPr>
          <a:xfrm>
            <a:off x="1743058" y="2470603"/>
            <a:ext cx="8714331" cy="516702"/>
          </a:xfrm>
          <a:prstGeom prst="roundRect">
            <a:avLst>
              <a:gd name="adj" fmla="val 8848"/>
            </a:avLst>
          </a:prstGeom>
          <a:ln w="28575">
            <a:solidFill>
              <a:srgbClr val="F2762E"/>
            </a:solidFill>
            <a:prstDash val="solid"/>
          </a:ln>
        </p:spPr>
      </p:sp>
      <p:sp>
        <p:nvSpPr>
          <p:cNvPr id="9" name="Nomor 2"/>
          <p:cNvSpPr/>
          <p:nvPr/>
        </p:nvSpPr>
        <p:spPr>
          <a:xfrm>
            <a:off x="1615042" y="2342587"/>
            <a:ext cx="292608" cy="292608"/>
          </a:xfrm>
          <a:prstGeom prst="ellipse">
            <a:avLst/>
          </a:prstGeom>
          <a:solidFill>
            <a:srgbClr val="F2762E"/>
          </a:solidFill>
          <a:ln w="19050">
            <a:solidFill>
              <a:srgbClr val="FFFFFF"/>
            </a:solidFill>
            <a:prstDash val="solid"/>
          </a:ln>
        </p:spPr>
      </p:sp>
      <p:sp>
        <p:nvSpPr>
          <p:cNvPr id="10" name="Text 7"/>
          <p:cNvSpPr txBox="1"/>
          <p:nvPr/>
        </p:nvSpPr>
        <p:spPr>
          <a:xfrm>
            <a:off x="1615042" y="2342587"/>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Sorotan Kotak Approval PO 3"/>
          <p:cNvSpPr/>
          <p:nvPr/>
        </p:nvSpPr>
        <p:spPr>
          <a:xfrm>
            <a:off x="1743058" y="2959608"/>
            <a:ext cx="829122" cy="537077"/>
          </a:xfrm>
          <a:prstGeom prst="roundRect">
            <a:avLst>
              <a:gd name="adj" fmla="val 8513"/>
            </a:avLst>
          </a:prstGeom>
          <a:ln w="28575">
            <a:solidFill>
              <a:srgbClr val="F2762E"/>
            </a:solidFill>
            <a:prstDash val="solid"/>
          </a:ln>
        </p:spPr>
      </p:sp>
      <p:sp>
        <p:nvSpPr>
          <p:cNvPr id="12" name="Nomor 3"/>
          <p:cNvSpPr/>
          <p:nvPr/>
        </p:nvSpPr>
        <p:spPr>
          <a:xfrm>
            <a:off x="1615042" y="2831592"/>
            <a:ext cx="292608" cy="292608"/>
          </a:xfrm>
          <a:prstGeom prst="ellipse">
            <a:avLst/>
          </a:prstGeom>
          <a:solidFill>
            <a:srgbClr val="F2762E"/>
          </a:solidFill>
          <a:ln w="19050">
            <a:solidFill>
              <a:srgbClr val="FFFFFF"/>
            </a:solidFill>
            <a:prstDash val="solid"/>
          </a:ln>
        </p:spPr>
      </p:sp>
      <p:sp>
        <p:nvSpPr>
          <p:cNvPr id="13" name="Text 10"/>
          <p:cNvSpPr txBox="1"/>
          <p:nvPr/>
        </p:nvSpPr>
        <p:spPr>
          <a:xfrm>
            <a:off x="1615042" y="283159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3794760"/>
          <a:ext cx="10835640" cy="914400"/>
        </p:xfrm>
        <a:graphic>
          <a:graphicData uri="http://schemas.openxmlformats.org/drawingml/2006/table">
            <a:tbl>
              <a:tblPr/>
              <a:tblGrid>
                <a:gridCol w="2743200"/>
                <a:gridCol w="2743200"/>
                <a:gridCol w="5349240"/>
              </a:tblGrid>
              <a:tr h="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Tindakan</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27428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Cara</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27428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Hasil</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274289"/>
                    </a:solidFill>
                  </a:tcPr>
                </a:tc>
              </a:tr>
              <a:tr h="0">
                <a:tc>
                  <a:txBody>
                    <a:bodyPr/>
                    <a:lstStyle/>
                    <a:p>
                      <a:pPr indent="0" marL="0">
                        <a:buNone/>
                      </a:pPr>
                      <a:r>
                        <a:rPr lang="en-US" sz="1250" b="1" dirty="0">
                          <a:solidFill>
                            <a:srgbClr val="274289"/>
                          </a:solidFill>
                          <a:latin typeface="Calibri" pitchFamily="34" charset="0"/>
                          <a:ea typeface="Calibri" pitchFamily="34" charset="-122"/>
                          <a:cs typeface="Calibri" pitchFamily="34" charset="-120"/>
                        </a:rPr>
                        <a:t>1 Setujui (belum level terakhir)</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Klik Setujui; catatan opsional</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PO naik ke level berikutnya</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2E7D4F"/>
                          </a:solidFill>
                          <a:latin typeface="Calibri" pitchFamily="34" charset="0"/>
                          <a:ea typeface="Calibri" pitchFamily="34" charset="-122"/>
                          <a:cs typeface="Calibri" pitchFamily="34" charset="-120"/>
                        </a:rPr>
                        <a:t>1 Setujui (level terakhir)</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Klik Setujui</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Draft SAP dipromosikan menjadi PO final; nomor PO SAP tampil di kartu</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r>
              <a:tr h="0">
                <a:tc>
                  <a:txBody>
                    <a:bodyPr/>
                    <a:lstStyle/>
                    <a:p>
                      <a:pPr indent="0" marL="0">
                        <a:buNone/>
                      </a:pPr>
                      <a:r>
                        <a:rPr lang="en-US" sz="1250" b="1" dirty="0">
                          <a:solidFill>
                            <a:srgbClr val="C0392B"/>
                          </a:solidFill>
                          <a:latin typeface="Calibri" pitchFamily="34" charset="0"/>
                          <a:ea typeface="Calibri" pitchFamily="34" charset="-122"/>
                          <a:cs typeface="Calibri" pitchFamily="34" charset="-120"/>
                        </a:rPr>
                        <a:t>2 + 3 Tolak</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Isi Catatan (wajib), klik Tolak</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Draft SAP dihapus, status Ditolak, qty kembali menjadi sisa; alasan tampil untuk admin purchase</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1600200" y="5669280"/>
            <a:ext cx="9921240" cy="457200"/>
          </a:xfrm>
          <a:prstGeom prst="rect">
            <a:avLst/>
          </a:prstGeom>
          <a:noFill/>
          <a:ln/>
        </p:spPr>
        <p:txBody>
          <a:bodyPr wrap="square" lIns="0" tIns="0" rIns="0" bIns="0" rtlCol="0" anchor="t"/>
          <a:lstStyle/>
          <a:p>
            <a:pPr indent="0" marL="0">
              <a:buNone/>
            </a:pPr>
            <a:r>
              <a:rPr lang="en-US" sz="1250" b="1" dirty="0">
                <a:solidFill>
                  <a:srgbClr val="274289"/>
                </a:solidFill>
              </a:rPr>
              <a:t>Bila pembuatan PO di SAP gagal: </a:t>
            </a:r>
            <a:pPr indent="0" marL="0">
              <a:buNone/>
            </a:pPr>
            <a:r>
              <a:rPr lang="en-US" sz="1250" dirty="0">
                <a:solidFill>
                  <a:srgbClr val="1B2437"/>
                </a:solidFill>
              </a:rPr>
              <a:t>status kartu menjadi Gagal kirim ke SAP. Setelah penyebabnya diatasi (mis. koneksi SAP pulih), klik Setujui lagi; PO tidak terbuat dobel.</a:t>
            </a:r>
            <a:endParaRPr lang="en-US" sz="1250" dirty="0"/>
          </a:p>
        </p:txBody>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2800" b="1" dirty="0">
                <a:solidFill>
                  <a:schemeClr val="tx2"/>
                </a:solidFill>
              </a:rPr>
              <a:t>Pesan galat dan cara mengatasinya</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35640" cy="914400"/>
        </p:xfrm>
        <a:graphic>
          <a:graphicData uri="http://schemas.openxmlformats.org/drawingml/2006/table">
            <a:tbl>
              <a:tblPr/>
              <a:tblGrid>
                <a:gridCol w="4023360"/>
                <a:gridCol w="2926080"/>
                <a:gridCol w="3886200"/>
              </a:tblGrid>
              <a:tr h="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Pesan</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27428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Penyebab</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27428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Cara mengatasi</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274289"/>
                    </a:solidFill>
                  </a:tcPr>
                </a:tc>
              </a:tr>
              <a:tr h="0">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“Qty PO … melebihi sisa PUR …”</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Sisa sudah dipakai PO vendor lain</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Kurangi qty, atau batalkan PO lain yang salah</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“Isi harga beli.”</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Harga kosong / 0</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Isi harga sebelum PPN</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r>
              <a:tr h="0">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“Pilih vendor.”</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Vendor belum dipilih</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Cari dan klik vendor</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 sedang menunggu approval PO.”</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Ada PO lain yang menunggu</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Tunggu keputusan, atau batalkan PO itu</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r>
              <a:tr h="0">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“Daftar vendor tidak bisa dibaca dari SAP”</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Koneksi SAP terputus</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Coba lagi beberapa menit; bila berlanjut hubungi tim IT</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“Isi alasan penolakan.”</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Tolak tanpa catatan</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c>
                  <a:txBody>
                    <a:bodyPr/>
                    <a:lstStyle/>
                    <a:p>
                      <a:pPr indent="0" marL="0">
                        <a:buNone/>
                      </a:pPr>
                      <a:r>
                        <a:rPr lang="en-US" sz="1250" dirty="0">
                          <a:solidFill>
                            <a:srgbClr val="1B2437"/>
                          </a:solidFill>
                          <a:latin typeface="Calibri" pitchFamily="34" charset="0"/>
                          <a:ea typeface="Calibri" pitchFamily="34" charset="-122"/>
                          <a:cs typeface="Calibri" pitchFamily="34" charset="-120"/>
                        </a:rPr>
                        <a:t>Isi catatan lalu Tolak lagi</a:t>
                      </a:r>
                      <a:endParaRPr lang="en-US" sz="1250" dirty="0">
                        <a:latin typeface="Calibri" charset="0"/>
                        <a:ea typeface="Calibri" charset="0"/>
                        <a:cs typeface="Calibri" charset="0"/>
                      </a:endParaRPr>
                    </a:p>
                  </a:txBody>
                  <a:tcPr marL="91440" marR="91440"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6F8FC"/>
                    </a:solidFill>
                  </a:tcPr>
                </a:tc>
              </a:tr>
            </a:tbl>
          </a:graphicData>
        </a:graphic>
      </p:graphicFrame>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35640" cy="640080"/>
          </a:xfrm>
          <a:prstGeom prst="rect">
            <a:avLst/>
          </a:prstGeom>
          <a:noFill/>
          <a:ln/>
        </p:spPr>
        <p:txBody>
          <a:bodyPr wrap="square" lIns="0" tIns="0" rIns="0" bIns="0" rtlCol="0" anchor="ctr"/>
          <a:lstStyle/>
          <a:p>
            <a:pPr algn="l" indent="0" marL="0">
              <a:buNone/>
            </a:pPr>
            <a:r>
              <a:rPr lang="en-US" sz="2800" b="1" dirty="0">
                <a:solidFill>
                  <a:schemeClr val="tx2"/>
                </a:solidFill>
              </a:rPr>
              <a:t>Pertanyaan yang sering muncul</a:t>
            </a:r>
            <a:endParaRPr lang="en-US" sz="2800" dirty="0"/>
          </a:p>
        </p:txBody>
      </p:sp>
      <p:sp>
        <p:nvSpPr>
          <p:cNvPr id="3" name="FAQ 1"/>
          <p:cNvSpPr/>
          <p:nvPr/>
        </p:nvSpPr>
        <p:spPr>
          <a:xfrm>
            <a:off x="685800" y="1737360"/>
            <a:ext cx="5303520" cy="1234440"/>
          </a:xfrm>
          <a:prstGeom prst="roundRect">
            <a:avLst>
              <a:gd name="adj" fmla="val 7407"/>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4" name="Text 2"/>
          <p:cNvSpPr txBox="1"/>
          <p:nvPr/>
        </p:nvSpPr>
        <p:spPr>
          <a:xfrm>
            <a:off x="960120" y="1901952"/>
            <a:ext cx="4754880" cy="960120"/>
          </a:xfrm>
          <a:prstGeom prst="rect">
            <a:avLst/>
          </a:prstGeom>
          <a:noFill/>
          <a:ln/>
        </p:spPr>
        <p:txBody>
          <a:bodyPr wrap="square" lIns="0" tIns="0" rIns="0" bIns="0" rtlCol="0" anchor="t"/>
          <a:lstStyle/>
          <a:p>
            <a:pPr indent="0" marL="0">
              <a:buNone/>
            </a:pPr>
            <a:r>
              <a:rPr lang="en-US" sz="1350" b="1" dirty="0">
                <a:solidFill>
                  <a:srgbClr val="274289"/>
                </a:solidFill>
              </a:rPr>
              <a:t>Kenapa form PO kosong?</a:t>
            </a:r>
            <a:endParaRPr lang="en-US" sz="1350" dirty="0"/>
          </a:p>
          <a:p>
            <a:pPr indent="0" marL="0">
              <a:buNone/>
            </a:pPr>
            <a:r>
              <a:rPr lang="en-US" sz="1350" dirty="0">
                <a:solidFill>
                  <a:srgbClr val="1B2437"/>
                </a:solidFill>
              </a:rPr>
              <a:t>Sengaja, supaya hanya barang yang dibeli dari vendor itu yang masuk.</a:t>
            </a:r>
            <a:endParaRPr lang="en-US" sz="1350" dirty="0"/>
          </a:p>
        </p:txBody>
      </p:sp>
      <p:sp>
        <p:nvSpPr>
          <p:cNvPr id="5" name="FAQ 2"/>
          <p:cNvSpPr/>
          <p:nvPr/>
        </p:nvSpPr>
        <p:spPr>
          <a:xfrm>
            <a:off x="6217920" y="1737360"/>
            <a:ext cx="5303520" cy="1234440"/>
          </a:xfrm>
          <a:prstGeom prst="roundRect">
            <a:avLst>
              <a:gd name="adj" fmla="val 7407"/>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6" name="Text 4"/>
          <p:cNvSpPr txBox="1"/>
          <p:nvPr/>
        </p:nvSpPr>
        <p:spPr>
          <a:xfrm>
            <a:off x="6492240" y="1901952"/>
            <a:ext cx="4754880" cy="960120"/>
          </a:xfrm>
          <a:prstGeom prst="rect">
            <a:avLst/>
          </a:prstGeom>
          <a:noFill/>
          <a:ln/>
        </p:spPr>
        <p:txBody>
          <a:bodyPr wrap="square" lIns="0" tIns="0" rIns="0" bIns="0" rtlCol="0" anchor="t"/>
          <a:lstStyle/>
          <a:p>
            <a:pPr indent="0" marL="0">
              <a:buNone/>
            </a:pPr>
            <a:r>
              <a:rPr lang="en-US" sz="1350" b="1" dirty="0">
                <a:solidFill>
                  <a:srgbClr val="274289"/>
                </a:solidFill>
              </a:rPr>
              <a:t>Kenapa pajak baris VAT I-B (10%)?</a:t>
            </a:r>
            <a:endParaRPr lang="en-US" sz="1350" dirty="0"/>
          </a:p>
          <a:p>
            <a:pPr indent="0" marL="0">
              <a:buNone/>
            </a:pPr>
            <a:r>
              <a:rPr lang="en-US" sz="1350" dirty="0">
                <a:solidFill>
                  <a:srgbClr val="1B2437"/>
                </a:solidFill>
              </a:rPr>
              <a:t>Bawaannya dari master barang SAP. Ubah kolom Pajak per baris bila tidak sesuai.</a:t>
            </a:r>
            <a:endParaRPr lang="en-US" sz="1350" dirty="0"/>
          </a:p>
        </p:txBody>
      </p:sp>
      <p:sp>
        <p:nvSpPr>
          <p:cNvPr id="7" name="FAQ 3"/>
          <p:cNvSpPr/>
          <p:nvPr/>
        </p:nvSpPr>
        <p:spPr>
          <a:xfrm>
            <a:off x="685800" y="3108960"/>
            <a:ext cx="5303520" cy="1234440"/>
          </a:xfrm>
          <a:prstGeom prst="roundRect">
            <a:avLst>
              <a:gd name="adj" fmla="val 7407"/>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8" name="Text 6"/>
          <p:cNvSpPr txBox="1"/>
          <p:nvPr/>
        </p:nvSpPr>
        <p:spPr>
          <a:xfrm>
            <a:off x="960120" y="3273552"/>
            <a:ext cx="4754880" cy="960120"/>
          </a:xfrm>
          <a:prstGeom prst="rect">
            <a:avLst/>
          </a:prstGeom>
          <a:noFill/>
          <a:ln/>
        </p:spPr>
        <p:txBody>
          <a:bodyPr wrap="square" lIns="0" tIns="0" rIns="0" bIns="0" rtlCol="0" anchor="t"/>
          <a:lstStyle/>
          <a:p>
            <a:pPr indent="0" marL="0">
              <a:buNone/>
            </a:pPr>
            <a:r>
              <a:rPr lang="en-US" sz="1350" b="1" dirty="0">
                <a:solidFill>
                  <a:srgbClr val="274289"/>
                </a:solidFill>
              </a:rPr>
              <a:t>Bisakah PO final dibatalkan dari web?</a:t>
            </a:r>
            <a:endParaRPr lang="en-US" sz="1350" dirty="0"/>
          </a:p>
          <a:p>
            <a:pPr indent="0" marL="0">
              <a:buNone/>
            </a:pPr>
            <a:r>
              <a:rPr lang="en-US" sz="1350" dirty="0">
                <a:solidFill>
                  <a:srgbClr val="1B2437"/>
                </a:solidFill>
              </a:rPr>
              <a:t>Tidak; batalkan di SAP.</a:t>
            </a:r>
            <a:endParaRPr lang="en-US" sz="1350" dirty="0"/>
          </a:p>
        </p:txBody>
      </p:sp>
      <p:sp>
        <p:nvSpPr>
          <p:cNvPr id="9" name="FAQ 4"/>
          <p:cNvSpPr/>
          <p:nvPr/>
        </p:nvSpPr>
        <p:spPr>
          <a:xfrm>
            <a:off x="6217920" y="3108960"/>
            <a:ext cx="5303520" cy="1234440"/>
          </a:xfrm>
          <a:prstGeom prst="roundRect">
            <a:avLst>
              <a:gd name="adj" fmla="val 7407"/>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10" name="Text 8"/>
          <p:cNvSpPr txBox="1"/>
          <p:nvPr/>
        </p:nvSpPr>
        <p:spPr>
          <a:xfrm>
            <a:off x="6492240" y="3273552"/>
            <a:ext cx="4754880" cy="960120"/>
          </a:xfrm>
          <a:prstGeom prst="rect">
            <a:avLst/>
          </a:prstGeom>
          <a:noFill/>
          <a:ln/>
        </p:spPr>
        <p:txBody>
          <a:bodyPr wrap="square" lIns="0" tIns="0" rIns="0" bIns="0" rtlCol="0" anchor="t"/>
          <a:lstStyle/>
          <a:p>
            <a:pPr indent="0" marL="0">
              <a:buNone/>
            </a:pPr>
            <a:r>
              <a:rPr lang="en-US" sz="1350" b="1" dirty="0">
                <a:solidFill>
                  <a:srgbClr val="274289"/>
                </a:solidFill>
              </a:rPr>
              <a:t>Bolehkah mengubah PO yang sudah disetujui level 1?</a:t>
            </a:r>
            <a:endParaRPr lang="en-US" sz="1350" dirty="0"/>
          </a:p>
          <a:p>
            <a:pPr indent="0" marL="0">
              <a:buNone/>
            </a:pPr>
            <a:r>
              <a:rPr lang="en-US" sz="1350" dirty="0">
                <a:solidFill>
                  <a:srgbClr val="1B2437"/>
                </a:solidFill>
              </a:rPr>
              <a:t>Boleh selama belum final, tetapi approval mulai lagi dari level 1.</a:t>
            </a:r>
            <a:endParaRPr lang="en-US" sz="1350" dirty="0"/>
          </a:p>
        </p:txBody>
      </p:sp>
      <p:sp>
        <p:nvSpPr>
          <p:cNvPr id="11" name="FAQ 5"/>
          <p:cNvSpPr/>
          <p:nvPr/>
        </p:nvSpPr>
        <p:spPr>
          <a:xfrm>
            <a:off x="685800" y="4480560"/>
            <a:ext cx="5303520" cy="1234440"/>
          </a:xfrm>
          <a:prstGeom prst="roundRect">
            <a:avLst>
              <a:gd name="adj" fmla="val 7407"/>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12" name="Text 10"/>
          <p:cNvSpPr txBox="1"/>
          <p:nvPr/>
        </p:nvSpPr>
        <p:spPr>
          <a:xfrm>
            <a:off x="960120" y="4645152"/>
            <a:ext cx="4754880" cy="960120"/>
          </a:xfrm>
          <a:prstGeom prst="rect">
            <a:avLst/>
          </a:prstGeom>
          <a:noFill/>
          <a:ln/>
        </p:spPr>
        <p:txBody>
          <a:bodyPr wrap="square" lIns="0" tIns="0" rIns="0" bIns="0" rtlCol="0" anchor="t"/>
          <a:lstStyle/>
          <a:p>
            <a:pPr indent="0" marL="0">
              <a:buNone/>
            </a:pPr>
            <a:r>
              <a:rPr lang="en-US" sz="1350" b="1" dirty="0">
                <a:solidFill>
                  <a:srgbClr val="274289"/>
                </a:solidFill>
              </a:rPr>
              <a:t>Dari mana harga beli terisi sendiri?</a:t>
            </a:r>
            <a:endParaRPr lang="en-US" sz="1350" dirty="0"/>
          </a:p>
          <a:p>
            <a:pPr indent="0" marL="0">
              <a:buNone/>
            </a:pPr>
            <a:r>
              <a:rPr lang="en-US" sz="1350" dirty="0">
                <a:solidFill>
                  <a:srgbClr val="1B2437"/>
                </a:solidFill>
              </a:rPr>
              <a:t>Dari PO final terakhir vendor yang sama untuk barang itu; tetap bisa diubah.</a:t>
            </a:r>
            <a:endParaRPr lang="en-US" sz="1350" dirty="0"/>
          </a:p>
        </p:txBody>
      </p:sp>
      <p:sp>
        <p:nvSpPr>
          <p:cNvPr id="13" name="FAQ 6"/>
          <p:cNvSpPr/>
          <p:nvPr/>
        </p:nvSpPr>
        <p:spPr>
          <a:xfrm>
            <a:off x="6217920" y="4480560"/>
            <a:ext cx="5303520" cy="1234440"/>
          </a:xfrm>
          <a:prstGeom prst="roundRect">
            <a:avLst>
              <a:gd name="adj" fmla="val 7407"/>
            </a:avLst>
          </a:prstGeom>
          <a:solidFill>
            <a:srgbClr val="FFFFFF"/>
          </a:solidFill>
          <a:ln w="9525">
            <a:solidFill>
              <a:srgbClr val="E3E9F3"/>
            </a:solidFill>
            <a:prstDash val="solid"/>
          </a:ln>
          <a:effectLst>
            <a:outerShdw sx="100000" sy="100000" kx="0" ky="0" algn="bl" rotWithShape="0" blurRad="101600" dist="25400" dir="5400000">
              <a:srgbClr val="274289">
                <a:alpha val="12000"/>
              </a:srgbClr>
            </a:outerShdw>
          </a:effectLst>
        </p:spPr>
      </p:sp>
      <p:sp>
        <p:nvSpPr>
          <p:cNvPr id="14" name="Text 12"/>
          <p:cNvSpPr txBox="1"/>
          <p:nvPr/>
        </p:nvSpPr>
        <p:spPr>
          <a:xfrm>
            <a:off x="6492240" y="4645152"/>
            <a:ext cx="4754880" cy="960120"/>
          </a:xfrm>
          <a:prstGeom prst="rect">
            <a:avLst/>
          </a:prstGeom>
          <a:noFill/>
          <a:ln/>
        </p:spPr>
        <p:txBody>
          <a:bodyPr wrap="square" lIns="0" tIns="0" rIns="0" bIns="0" rtlCol="0" anchor="t"/>
          <a:lstStyle/>
          <a:p>
            <a:pPr indent="0" marL="0">
              <a:buNone/>
            </a:pPr>
            <a:r>
              <a:rPr lang="en-US" sz="1350" b="1" dirty="0">
                <a:solidFill>
                  <a:srgbClr val="274289"/>
                </a:solidFill>
              </a:rPr>
              <a:t>Bisakah satu PUR dibagi ke beberapa vendor?</a:t>
            </a:r>
            <a:endParaRPr lang="en-US" sz="1350" dirty="0"/>
          </a:p>
          <a:p>
            <a:pPr indent="0" marL="0">
              <a:buNone/>
            </a:pPr>
            <a:r>
              <a:rPr lang="en-US" sz="1350" dirty="0">
                <a:solidFill>
                  <a:srgbClr val="1B2437"/>
                </a:solidFill>
              </a:rPr>
              <a:t>Bisa: buat PO pertama, lalu + Buat PO lagi untuk sisanya. Qty tidak bisa dobel.</a:t>
            </a:r>
            <a:endParaRPr lang="en-US" sz="1350" dirty="0"/>
          </a:p>
        </p:txBody>
      </p:sp>
      <p:sp>
        <p:nvSpPr>
          <p:cNvPr id="25" name="Slide Number Placeholder 0"/>
          <p:cNvSpPr>
            <a:spLocks noGrp="1"/>
          </p:cNvSpPr>
          <p:nvPr>
            <p:ph type="sldNum" sz="quarter" idx="4294967295"/>
          </p:nvPr>
        </p:nvSpPr>
        <p:spPr>
          <a:xfrm>
            <a:off x="1110996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12648" y="1783080"/>
            <a:ext cx="7498080" cy="1234440"/>
          </a:xfrm>
          <a:prstGeom prst="rect">
            <a:avLst/>
          </a:prstGeom>
          <a:noFill/>
          <a:ln/>
        </p:spPr>
        <p:txBody>
          <a:bodyPr wrap="square" lIns="0" tIns="0" rIns="0" bIns="0" rtlCol="0" anchor="b"/>
          <a:lstStyle/>
          <a:p>
            <a:pPr algn="l" indent="0" marL="0">
              <a:buNone/>
            </a:pPr>
            <a:r>
              <a:rPr lang="en-US" sz="4000" b="1" dirty="0">
                <a:solidFill>
                  <a:schemeClr val="bg1"/>
                </a:solidFill>
              </a:rPr>
              <a:t>Terima Kasih</a:t>
            </a:r>
            <a:endParaRPr lang="en-US" sz="4000" dirty="0"/>
          </a:p>
        </p:txBody>
      </p:sp>
      <p:sp>
        <p:nvSpPr>
          <p:cNvPr id="3" name="Text 1"/>
          <p:cNvSpPr txBox="1"/>
          <p:nvPr/>
        </p:nvSpPr>
        <p:spPr>
          <a:xfrm>
            <a:off x="612648" y="3246120"/>
            <a:ext cx="6949440" cy="457200"/>
          </a:xfrm>
          <a:prstGeom prst="rect">
            <a:avLst/>
          </a:prstGeom>
          <a:noFill/>
          <a:ln/>
        </p:spPr>
        <p:txBody>
          <a:bodyPr wrap="square" lIns="0" tIns="0" rIns="0" bIns="0" rtlCol="0" anchor="t"/>
          <a:lstStyle/>
          <a:p>
            <a:pPr indent="0" marL="0">
              <a:buNone/>
            </a:pPr>
            <a:r>
              <a:rPr lang="en-US" sz="1800" b="1" dirty="0">
                <a:solidFill>
                  <a:srgbClr val="FFFFFF"/>
                </a:solidFill>
              </a:rPr>
              <a:t>Video tutorial tersedia untuk dipelajari ulang.</a:t>
            </a:r>
            <a:endParaRPr lang="en-US" sz="1800" dirty="0"/>
          </a:p>
        </p:txBody>
      </p:sp>
      <p:sp>
        <p:nvSpPr>
          <p:cNvPr id="4" name="Text 2"/>
          <p:cNvSpPr txBox="1"/>
          <p:nvPr/>
        </p:nvSpPr>
        <p:spPr>
          <a:xfrm>
            <a:off x="612648" y="3749040"/>
            <a:ext cx="6766560" cy="365760"/>
          </a:xfrm>
          <a:prstGeom prst="rect">
            <a:avLst/>
          </a:prstGeom>
          <a:noFill/>
          <a:ln/>
        </p:spPr>
        <p:txBody>
          <a:bodyPr wrap="square" lIns="0" tIns="0" rIns="0" bIns="0" rtlCol="0" anchor="t"/>
          <a:lstStyle/>
          <a:p>
            <a:pPr indent="0" marL="0">
              <a:buNone/>
            </a:pPr>
            <a:r>
              <a:rPr lang="en-US" sz="1600" dirty="0">
                <a:solidFill>
                  <a:srgbClr val="D6E4F5"/>
                </a:solidFill>
              </a:rPr>
              <a:t>PT Pelita Indonesia Djaya (PELNI Services)</a:t>
            </a:r>
            <a:endParaRPr lang="en-US" sz="1600" dirty="0"/>
          </a:p>
        </p:txBody>
      </p:sp>
    </p:spTree>
  </p:cSld>
  <p:clrMapOvr>
    <a:masterClrMapping/>
  </p:clrMapOvr>
</p:sld>
</file>

<file path=ppt/theme/theme1.xml><?xml version="1.0" encoding="utf-8"?>
<a:theme xmlns:a="http://schemas.openxmlformats.org/drawingml/2006/main" name="PELNI Services">
  <a:themeElements>
    <a:clrScheme name="PELNI Services">
      <a:dk1>
        <a:srgbClr val="1B2437"/>
      </a:dk1>
      <a:lt1>
        <a:srgbClr val="FFFFFF"/>
      </a:lt1>
      <a:dk2>
        <a:srgbClr val="274289"/>
      </a:dk2>
      <a:lt2>
        <a:srgbClr val="EEF3FA"/>
      </a:lt2>
      <a:accent1>
        <a:srgbClr val="5AB4E5"/>
      </a:accent1>
      <a:accent2>
        <a:srgbClr val="274289"/>
      </a:accent2>
      <a:accent3>
        <a:srgbClr val="3D6FC2"/>
      </a:accent3>
      <a:accent4>
        <a:srgbClr val="F2762E"/>
      </a:accent4>
      <a:accent5>
        <a:srgbClr val="5B6B86"/>
      </a:accent5>
      <a:accent6>
        <a:srgbClr val="D5DEEC"/>
      </a:accent6>
      <a:hlink>
        <a:srgbClr val="274289"/>
      </a:hlink>
      <a:folHlink>
        <a:srgbClr val="5B6B86"/>
      </a:folHlink>
    </a:clrScheme>
    <a:fontScheme name="PELNI Servic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PID POS · Panduan Admin Purchase &amp; Approve PO</dc:title>
  <dc:subject>PptxGenJS Presentation</dc:subject>
  <dc:creator>PT Pelita Indonesia Djaya (PELNI Services)</dc:creator>
  <cp:lastModifiedBy>PT Pelita Indonesia Djaya (PELNI Services)</cp:lastModifiedBy>
  <cp:revision>1</cp:revision>
  <dcterms:created xsi:type="dcterms:W3CDTF">2026-10-28T02:04:36Z</dcterms:created>
  <dcterms:modified xsi:type="dcterms:W3CDTF">2026-10-28T02:04:36Z</dcterms:modified>
</cp:coreProperties>
</file>