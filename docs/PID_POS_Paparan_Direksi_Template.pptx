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0790b8da-cc3c-1c64-1c1c-068236e312a5}">
          <p14:sldIdLst>
            <p14:sldId id="256"/>
          </p14:sldIdLst>
        </p14:section>
        <p14:section name="Aplikasi" id="{19147f7d-b5b3-ad0f-be31-39232a810ee6}">
          <p14:sldIdLst>
            <p14:sldId id="257"/>
            <p14:sldId id="258"/>
            <p14:sldId id="259"/>
            <p14:sldId id="260"/>
            <p14:sldId id="261"/>
            <p14:sldId id="262"/>
            <p14:sldId id="263"/>
          </p14:sldIdLst>
        </p14:section>
        <p14:section name="Penutup" id="{d7a2e5e7-81a8-9de3-0302-88b271e37b9f}">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Selamat pagi, Bapak dan Ibu Direksi.
Pada kesempatan ini kami memaparkan PID POS, aplikasi toko kapal PT Pelita Indonesia Djaya yang terhubung langsung dengan SAP Business One.
Kami akan menyampaikan apa itu PID POS, bagaimana alurnya, siapa saja yang terlibat, fitur utamanya, kasir di setiap dek, keunggulan, dan batasannya saat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dua bagian yang saling terhubung.
Pertama, aplikasi web. Aplikasi ini dipakai oleh admin kapal, Distribution Center atau DC, dan kantor pusat untuk memesan barang, memberi persetujuan, memantau stok, dan melihat laporan.
Kedua, aplikasi kasir Android untuk setiap dek. Kasir memindai barang, menerima pembayaran tunai atau QRIS, mencetak struk, dan menutup shift.
Keduanya terhubung dengan SAP Business One. Setelah sebuah langkah disetujui, dokumennya dibuat otomatis di SAP, sehingga tidak ada lagi input 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Halaman ini menunjukkan alur lengkapnya, dari pemesanan sampai penjualan.
Jalur atas selalu dijalani. Admin kapal memesan barang ke DC. Permintaan itu disetujui oleh P2, lalu terbentuk Sales Order di SAP.
Admin DC memilah stok dan mengirim barang ke dek. Pengiriman ini tercatat di SAP sebagai Inventory Transfer.
Kepala toko menerima barang di dek, lalu barang dijual di kasir. Penjualan harian setiap dek masuk ke SAP sebagai Delivery Order.
Bila stok di DC kurang, jalur pembelian di bawah berjalan. Pergudangan menyetujui Purchase Request, Purchasing membuat Purchase Order ke vendor, dan saat barang vendor tiba di DC, dicatat sebagai Goods Receipt PO atau GRPO. Setelah itu barang lanjut dikirim ke dek.
Alur ini berulang. Ketika stok dek menipis, kapal memesan lagi ke DC.
Enam jenis dokumen SAP pada kotak keterangan di bawah semuanya dibuat otomatis oleh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PID POS.
Di kapal ada admin kapal atau kepala toko, dan kasir.
Di kantor pusat ada empat peran: Approve SO oleh P2, Approve PUR oleh Pergudangan, serta Approve PO dan Admin PO oleh Purchasing.
Di DC ada admin DC.
Setiap peran hanya melihat tugas yang sedang menunggunya, melalui lonceng notifikasi dan tab Giliran saya. Dengan begitu tidak ada pekerjaan yang terlewat.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tiga fitur utama di aplikasi web.
Pertama, Pesan ke DC. Admin kapal memilih barang dan dek tujuan, lalu mengirim permintaan ke DC.
Kedua, persetujuan berjenjang. Status setiap tahap terlihat jelas, dan setelah disetujui, permintaan otomatis menjadi Sales Order di SAP.
Ketiga, posisi stok per dek. Stok setiap dek, totalnya, dan penjualan tujuh hari terakhir terlihat dalam satu tabel.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setiap dek, kasir bekerja dalam empat langkah sederhana.
Scan barang dengan barcode, atau ketik nama atau kode barang.
Terima pembayaran tunai atau QRIS. Kembalian dihitung otomatis.
Struk tercetak, dan bisa dicetak ulang dari riwayat transaksi.
Di akhir hari, penjualan dikirim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PID POS dapat diringkas dalam tiga kata.
Transparan. Stok setiap dek dan status setiap permintaan terpantau secara real-time, lengkap dengan riwayatnya.
Terkendali. Setiap tahap melalui persetujuan berjenjang, dan setiap persetujuan tercatat lengkap: siapa yang menyetujui dan kapan.
Terintegrasi. Dokumen SAP Business One dibuat otomatis, dan penjualan harian setiap dek masuk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juga perlu menyampaikan dua batasan PID POS saat ini.
Pertama, aplikasi memerlukan koneksi internet. Aplikasi web dan aplikasi kasir hanya dapat digunakan saat perangkat terhubung ke internet. Karena itu, koneksi internet di kapal, DC, dan kantor pusat perlu disiapkan.
Kedua, aplikasi kasir baru tersedia di Android. Versi iOS untuk iPhone dan iPad belum tersedia, sehingga perangkat kasir di setiap dek perlu menggunakan Android.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Demikian paparan kami. PID POS: satu alur, dari kapal sampai kasir.
Terima kasih. Kami persilakan Bapak dan Ibu Direksi untuk memberikan arahan atau pertanyaan.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PID POS</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200" b="1" dirty="0">
                <a:solidFill>
                  <a:srgbClr val="FFFFFF"/>
                </a:solidFill>
              </a:rPr>
              <a:t>Aplikasi Toko Kapal Terintegrasi SAP Business One</a:t>
            </a:r>
            <a:endParaRPr lang="en-US" sz="22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Satu aplikasi untuk seluruh alur toko kapal</a:t>
            </a:r>
            <a:endParaRPr lang="en-US" sz="3000" dirty="0"/>
          </a:p>
        </p:txBody>
      </p:sp>
      <p:sp>
        <p:nvSpPr>
          <p:cNvPr id="3" name="Aplikasi web latar"/>
          <p:cNvSpPr/>
          <p:nvPr/>
        </p:nvSpPr>
        <p:spPr>
          <a:xfrm>
            <a:off x="685800" y="1828800"/>
            <a:ext cx="777240" cy="777240"/>
          </a:xfrm>
          <a:prstGeom prst="ellipse">
            <a:avLst/>
          </a:prstGeom>
          <a:solidFill>
            <a:srgbClr val="274289"/>
          </a:solidFill>
          <a:ln w="12700">
            <a:solidFill>
              <a:srgbClr val="274289"/>
            </a:solidFill>
            <a:prstDash val="solid"/>
          </a:ln>
        </p:spPr>
      </p:sp>
      <p:pic>
        <p:nvPicPr>
          <p:cNvPr id="4" name="Aplikasi web" descr="Aplikasi web">    </p:cNvPr>
          <p:cNvPicPr>
            <a:picLocks noChangeAspect="1"/>
          </p:cNvPicPr>
          <p:nvPr/>
        </p:nvPicPr>
        <p:blipFill>
          <a:blip r:embed="rId1"/>
          <a:stretch>
            <a:fillRect/>
          </a:stretch>
        </p:blipFill>
        <p:spPr>
          <a:xfrm>
            <a:off x="880110" y="2023110"/>
            <a:ext cx="388620" cy="388620"/>
          </a:xfrm>
          <a:prstGeom prst="rect">
            <a:avLst/>
          </a:prstGeom>
        </p:spPr>
      </p:pic>
      <p:sp>
        <p:nvSpPr>
          <p:cNvPr id="5" name="Text 2"/>
          <p:cNvSpPr txBox="1"/>
          <p:nvPr/>
        </p:nvSpPr>
        <p:spPr>
          <a:xfrm>
            <a:off x="1691640" y="178308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web</a:t>
            </a:r>
            <a:endParaRPr lang="en-US" sz="1900" dirty="0"/>
          </a:p>
          <a:p>
            <a:pPr indent="0" marL="0">
              <a:buNone/>
            </a:pPr>
            <a:r>
              <a:rPr lang="en-US" sz="1400" dirty="0">
                <a:solidFill>
                  <a:srgbClr val="1B2437"/>
                </a:solidFill>
              </a:rPr>
              <a:t>Untuk admin kapal, Distribution Center (DC), dan kantor pusat: pesan barang, persetujuan, stok, dan laporan.</a:t>
            </a:r>
            <a:endParaRPr lang="en-US" sz="1900" dirty="0"/>
          </a:p>
        </p:txBody>
      </p:sp>
      <p:sp>
        <p:nvSpPr>
          <p:cNvPr id="6" name="Aplikasi kasir Android latar"/>
          <p:cNvSpPr/>
          <p:nvPr/>
        </p:nvSpPr>
        <p:spPr>
          <a:xfrm>
            <a:off x="685800" y="2926080"/>
            <a:ext cx="777240" cy="777240"/>
          </a:xfrm>
          <a:prstGeom prst="ellipse">
            <a:avLst/>
          </a:prstGeom>
          <a:solidFill>
            <a:srgbClr val="274289"/>
          </a:solidFill>
          <a:ln w="12700">
            <a:solidFill>
              <a:srgbClr val="274289"/>
            </a:solidFill>
            <a:prstDash val="solid"/>
          </a:ln>
        </p:spPr>
      </p:sp>
      <p:pic>
        <p:nvPicPr>
          <p:cNvPr id="7" name="Aplikasi kasir Android" descr="Aplikasi kasir Android">    </p:cNvPr>
          <p:cNvPicPr>
            <a:picLocks noChangeAspect="1"/>
          </p:cNvPicPr>
          <p:nvPr/>
        </p:nvPicPr>
        <p:blipFill>
          <a:blip r:embed="rId2"/>
          <a:stretch>
            <a:fillRect/>
          </a:stretch>
        </p:blipFill>
        <p:spPr>
          <a:xfrm>
            <a:off x="880110" y="3120390"/>
            <a:ext cx="388620" cy="388620"/>
          </a:xfrm>
          <a:prstGeom prst="rect">
            <a:avLst/>
          </a:prstGeom>
        </p:spPr>
      </p:pic>
      <p:sp>
        <p:nvSpPr>
          <p:cNvPr id="8" name="Text 4"/>
          <p:cNvSpPr txBox="1"/>
          <p:nvPr/>
        </p:nvSpPr>
        <p:spPr>
          <a:xfrm>
            <a:off x="1691640" y="288036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kasir Android</a:t>
            </a:r>
            <a:endParaRPr lang="en-US" sz="1900" dirty="0"/>
          </a:p>
          <a:p>
            <a:pPr indent="0" marL="0">
              <a:buNone/>
            </a:pPr>
            <a:r>
              <a:rPr lang="en-US" sz="1400" dirty="0">
                <a:solidFill>
                  <a:srgbClr val="1B2437"/>
                </a:solidFill>
              </a:rPr>
              <a:t>Untuk kasir di setiap dek: scan, bayar tunai atau QRIS, struk, dan rekap shift.</a:t>
            </a:r>
            <a:endParaRPr lang="en-US" sz="1900" dirty="0"/>
          </a:p>
        </p:txBody>
      </p:sp>
      <p:sp>
        <p:nvSpPr>
          <p:cNvPr id="9" name="Terhubung SAP Business One latar"/>
          <p:cNvSpPr/>
          <p:nvPr/>
        </p:nvSpPr>
        <p:spPr>
          <a:xfrm>
            <a:off x="685800" y="4023360"/>
            <a:ext cx="777240" cy="777240"/>
          </a:xfrm>
          <a:prstGeom prst="ellipse">
            <a:avLst/>
          </a:prstGeom>
          <a:solidFill>
            <a:srgbClr val="5AB4E5"/>
          </a:solidFill>
          <a:ln w="12700">
            <a:solidFill>
              <a:srgbClr val="5AB4E5"/>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80110" y="4217670"/>
            <a:ext cx="388620" cy="388620"/>
          </a:xfrm>
          <a:prstGeom prst="rect">
            <a:avLst/>
          </a:prstGeom>
        </p:spPr>
      </p:pic>
      <p:sp>
        <p:nvSpPr>
          <p:cNvPr id="11" name="Text 6"/>
          <p:cNvSpPr txBox="1"/>
          <p:nvPr/>
        </p:nvSpPr>
        <p:spPr>
          <a:xfrm>
            <a:off x="1691640" y="397764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Terhubung SAP Business One</a:t>
            </a:r>
            <a:endParaRPr lang="en-US" sz="1900" dirty="0"/>
          </a:p>
          <a:p>
            <a:pPr indent="0" marL="0">
              <a:buNone/>
            </a:pPr>
            <a:r>
              <a:rPr lang="en-US" sz="1400" dirty="0">
                <a:solidFill>
                  <a:srgbClr val="1B2437"/>
                </a:solidFill>
              </a:rPr>
              <a:t>Dokumen dibuat otomatis setelah disetujui, tanpa input ulang.</a:t>
            </a:r>
            <a:endParaRPr lang="en-US" sz="1900" dirty="0"/>
          </a:p>
        </p:txBody>
      </p:sp>
      <p:sp>
        <p:nvSpPr>
          <p:cNvPr id="12" name="Beranda admin kapal bingkai"/>
          <p:cNvSpPr/>
          <p:nvPr/>
        </p:nvSpPr>
        <p:spPr>
          <a:xfrm>
            <a:off x="6336792" y="2210568"/>
            <a:ext cx="5248656" cy="3076945"/>
          </a:xfrm>
          <a:prstGeom prst="roundRect">
            <a:avLst>
              <a:gd name="adj" fmla="val 3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400800" y="2274576"/>
            <a:ext cx="5120640" cy="2948929"/>
          </a:xfrm>
          <a:prstGeom prst="rect">
            <a:avLst/>
          </a:prstGeom>
        </p:spPr>
      </p:pic>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Alur end-to-end: setiap langkah tercatat di SAP</a:t>
            </a:r>
            <a:endParaRPr lang="en-US" sz="3000" dirty="0"/>
          </a:p>
        </p:txBody>
      </p:sp>
      <p:sp>
        <p:nvSpPr>
          <p:cNvPr id="3" name="Tahap Pesan ke DC"/>
          <p:cNvSpPr/>
          <p:nvPr/>
        </p:nvSpPr>
        <p:spPr>
          <a:xfrm>
            <a:off x="68580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7724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340864" y="2491740"/>
            <a:ext cx="160020" cy="0"/>
          </a:xfrm>
          <a:prstGeom prst="line">
            <a:avLst/>
          </a:prstGeom>
          <a:noFill/>
          <a:ln w="25400">
            <a:solidFill>
              <a:srgbClr val="3D6FC2"/>
            </a:solidFill>
            <a:prstDash val="solid"/>
            <a:tailEnd type="triangle"/>
          </a:ln>
        </p:spPr>
      </p:sp>
      <p:sp>
        <p:nvSpPr>
          <p:cNvPr id="6" name="Tahap Persetujuan permintaan"/>
          <p:cNvSpPr/>
          <p:nvPr/>
        </p:nvSpPr>
        <p:spPr>
          <a:xfrm>
            <a:off x="2528316"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619756"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Persetujuan permintaan</a:t>
            </a:r>
            <a:endParaRPr lang="en-US" sz="1500" dirty="0"/>
          </a:p>
          <a:p>
            <a:pPr algn="ctr" indent="0" marL="0">
              <a:buNone/>
            </a:pPr>
            <a:r>
              <a:rPr lang="en-US" sz="1200" dirty="0">
                <a:solidFill>
                  <a:srgbClr val="5B6B86"/>
                </a:solidFill>
              </a:rPr>
              <a:t>P2</a:t>
            </a:r>
            <a:endParaRPr lang="en-US" sz="1500" dirty="0"/>
          </a:p>
        </p:txBody>
      </p:sp>
      <p:sp>
        <p:nvSpPr>
          <p:cNvPr id="8" name="Panah alur"/>
          <p:cNvSpPr/>
          <p:nvPr/>
        </p:nvSpPr>
        <p:spPr>
          <a:xfrm>
            <a:off x="4183380" y="2491740"/>
            <a:ext cx="160020" cy="0"/>
          </a:xfrm>
          <a:prstGeom prst="line">
            <a:avLst/>
          </a:prstGeom>
          <a:noFill/>
          <a:ln w="25400">
            <a:solidFill>
              <a:srgbClr val="3D6FC2"/>
            </a:solidFill>
            <a:prstDash val="solid"/>
            <a:tailEnd type="triangle"/>
          </a:ln>
        </p:spPr>
      </p:sp>
      <p:sp>
        <p:nvSpPr>
          <p:cNvPr id="9" name="Dokumen SO"/>
          <p:cNvSpPr/>
          <p:nvPr/>
        </p:nvSpPr>
        <p:spPr>
          <a:xfrm>
            <a:off x="2958084" y="3044952"/>
            <a:ext cx="768096" cy="310896"/>
          </a:xfrm>
          <a:prstGeom prst="roundRect">
            <a:avLst>
              <a:gd name="adj" fmla="val 23529"/>
            </a:avLst>
          </a:prstGeom>
          <a:solidFill>
            <a:srgbClr val="4A8A3C"/>
          </a:solidFill>
          <a:ln w="12700">
            <a:solidFill>
              <a:srgbClr val="4A8A3C"/>
            </a:solidFill>
            <a:prstDash val="solid"/>
          </a:ln>
        </p:spPr>
      </p:sp>
      <p:sp>
        <p:nvSpPr>
          <p:cNvPr id="10" name="Text 8"/>
          <p:cNvSpPr txBox="1"/>
          <p:nvPr/>
        </p:nvSpPr>
        <p:spPr>
          <a:xfrm>
            <a:off x="2958084"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70832"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4462272"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25896" y="2491740"/>
            <a:ext cx="160020" cy="0"/>
          </a:xfrm>
          <a:prstGeom prst="line">
            <a:avLst/>
          </a:prstGeom>
          <a:noFill/>
          <a:ln w="25400">
            <a:solidFill>
              <a:srgbClr val="3D6FC2"/>
            </a:solidFill>
            <a:prstDash val="solid"/>
            <a:tailEnd type="triangle"/>
          </a:ln>
        </p:spPr>
      </p:sp>
      <p:sp>
        <p:nvSpPr>
          <p:cNvPr id="14" name="Tahap Transfer ke dek"/>
          <p:cNvSpPr/>
          <p:nvPr/>
        </p:nvSpPr>
        <p:spPr>
          <a:xfrm>
            <a:off x="6213348"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5" name="Text 13"/>
          <p:cNvSpPr txBox="1"/>
          <p:nvPr/>
        </p:nvSpPr>
        <p:spPr>
          <a:xfrm>
            <a:off x="6304788"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8412" y="2491740"/>
            <a:ext cx="160020" cy="0"/>
          </a:xfrm>
          <a:prstGeom prst="line">
            <a:avLst/>
          </a:prstGeom>
          <a:noFill/>
          <a:ln w="25400">
            <a:solidFill>
              <a:srgbClr val="3D6FC2"/>
            </a:solidFill>
            <a:prstDash val="solid"/>
            <a:tailEnd type="triangle"/>
          </a:ln>
        </p:spPr>
      </p:sp>
      <p:sp>
        <p:nvSpPr>
          <p:cNvPr id="17" name="Dokumen IT"/>
          <p:cNvSpPr/>
          <p:nvPr/>
        </p:nvSpPr>
        <p:spPr>
          <a:xfrm>
            <a:off x="6643116" y="3044952"/>
            <a:ext cx="768096" cy="310896"/>
          </a:xfrm>
          <a:prstGeom prst="roundRect">
            <a:avLst>
              <a:gd name="adj" fmla="val 23529"/>
            </a:avLst>
          </a:prstGeom>
          <a:solidFill>
            <a:srgbClr val="C45C8E"/>
          </a:solidFill>
          <a:ln w="12700">
            <a:solidFill>
              <a:srgbClr val="C45C8E"/>
            </a:solidFill>
            <a:prstDash val="solid"/>
          </a:ln>
        </p:spPr>
      </p:sp>
      <p:sp>
        <p:nvSpPr>
          <p:cNvPr id="18" name="Text 16"/>
          <p:cNvSpPr txBox="1"/>
          <p:nvPr/>
        </p:nvSpPr>
        <p:spPr>
          <a:xfrm>
            <a:off x="6643116"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55864"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8147304"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Terima di dek</a:t>
            </a:r>
            <a:endParaRPr lang="en-US" sz="1500" dirty="0"/>
          </a:p>
          <a:p>
            <a:pPr algn="ctr" indent="0" marL="0">
              <a:buNone/>
            </a:pPr>
            <a:r>
              <a:rPr lang="en-US" sz="1200" dirty="0">
                <a:solidFill>
                  <a:srgbClr val="5B6B86"/>
                </a:solidFill>
              </a:rPr>
              <a:t>Kepala toko</a:t>
            </a:r>
            <a:endParaRPr lang="en-US" sz="1500" dirty="0"/>
          </a:p>
        </p:txBody>
      </p:sp>
      <p:sp>
        <p:nvSpPr>
          <p:cNvPr id="21" name="Panah alur"/>
          <p:cNvSpPr/>
          <p:nvPr/>
        </p:nvSpPr>
        <p:spPr>
          <a:xfrm>
            <a:off x="9710928" y="2491740"/>
            <a:ext cx="160020" cy="0"/>
          </a:xfrm>
          <a:prstGeom prst="line">
            <a:avLst/>
          </a:prstGeom>
          <a:noFill/>
          <a:ln w="25400">
            <a:solidFill>
              <a:srgbClr val="3D6FC2"/>
            </a:solidFill>
            <a:prstDash val="solid"/>
            <a:tailEnd type="triangle"/>
          </a:ln>
        </p:spPr>
      </p:sp>
      <p:sp>
        <p:nvSpPr>
          <p:cNvPr id="22" name="Tahap Jual di kasir"/>
          <p:cNvSpPr/>
          <p:nvPr/>
        </p:nvSpPr>
        <p:spPr>
          <a:xfrm>
            <a:off x="989838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3" name="Text 21"/>
          <p:cNvSpPr txBox="1"/>
          <p:nvPr/>
        </p:nvSpPr>
        <p:spPr>
          <a:xfrm>
            <a:off x="998982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28148" y="3044952"/>
            <a:ext cx="768096" cy="310896"/>
          </a:xfrm>
          <a:prstGeom prst="roundRect">
            <a:avLst>
              <a:gd name="adj" fmla="val 23529"/>
            </a:avLst>
          </a:prstGeom>
          <a:solidFill>
            <a:srgbClr val="CF5140"/>
          </a:solidFill>
          <a:ln w="12700">
            <a:solidFill>
              <a:srgbClr val="CF5140"/>
            </a:solidFill>
            <a:prstDash val="solid"/>
          </a:ln>
        </p:spPr>
      </p:sp>
      <p:sp>
        <p:nvSpPr>
          <p:cNvPr id="25" name="Text 23"/>
          <p:cNvSpPr txBox="1"/>
          <p:nvPr/>
        </p:nvSpPr>
        <p:spPr>
          <a:xfrm>
            <a:off x="10328148"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Siklus ulang"/>
          <p:cNvSpPr/>
          <p:nvPr/>
        </p:nvSpPr>
        <p:spPr>
          <a:xfrm>
            <a:off x="1499616" y="1737360"/>
            <a:ext cx="9212580" cy="0"/>
          </a:xfrm>
          <a:prstGeom prst="line">
            <a:avLst/>
          </a:prstGeom>
          <a:noFill/>
          <a:ln w="28575">
            <a:solidFill>
              <a:srgbClr val="5AB4E5"/>
            </a:solidFill>
            <a:prstDash val="solid"/>
          </a:ln>
        </p:spPr>
      </p:sp>
      <p:sp>
        <p:nvSpPr>
          <p:cNvPr id="27" name="Siklus ulang dari kasir"/>
          <p:cNvSpPr/>
          <p:nvPr/>
        </p:nvSpPr>
        <p:spPr>
          <a:xfrm>
            <a:off x="10712196" y="1737360"/>
            <a:ext cx="0" cy="274320"/>
          </a:xfrm>
          <a:prstGeom prst="line">
            <a:avLst/>
          </a:prstGeom>
          <a:noFill/>
          <a:ln w="28575">
            <a:solidFill>
              <a:srgbClr val="5AB4E5"/>
            </a:solidFill>
            <a:prstDash val="solid"/>
          </a:ln>
        </p:spPr>
      </p:sp>
      <p:sp>
        <p:nvSpPr>
          <p:cNvPr id="28" name="Siklus ulang ke pesan"/>
          <p:cNvSpPr/>
          <p:nvPr/>
        </p:nvSpPr>
        <p:spPr>
          <a:xfrm>
            <a:off x="1499616" y="1737360"/>
            <a:ext cx="0" cy="256032"/>
          </a:xfrm>
          <a:prstGeom prst="line">
            <a:avLst/>
          </a:prstGeom>
          <a:noFill/>
          <a:ln w="28575">
            <a:solidFill>
              <a:srgbClr val="5AB4E5"/>
            </a:solidFill>
            <a:prstDash val="solid"/>
            <a:tailEnd type="triangle"/>
          </a:ln>
        </p:spPr>
      </p:sp>
      <p:sp>
        <p:nvSpPr>
          <p:cNvPr id="29" name="Text 27"/>
          <p:cNvSpPr txBox="1"/>
          <p:nvPr/>
        </p:nvSpPr>
        <p:spPr>
          <a:xfrm>
            <a:off x="4023360" y="1581912"/>
            <a:ext cx="4206240" cy="310896"/>
          </a:xfrm>
          <a:prstGeom prst="rect">
            <a:avLst/>
          </a:prstGeom>
          <a:solidFill>
            <a:srgbClr val="FFFFFF"/>
          </a:solidFill>
          <a:ln/>
        </p:spPr>
        <p:txBody>
          <a:bodyPr wrap="square" lIns="0" tIns="0" rIns="0" bIns="0" rtlCol="0" anchor="ctr"/>
          <a:lstStyle/>
          <a:p>
            <a:pPr algn="ctr" indent="0" marL="0">
              <a:buNone/>
            </a:pPr>
            <a:r>
              <a:rPr lang="en-US" sz="1200" b="1" dirty="0">
                <a:solidFill>
                  <a:srgbClr val="5AB4E5"/>
                </a:solidFill>
              </a:rPr>
              <a:t>↻  Stok dek menipis: kapal memesan lagi ke DC</a:t>
            </a:r>
            <a:endParaRPr lang="en-US" sz="1200" dirty="0"/>
          </a:p>
        </p:txBody>
      </p:sp>
      <p:sp>
        <p:nvSpPr>
          <p:cNvPr id="30" name="Text 28"/>
          <p:cNvSpPr txBox="1"/>
          <p:nvPr/>
        </p:nvSpPr>
        <p:spPr>
          <a:xfrm>
            <a:off x="685800" y="3858768"/>
            <a:ext cx="3520440" cy="365760"/>
          </a:xfrm>
          <a:prstGeom prst="rect">
            <a:avLst/>
          </a:prstGeom>
          <a:noFill/>
          <a:ln/>
        </p:spPr>
        <p:txBody>
          <a:bodyPr wrap="square" lIns="0" tIns="0" rIns="0" bIns="0" rtlCol="0" anchor="t"/>
          <a:lstStyle/>
          <a:p>
            <a:pPr algn="r" indent="0" marL="0">
              <a:buNone/>
            </a:pPr>
            <a:r>
              <a:rPr lang="en-US" sz="1400" i="1" dirty="0">
                <a:solidFill>
                  <a:srgbClr val="5B6B86"/>
                </a:solidFill>
              </a:rPr>
              <a:t>Bila stok DC kurang:</a:t>
            </a:r>
            <a:endParaRPr lang="en-US" sz="1400" dirty="0"/>
          </a:p>
        </p:txBody>
      </p:sp>
      <p:sp>
        <p:nvSpPr>
          <p:cNvPr id="31" name="Cabang pembelian"/>
          <p:cNvSpPr/>
          <p:nvPr/>
        </p:nvSpPr>
        <p:spPr>
          <a:xfrm>
            <a:off x="5184648" y="2971800"/>
            <a:ext cx="0" cy="594360"/>
          </a:xfrm>
          <a:prstGeom prst="line">
            <a:avLst/>
          </a:prstGeom>
          <a:noFill/>
          <a:ln w="25400">
            <a:solidFill>
              <a:srgbClr val="3D6FC2"/>
            </a:solidFill>
            <a:prstDash val="dash"/>
            <a:tailEnd type="triangle"/>
          </a:ln>
        </p:spPr>
      </p:sp>
      <p:sp>
        <p:nvSpPr>
          <p:cNvPr id="32" name="Cabang Permintaan pembelian"/>
          <p:cNvSpPr/>
          <p:nvPr/>
        </p:nvSpPr>
        <p:spPr>
          <a:xfrm>
            <a:off x="4370832"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3" name="Text 31"/>
          <p:cNvSpPr txBox="1"/>
          <p:nvPr/>
        </p:nvSpPr>
        <p:spPr>
          <a:xfrm>
            <a:off x="4462272"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Permintaan pembelian</a:t>
            </a:r>
            <a:endParaRPr lang="en-US" sz="1400" dirty="0"/>
          </a:p>
          <a:p>
            <a:pPr algn="ctr" indent="0" marL="0">
              <a:buNone/>
            </a:pPr>
            <a:r>
              <a:rPr lang="en-US" sz="1200" dirty="0">
                <a:solidFill>
                  <a:srgbClr val="5B6B86"/>
                </a:solidFill>
              </a:rPr>
              <a:t>Pergudangan</a:t>
            </a:r>
            <a:endParaRPr lang="en-US" sz="1400" dirty="0"/>
          </a:p>
        </p:txBody>
      </p:sp>
      <p:sp>
        <p:nvSpPr>
          <p:cNvPr id="34" name="Dokumen PR"/>
          <p:cNvSpPr/>
          <p:nvPr/>
        </p:nvSpPr>
        <p:spPr>
          <a:xfrm>
            <a:off x="4800600" y="4599432"/>
            <a:ext cx="768096" cy="310896"/>
          </a:xfrm>
          <a:prstGeom prst="roundRect">
            <a:avLst>
              <a:gd name="adj" fmla="val 23529"/>
            </a:avLst>
          </a:prstGeom>
          <a:solidFill>
            <a:srgbClr val="A87412"/>
          </a:solidFill>
          <a:ln w="12700">
            <a:solidFill>
              <a:srgbClr val="A87412"/>
            </a:solidFill>
            <a:prstDash val="solid"/>
          </a:ln>
        </p:spPr>
      </p:sp>
      <p:sp>
        <p:nvSpPr>
          <p:cNvPr id="35" name="Text 33"/>
          <p:cNvSpPr txBox="1"/>
          <p:nvPr/>
        </p:nvSpPr>
        <p:spPr>
          <a:xfrm>
            <a:off x="4800600"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6" name="Panah cabang"/>
          <p:cNvSpPr/>
          <p:nvPr/>
        </p:nvSpPr>
        <p:spPr>
          <a:xfrm>
            <a:off x="6025896" y="4046220"/>
            <a:ext cx="160020" cy="0"/>
          </a:xfrm>
          <a:prstGeom prst="line">
            <a:avLst/>
          </a:prstGeom>
          <a:noFill/>
          <a:ln w="25400">
            <a:solidFill>
              <a:srgbClr val="3D6FC2"/>
            </a:solidFill>
            <a:prstDash val="solid"/>
            <a:tailEnd type="triangle"/>
          </a:ln>
        </p:spPr>
      </p:sp>
      <p:sp>
        <p:nvSpPr>
          <p:cNvPr id="37" name="Cabang Pesanan ke vendor"/>
          <p:cNvSpPr/>
          <p:nvPr/>
        </p:nvSpPr>
        <p:spPr>
          <a:xfrm>
            <a:off x="6213348"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8" name="Text 36"/>
          <p:cNvSpPr txBox="1"/>
          <p:nvPr/>
        </p:nvSpPr>
        <p:spPr>
          <a:xfrm>
            <a:off x="6304788"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Pesanan ke vendor</a:t>
            </a:r>
            <a:endParaRPr lang="en-US" sz="1400" dirty="0"/>
          </a:p>
          <a:p>
            <a:pPr algn="ctr" indent="0" marL="0">
              <a:buNone/>
            </a:pPr>
            <a:r>
              <a:rPr lang="en-US" sz="1200" dirty="0">
                <a:solidFill>
                  <a:srgbClr val="5B6B86"/>
                </a:solidFill>
              </a:rPr>
              <a:t>Purchasing</a:t>
            </a:r>
            <a:endParaRPr lang="en-US" sz="1400" dirty="0"/>
          </a:p>
        </p:txBody>
      </p:sp>
      <p:sp>
        <p:nvSpPr>
          <p:cNvPr id="39" name="Dokumen PO"/>
          <p:cNvSpPr/>
          <p:nvPr/>
        </p:nvSpPr>
        <p:spPr>
          <a:xfrm>
            <a:off x="6643116" y="4599432"/>
            <a:ext cx="768096" cy="310896"/>
          </a:xfrm>
          <a:prstGeom prst="roundRect">
            <a:avLst>
              <a:gd name="adj" fmla="val 23529"/>
            </a:avLst>
          </a:prstGeom>
          <a:solidFill>
            <a:srgbClr val="C85A1C"/>
          </a:solidFill>
          <a:ln w="12700">
            <a:solidFill>
              <a:srgbClr val="C85A1C"/>
            </a:solidFill>
            <a:prstDash val="solid"/>
          </a:ln>
        </p:spPr>
      </p:sp>
      <p:sp>
        <p:nvSpPr>
          <p:cNvPr id="40" name="Text 38"/>
          <p:cNvSpPr txBox="1"/>
          <p:nvPr/>
        </p:nvSpPr>
        <p:spPr>
          <a:xfrm>
            <a:off x="6643116"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41" name="Panah cabang"/>
          <p:cNvSpPr/>
          <p:nvPr/>
        </p:nvSpPr>
        <p:spPr>
          <a:xfrm>
            <a:off x="7868412" y="4046220"/>
            <a:ext cx="160020" cy="0"/>
          </a:xfrm>
          <a:prstGeom prst="line">
            <a:avLst/>
          </a:prstGeom>
          <a:noFill/>
          <a:ln w="25400">
            <a:solidFill>
              <a:srgbClr val="3D6FC2"/>
            </a:solidFill>
            <a:prstDash val="solid"/>
            <a:tailEnd type="triangle"/>
          </a:ln>
        </p:spPr>
      </p:sp>
      <p:sp>
        <p:nvSpPr>
          <p:cNvPr id="42" name="Cabang Barang vendor tiba"/>
          <p:cNvSpPr/>
          <p:nvPr/>
        </p:nvSpPr>
        <p:spPr>
          <a:xfrm>
            <a:off x="8055864"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3" name="Text 41"/>
          <p:cNvSpPr txBox="1"/>
          <p:nvPr/>
        </p:nvSpPr>
        <p:spPr>
          <a:xfrm>
            <a:off x="8147304"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4" name="Dokumen GRPO"/>
          <p:cNvSpPr/>
          <p:nvPr/>
        </p:nvSpPr>
        <p:spPr>
          <a:xfrm>
            <a:off x="8485632" y="4599432"/>
            <a:ext cx="768096" cy="310896"/>
          </a:xfrm>
          <a:prstGeom prst="roundRect">
            <a:avLst>
              <a:gd name="adj" fmla="val 23529"/>
            </a:avLst>
          </a:prstGeom>
          <a:solidFill>
            <a:srgbClr val="7C68B8"/>
          </a:solidFill>
          <a:ln w="12700">
            <a:solidFill>
              <a:srgbClr val="7C68B8"/>
            </a:solidFill>
            <a:prstDash val="solid"/>
          </a:ln>
        </p:spPr>
      </p:sp>
      <p:sp>
        <p:nvSpPr>
          <p:cNvPr id="45" name="Text 43"/>
          <p:cNvSpPr txBox="1"/>
          <p:nvPr/>
        </p:nvSpPr>
        <p:spPr>
          <a:xfrm>
            <a:off x="8485632"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6" name="Kembali ke transfer"/>
          <p:cNvSpPr/>
          <p:nvPr/>
        </p:nvSpPr>
        <p:spPr>
          <a:xfrm>
            <a:off x="7027164" y="3401568"/>
            <a:ext cx="1842516" cy="164592"/>
          </a:xfrm>
          <a:prstGeom prst="line">
            <a:avLst/>
          </a:prstGeom>
          <a:noFill/>
          <a:ln w="25400">
            <a:solidFill>
              <a:srgbClr val="3D6FC2"/>
            </a:solidFill>
            <a:prstDash val="dash"/>
            <a:headEnd type="triangle"/>
          </a:ln>
        </p:spPr>
      </p:sp>
      <p:sp>
        <p:nvSpPr>
          <p:cNvPr id="47" name="Keterangan dokumen SAP"/>
          <p:cNvSpPr/>
          <p:nvPr/>
        </p:nvSpPr>
        <p:spPr>
          <a:xfrm>
            <a:off x="1600200" y="5010912"/>
            <a:ext cx="9921240" cy="1097280"/>
          </a:xfrm>
          <a:prstGeom prst="roundRect">
            <a:avLst>
              <a:gd name="adj" fmla="val 10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8" name="Text 46"/>
          <p:cNvSpPr txBox="1"/>
          <p:nvPr/>
        </p:nvSpPr>
        <p:spPr>
          <a:xfrm>
            <a:off x="1828800" y="5056632"/>
            <a:ext cx="5486400" cy="274320"/>
          </a:xfrm>
          <a:prstGeom prst="rect">
            <a:avLst/>
          </a:prstGeom>
          <a:noFill/>
          <a:ln/>
        </p:spPr>
        <p:txBody>
          <a:bodyPr wrap="square" lIns="0" tIns="0" rIns="0" bIns="0" rtlCol="0" anchor="t"/>
          <a:lstStyle/>
          <a:p>
            <a:pPr indent="0" marL="0">
              <a:buNone/>
            </a:pPr>
            <a:r>
              <a:rPr lang="en-US" sz="1300" b="1" dirty="0">
                <a:solidFill>
                  <a:srgbClr val="274289"/>
                </a:solidFill>
              </a:rPr>
              <a:t>Dokumen SAP yang dibuat otomatis:</a:t>
            </a:r>
            <a:endParaRPr lang="en-US" sz="1300" dirty="0"/>
          </a:p>
        </p:txBody>
      </p:sp>
      <p:sp>
        <p:nvSpPr>
          <p:cNvPr id="49" name="Keterangan SO"/>
          <p:cNvSpPr/>
          <p:nvPr/>
        </p:nvSpPr>
        <p:spPr>
          <a:xfrm>
            <a:off x="1828800" y="5376672"/>
            <a:ext cx="658368" cy="274320"/>
          </a:xfrm>
          <a:prstGeom prst="roundRect">
            <a:avLst>
              <a:gd name="adj" fmla="val 20000"/>
            </a:avLst>
          </a:prstGeom>
          <a:solidFill>
            <a:srgbClr val="4A8A3C"/>
          </a:solidFill>
          <a:ln w="12700">
            <a:solidFill>
              <a:srgbClr val="4A8A3C"/>
            </a:solidFill>
            <a:prstDash val="solid"/>
          </a:ln>
        </p:spPr>
      </p:sp>
      <p:sp>
        <p:nvSpPr>
          <p:cNvPr id="50" name="Text 48"/>
          <p:cNvSpPr txBox="1"/>
          <p:nvPr/>
        </p:nvSpPr>
        <p:spPr>
          <a:xfrm>
            <a:off x="182880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SO</a:t>
            </a:r>
            <a:endParaRPr lang="en-US" sz="1100" dirty="0"/>
          </a:p>
        </p:txBody>
      </p:sp>
      <p:sp>
        <p:nvSpPr>
          <p:cNvPr id="51" name="Text 49"/>
          <p:cNvSpPr txBox="1"/>
          <p:nvPr/>
        </p:nvSpPr>
        <p:spPr>
          <a:xfrm>
            <a:off x="257860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Sales Order</a:t>
            </a:r>
            <a:pPr indent="0" marL="0">
              <a:buNone/>
            </a:pPr>
            <a:r>
              <a:rPr lang="en-US" sz="1200" dirty="0">
                <a:solidFill>
                  <a:srgbClr val="5B6B86"/>
                </a:solidFill>
              </a:rPr>
              <a:t> · pesanan per dek</a:t>
            </a:r>
            <a:endParaRPr lang="en-US" sz="1200" dirty="0"/>
          </a:p>
        </p:txBody>
      </p:sp>
      <p:sp>
        <p:nvSpPr>
          <p:cNvPr id="52" name="Keterangan PR"/>
          <p:cNvSpPr/>
          <p:nvPr/>
        </p:nvSpPr>
        <p:spPr>
          <a:xfrm>
            <a:off x="5074920" y="5376672"/>
            <a:ext cx="658368" cy="274320"/>
          </a:xfrm>
          <a:prstGeom prst="roundRect">
            <a:avLst>
              <a:gd name="adj" fmla="val 20000"/>
            </a:avLst>
          </a:prstGeom>
          <a:solidFill>
            <a:srgbClr val="A87412"/>
          </a:solidFill>
          <a:ln w="12700">
            <a:solidFill>
              <a:srgbClr val="A87412"/>
            </a:solidFill>
            <a:prstDash val="solid"/>
          </a:ln>
        </p:spPr>
      </p:sp>
      <p:sp>
        <p:nvSpPr>
          <p:cNvPr id="53" name="Text 51"/>
          <p:cNvSpPr txBox="1"/>
          <p:nvPr/>
        </p:nvSpPr>
        <p:spPr>
          <a:xfrm>
            <a:off x="507492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PR</a:t>
            </a:r>
            <a:endParaRPr lang="en-US" sz="1100" dirty="0"/>
          </a:p>
        </p:txBody>
      </p:sp>
      <p:sp>
        <p:nvSpPr>
          <p:cNvPr id="54" name="Text 52"/>
          <p:cNvSpPr txBox="1"/>
          <p:nvPr/>
        </p:nvSpPr>
        <p:spPr>
          <a:xfrm>
            <a:off x="582472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Request</a:t>
            </a:r>
            <a:pPr indent="0" marL="0">
              <a:buNone/>
            </a:pPr>
            <a:r>
              <a:rPr lang="en-US" sz="1200" dirty="0">
                <a:solidFill>
                  <a:srgbClr val="5B6B86"/>
                </a:solidFill>
              </a:rPr>
              <a:t> · permintaan pembelian</a:t>
            </a:r>
            <a:endParaRPr lang="en-US" sz="1200" dirty="0"/>
          </a:p>
        </p:txBody>
      </p:sp>
      <p:sp>
        <p:nvSpPr>
          <p:cNvPr id="55" name="Keterangan PO"/>
          <p:cNvSpPr/>
          <p:nvPr/>
        </p:nvSpPr>
        <p:spPr>
          <a:xfrm>
            <a:off x="8321040" y="5376672"/>
            <a:ext cx="658368" cy="274320"/>
          </a:xfrm>
          <a:prstGeom prst="roundRect">
            <a:avLst>
              <a:gd name="adj" fmla="val 20000"/>
            </a:avLst>
          </a:prstGeom>
          <a:solidFill>
            <a:srgbClr val="C85A1C"/>
          </a:solidFill>
          <a:ln w="12700">
            <a:solidFill>
              <a:srgbClr val="C85A1C"/>
            </a:solidFill>
            <a:prstDash val="solid"/>
          </a:ln>
        </p:spPr>
      </p:sp>
      <p:sp>
        <p:nvSpPr>
          <p:cNvPr id="56" name="Text 54"/>
          <p:cNvSpPr txBox="1"/>
          <p:nvPr/>
        </p:nvSpPr>
        <p:spPr>
          <a:xfrm>
            <a:off x="832104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PO</a:t>
            </a:r>
            <a:endParaRPr lang="en-US" sz="1100" dirty="0"/>
          </a:p>
        </p:txBody>
      </p:sp>
      <p:sp>
        <p:nvSpPr>
          <p:cNvPr id="57" name="Text 55"/>
          <p:cNvSpPr txBox="1"/>
          <p:nvPr/>
        </p:nvSpPr>
        <p:spPr>
          <a:xfrm>
            <a:off x="907084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Order</a:t>
            </a:r>
            <a:pPr indent="0" marL="0">
              <a:buNone/>
            </a:pPr>
            <a:r>
              <a:rPr lang="en-US" sz="1200" dirty="0">
                <a:solidFill>
                  <a:srgbClr val="5B6B86"/>
                </a:solidFill>
              </a:rPr>
              <a:t> · pesanan ke vendor</a:t>
            </a:r>
            <a:endParaRPr lang="en-US" sz="1200" dirty="0"/>
          </a:p>
        </p:txBody>
      </p:sp>
      <p:sp>
        <p:nvSpPr>
          <p:cNvPr id="58" name="Keterangan GRPO"/>
          <p:cNvSpPr/>
          <p:nvPr/>
        </p:nvSpPr>
        <p:spPr>
          <a:xfrm>
            <a:off x="1828800" y="5724144"/>
            <a:ext cx="658368" cy="274320"/>
          </a:xfrm>
          <a:prstGeom prst="roundRect">
            <a:avLst>
              <a:gd name="adj" fmla="val 20000"/>
            </a:avLst>
          </a:prstGeom>
          <a:solidFill>
            <a:srgbClr val="7C68B8"/>
          </a:solidFill>
          <a:ln w="12700">
            <a:solidFill>
              <a:srgbClr val="7C68B8"/>
            </a:solidFill>
            <a:prstDash val="solid"/>
          </a:ln>
        </p:spPr>
      </p:sp>
      <p:sp>
        <p:nvSpPr>
          <p:cNvPr id="59" name="Text 57"/>
          <p:cNvSpPr txBox="1"/>
          <p:nvPr/>
        </p:nvSpPr>
        <p:spPr>
          <a:xfrm>
            <a:off x="182880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GRPO</a:t>
            </a:r>
            <a:endParaRPr lang="en-US" sz="1100" dirty="0"/>
          </a:p>
        </p:txBody>
      </p:sp>
      <p:sp>
        <p:nvSpPr>
          <p:cNvPr id="60" name="Text 58"/>
          <p:cNvSpPr txBox="1"/>
          <p:nvPr/>
        </p:nvSpPr>
        <p:spPr>
          <a:xfrm>
            <a:off x="257860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Goods Receipt PO</a:t>
            </a:r>
            <a:pPr indent="0" marL="0">
              <a:buNone/>
            </a:pPr>
            <a:r>
              <a:rPr lang="en-US" sz="1200" dirty="0">
                <a:solidFill>
                  <a:srgbClr val="5B6B86"/>
                </a:solidFill>
              </a:rPr>
              <a:t> · penerimaan barang vendor</a:t>
            </a:r>
            <a:endParaRPr lang="en-US" sz="1200" dirty="0"/>
          </a:p>
        </p:txBody>
      </p:sp>
      <p:sp>
        <p:nvSpPr>
          <p:cNvPr id="61" name="Keterangan IT"/>
          <p:cNvSpPr/>
          <p:nvPr/>
        </p:nvSpPr>
        <p:spPr>
          <a:xfrm>
            <a:off x="5074920" y="5724144"/>
            <a:ext cx="658368" cy="274320"/>
          </a:xfrm>
          <a:prstGeom prst="roundRect">
            <a:avLst>
              <a:gd name="adj" fmla="val 20000"/>
            </a:avLst>
          </a:prstGeom>
          <a:solidFill>
            <a:srgbClr val="C45C8E"/>
          </a:solidFill>
          <a:ln w="12700">
            <a:solidFill>
              <a:srgbClr val="C45C8E"/>
            </a:solidFill>
            <a:prstDash val="solid"/>
          </a:ln>
        </p:spPr>
      </p:sp>
      <p:sp>
        <p:nvSpPr>
          <p:cNvPr id="62" name="Text 60"/>
          <p:cNvSpPr txBox="1"/>
          <p:nvPr/>
        </p:nvSpPr>
        <p:spPr>
          <a:xfrm>
            <a:off x="507492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IT</a:t>
            </a:r>
            <a:endParaRPr lang="en-US" sz="1100" dirty="0"/>
          </a:p>
        </p:txBody>
      </p:sp>
      <p:sp>
        <p:nvSpPr>
          <p:cNvPr id="63" name="Text 61"/>
          <p:cNvSpPr txBox="1"/>
          <p:nvPr/>
        </p:nvSpPr>
        <p:spPr>
          <a:xfrm>
            <a:off x="582472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Inventory Transfer</a:t>
            </a:r>
            <a:pPr indent="0" marL="0">
              <a:buNone/>
            </a:pPr>
            <a:r>
              <a:rPr lang="en-US" sz="1200" dirty="0">
                <a:solidFill>
                  <a:srgbClr val="5B6B86"/>
                </a:solidFill>
              </a:rPr>
              <a:t> · kiriman DC ke dek</a:t>
            </a:r>
            <a:endParaRPr lang="en-US" sz="1200" dirty="0"/>
          </a:p>
        </p:txBody>
      </p:sp>
      <p:sp>
        <p:nvSpPr>
          <p:cNvPr id="64" name="Keterangan DO"/>
          <p:cNvSpPr/>
          <p:nvPr/>
        </p:nvSpPr>
        <p:spPr>
          <a:xfrm>
            <a:off x="8321040" y="5724144"/>
            <a:ext cx="658368" cy="274320"/>
          </a:xfrm>
          <a:prstGeom prst="roundRect">
            <a:avLst>
              <a:gd name="adj" fmla="val 20000"/>
            </a:avLst>
          </a:prstGeom>
          <a:solidFill>
            <a:srgbClr val="CF5140"/>
          </a:solidFill>
          <a:ln w="12700">
            <a:solidFill>
              <a:srgbClr val="CF5140"/>
            </a:solidFill>
            <a:prstDash val="solid"/>
          </a:ln>
        </p:spPr>
      </p:sp>
      <p:sp>
        <p:nvSpPr>
          <p:cNvPr id="65" name="Text 63"/>
          <p:cNvSpPr txBox="1"/>
          <p:nvPr/>
        </p:nvSpPr>
        <p:spPr>
          <a:xfrm>
            <a:off x="832104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DO</a:t>
            </a:r>
            <a:endParaRPr lang="en-US" sz="1100" dirty="0"/>
          </a:p>
        </p:txBody>
      </p:sp>
      <p:sp>
        <p:nvSpPr>
          <p:cNvPr id="66" name="Text 64"/>
          <p:cNvSpPr txBox="1"/>
          <p:nvPr/>
        </p:nvSpPr>
        <p:spPr>
          <a:xfrm>
            <a:off x="907084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Delivery Order</a:t>
            </a:r>
            <a:pPr indent="0" marL="0">
              <a:buNone/>
            </a:pPr>
            <a:r>
              <a:rPr lang="en-US" sz="1200" dirty="0">
                <a:solidFill>
                  <a:srgbClr val="5B6B86"/>
                </a:solidFill>
              </a:rPr>
              <a:t> · penjualan harian kasir</a:t>
            </a:r>
            <a:endParaRPr lang="en-US" sz="12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Tujuh peran, masing-masing melihat tugasnya sendiri</a:t>
            </a:r>
            <a:endParaRPr lang="en-US" sz="3000" dirty="0"/>
          </a:p>
        </p:txBody>
      </p:sp>
      <p:sp>
        <p:nvSpPr>
          <p:cNvPr id="3" name="Zona Kapal"/>
          <p:cNvSpPr/>
          <p:nvPr/>
        </p:nvSpPr>
        <p:spPr>
          <a:xfrm>
            <a:off x="685800" y="1737360"/>
            <a:ext cx="3383280" cy="2660904"/>
          </a:xfrm>
          <a:prstGeom prst="roundRect">
            <a:avLst>
              <a:gd name="adj" fmla="val 4124"/>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 name="Ikon Kapal latar"/>
          <p:cNvSpPr/>
          <p:nvPr/>
        </p:nvSpPr>
        <p:spPr>
          <a:xfrm>
            <a:off x="914400" y="1874520"/>
            <a:ext cx="502920" cy="502920"/>
          </a:xfrm>
          <a:prstGeom prst="ellipse">
            <a:avLst/>
          </a:prstGeom>
          <a:solidFill>
            <a:srgbClr val="274289"/>
          </a:solidFill>
          <a:ln w="12700">
            <a:solidFill>
              <a:srgbClr val="274289"/>
            </a:solidFill>
            <a:prstDash val="solid"/>
          </a:ln>
        </p:spPr>
      </p:sp>
      <p:pic>
        <p:nvPicPr>
          <p:cNvPr id="5" name="Ikon Kapal" descr="Ikon Kapal">    </p:cNvPr>
          <p:cNvPicPr>
            <a:picLocks noChangeAspect="1"/>
          </p:cNvPicPr>
          <p:nvPr/>
        </p:nvPicPr>
        <p:blipFill>
          <a:blip r:embed="rId1"/>
          <a:stretch>
            <a:fillRect/>
          </a:stretch>
        </p:blipFill>
        <p:spPr>
          <a:xfrm>
            <a:off x="1040130" y="2000250"/>
            <a:ext cx="251460" cy="251460"/>
          </a:xfrm>
          <a:prstGeom prst="rect">
            <a:avLst/>
          </a:prstGeom>
        </p:spPr>
      </p:pic>
      <p:sp>
        <p:nvSpPr>
          <p:cNvPr id="6" name="Text 3"/>
          <p:cNvSpPr txBox="1"/>
          <p:nvPr/>
        </p:nvSpPr>
        <p:spPr>
          <a:xfrm>
            <a:off x="1554480" y="1874520"/>
            <a:ext cx="2286000" cy="502920"/>
          </a:xfrm>
          <a:prstGeom prst="rect">
            <a:avLst/>
          </a:prstGeom>
          <a:noFill/>
          <a:ln/>
        </p:spPr>
        <p:txBody>
          <a:bodyPr wrap="square" lIns="0" tIns="0" rIns="0" bIns="0" rtlCol="0" anchor="ctr"/>
          <a:lstStyle/>
          <a:p>
            <a:pPr indent="0" marL="0">
              <a:buNone/>
            </a:pPr>
            <a:r>
              <a:rPr lang="en-US" sz="1900" b="1" dirty="0">
                <a:solidFill>
                  <a:srgbClr val="274289"/>
                </a:solidFill>
              </a:rPr>
              <a:t>Kapal</a:t>
            </a:r>
            <a:endParaRPr lang="en-US" sz="1900" dirty="0"/>
          </a:p>
        </p:txBody>
      </p:sp>
      <p:sp>
        <p:nvSpPr>
          <p:cNvPr id="7" name="Peran Admin Kapal / Kepala Toko"/>
          <p:cNvSpPr/>
          <p:nvPr/>
        </p:nvSpPr>
        <p:spPr>
          <a:xfrm>
            <a:off x="886968" y="2560320"/>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5"/>
          <p:cNvSpPr txBox="1"/>
          <p:nvPr/>
        </p:nvSpPr>
        <p:spPr>
          <a:xfrm>
            <a:off x="1051560" y="2560320"/>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86968" y="3364992"/>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7"/>
          <p:cNvSpPr txBox="1"/>
          <p:nvPr/>
        </p:nvSpPr>
        <p:spPr>
          <a:xfrm>
            <a:off x="1051560" y="3364992"/>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Kasir</a:t>
            </a:r>
            <a:endParaRPr lang="en-US" sz="1500" dirty="0"/>
          </a:p>
          <a:p>
            <a:pPr indent="0" marL="0">
              <a:buNone/>
            </a:pPr>
            <a:r>
              <a:rPr lang="en-US" sz="1200" dirty="0">
                <a:solidFill>
                  <a:srgbClr val="5B6B86"/>
                </a:solidFill>
              </a:rPr>
              <a:t>Jual, kirim penjualan harian ke SAP</a:t>
            </a:r>
            <a:endParaRPr lang="en-US" sz="1500" dirty="0"/>
          </a:p>
        </p:txBody>
      </p:sp>
      <p:sp>
        <p:nvSpPr>
          <p:cNvPr id="11" name="Zona Kantor pusat"/>
          <p:cNvSpPr/>
          <p:nvPr/>
        </p:nvSpPr>
        <p:spPr>
          <a:xfrm>
            <a:off x="4343400" y="1737360"/>
            <a:ext cx="4069080" cy="4270248"/>
          </a:xfrm>
          <a:prstGeom prst="roundRect">
            <a:avLst>
              <a:gd name="adj" fmla="val 2697"/>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2" name="Ikon Kantor pusat latar"/>
          <p:cNvSpPr/>
          <p:nvPr/>
        </p:nvSpPr>
        <p:spPr>
          <a:xfrm>
            <a:off x="4572000" y="1874520"/>
            <a:ext cx="502920" cy="502920"/>
          </a:xfrm>
          <a:prstGeom prst="ellipse">
            <a:avLst/>
          </a:prstGeom>
          <a:solidFill>
            <a:srgbClr val="274289"/>
          </a:solidFill>
          <a:ln w="12700">
            <a:solidFill>
              <a:srgbClr val="274289"/>
            </a:solidFill>
            <a:prstDash val="solid"/>
          </a:ln>
        </p:spPr>
      </p:sp>
      <p:pic>
        <p:nvPicPr>
          <p:cNvPr id="13" name="Ikon Kantor pusat" descr="Ikon Kantor pusat">    </p:cNvPr>
          <p:cNvPicPr>
            <a:picLocks noChangeAspect="1"/>
          </p:cNvPicPr>
          <p:nvPr/>
        </p:nvPicPr>
        <p:blipFill>
          <a:blip r:embed="rId2"/>
          <a:stretch>
            <a:fillRect/>
          </a:stretch>
        </p:blipFill>
        <p:spPr>
          <a:xfrm>
            <a:off x="4697730" y="2000250"/>
            <a:ext cx="251460" cy="251460"/>
          </a:xfrm>
          <a:prstGeom prst="rect">
            <a:avLst/>
          </a:prstGeom>
        </p:spPr>
      </p:pic>
      <p:sp>
        <p:nvSpPr>
          <p:cNvPr id="14" name="Text 10"/>
          <p:cNvSpPr txBox="1"/>
          <p:nvPr/>
        </p:nvSpPr>
        <p:spPr>
          <a:xfrm>
            <a:off x="5212080" y="1874520"/>
            <a:ext cx="2971800" cy="502920"/>
          </a:xfrm>
          <a:prstGeom prst="rect">
            <a:avLst/>
          </a:prstGeom>
          <a:noFill/>
          <a:ln/>
        </p:spPr>
        <p:txBody>
          <a:bodyPr wrap="square" lIns="0" tIns="0" rIns="0" bIns="0" rtlCol="0" anchor="ctr"/>
          <a:lstStyle/>
          <a:p>
            <a:pPr indent="0" marL="0">
              <a:buNone/>
            </a:pPr>
            <a:r>
              <a:rPr lang="en-US" sz="1900" b="1" dirty="0">
                <a:solidFill>
                  <a:srgbClr val="274289"/>
                </a:solidFill>
              </a:rPr>
              <a:t>Kantor pusat</a:t>
            </a:r>
            <a:endParaRPr lang="en-US" sz="1900" dirty="0"/>
          </a:p>
        </p:txBody>
      </p:sp>
      <p:sp>
        <p:nvSpPr>
          <p:cNvPr id="15" name="Peran Approve SO (P2)"/>
          <p:cNvSpPr/>
          <p:nvPr/>
        </p:nvSpPr>
        <p:spPr>
          <a:xfrm>
            <a:off x="4544568" y="2560320"/>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6" name="Text 12"/>
          <p:cNvSpPr txBox="1"/>
          <p:nvPr/>
        </p:nvSpPr>
        <p:spPr>
          <a:xfrm>
            <a:off x="4709160" y="2560320"/>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SO (P2)</a:t>
            </a:r>
            <a:endParaRPr lang="en-US" sz="1500" dirty="0"/>
          </a:p>
          <a:p>
            <a:pPr indent="0" marL="0">
              <a:buNone/>
            </a:pPr>
            <a:r>
              <a:rPr lang="en-US" sz="1200" dirty="0">
                <a:solidFill>
                  <a:srgbClr val="5B6B86"/>
                </a:solidFill>
              </a:rPr>
              <a:t>Setujui permintaan kapal jadi Sales Order</a:t>
            </a:r>
            <a:endParaRPr lang="en-US" sz="1500" dirty="0"/>
          </a:p>
        </p:txBody>
      </p:sp>
      <p:sp>
        <p:nvSpPr>
          <p:cNvPr id="17" name="Peran Approve PUR (Pergudangan)"/>
          <p:cNvSpPr/>
          <p:nvPr/>
        </p:nvSpPr>
        <p:spPr>
          <a:xfrm>
            <a:off x="4544568" y="3364992"/>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8" name="Text 14"/>
          <p:cNvSpPr txBox="1"/>
          <p:nvPr/>
        </p:nvSpPr>
        <p:spPr>
          <a:xfrm>
            <a:off x="4709160" y="3364992"/>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 (Pergudangan)</a:t>
            </a:r>
            <a:endParaRPr lang="en-US" sz="1500" dirty="0"/>
          </a:p>
          <a:p>
            <a:pPr indent="0" marL="0">
              <a:buNone/>
            </a:pPr>
            <a:r>
              <a:rPr lang="en-US" sz="1200" dirty="0">
                <a:solidFill>
                  <a:srgbClr val="5B6B86"/>
                </a:solidFill>
              </a:rPr>
              <a:t>Setujui Purchase Request, penerimaan, transfer</a:t>
            </a:r>
            <a:endParaRPr lang="en-US" sz="1500" dirty="0"/>
          </a:p>
        </p:txBody>
      </p:sp>
      <p:sp>
        <p:nvSpPr>
          <p:cNvPr id="19" name="Peran Approve PO (Purchasing)"/>
          <p:cNvSpPr/>
          <p:nvPr/>
        </p:nvSpPr>
        <p:spPr>
          <a:xfrm>
            <a:off x="4544568" y="4169664"/>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6"/>
          <p:cNvSpPr txBox="1"/>
          <p:nvPr/>
        </p:nvSpPr>
        <p:spPr>
          <a:xfrm>
            <a:off x="4709160" y="4169664"/>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PO (Purchasing)</a:t>
            </a:r>
            <a:endParaRPr lang="en-US" sz="1500" dirty="0"/>
          </a:p>
          <a:p>
            <a:pPr indent="0" marL="0">
              <a:buNone/>
            </a:pPr>
            <a:r>
              <a:rPr lang="en-US" sz="1200" dirty="0">
                <a:solidFill>
                  <a:srgbClr val="5B6B86"/>
                </a:solidFill>
              </a:rPr>
              <a:t>Setujui Purchase Order ke vendor</a:t>
            </a:r>
            <a:endParaRPr lang="en-US" sz="1500" dirty="0"/>
          </a:p>
        </p:txBody>
      </p:sp>
      <p:sp>
        <p:nvSpPr>
          <p:cNvPr id="21" name="Peran Admin PO (Purchasing)"/>
          <p:cNvSpPr/>
          <p:nvPr/>
        </p:nvSpPr>
        <p:spPr>
          <a:xfrm>
            <a:off x="4544568" y="4974336"/>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2" name="Text 18"/>
          <p:cNvSpPr txBox="1"/>
          <p:nvPr/>
        </p:nvSpPr>
        <p:spPr>
          <a:xfrm>
            <a:off x="4709160" y="4974336"/>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Admin PO (Purchasing)</a:t>
            </a:r>
            <a:endParaRPr lang="en-US" sz="1500" dirty="0"/>
          </a:p>
          <a:p>
            <a:pPr indent="0" marL="0">
              <a:buNone/>
            </a:pPr>
            <a:r>
              <a:rPr lang="en-US" sz="1200" dirty="0">
                <a:solidFill>
                  <a:srgbClr val="5B6B86"/>
                </a:solidFill>
              </a:rPr>
              <a:t>Buat Purchase Order ke vendor</a:t>
            </a:r>
            <a:endParaRPr lang="en-US" sz="1500" dirty="0"/>
          </a:p>
        </p:txBody>
      </p:sp>
      <p:sp>
        <p:nvSpPr>
          <p:cNvPr id="23" name="Zona DC"/>
          <p:cNvSpPr/>
          <p:nvPr/>
        </p:nvSpPr>
        <p:spPr>
          <a:xfrm>
            <a:off x="8686800" y="1737360"/>
            <a:ext cx="2834640" cy="1856232"/>
          </a:xfrm>
          <a:prstGeom prst="roundRect">
            <a:avLst>
              <a:gd name="adj" fmla="val 591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4" name="Ikon DC latar"/>
          <p:cNvSpPr/>
          <p:nvPr/>
        </p:nvSpPr>
        <p:spPr>
          <a:xfrm>
            <a:off x="8915400" y="1874520"/>
            <a:ext cx="502920" cy="502920"/>
          </a:xfrm>
          <a:prstGeom prst="ellipse">
            <a:avLst/>
          </a:prstGeom>
          <a:solidFill>
            <a:srgbClr val="274289"/>
          </a:solidFill>
          <a:ln w="12700">
            <a:solidFill>
              <a:srgbClr val="274289"/>
            </a:solidFill>
            <a:prstDash val="solid"/>
          </a:ln>
        </p:spPr>
      </p:sp>
      <p:pic>
        <p:nvPicPr>
          <p:cNvPr id="25" name="Ikon DC" descr="Ikon DC">    </p:cNvPr>
          <p:cNvPicPr>
            <a:picLocks noChangeAspect="1"/>
          </p:cNvPicPr>
          <p:nvPr/>
        </p:nvPicPr>
        <p:blipFill>
          <a:blip r:embed="rId3"/>
          <a:stretch>
            <a:fillRect/>
          </a:stretch>
        </p:blipFill>
        <p:spPr>
          <a:xfrm>
            <a:off x="9041130" y="2000250"/>
            <a:ext cx="251460" cy="251460"/>
          </a:xfrm>
          <a:prstGeom prst="rect">
            <a:avLst/>
          </a:prstGeom>
        </p:spPr>
      </p:pic>
      <p:sp>
        <p:nvSpPr>
          <p:cNvPr id="26" name="Text 21"/>
          <p:cNvSpPr txBox="1"/>
          <p:nvPr/>
        </p:nvSpPr>
        <p:spPr>
          <a:xfrm>
            <a:off x="9555480" y="1874520"/>
            <a:ext cx="1737360" cy="502920"/>
          </a:xfrm>
          <a:prstGeom prst="rect">
            <a:avLst/>
          </a:prstGeom>
          <a:noFill/>
          <a:ln/>
        </p:spPr>
        <p:txBody>
          <a:bodyPr wrap="square" lIns="0" tIns="0" rIns="0" bIns="0" rtlCol="0" anchor="ctr"/>
          <a:lstStyle/>
          <a:p>
            <a:pPr indent="0" marL="0">
              <a:buNone/>
            </a:pPr>
            <a:r>
              <a:rPr lang="en-US" sz="1900" b="1" dirty="0">
                <a:solidFill>
                  <a:srgbClr val="274289"/>
                </a:solidFill>
              </a:rPr>
              <a:t>DC</a:t>
            </a:r>
            <a:endParaRPr lang="en-US" sz="1900" dirty="0"/>
          </a:p>
        </p:txBody>
      </p:sp>
      <p:sp>
        <p:nvSpPr>
          <p:cNvPr id="27" name="Peran Admin DC"/>
          <p:cNvSpPr/>
          <p:nvPr/>
        </p:nvSpPr>
        <p:spPr>
          <a:xfrm>
            <a:off x="8887968" y="2560320"/>
            <a:ext cx="243230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8" name="Text 23"/>
          <p:cNvSpPr txBox="1"/>
          <p:nvPr/>
        </p:nvSpPr>
        <p:spPr>
          <a:xfrm>
            <a:off x="9052560" y="2560320"/>
            <a:ext cx="2103120" cy="694944"/>
          </a:xfrm>
          <a:prstGeom prst="rect">
            <a:avLst/>
          </a:prstGeom>
          <a:noFill/>
          <a:ln/>
        </p:spPr>
        <p:txBody>
          <a:bodyPr wrap="square" lIns="0" tIns="0" rIns="0" bIns="0" rtlCol="0" anchor="ctr"/>
          <a:lstStyle/>
          <a:p>
            <a:pPr indent="0" marL="0">
              <a:buNone/>
            </a:pPr>
            <a:r>
              <a:rPr lang="en-US" sz="1500" b="1" dirty="0">
                <a:solidFill>
                  <a:srgbClr val="274289"/>
                </a:solidFill>
              </a:rPr>
              <a:t>Admin DC</a:t>
            </a:r>
            <a:endParaRPr lang="en-US" sz="1500" dirty="0"/>
          </a:p>
          <a:p>
            <a:pPr indent="0" marL="0">
              <a:buNone/>
            </a:pPr>
            <a:r>
              <a:rPr lang="en-US" sz="1200" dirty="0">
                <a:solidFill>
                  <a:srgbClr val="5B6B86"/>
                </a:solidFill>
              </a:rPr>
              <a:t>Pilah stok, ajukan penerimaan dan transfer</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Fitur utama aplikasi web</a:t>
            </a:r>
            <a:endParaRPr lang="en-US" sz="3000" dirty="0"/>
          </a:p>
        </p:txBody>
      </p:sp>
      <p:sp>
        <p:nvSpPr>
          <p:cNvPr id="3" name="Fitur Pesan ke DC"/>
          <p:cNvSpPr/>
          <p:nvPr/>
        </p:nvSpPr>
        <p:spPr>
          <a:xfrm>
            <a:off x="6858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Pesan ke DC bingkai"/>
          <p:cNvSpPr/>
          <p:nvPr/>
        </p:nvSpPr>
        <p:spPr>
          <a:xfrm>
            <a:off x="822960" y="2051264"/>
            <a:ext cx="3154680" cy="1566752"/>
          </a:xfrm>
          <a:prstGeom prst="roundRect">
            <a:avLst>
              <a:gd name="adj" fmla="val 700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Pesan ke DC" descr="Layar PID POS: Pesan ke DC">    </p:cNvPr>
          <p:cNvPicPr>
            <a:picLocks noChangeAspect="1"/>
          </p:cNvPicPr>
          <p:nvPr/>
        </p:nvPicPr>
        <p:blipFill>
          <a:blip r:embed="rId1"/>
          <a:stretch>
            <a:fillRect/>
          </a:stretch>
        </p:blipFill>
        <p:spPr>
          <a:xfrm>
            <a:off x="886968" y="2115272"/>
            <a:ext cx="3026664" cy="1438736"/>
          </a:xfrm>
          <a:prstGeom prst="rect">
            <a:avLst/>
          </a:prstGeom>
        </p:spPr>
      </p:pic>
      <p:sp>
        <p:nvSpPr>
          <p:cNvPr id="6" name="Text 3"/>
          <p:cNvSpPr txBox="1"/>
          <p:nvPr/>
        </p:nvSpPr>
        <p:spPr>
          <a:xfrm>
            <a:off x="9144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Pesan ke DC</a:t>
            </a:r>
            <a:endParaRPr lang="en-US" sz="1800" dirty="0"/>
          </a:p>
          <a:p>
            <a:pPr indent="0" marL="0">
              <a:spcAft>
                <a:spcPts val="400"/>
              </a:spcAft>
              <a:buNone/>
            </a:pPr>
            <a:r>
              <a:rPr lang="en-US" sz="1300" dirty="0">
                <a:solidFill>
                  <a:srgbClr val="1B2437"/>
                </a:solidFill>
              </a:rPr>
              <a:t>Pilih barang dan dek tujuan, lalu kirim permintaan ke DC.</a:t>
            </a:r>
            <a:endParaRPr lang="en-US" sz="1800" dirty="0"/>
          </a:p>
        </p:txBody>
      </p:sp>
      <p:sp>
        <p:nvSpPr>
          <p:cNvPr id="7" name="Fitur Persetujuan berjenjang"/>
          <p:cNvSpPr/>
          <p:nvPr/>
        </p:nvSpPr>
        <p:spPr>
          <a:xfrm>
            <a:off x="43434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Persetujuan berjenjang bingkai"/>
          <p:cNvSpPr/>
          <p:nvPr/>
        </p:nvSpPr>
        <p:spPr>
          <a:xfrm>
            <a:off x="4964103" y="1856232"/>
            <a:ext cx="2187593" cy="1956816"/>
          </a:xfrm>
          <a:prstGeom prst="roundRect">
            <a:avLst>
              <a:gd name="adj" fmla="val 560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Persetujuan berjenjang" descr="Layar PID POS: Persetujuan berjenjang">    </p:cNvPr>
          <p:cNvPicPr>
            <a:picLocks noChangeAspect="1"/>
          </p:cNvPicPr>
          <p:nvPr/>
        </p:nvPicPr>
        <p:blipFill>
          <a:blip r:embed="rId2"/>
          <a:stretch>
            <a:fillRect/>
          </a:stretch>
        </p:blipFill>
        <p:spPr>
          <a:xfrm>
            <a:off x="5028111" y="1920240"/>
            <a:ext cx="2059577" cy="1828800"/>
          </a:xfrm>
          <a:prstGeom prst="rect">
            <a:avLst/>
          </a:prstGeom>
        </p:spPr>
      </p:pic>
      <p:sp>
        <p:nvSpPr>
          <p:cNvPr id="10" name="Text 6"/>
          <p:cNvSpPr txBox="1"/>
          <p:nvPr/>
        </p:nvSpPr>
        <p:spPr>
          <a:xfrm>
            <a:off x="45720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Persetujuan berjenjang</a:t>
            </a:r>
            <a:endParaRPr lang="en-US" sz="1800" dirty="0"/>
          </a:p>
          <a:p>
            <a:pPr indent="0" marL="0">
              <a:spcAft>
                <a:spcPts val="400"/>
              </a:spcAft>
              <a:buNone/>
            </a:pPr>
            <a:r>
              <a:rPr lang="en-US" sz="1300" dirty="0">
                <a:solidFill>
                  <a:srgbClr val="1B2437"/>
                </a:solidFill>
              </a:rPr>
              <a:t>Status tiap tahap terlihat; setelah disetujui menjadi Sales Order di SAP.</a:t>
            </a:r>
            <a:endParaRPr lang="en-US" sz="1800" dirty="0"/>
          </a:p>
        </p:txBody>
      </p:sp>
      <p:sp>
        <p:nvSpPr>
          <p:cNvPr id="11" name="Fitur Posisi stok per dek"/>
          <p:cNvSpPr/>
          <p:nvPr/>
        </p:nvSpPr>
        <p:spPr>
          <a:xfrm>
            <a:off x="80010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Posisi stok per dek bingkai"/>
          <p:cNvSpPr/>
          <p:nvPr/>
        </p:nvSpPr>
        <p:spPr>
          <a:xfrm>
            <a:off x="8138160" y="2334875"/>
            <a:ext cx="3154680" cy="999530"/>
          </a:xfrm>
          <a:prstGeom prst="roundRect">
            <a:avLst>
              <a:gd name="adj" fmla="val 1097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Posisi stok per dek" descr="Layar PID POS: Posisi stok per dek">    </p:cNvPr>
          <p:cNvPicPr>
            <a:picLocks noChangeAspect="1"/>
          </p:cNvPicPr>
          <p:nvPr/>
        </p:nvPicPr>
        <p:blipFill>
          <a:blip r:embed="rId3"/>
          <a:stretch>
            <a:fillRect/>
          </a:stretch>
        </p:blipFill>
        <p:spPr>
          <a:xfrm>
            <a:off x="8202168" y="2398883"/>
            <a:ext cx="3026664" cy="871514"/>
          </a:xfrm>
          <a:prstGeom prst="rect">
            <a:avLst/>
          </a:prstGeom>
        </p:spPr>
      </p:pic>
      <p:sp>
        <p:nvSpPr>
          <p:cNvPr id="14" name="Text 9"/>
          <p:cNvSpPr txBox="1"/>
          <p:nvPr/>
        </p:nvSpPr>
        <p:spPr>
          <a:xfrm>
            <a:off x="82296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Posisi stok per dek</a:t>
            </a:r>
            <a:endParaRPr lang="en-US" sz="1800" dirty="0"/>
          </a:p>
          <a:p>
            <a:pPr indent="0" marL="0">
              <a:spcAft>
                <a:spcPts val="400"/>
              </a:spcAft>
              <a:buNone/>
            </a:pPr>
            <a:r>
              <a:rPr lang="en-US" sz="1300" dirty="0">
                <a:solidFill>
                  <a:srgbClr val="1B2437"/>
                </a:solidFill>
              </a:rPr>
              <a:t>Stok setiap dek, total, dan penjualan 7 hari dalam satu tabel.</a:t>
            </a:r>
            <a:endParaRPr lang="en-US" sz="1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Kasir di setiap dek</a:t>
            </a:r>
            <a:endParaRPr lang="en-US" sz="3000" dirty="0"/>
          </a:p>
        </p:txBody>
      </p:sp>
      <p:sp>
        <p:nvSpPr>
          <p:cNvPr id="3" name="Kasir: scan barang bingkai"/>
          <p:cNvSpPr/>
          <p:nvPr/>
        </p:nvSpPr>
        <p:spPr>
          <a:xfrm>
            <a:off x="674484" y="1719072"/>
            <a:ext cx="5280431" cy="3145536"/>
          </a:xfrm>
          <a:prstGeom prst="roundRect">
            <a:avLst>
              <a:gd name="adj" fmla="val 348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asir: scan barang" descr="Layar PID POS: Kasir: scan barang">    </p:cNvPr>
          <p:cNvPicPr>
            <a:picLocks noChangeAspect="1"/>
          </p:cNvPicPr>
          <p:nvPr/>
        </p:nvPicPr>
        <p:blipFill>
          <a:blip r:embed="rId1"/>
          <a:stretch>
            <a:fillRect/>
          </a:stretch>
        </p:blipFill>
        <p:spPr>
          <a:xfrm>
            <a:off x="738492" y="1783080"/>
            <a:ext cx="5152415" cy="3017520"/>
          </a:xfrm>
          <a:prstGeom prst="rect">
            <a:avLst/>
          </a:prstGeom>
        </p:spPr>
      </p:pic>
      <p:sp>
        <p:nvSpPr>
          <p:cNvPr id="5" name="Kasir: pembayaran bingkai"/>
          <p:cNvSpPr/>
          <p:nvPr/>
        </p:nvSpPr>
        <p:spPr>
          <a:xfrm>
            <a:off x="6199632" y="1951231"/>
            <a:ext cx="5385816" cy="2681218"/>
          </a:xfrm>
          <a:prstGeom prst="roundRect">
            <a:avLst>
              <a:gd name="adj" fmla="val 409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6" name="Kasir: pembayaran" descr="Layar PID POS: Kasir: pembayaran">    </p:cNvPr>
          <p:cNvPicPr>
            <a:picLocks noChangeAspect="1"/>
          </p:cNvPicPr>
          <p:nvPr/>
        </p:nvPicPr>
        <p:blipFill>
          <a:blip r:embed="rId2"/>
          <a:stretch>
            <a:fillRect/>
          </a:stretch>
        </p:blipFill>
        <p:spPr>
          <a:xfrm>
            <a:off x="6263640" y="2015239"/>
            <a:ext cx="5257800" cy="2553202"/>
          </a:xfrm>
          <a:prstGeom prst="rect">
            <a:avLst/>
          </a:prstGeom>
        </p:spPr>
      </p:pic>
      <p:sp>
        <p:nvSpPr>
          <p:cNvPr id="7" name="Langkah 1"/>
          <p:cNvSpPr/>
          <p:nvPr/>
        </p:nvSpPr>
        <p:spPr>
          <a:xfrm>
            <a:off x="1600200" y="5166360"/>
            <a:ext cx="475488" cy="475488"/>
          </a:xfrm>
          <a:prstGeom prst="ellipse">
            <a:avLst/>
          </a:prstGeom>
          <a:solidFill>
            <a:srgbClr val="274289"/>
          </a:solidFill>
          <a:ln w="12700">
            <a:solidFill>
              <a:srgbClr val="274289"/>
            </a:solidFill>
            <a:prstDash val="solid"/>
          </a:ln>
        </p:spPr>
      </p:sp>
      <p:sp>
        <p:nvSpPr>
          <p:cNvPr id="8" name="Text 4"/>
          <p:cNvSpPr txBox="1"/>
          <p:nvPr/>
        </p:nvSpPr>
        <p:spPr>
          <a:xfrm>
            <a:off x="1600200"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2194560"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Scan barang</a:t>
            </a:r>
            <a:endParaRPr lang="en-US" sz="1500" dirty="0"/>
          </a:p>
          <a:p>
            <a:pPr indent="0" marL="0">
              <a:buNone/>
            </a:pPr>
            <a:r>
              <a:rPr lang="en-US" sz="1200" dirty="0">
                <a:solidFill>
                  <a:srgbClr val="5B6B86"/>
                </a:solidFill>
              </a:rPr>
              <a:t>barcode, atau ketik nama/kode</a:t>
            </a:r>
            <a:endParaRPr lang="en-US" sz="1500" dirty="0"/>
          </a:p>
        </p:txBody>
      </p:sp>
      <p:sp>
        <p:nvSpPr>
          <p:cNvPr id="10" name="Langkah 2"/>
          <p:cNvSpPr/>
          <p:nvPr/>
        </p:nvSpPr>
        <p:spPr>
          <a:xfrm>
            <a:off x="4087368" y="5166360"/>
            <a:ext cx="475488" cy="475488"/>
          </a:xfrm>
          <a:prstGeom prst="ellipse">
            <a:avLst/>
          </a:prstGeom>
          <a:solidFill>
            <a:srgbClr val="274289"/>
          </a:solidFill>
          <a:ln w="12700">
            <a:solidFill>
              <a:srgbClr val="274289"/>
            </a:solidFill>
            <a:prstDash val="solid"/>
          </a:ln>
        </p:spPr>
      </p:sp>
      <p:sp>
        <p:nvSpPr>
          <p:cNvPr id="11" name="Text 7"/>
          <p:cNvSpPr txBox="1"/>
          <p:nvPr/>
        </p:nvSpPr>
        <p:spPr>
          <a:xfrm>
            <a:off x="4087368"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8"/>
          <p:cNvSpPr txBox="1"/>
          <p:nvPr/>
        </p:nvSpPr>
        <p:spPr>
          <a:xfrm>
            <a:off x="4681728"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Bayar</a:t>
            </a:r>
            <a:endParaRPr lang="en-US" sz="1500" dirty="0"/>
          </a:p>
          <a:p>
            <a:pPr indent="0" marL="0">
              <a:buNone/>
            </a:pPr>
            <a:r>
              <a:rPr lang="en-US" sz="1200" dirty="0">
                <a:solidFill>
                  <a:srgbClr val="5B6B86"/>
                </a:solidFill>
              </a:rPr>
              <a:t>tunai atau QRIS, kembalian otomatis</a:t>
            </a:r>
            <a:endParaRPr lang="en-US" sz="1500" dirty="0"/>
          </a:p>
        </p:txBody>
      </p:sp>
      <p:sp>
        <p:nvSpPr>
          <p:cNvPr id="13" name="Langkah 3"/>
          <p:cNvSpPr/>
          <p:nvPr/>
        </p:nvSpPr>
        <p:spPr>
          <a:xfrm>
            <a:off x="6574536" y="5166360"/>
            <a:ext cx="475488" cy="475488"/>
          </a:xfrm>
          <a:prstGeom prst="ellipse">
            <a:avLst/>
          </a:prstGeom>
          <a:solidFill>
            <a:srgbClr val="274289"/>
          </a:solidFill>
          <a:ln w="12700">
            <a:solidFill>
              <a:srgbClr val="274289"/>
            </a:solidFill>
            <a:prstDash val="solid"/>
          </a:ln>
        </p:spPr>
      </p:sp>
      <p:sp>
        <p:nvSpPr>
          <p:cNvPr id="14" name="Text 10"/>
          <p:cNvSpPr txBox="1"/>
          <p:nvPr/>
        </p:nvSpPr>
        <p:spPr>
          <a:xfrm>
            <a:off x="6574536"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1"/>
          <p:cNvSpPr txBox="1"/>
          <p:nvPr/>
        </p:nvSpPr>
        <p:spPr>
          <a:xfrm>
            <a:off x="7168896"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Struk tercetak</a:t>
            </a:r>
            <a:endParaRPr lang="en-US" sz="1500" dirty="0"/>
          </a:p>
          <a:p>
            <a:pPr indent="0" marL="0">
              <a:buNone/>
            </a:pPr>
            <a:r>
              <a:rPr lang="en-US" sz="1200" dirty="0">
                <a:solidFill>
                  <a:srgbClr val="5B6B86"/>
                </a:solidFill>
              </a:rPr>
              <a:t>cetak ulang dari riwayat</a:t>
            </a:r>
            <a:endParaRPr lang="en-US" sz="1500" dirty="0"/>
          </a:p>
        </p:txBody>
      </p:sp>
      <p:sp>
        <p:nvSpPr>
          <p:cNvPr id="16" name="Langkah 4"/>
          <p:cNvSpPr/>
          <p:nvPr/>
        </p:nvSpPr>
        <p:spPr>
          <a:xfrm>
            <a:off x="9061704" y="5166360"/>
            <a:ext cx="475488" cy="475488"/>
          </a:xfrm>
          <a:prstGeom prst="ellipse">
            <a:avLst/>
          </a:prstGeom>
          <a:solidFill>
            <a:srgbClr val="F2762E"/>
          </a:solidFill>
          <a:ln w="12700">
            <a:solidFill>
              <a:srgbClr val="F2762E"/>
            </a:solidFill>
            <a:prstDash val="solid"/>
          </a:ln>
        </p:spPr>
      </p:sp>
      <p:sp>
        <p:nvSpPr>
          <p:cNvPr id="17" name="Text 13"/>
          <p:cNvSpPr txBox="1"/>
          <p:nvPr/>
        </p:nvSpPr>
        <p:spPr>
          <a:xfrm>
            <a:off x="9061704"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4"/>
          <p:cNvSpPr txBox="1"/>
          <p:nvPr/>
        </p:nvSpPr>
        <p:spPr>
          <a:xfrm>
            <a:off x="9656064"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Kirim Delivery Order</a:t>
            </a:r>
            <a:endParaRPr lang="en-US" sz="1500" dirty="0"/>
          </a:p>
          <a:p>
            <a:pPr indent="0" marL="0">
              <a:buNone/>
            </a:pPr>
            <a:r>
              <a:rPr lang="en-US" sz="1200" dirty="0">
                <a:solidFill>
                  <a:srgbClr val="5B6B86"/>
                </a:solidFill>
              </a:rPr>
              <a:t>penjualan harian masuk SAP</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Keunggulan PID POS</a:t>
            </a:r>
            <a:endParaRPr lang="en-US" sz="3000" dirty="0"/>
          </a:p>
        </p:txBody>
      </p:sp>
      <p:sp>
        <p:nvSpPr>
          <p:cNvPr id="3" name="Keunggulan Transparan"/>
          <p:cNvSpPr/>
          <p:nvPr/>
        </p:nvSpPr>
        <p:spPr>
          <a:xfrm>
            <a:off x="6858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Transparan latar"/>
          <p:cNvSpPr/>
          <p:nvPr/>
        </p:nvSpPr>
        <p:spPr>
          <a:xfrm>
            <a:off x="960120" y="2011680"/>
            <a:ext cx="868680" cy="868680"/>
          </a:xfrm>
          <a:prstGeom prst="ellipse">
            <a:avLst/>
          </a:prstGeom>
          <a:solidFill>
            <a:srgbClr val="274289"/>
          </a:solidFill>
          <a:ln w="12700">
            <a:solidFill>
              <a:srgbClr val="274289"/>
            </a:solidFill>
            <a:prstDash val="solid"/>
          </a:ln>
        </p:spPr>
      </p:sp>
      <p:pic>
        <p:nvPicPr>
          <p:cNvPr id="5" name="Ikon Transparan" descr="Ikon Transparan">    </p:cNvPr>
          <p:cNvPicPr>
            <a:picLocks noChangeAspect="1"/>
          </p:cNvPicPr>
          <p:nvPr/>
        </p:nvPicPr>
        <p:blipFill>
          <a:blip r:embed="rId1"/>
          <a:stretch>
            <a:fillRect/>
          </a:stretch>
        </p:blipFill>
        <p:spPr>
          <a:xfrm>
            <a:off x="1177290" y="2228850"/>
            <a:ext cx="434340" cy="434340"/>
          </a:xfrm>
          <a:prstGeom prst="rect">
            <a:avLst/>
          </a:prstGeom>
        </p:spPr>
      </p:pic>
      <p:sp>
        <p:nvSpPr>
          <p:cNvPr id="6" name="Text 3"/>
          <p:cNvSpPr txBox="1"/>
          <p:nvPr/>
        </p:nvSpPr>
        <p:spPr>
          <a:xfrm>
            <a:off x="9601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Transparan</a:t>
            </a:r>
            <a:endParaRPr lang="en-US" sz="2400" dirty="0"/>
          </a:p>
        </p:txBody>
      </p:sp>
      <p:sp>
        <p:nvSpPr>
          <p:cNvPr id="7" name="Text 4"/>
          <p:cNvSpPr txBox="1"/>
          <p:nvPr/>
        </p:nvSpPr>
        <p:spPr>
          <a:xfrm>
            <a:off x="9601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Stok setiap dek dan status setiap permintaan terpantau real-time, lengkap dengan riwayatnya.</a:t>
            </a:r>
            <a:endParaRPr lang="en-US" sz="1400" dirty="0"/>
          </a:p>
        </p:txBody>
      </p:sp>
      <p:sp>
        <p:nvSpPr>
          <p:cNvPr id="8" name="Keunggulan Terkendali"/>
          <p:cNvSpPr/>
          <p:nvPr/>
        </p:nvSpPr>
        <p:spPr>
          <a:xfrm>
            <a:off x="43434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9" name="Ikon Terkendali latar"/>
          <p:cNvSpPr/>
          <p:nvPr/>
        </p:nvSpPr>
        <p:spPr>
          <a:xfrm>
            <a:off x="4617720" y="2011680"/>
            <a:ext cx="868680" cy="868680"/>
          </a:xfrm>
          <a:prstGeom prst="ellipse">
            <a:avLst/>
          </a:prstGeom>
          <a:solidFill>
            <a:srgbClr val="274289"/>
          </a:solidFill>
          <a:ln w="12700">
            <a:solidFill>
              <a:srgbClr val="274289"/>
            </a:solidFill>
            <a:prstDash val="solid"/>
          </a:ln>
        </p:spPr>
      </p:sp>
      <p:pic>
        <p:nvPicPr>
          <p:cNvPr id="10" name="Ikon Terkendali" descr="Ikon Terkendali">    </p:cNvPr>
          <p:cNvPicPr>
            <a:picLocks noChangeAspect="1"/>
          </p:cNvPicPr>
          <p:nvPr/>
        </p:nvPicPr>
        <p:blipFill>
          <a:blip r:embed="rId2"/>
          <a:stretch>
            <a:fillRect/>
          </a:stretch>
        </p:blipFill>
        <p:spPr>
          <a:xfrm>
            <a:off x="4834890" y="2228850"/>
            <a:ext cx="434340" cy="434340"/>
          </a:xfrm>
          <a:prstGeom prst="rect">
            <a:avLst/>
          </a:prstGeom>
        </p:spPr>
      </p:pic>
      <p:sp>
        <p:nvSpPr>
          <p:cNvPr id="11" name="Text 7"/>
          <p:cNvSpPr txBox="1"/>
          <p:nvPr/>
        </p:nvSpPr>
        <p:spPr>
          <a:xfrm>
            <a:off x="46177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Terkendali</a:t>
            </a:r>
            <a:endParaRPr lang="en-US" sz="2400" dirty="0"/>
          </a:p>
        </p:txBody>
      </p:sp>
      <p:sp>
        <p:nvSpPr>
          <p:cNvPr id="12" name="Text 8"/>
          <p:cNvSpPr txBox="1"/>
          <p:nvPr/>
        </p:nvSpPr>
        <p:spPr>
          <a:xfrm>
            <a:off x="46177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Persetujuan berjenjang di setiap tahap, dan setiap persetujuan tercatat lengkap dengan siapa dan kapan.</a:t>
            </a:r>
            <a:endParaRPr lang="en-US" sz="1400" dirty="0"/>
          </a:p>
        </p:txBody>
      </p:sp>
      <p:sp>
        <p:nvSpPr>
          <p:cNvPr id="13" name="Keunggulan Terintegrasi"/>
          <p:cNvSpPr/>
          <p:nvPr/>
        </p:nvSpPr>
        <p:spPr>
          <a:xfrm>
            <a:off x="80010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Ikon Terintegrasi latar"/>
          <p:cNvSpPr/>
          <p:nvPr/>
        </p:nvSpPr>
        <p:spPr>
          <a:xfrm>
            <a:off x="8275320" y="2011680"/>
            <a:ext cx="868680" cy="868680"/>
          </a:xfrm>
          <a:prstGeom prst="ellipse">
            <a:avLst/>
          </a:prstGeom>
          <a:solidFill>
            <a:srgbClr val="5AB4E5"/>
          </a:solidFill>
          <a:ln w="12700">
            <a:solidFill>
              <a:srgbClr val="5AB4E5"/>
            </a:solidFill>
            <a:prstDash val="solid"/>
          </a:ln>
        </p:spPr>
      </p:sp>
      <p:pic>
        <p:nvPicPr>
          <p:cNvPr id="15" name="Ikon Terintegrasi" descr="Ikon Terintegrasi">    </p:cNvPr>
          <p:cNvPicPr>
            <a:picLocks noChangeAspect="1"/>
          </p:cNvPicPr>
          <p:nvPr/>
        </p:nvPicPr>
        <p:blipFill>
          <a:blip r:embed="rId3"/>
          <a:stretch>
            <a:fillRect/>
          </a:stretch>
        </p:blipFill>
        <p:spPr>
          <a:xfrm>
            <a:off x="8492490" y="2228850"/>
            <a:ext cx="434340" cy="434340"/>
          </a:xfrm>
          <a:prstGeom prst="rect">
            <a:avLst/>
          </a:prstGeom>
        </p:spPr>
      </p:pic>
      <p:sp>
        <p:nvSpPr>
          <p:cNvPr id="16" name="Text 11"/>
          <p:cNvSpPr txBox="1"/>
          <p:nvPr/>
        </p:nvSpPr>
        <p:spPr>
          <a:xfrm>
            <a:off x="82753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Terintegrasi</a:t>
            </a:r>
            <a:endParaRPr lang="en-US" sz="2400" dirty="0"/>
          </a:p>
        </p:txBody>
      </p:sp>
      <p:sp>
        <p:nvSpPr>
          <p:cNvPr id="17" name="Text 12"/>
          <p:cNvSpPr txBox="1"/>
          <p:nvPr/>
        </p:nvSpPr>
        <p:spPr>
          <a:xfrm>
            <a:off x="82753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Dokumen SAP Business One dibuat otomatis, dan penjualan harian setiap dek masuk SAP sebagai Delivery Order.</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Batasan aplikasi saat ini</a:t>
            </a:r>
            <a:endParaRPr lang="en-US" sz="3000" dirty="0"/>
          </a:p>
        </p:txBody>
      </p:sp>
      <p:sp>
        <p:nvSpPr>
          <p:cNvPr id="3" name="Batasan Memerlukan koneksi internet"/>
          <p:cNvSpPr/>
          <p:nvPr/>
        </p:nvSpPr>
        <p:spPr>
          <a:xfrm>
            <a:off x="685800" y="1737360"/>
            <a:ext cx="5303520" cy="3429000"/>
          </a:xfrm>
          <a:prstGeom prst="roundRect">
            <a:avLst>
              <a:gd name="adj" fmla="val 32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Memerlukan koneksi internet latar"/>
          <p:cNvSpPr/>
          <p:nvPr/>
        </p:nvSpPr>
        <p:spPr>
          <a:xfrm>
            <a:off x="1005840" y="2011680"/>
            <a:ext cx="868680" cy="868680"/>
          </a:xfrm>
          <a:prstGeom prst="ellipse">
            <a:avLst/>
          </a:prstGeom>
          <a:solidFill>
            <a:srgbClr val="274289"/>
          </a:solidFill>
          <a:ln w="12700">
            <a:solidFill>
              <a:srgbClr val="274289"/>
            </a:solidFill>
            <a:prstDash val="solid"/>
          </a:ln>
        </p:spPr>
      </p:sp>
      <p:pic>
        <p:nvPicPr>
          <p:cNvPr id="5" name="Ikon Memerlukan koneksi internet" descr="Ikon Memerlukan koneksi internet">    </p:cNvPr>
          <p:cNvPicPr>
            <a:picLocks noChangeAspect="1"/>
          </p:cNvPicPr>
          <p:nvPr/>
        </p:nvPicPr>
        <p:blipFill>
          <a:blip r:embed="rId1"/>
          <a:stretch>
            <a:fillRect/>
          </a:stretch>
        </p:blipFill>
        <p:spPr>
          <a:xfrm>
            <a:off x="1223010" y="2228850"/>
            <a:ext cx="434340" cy="434340"/>
          </a:xfrm>
          <a:prstGeom prst="rect">
            <a:avLst/>
          </a:prstGeom>
        </p:spPr>
      </p:pic>
      <p:sp>
        <p:nvSpPr>
          <p:cNvPr id="6" name="Text 3"/>
          <p:cNvSpPr txBox="1"/>
          <p:nvPr/>
        </p:nvSpPr>
        <p:spPr>
          <a:xfrm>
            <a:off x="1005840" y="3063240"/>
            <a:ext cx="4663440" cy="502920"/>
          </a:xfrm>
          <a:prstGeom prst="rect">
            <a:avLst/>
          </a:prstGeom>
          <a:noFill/>
          <a:ln/>
        </p:spPr>
        <p:txBody>
          <a:bodyPr wrap="square" lIns="0" tIns="0" rIns="0" bIns="0" rtlCol="0" anchor="t"/>
          <a:lstStyle/>
          <a:p>
            <a:pPr indent="0" marL="0">
              <a:buNone/>
            </a:pPr>
            <a:r>
              <a:rPr lang="en-US" sz="2400" b="1" dirty="0">
                <a:solidFill>
                  <a:srgbClr val="274289"/>
                </a:solidFill>
              </a:rPr>
              <a:t>Memerlukan koneksi internet</a:t>
            </a:r>
            <a:endParaRPr lang="en-US" sz="2400" dirty="0"/>
          </a:p>
        </p:txBody>
      </p:sp>
      <p:sp>
        <p:nvSpPr>
          <p:cNvPr id="7" name="Text 4"/>
          <p:cNvSpPr txBox="1"/>
          <p:nvPr/>
        </p:nvSpPr>
        <p:spPr>
          <a:xfrm>
            <a:off x="1005840" y="3611880"/>
            <a:ext cx="4663440" cy="731520"/>
          </a:xfrm>
          <a:prstGeom prst="rect">
            <a:avLst/>
          </a:prstGeom>
          <a:noFill/>
          <a:ln/>
        </p:spPr>
        <p:txBody>
          <a:bodyPr wrap="square" lIns="0" tIns="0" rIns="0" bIns="0" rtlCol="0" anchor="t"/>
          <a:lstStyle/>
          <a:p>
            <a:pPr indent="0" marL="0">
              <a:buNone/>
            </a:pPr>
            <a:r>
              <a:rPr lang="en-US" sz="1500" dirty="0">
                <a:solidFill>
                  <a:srgbClr val="1B2437"/>
                </a:solidFill>
              </a:rPr>
              <a:t>Aplikasi web dan aplikasi kasir hanya dapat digunakan saat perangkat terhubung ke internet.</a:t>
            </a:r>
            <a:endParaRPr lang="en-US" sz="1500" dirty="0"/>
          </a:p>
        </p:txBody>
      </p:sp>
      <p:sp>
        <p:nvSpPr>
          <p:cNvPr id="8" name="Pemisah"/>
          <p:cNvSpPr/>
          <p:nvPr/>
        </p:nvSpPr>
        <p:spPr>
          <a:xfrm>
            <a:off x="1005840" y="4434840"/>
            <a:ext cx="4663440" cy="0"/>
          </a:xfrm>
          <a:prstGeom prst="line">
            <a:avLst/>
          </a:prstGeom>
          <a:noFill/>
          <a:ln w="12700">
            <a:solidFill>
              <a:srgbClr val="E3E9F3"/>
            </a:solidFill>
            <a:prstDash val="solid"/>
          </a:ln>
        </p:spPr>
      </p:sp>
      <p:sp>
        <p:nvSpPr>
          <p:cNvPr id="9" name="Text 6"/>
          <p:cNvSpPr txBox="1"/>
          <p:nvPr/>
        </p:nvSpPr>
        <p:spPr>
          <a:xfrm>
            <a:off x="1005840" y="4553712"/>
            <a:ext cx="4663440" cy="457200"/>
          </a:xfrm>
          <a:prstGeom prst="rect">
            <a:avLst/>
          </a:prstGeom>
          <a:noFill/>
          <a:ln/>
        </p:spPr>
        <p:txBody>
          <a:bodyPr wrap="square" lIns="0" tIns="0" rIns="0" bIns="0" rtlCol="0" anchor="t"/>
          <a:lstStyle/>
          <a:p>
            <a:pPr indent="0" marL="0">
              <a:buNone/>
            </a:pPr>
            <a:r>
              <a:rPr lang="en-US" sz="1400" b="1" dirty="0">
                <a:solidFill>
                  <a:srgbClr val="274289"/>
                </a:solidFill>
              </a:rPr>
              <a:t>Perlu disiapkan: </a:t>
            </a:r>
            <a:pPr indent="0" marL="0">
              <a:buNone/>
            </a:pPr>
            <a:r>
              <a:rPr lang="en-US" sz="1400" dirty="0">
                <a:solidFill>
                  <a:srgbClr val="1B2437"/>
                </a:solidFill>
              </a:rPr>
              <a:t>Koneksi internet di kapal, DC, dan kantor pusat.</a:t>
            </a:r>
            <a:endParaRPr lang="en-US" sz="1400" dirty="0"/>
          </a:p>
        </p:txBody>
      </p:sp>
      <p:sp>
        <p:nvSpPr>
          <p:cNvPr id="10" name="Batasan Kasir hanya di Android"/>
          <p:cNvSpPr/>
          <p:nvPr/>
        </p:nvSpPr>
        <p:spPr>
          <a:xfrm>
            <a:off x="6217920" y="1737360"/>
            <a:ext cx="5303520" cy="3429000"/>
          </a:xfrm>
          <a:prstGeom prst="roundRect">
            <a:avLst>
              <a:gd name="adj" fmla="val 32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1" name="Ikon Kasir hanya di Android latar"/>
          <p:cNvSpPr/>
          <p:nvPr/>
        </p:nvSpPr>
        <p:spPr>
          <a:xfrm>
            <a:off x="6537960" y="2011680"/>
            <a:ext cx="868680" cy="868680"/>
          </a:xfrm>
          <a:prstGeom prst="ellipse">
            <a:avLst/>
          </a:prstGeom>
          <a:solidFill>
            <a:srgbClr val="274289"/>
          </a:solidFill>
          <a:ln w="12700">
            <a:solidFill>
              <a:srgbClr val="274289"/>
            </a:solidFill>
            <a:prstDash val="solid"/>
          </a:ln>
        </p:spPr>
      </p:sp>
      <p:pic>
        <p:nvPicPr>
          <p:cNvPr id="12" name="Ikon Kasir hanya di Android" descr="Ikon Kasir hanya di Android">    </p:cNvPr>
          <p:cNvPicPr>
            <a:picLocks noChangeAspect="1"/>
          </p:cNvPicPr>
          <p:nvPr/>
        </p:nvPicPr>
        <p:blipFill>
          <a:blip r:embed="rId2"/>
          <a:stretch>
            <a:fillRect/>
          </a:stretch>
        </p:blipFill>
        <p:spPr>
          <a:xfrm>
            <a:off x="6755130" y="2228850"/>
            <a:ext cx="434340" cy="434340"/>
          </a:xfrm>
          <a:prstGeom prst="rect">
            <a:avLst/>
          </a:prstGeom>
        </p:spPr>
      </p:pic>
      <p:sp>
        <p:nvSpPr>
          <p:cNvPr id="13" name="Status Android"/>
          <p:cNvSpPr/>
          <p:nvPr/>
        </p:nvSpPr>
        <p:spPr>
          <a:xfrm>
            <a:off x="7680960" y="2258568"/>
            <a:ext cx="1691640" cy="384048"/>
          </a:xfrm>
          <a:prstGeom prst="roundRect">
            <a:avLst>
              <a:gd name="adj" fmla="val 50000"/>
            </a:avLst>
          </a:prstGeom>
          <a:solidFill>
            <a:srgbClr val="E8F2E4"/>
          </a:solidFill>
          <a:ln w="12700">
            <a:solidFill>
              <a:srgbClr val="4A8A3C"/>
            </a:solidFill>
            <a:prstDash val="solid"/>
          </a:ln>
        </p:spPr>
      </p:sp>
      <p:sp>
        <p:nvSpPr>
          <p:cNvPr id="14" name="Text 10"/>
          <p:cNvSpPr txBox="1"/>
          <p:nvPr/>
        </p:nvSpPr>
        <p:spPr>
          <a:xfrm>
            <a:off x="7680960" y="2258568"/>
            <a:ext cx="1691640" cy="384048"/>
          </a:xfrm>
          <a:prstGeom prst="rect">
            <a:avLst/>
          </a:prstGeom>
          <a:noFill/>
          <a:ln/>
        </p:spPr>
        <p:txBody>
          <a:bodyPr wrap="square" lIns="0" tIns="0" rIns="0" bIns="0" rtlCol="0" anchor="ctr"/>
          <a:lstStyle/>
          <a:p>
            <a:pPr algn="ctr" indent="0" marL="0">
              <a:buNone/>
            </a:pPr>
            <a:r>
              <a:rPr lang="en-US" sz="1200" b="1" dirty="0">
                <a:solidFill>
                  <a:srgbClr val="4A8A3C"/>
                </a:solidFill>
              </a:rPr>
              <a:t>Android: </a:t>
            </a:r>
            <a:pPr algn="ctr" indent="0" marL="0">
              <a:buNone/>
            </a:pPr>
            <a:r>
              <a:rPr lang="en-US" sz="1200" dirty="0">
                <a:solidFill>
                  <a:srgbClr val="4A8A3C"/>
                </a:solidFill>
              </a:rPr>
              <a:t>Tersedia</a:t>
            </a:r>
            <a:endParaRPr lang="en-US" sz="1200" dirty="0"/>
          </a:p>
        </p:txBody>
      </p:sp>
      <p:sp>
        <p:nvSpPr>
          <p:cNvPr id="15" name="Status iOS"/>
          <p:cNvSpPr/>
          <p:nvPr/>
        </p:nvSpPr>
        <p:spPr>
          <a:xfrm>
            <a:off x="9509760" y="2258568"/>
            <a:ext cx="1691640" cy="384048"/>
          </a:xfrm>
          <a:prstGeom prst="roundRect">
            <a:avLst>
              <a:gd name="adj" fmla="val 50000"/>
            </a:avLst>
          </a:prstGeom>
          <a:solidFill>
            <a:srgbClr val="EEF1F6"/>
          </a:solidFill>
          <a:ln w="12700">
            <a:solidFill>
              <a:srgbClr val="5B6B86"/>
            </a:solidFill>
            <a:prstDash val="solid"/>
          </a:ln>
        </p:spPr>
      </p:sp>
      <p:sp>
        <p:nvSpPr>
          <p:cNvPr id="16" name="Text 12"/>
          <p:cNvSpPr txBox="1"/>
          <p:nvPr/>
        </p:nvSpPr>
        <p:spPr>
          <a:xfrm>
            <a:off x="9509760" y="2258568"/>
            <a:ext cx="1691640" cy="384048"/>
          </a:xfrm>
          <a:prstGeom prst="rect">
            <a:avLst/>
          </a:prstGeom>
          <a:noFill/>
          <a:ln/>
        </p:spPr>
        <p:txBody>
          <a:bodyPr wrap="square" lIns="0" tIns="0" rIns="0" bIns="0" rtlCol="0" anchor="ctr"/>
          <a:lstStyle/>
          <a:p>
            <a:pPr algn="ctr" indent="0" marL="0">
              <a:buNone/>
            </a:pPr>
            <a:r>
              <a:rPr lang="en-US" sz="1200" b="1" dirty="0">
                <a:solidFill>
                  <a:srgbClr val="5B6B86"/>
                </a:solidFill>
              </a:rPr>
              <a:t>iOS: </a:t>
            </a:r>
            <a:pPr algn="ctr" indent="0" marL="0">
              <a:buNone/>
            </a:pPr>
            <a:r>
              <a:rPr lang="en-US" sz="1200" dirty="0">
                <a:solidFill>
                  <a:srgbClr val="5B6B86"/>
                </a:solidFill>
              </a:rPr>
              <a:t>Belum tersedia</a:t>
            </a:r>
            <a:endParaRPr lang="en-US" sz="1200" dirty="0"/>
          </a:p>
        </p:txBody>
      </p:sp>
      <p:sp>
        <p:nvSpPr>
          <p:cNvPr id="17" name="Text 13"/>
          <p:cNvSpPr txBox="1"/>
          <p:nvPr/>
        </p:nvSpPr>
        <p:spPr>
          <a:xfrm>
            <a:off x="6537960" y="3063240"/>
            <a:ext cx="4663440" cy="502920"/>
          </a:xfrm>
          <a:prstGeom prst="rect">
            <a:avLst/>
          </a:prstGeom>
          <a:noFill/>
          <a:ln/>
        </p:spPr>
        <p:txBody>
          <a:bodyPr wrap="square" lIns="0" tIns="0" rIns="0" bIns="0" rtlCol="0" anchor="t"/>
          <a:lstStyle/>
          <a:p>
            <a:pPr indent="0" marL="0">
              <a:buNone/>
            </a:pPr>
            <a:r>
              <a:rPr lang="en-US" sz="2400" b="1" dirty="0">
                <a:solidFill>
                  <a:srgbClr val="274289"/>
                </a:solidFill>
              </a:rPr>
              <a:t>Kasir hanya di Android</a:t>
            </a:r>
            <a:endParaRPr lang="en-US" sz="2400" dirty="0"/>
          </a:p>
        </p:txBody>
      </p:sp>
      <p:sp>
        <p:nvSpPr>
          <p:cNvPr id="18" name="Text 14"/>
          <p:cNvSpPr txBox="1"/>
          <p:nvPr/>
        </p:nvSpPr>
        <p:spPr>
          <a:xfrm>
            <a:off x="6537960" y="3611880"/>
            <a:ext cx="4663440" cy="731520"/>
          </a:xfrm>
          <a:prstGeom prst="rect">
            <a:avLst/>
          </a:prstGeom>
          <a:noFill/>
          <a:ln/>
        </p:spPr>
        <p:txBody>
          <a:bodyPr wrap="square" lIns="0" tIns="0" rIns="0" bIns="0" rtlCol="0" anchor="t"/>
          <a:lstStyle/>
          <a:p>
            <a:pPr indent="0" marL="0">
              <a:buNone/>
            </a:pPr>
            <a:r>
              <a:rPr lang="en-US" sz="1500" dirty="0">
                <a:solidFill>
                  <a:srgbClr val="1B2437"/>
                </a:solidFill>
              </a:rPr>
              <a:t>Aplikasi kasir baru tersedia untuk perangkat Android. Versi iOS (iPhone dan iPad) belum tersedia.</a:t>
            </a:r>
            <a:endParaRPr lang="en-US" sz="1500" dirty="0"/>
          </a:p>
        </p:txBody>
      </p:sp>
      <p:sp>
        <p:nvSpPr>
          <p:cNvPr id="19" name="Pemisah"/>
          <p:cNvSpPr/>
          <p:nvPr/>
        </p:nvSpPr>
        <p:spPr>
          <a:xfrm>
            <a:off x="6537960" y="4434840"/>
            <a:ext cx="4663440" cy="0"/>
          </a:xfrm>
          <a:prstGeom prst="line">
            <a:avLst/>
          </a:prstGeom>
          <a:noFill/>
          <a:ln w="12700">
            <a:solidFill>
              <a:srgbClr val="E3E9F3"/>
            </a:solidFill>
            <a:prstDash val="solid"/>
          </a:ln>
        </p:spPr>
      </p:sp>
      <p:sp>
        <p:nvSpPr>
          <p:cNvPr id="20" name="Text 16"/>
          <p:cNvSpPr txBox="1"/>
          <p:nvPr/>
        </p:nvSpPr>
        <p:spPr>
          <a:xfrm>
            <a:off x="6537960" y="4553712"/>
            <a:ext cx="4663440" cy="457200"/>
          </a:xfrm>
          <a:prstGeom prst="rect">
            <a:avLst/>
          </a:prstGeom>
          <a:noFill/>
          <a:ln/>
        </p:spPr>
        <p:txBody>
          <a:bodyPr wrap="square" lIns="0" tIns="0" rIns="0" bIns="0" rtlCol="0" anchor="t"/>
          <a:lstStyle/>
          <a:p>
            <a:pPr indent="0" marL="0">
              <a:buNone/>
            </a:pPr>
            <a:r>
              <a:rPr lang="en-US" sz="1400" b="1" dirty="0">
                <a:solidFill>
                  <a:srgbClr val="274289"/>
                </a:solidFill>
              </a:rPr>
              <a:t>Perlu disiapkan: </a:t>
            </a:r>
            <a:pPr indent="0" marL="0">
              <a:buNone/>
            </a:pPr>
            <a:r>
              <a:rPr lang="en-US" sz="1400" dirty="0">
                <a:solidFill>
                  <a:srgbClr val="1B2437"/>
                </a:solidFill>
              </a:rPr>
              <a:t>Perangkat kasir Android di setiap dek.</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Terima Kasih</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000" b="1" dirty="0">
                <a:solidFill>
                  <a:srgbClr val="FFFFFF"/>
                </a:solidFill>
              </a:rPr>
              <a:t>PID POS · Satu alur, dari kapal sampai kasir.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2026-10-26T11:22:53Z</dcterms:created>
  <dcterms:modified xsi:type="dcterms:W3CDTF">2026-10-26T11:22:53Z</dcterms:modified>
</cp:coreProperties>
</file>