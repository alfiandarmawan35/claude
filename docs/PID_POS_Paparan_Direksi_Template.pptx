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86ca8375-290a-8062-43fb-ed5261ac01e7}">
          <p14:sldIdLst>
            <p14:sldId id="256"/>
          </p14:sldIdLst>
        </p14:section>
        <p14:section name="Aplikasi" id="{2f4358db-82f4-41cf-d742-1083ca4d9d6c}">
          <p14:sldIdLst>
            <p14:sldId id="257"/>
            <p14:sldId id="258"/>
            <p14:sldId id="259"/>
            <p14:sldId id="260"/>
            <p14:sldId id="261"/>
            <p14:sldId id="262"/>
          </p14:sldIdLst>
        </p14:section>
        <p14:section name="Penutup" id="{b7941551-9dec-0452-cd03-b16037ab2d8d}">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dan keunggulannya.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Distribution Center atau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lalu dijual di kasir dan masuk SAP sebagai Delivery Order. Bila stok DC kurang, jalur pembelian berjalan: Purchase Request, Purchase Order ke vendor, dan Goods Receipt PO (GRPO) saat barang tiba di DC. Alur ini berulang: setelah barang terjual dan stok dek menipis, kapal memesan lagi ke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Sales Order, Approve Purchase Request, Admin Purchase, dan Approve Purchase Order.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setiap persetujuan tercatat lengkap dengan siapa dan kapan.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4917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Kantor pusat</a:t>
            </a:r>
            <a:endParaRPr lang="en-US" sz="1500" dirty="0"/>
          </a:p>
        </p:txBody>
      </p:sp>
      <p:sp>
        <p:nvSpPr>
          <p:cNvPr id="8" name="Panah alur"/>
          <p:cNvSpPr/>
          <p:nvPr/>
        </p:nvSpPr>
        <p:spPr>
          <a:xfrm>
            <a:off x="4183380" y="2491740"/>
            <a:ext cx="160020" cy="0"/>
          </a:xfrm>
          <a:prstGeom prst="line">
            <a:avLst/>
          </a:prstGeom>
          <a:noFill/>
          <a:ln w="25400">
            <a:solidFill>
              <a:srgbClr val="3D6FC2"/>
            </a:solidFill>
            <a:prstDash val="solid"/>
            <a:tailEnd type="triangle"/>
          </a:ln>
        </p:spPr>
      </p:sp>
      <p:sp>
        <p:nvSpPr>
          <p:cNvPr id="9" name="Dokumen SO"/>
          <p:cNvSpPr/>
          <p:nvPr/>
        </p:nvSpPr>
        <p:spPr>
          <a:xfrm>
            <a:off x="2958084" y="30449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491740"/>
            <a:ext cx="160020" cy="0"/>
          </a:xfrm>
          <a:prstGeom prst="line">
            <a:avLst/>
          </a:prstGeom>
          <a:noFill/>
          <a:ln w="25400">
            <a:solidFill>
              <a:srgbClr val="3D6FC2"/>
            </a:solidFill>
            <a:prstDash val="solid"/>
            <a:tailEnd type="triangle"/>
          </a:ln>
        </p:spPr>
      </p:sp>
      <p:sp>
        <p:nvSpPr>
          <p:cNvPr id="14" name="Tahap Transfer ke dek"/>
          <p:cNvSpPr/>
          <p:nvPr/>
        </p:nvSpPr>
        <p:spPr>
          <a:xfrm>
            <a:off x="6213348"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491740"/>
            <a:ext cx="160020" cy="0"/>
          </a:xfrm>
          <a:prstGeom prst="line">
            <a:avLst/>
          </a:prstGeom>
          <a:noFill/>
          <a:ln w="25400">
            <a:solidFill>
              <a:srgbClr val="3D6FC2"/>
            </a:solidFill>
            <a:prstDash val="solid"/>
            <a:tailEnd type="triangle"/>
          </a:ln>
        </p:spPr>
      </p:sp>
      <p:sp>
        <p:nvSpPr>
          <p:cNvPr id="17" name="Dokumen IT"/>
          <p:cNvSpPr/>
          <p:nvPr/>
        </p:nvSpPr>
        <p:spPr>
          <a:xfrm>
            <a:off x="6643116" y="30449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491740"/>
            <a:ext cx="160020" cy="0"/>
          </a:xfrm>
          <a:prstGeom prst="line">
            <a:avLst/>
          </a:prstGeom>
          <a:noFill/>
          <a:ln w="25400">
            <a:solidFill>
              <a:srgbClr val="3D6FC2"/>
            </a:solidFill>
            <a:prstDash val="solid"/>
            <a:tailEnd type="triangle"/>
          </a:ln>
        </p:spPr>
      </p:sp>
      <p:sp>
        <p:nvSpPr>
          <p:cNvPr id="22" name="Tahap Jual di kasir"/>
          <p:cNvSpPr/>
          <p:nvPr/>
        </p:nvSpPr>
        <p:spPr>
          <a:xfrm>
            <a:off x="989838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30449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Siklus ulang"/>
          <p:cNvSpPr/>
          <p:nvPr/>
        </p:nvSpPr>
        <p:spPr>
          <a:xfrm>
            <a:off x="1499616" y="1737360"/>
            <a:ext cx="9212580" cy="0"/>
          </a:xfrm>
          <a:prstGeom prst="line">
            <a:avLst/>
          </a:prstGeom>
          <a:noFill/>
          <a:ln w="28575">
            <a:solidFill>
              <a:srgbClr val="5AB4E5"/>
            </a:solidFill>
            <a:prstDash val="solid"/>
          </a:ln>
        </p:spPr>
      </p:sp>
      <p:sp>
        <p:nvSpPr>
          <p:cNvPr id="27" name="Siklus ulang dari kasir"/>
          <p:cNvSpPr/>
          <p:nvPr/>
        </p:nvSpPr>
        <p:spPr>
          <a:xfrm>
            <a:off x="10712196" y="1737360"/>
            <a:ext cx="0" cy="274320"/>
          </a:xfrm>
          <a:prstGeom prst="line">
            <a:avLst/>
          </a:prstGeom>
          <a:noFill/>
          <a:ln w="28575">
            <a:solidFill>
              <a:srgbClr val="5AB4E5"/>
            </a:solidFill>
            <a:prstDash val="solid"/>
          </a:ln>
        </p:spPr>
      </p:sp>
      <p:sp>
        <p:nvSpPr>
          <p:cNvPr id="28" name="Siklus ulang ke pesan"/>
          <p:cNvSpPr/>
          <p:nvPr/>
        </p:nvSpPr>
        <p:spPr>
          <a:xfrm>
            <a:off x="1499616" y="1737360"/>
            <a:ext cx="0" cy="256032"/>
          </a:xfrm>
          <a:prstGeom prst="line">
            <a:avLst/>
          </a:prstGeom>
          <a:noFill/>
          <a:ln w="28575">
            <a:solidFill>
              <a:srgbClr val="5AB4E5"/>
            </a:solidFill>
            <a:prstDash val="solid"/>
            <a:tailEnd type="triangle"/>
          </a:ln>
        </p:spPr>
      </p:sp>
      <p:sp>
        <p:nvSpPr>
          <p:cNvPr id="29" name="Text 27"/>
          <p:cNvSpPr txBox="1"/>
          <p:nvPr/>
        </p:nvSpPr>
        <p:spPr>
          <a:xfrm>
            <a:off x="4023360" y="1581912"/>
            <a:ext cx="4206240" cy="310896"/>
          </a:xfrm>
          <a:prstGeom prst="rect">
            <a:avLst/>
          </a:prstGeom>
          <a:solidFill>
            <a:srgbClr val="FFFFFF"/>
          </a:solidFill>
          <a:ln/>
        </p:spPr>
        <p:txBody>
          <a:bodyPr wrap="square" lIns="0" tIns="0" rIns="0" bIns="0" rtlCol="0" anchor="ctr"/>
          <a:lstStyle/>
          <a:p>
            <a:pPr algn="ctr" indent="0" marL="0">
              <a:buNone/>
            </a:pPr>
            <a:r>
              <a:rPr lang="en-US" sz="1200" b="1" dirty="0">
                <a:solidFill>
                  <a:srgbClr val="5AB4E5"/>
                </a:solidFill>
              </a:rPr>
              <a:t>↻  Stok dek menipis: kapal memesan lagi ke DC</a:t>
            </a:r>
            <a:endParaRPr lang="en-US" sz="1200" dirty="0"/>
          </a:p>
        </p:txBody>
      </p:sp>
      <p:sp>
        <p:nvSpPr>
          <p:cNvPr id="30" name="Text 28"/>
          <p:cNvSpPr txBox="1"/>
          <p:nvPr/>
        </p:nvSpPr>
        <p:spPr>
          <a:xfrm>
            <a:off x="685800" y="385876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31" name="Cabang pembelian"/>
          <p:cNvSpPr/>
          <p:nvPr/>
        </p:nvSpPr>
        <p:spPr>
          <a:xfrm>
            <a:off x="5184648" y="2971800"/>
            <a:ext cx="0" cy="594360"/>
          </a:xfrm>
          <a:prstGeom prst="line">
            <a:avLst/>
          </a:prstGeom>
          <a:noFill/>
          <a:ln w="25400">
            <a:solidFill>
              <a:srgbClr val="3D6FC2"/>
            </a:solidFill>
            <a:prstDash val="dash"/>
            <a:tailEnd type="triangle"/>
          </a:ln>
        </p:spPr>
      </p:sp>
      <p:sp>
        <p:nvSpPr>
          <p:cNvPr id="32" name="Cabang Permintaan pembelian"/>
          <p:cNvSpPr/>
          <p:nvPr/>
        </p:nvSpPr>
        <p:spPr>
          <a:xfrm>
            <a:off x="4370832"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3" name="Text 31"/>
          <p:cNvSpPr txBox="1"/>
          <p:nvPr/>
        </p:nvSpPr>
        <p:spPr>
          <a:xfrm>
            <a:off x="4462272"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Kantor pusat</a:t>
            </a:r>
            <a:endParaRPr lang="en-US" sz="1400" dirty="0"/>
          </a:p>
        </p:txBody>
      </p:sp>
      <p:sp>
        <p:nvSpPr>
          <p:cNvPr id="34" name="Dokumen PR"/>
          <p:cNvSpPr/>
          <p:nvPr/>
        </p:nvSpPr>
        <p:spPr>
          <a:xfrm>
            <a:off x="4800600" y="4599432"/>
            <a:ext cx="768096" cy="310896"/>
          </a:xfrm>
          <a:prstGeom prst="roundRect">
            <a:avLst>
              <a:gd name="adj" fmla="val 23529"/>
            </a:avLst>
          </a:prstGeom>
          <a:solidFill>
            <a:srgbClr val="A87412"/>
          </a:solidFill>
          <a:ln w="12700">
            <a:solidFill>
              <a:srgbClr val="A87412"/>
            </a:solidFill>
            <a:prstDash val="solid"/>
          </a:ln>
        </p:spPr>
      </p:sp>
      <p:sp>
        <p:nvSpPr>
          <p:cNvPr id="35" name="Text 33"/>
          <p:cNvSpPr txBox="1"/>
          <p:nvPr/>
        </p:nvSpPr>
        <p:spPr>
          <a:xfrm>
            <a:off x="4800600"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6" name="Panah cabang"/>
          <p:cNvSpPr/>
          <p:nvPr/>
        </p:nvSpPr>
        <p:spPr>
          <a:xfrm>
            <a:off x="6025896" y="4046220"/>
            <a:ext cx="160020" cy="0"/>
          </a:xfrm>
          <a:prstGeom prst="line">
            <a:avLst/>
          </a:prstGeom>
          <a:noFill/>
          <a:ln w="25400">
            <a:solidFill>
              <a:srgbClr val="3D6FC2"/>
            </a:solidFill>
            <a:prstDash val="solid"/>
            <a:tailEnd type="triangle"/>
          </a:ln>
        </p:spPr>
      </p:sp>
      <p:sp>
        <p:nvSpPr>
          <p:cNvPr id="37" name="Cabang Pesanan ke vendor"/>
          <p:cNvSpPr/>
          <p:nvPr/>
        </p:nvSpPr>
        <p:spPr>
          <a:xfrm>
            <a:off x="6213348"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8" name="Text 36"/>
          <p:cNvSpPr txBox="1"/>
          <p:nvPr/>
        </p:nvSpPr>
        <p:spPr>
          <a:xfrm>
            <a:off x="6304788"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9" name="Dokumen PO"/>
          <p:cNvSpPr/>
          <p:nvPr/>
        </p:nvSpPr>
        <p:spPr>
          <a:xfrm>
            <a:off x="6643116" y="4599432"/>
            <a:ext cx="768096" cy="310896"/>
          </a:xfrm>
          <a:prstGeom prst="roundRect">
            <a:avLst>
              <a:gd name="adj" fmla="val 23529"/>
            </a:avLst>
          </a:prstGeom>
          <a:solidFill>
            <a:srgbClr val="C85A1C"/>
          </a:solidFill>
          <a:ln w="12700">
            <a:solidFill>
              <a:srgbClr val="C85A1C"/>
            </a:solidFill>
            <a:prstDash val="solid"/>
          </a:ln>
        </p:spPr>
      </p:sp>
      <p:sp>
        <p:nvSpPr>
          <p:cNvPr id="40" name="Text 38"/>
          <p:cNvSpPr txBox="1"/>
          <p:nvPr/>
        </p:nvSpPr>
        <p:spPr>
          <a:xfrm>
            <a:off x="6643116"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41" name="Panah cabang"/>
          <p:cNvSpPr/>
          <p:nvPr/>
        </p:nvSpPr>
        <p:spPr>
          <a:xfrm>
            <a:off x="7868412" y="4046220"/>
            <a:ext cx="160020" cy="0"/>
          </a:xfrm>
          <a:prstGeom prst="line">
            <a:avLst/>
          </a:prstGeom>
          <a:noFill/>
          <a:ln w="25400">
            <a:solidFill>
              <a:srgbClr val="3D6FC2"/>
            </a:solidFill>
            <a:prstDash val="solid"/>
            <a:tailEnd type="triangle"/>
          </a:ln>
        </p:spPr>
      </p:sp>
      <p:sp>
        <p:nvSpPr>
          <p:cNvPr id="42" name="Cabang Barang vendor tiba"/>
          <p:cNvSpPr/>
          <p:nvPr/>
        </p:nvSpPr>
        <p:spPr>
          <a:xfrm>
            <a:off x="8055864"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3" name="Text 41"/>
          <p:cNvSpPr txBox="1"/>
          <p:nvPr/>
        </p:nvSpPr>
        <p:spPr>
          <a:xfrm>
            <a:off x="8147304"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4" name="Dokumen GRPO"/>
          <p:cNvSpPr/>
          <p:nvPr/>
        </p:nvSpPr>
        <p:spPr>
          <a:xfrm>
            <a:off x="8485632" y="4599432"/>
            <a:ext cx="768096" cy="310896"/>
          </a:xfrm>
          <a:prstGeom prst="roundRect">
            <a:avLst>
              <a:gd name="adj" fmla="val 23529"/>
            </a:avLst>
          </a:prstGeom>
          <a:solidFill>
            <a:srgbClr val="7C68B8"/>
          </a:solidFill>
          <a:ln w="12700">
            <a:solidFill>
              <a:srgbClr val="7C68B8"/>
            </a:solidFill>
            <a:prstDash val="solid"/>
          </a:ln>
        </p:spPr>
      </p:sp>
      <p:sp>
        <p:nvSpPr>
          <p:cNvPr id="45" name="Text 43"/>
          <p:cNvSpPr txBox="1"/>
          <p:nvPr/>
        </p:nvSpPr>
        <p:spPr>
          <a:xfrm>
            <a:off x="8485632"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6" name="Kembali ke transfer"/>
          <p:cNvSpPr/>
          <p:nvPr/>
        </p:nvSpPr>
        <p:spPr>
          <a:xfrm>
            <a:off x="7027164" y="3401568"/>
            <a:ext cx="1842516" cy="164592"/>
          </a:xfrm>
          <a:prstGeom prst="line">
            <a:avLst/>
          </a:prstGeom>
          <a:noFill/>
          <a:ln w="25400">
            <a:solidFill>
              <a:srgbClr val="3D6FC2"/>
            </a:solidFill>
            <a:prstDash val="dash"/>
            <a:headEnd type="triangle"/>
          </a:ln>
        </p:spPr>
      </p:sp>
      <p:sp>
        <p:nvSpPr>
          <p:cNvPr id="47" name="Keterangan dokumen SAP"/>
          <p:cNvSpPr/>
          <p:nvPr/>
        </p:nvSpPr>
        <p:spPr>
          <a:xfrm>
            <a:off x="1600200" y="5010912"/>
            <a:ext cx="9921240" cy="109728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8" name="Text 46"/>
          <p:cNvSpPr txBox="1"/>
          <p:nvPr/>
        </p:nvSpPr>
        <p:spPr>
          <a:xfrm>
            <a:off x="1828800" y="505663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9" name="Keterangan SO"/>
          <p:cNvSpPr/>
          <p:nvPr/>
        </p:nvSpPr>
        <p:spPr>
          <a:xfrm>
            <a:off x="1828800" y="5376672"/>
            <a:ext cx="658368" cy="274320"/>
          </a:xfrm>
          <a:prstGeom prst="roundRect">
            <a:avLst>
              <a:gd name="adj" fmla="val 20000"/>
            </a:avLst>
          </a:prstGeom>
          <a:solidFill>
            <a:srgbClr val="4A8A3C"/>
          </a:solidFill>
          <a:ln w="12700">
            <a:solidFill>
              <a:srgbClr val="4A8A3C"/>
            </a:solidFill>
            <a:prstDash val="solid"/>
          </a:ln>
        </p:spPr>
      </p:sp>
      <p:sp>
        <p:nvSpPr>
          <p:cNvPr id="50" name="Text 48"/>
          <p:cNvSpPr txBox="1"/>
          <p:nvPr/>
        </p:nvSpPr>
        <p:spPr>
          <a:xfrm>
            <a:off x="182880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51" name="Text 49"/>
          <p:cNvSpPr txBox="1"/>
          <p:nvPr/>
        </p:nvSpPr>
        <p:spPr>
          <a:xfrm>
            <a:off x="257860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52" name="Keterangan PR"/>
          <p:cNvSpPr/>
          <p:nvPr/>
        </p:nvSpPr>
        <p:spPr>
          <a:xfrm>
            <a:off x="5074920" y="5376672"/>
            <a:ext cx="658368" cy="274320"/>
          </a:xfrm>
          <a:prstGeom prst="roundRect">
            <a:avLst>
              <a:gd name="adj" fmla="val 20000"/>
            </a:avLst>
          </a:prstGeom>
          <a:solidFill>
            <a:srgbClr val="A87412"/>
          </a:solidFill>
          <a:ln w="12700">
            <a:solidFill>
              <a:srgbClr val="A87412"/>
            </a:solidFill>
            <a:prstDash val="solid"/>
          </a:ln>
        </p:spPr>
      </p:sp>
      <p:sp>
        <p:nvSpPr>
          <p:cNvPr id="53" name="Text 51"/>
          <p:cNvSpPr txBox="1"/>
          <p:nvPr/>
        </p:nvSpPr>
        <p:spPr>
          <a:xfrm>
            <a:off x="507492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4" name="Text 52"/>
          <p:cNvSpPr txBox="1"/>
          <p:nvPr/>
        </p:nvSpPr>
        <p:spPr>
          <a:xfrm>
            <a:off x="582472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5" name="Keterangan PO"/>
          <p:cNvSpPr/>
          <p:nvPr/>
        </p:nvSpPr>
        <p:spPr>
          <a:xfrm>
            <a:off x="8321040" y="5376672"/>
            <a:ext cx="658368" cy="274320"/>
          </a:xfrm>
          <a:prstGeom prst="roundRect">
            <a:avLst>
              <a:gd name="adj" fmla="val 20000"/>
            </a:avLst>
          </a:prstGeom>
          <a:solidFill>
            <a:srgbClr val="C85A1C"/>
          </a:solidFill>
          <a:ln w="12700">
            <a:solidFill>
              <a:srgbClr val="C85A1C"/>
            </a:solidFill>
            <a:prstDash val="solid"/>
          </a:ln>
        </p:spPr>
      </p:sp>
      <p:sp>
        <p:nvSpPr>
          <p:cNvPr id="56" name="Text 54"/>
          <p:cNvSpPr txBox="1"/>
          <p:nvPr/>
        </p:nvSpPr>
        <p:spPr>
          <a:xfrm>
            <a:off x="832104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7" name="Text 55"/>
          <p:cNvSpPr txBox="1"/>
          <p:nvPr/>
        </p:nvSpPr>
        <p:spPr>
          <a:xfrm>
            <a:off x="907084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8" name="Keterangan GRPO"/>
          <p:cNvSpPr/>
          <p:nvPr/>
        </p:nvSpPr>
        <p:spPr>
          <a:xfrm>
            <a:off x="1828800" y="5724144"/>
            <a:ext cx="658368" cy="274320"/>
          </a:xfrm>
          <a:prstGeom prst="roundRect">
            <a:avLst>
              <a:gd name="adj" fmla="val 20000"/>
            </a:avLst>
          </a:prstGeom>
          <a:solidFill>
            <a:srgbClr val="7C68B8"/>
          </a:solidFill>
          <a:ln w="12700">
            <a:solidFill>
              <a:srgbClr val="7C68B8"/>
            </a:solidFill>
            <a:prstDash val="solid"/>
          </a:ln>
        </p:spPr>
      </p:sp>
      <p:sp>
        <p:nvSpPr>
          <p:cNvPr id="59" name="Text 57"/>
          <p:cNvSpPr txBox="1"/>
          <p:nvPr/>
        </p:nvSpPr>
        <p:spPr>
          <a:xfrm>
            <a:off x="182880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60" name="Text 58"/>
          <p:cNvSpPr txBox="1"/>
          <p:nvPr/>
        </p:nvSpPr>
        <p:spPr>
          <a:xfrm>
            <a:off x="257860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61" name="Keterangan IT"/>
          <p:cNvSpPr/>
          <p:nvPr/>
        </p:nvSpPr>
        <p:spPr>
          <a:xfrm>
            <a:off x="5074920" y="5724144"/>
            <a:ext cx="658368" cy="274320"/>
          </a:xfrm>
          <a:prstGeom prst="roundRect">
            <a:avLst>
              <a:gd name="adj" fmla="val 20000"/>
            </a:avLst>
          </a:prstGeom>
          <a:solidFill>
            <a:srgbClr val="C45C8E"/>
          </a:solidFill>
          <a:ln w="12700">
            <a:solidFill>
              <a:srgbClr val="C45C8E"/>
            </a:solidFill>
            <a:prstDash val="solid"/>
          </a:ln>
        </p:spPr>
      </p:sp>
      <p:sp>
        <p:nvSpPr>
          <p:cNvPr id="62" name="Text 60"/>
          <p:cNvSpPr txBox="1"/>
          <p:nvPr/>
        </p:nvSpPr>
        <p:spPr>
          <a:xfrm>
            <a:off x="507492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63" name="Text 61"/>
          <p:cNvSpPr txBox="1"/>
          <p:nvPr/>
        </p:nvSpPr>
        <p:spPr>
          <a:xfrm>
            <a:off x="582472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4" name="Keterangan DO"/>
          <p:cNvSpPr/>
          <p:nvPr/>
        </p:nvSpPr>
        <p:spPr>
          <a:xfrm>
            <a:off x="8321040" y="5724144"/>
            <a:ext cx="658368" cy="274320"/>
          </a:xfrm>
          <a:prstGeom prst="roundRect">
            <a:avLst>
              <a:gd name="adj" fmla="val 20000"/>
            </a:avLst>
          </a:prstGeom>
          <a:solidFill>
            <a:srgbClr val="CF5140"/>
          </a:solidFill>
          <a:ln w="12700">
            <a:solidFill>
              <a:srgbClr val="CF5140"/>
            </a:solidFill>
            <a:prstDash val="solid"/>
          </a:ln>
        </p:spPr>
      </p:sp>
      <p:sp>
        <p:nvSpPr>
          <p:cNvPr id="65" name="Text 63"/>
          <p:cNvSpPr txBox="1"/>
          <p:nvPr/>
        </p:nvSpPr>
        <p:spPr>
          <a:xfrm>
            <a:off x="832104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6" name="Text 64"/>
          <p:cNvSpPr txBox="1"/>
          <p:nvPr/>
        </p:nvSpPr>
        <p:spPr>
          <a:xfrm>
            <a:off x="907084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ales Order"/>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Sales Order</a:t>
            </a:r>
            <a:endParaRPr lang="en-US" sz="1500" dirty="0"/>
          </a:p>
          <a:p>
            <a:pPr indent="0" marL="0">
              <a:buNone/>
            </a:pPr>
            <a:r>
              <a:rPr lang="en-US" sz="1200" dirty="0">
                <a:solidFill>
                  <a:srgbClr val="5B6B86"/>
                </a:solidFill>
              </a:rPr>
              <a:t>Setujui permintaan kapal ke DC</a:t>
            </a:r>
            <a:endParaRPr lang="en-US" sz="1500" dirty="0"/>
          </a:p>
        </p:txBody>
      </p:sp>
      <p:sp>
        <p:nvSpPr>
          <p:cNvPr id="17" name="Peran Approve Purchase Request"/>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Purchase Request</a:t>
            </a:r>
            <a:endParaRPr lang="en-US" sz="1500" dirty="0"/>
          </a:p>
          <a:p>
            <a:pPr indent="0" marL="0">
              <a:buNone/>
            </a:pPr>
            <a:r>
              <a:rPr lang="en-US" sz="1200" dirty="0">
                <a:solidFill>
                  <a:srgbClr val="5B6B86"/>
                </a:solidFill>
              </a:rPr>
              <a:t>Setujui pembelian, penerimaan, transfer</a:t>
            </a:r>
            <a:endParaRPr lang="en-US" sz="1500" dirty="0"/>
          </a:p>
        </p:txBody>
      </p:sp>
      <p:sp>
        <p:nvSpPr>
          <p:cNvPr id="19" name="Peran Admin Purchase"/>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Purchase</a:t>
            </a:r>
            <a:endParaRPr lang="en-US" sz="1500" dirty="0"/>
          </a:p>
          <a:p>
            <a:pPr indent="0" marL="0">
              <a:buNone/>
            </a:pPr>
            <a:r>
              <a:rPr lang="en-US" sz="1200" dirty="0">
                <a:solidFill>
                  <a:srgbClr val="5B6B86"/>
                </a:solidFill>
              </a:rPr>
              <a:t>Buat Purchase Order ke vendor</a:t>
            </a:r>
            <a:endParaRPr lang="en-US" sz="1500" dirty="0"/>
          </a:p>
        </p:txBody>
      </p:sp>
      <p:sp>
        <p:nvSpPr>
          <p:cNvPr id="21" name="Peran Approve Purchase Order"/>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Purchase Order</a:t>
            </a:r>
            <a:endParaRPr lang="en-US" sz="1500" dirty="0"/>
          </a:p>
          <a:p>
            <a:pPr indent="0" marL="0">
              <a:buNone/>
            </a:pPr>
            <a:r>
              <a:rPr lang="en-US" sz="1200" dirty="0">
                <a:solidFill>
                  <a:srgbClr val="5B6B86"/>
                </a:solidFill>
              </a:rPr>
              <a:t>Setujui pesanan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2026-10-26T08:45:31Z</dcterms:created>
  <dcterms:modified xsi:type="dcterms:W3CDTF">2026-10-26T08:45:31Z</dcterms:modified>
</cp:coreProperties>
</file>