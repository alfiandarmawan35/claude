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1f57e9f6-7307-d45c-6768-28fc0e9ec128}">
          <p14:sldIdLst>
            <p14:sldId id="256"/>
          </p14:sldIdLst>
        </p14:section>
        <p14:section name="Aplikasi" id="{930fb973-41ea-6160-1560-5009e5e185ac}">
          <p14:sldIdLst>
            <p14:sldId id="257"/>
            <p14:sldId id="258"/>
            <p14:sldId id="259"/>
            <p14:sldId id="260"/>
            <p14:sldId id="261"/>
            <p14:sldId id="262"/>
            <p14:sldId id="263"/>
            <p14:sldId id="264"/>
          </p14:sldIdLst>
        </p14:section>
        <p14:section name="Penutup" id="{8cbf326f-9a9a-01a9-706e-e9e171c4d4b3}">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pagi, Bapak dan Ibu Direksi.
Pada kesempatan ini kami memaparkan PID POS, aplikasi toko kapal PT Pelita Indonesia Djaya yang terhubung langsung dengan SAP Business One.
Kami akan menyampaikan apa itu PID POS, bagaimana alurnya, siapa saja yang terlibat, fitur utamanya, kasir di setiap dek, keunggulan, batasan saat ini, serta timeline setelah go-live.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dua bagian yang saling terhubung.
Pertama, aplikasi web. Aplikasi ini dipakai oleh admin kapal, Distribution Center atau DC, dan kantor pusat untuk memesan barang, memberi persetujuan, memantau stok, dan melihat laporan.
Kedua, aplikasi kasir Android untuk setiap dek. Kasir memindai barang, menerima pembayaran tunai atau QRIS, mencetak struk, dan menutup shift.
Keduanya terhubung dengan SAP Business One. Setelah sebuah langkah disetujui, dokumennya dibuat otomatis di SAP, sehingga tidak ada lagi input 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Halaman ini menunjukkan alur lengkapnya, dari pemesanan sampai penjualan.
Jalur atas selalu dijalani. Admin kapal memesan barang ke DC. Permintaan itu disetujui oleh P2, lalu terbentuk Sales Order di SAP.
Admin DC memilah stok dan mengirim barang ke dek. Pengiriman ini tercatat di SAP sebagai Inventory Transfer.
Kepala toko menerima barang di dek, lalu barang dijual di kasir. Penjualan harian setiap dek masuk ke SAP sebagai Delivery Order.
Bila stok di DC kurang, jalur pembelian di bawah berjalan. Pergudangan menyetujui Purchase Request, Purchasing membuat Purchase Order ke vendor, dan saat barang vendor tiba di DC, dicatat sebagai Goods Receipt PO atau GRPO. Setelah itu barang lanjut dikirim ke dek.
Alur ini berulang. Ketika stok dek menipis, kapal memesan lagi ke DC.
Enam jenis dokumen SAP pada kotak keterangan di bawah semuanya dibuat otomatis oleh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PID POS.
Di kapal ada admin kapal atau kepala toko, dan kasir.
Di kantor pusat ada empat peran: Approve SO oleh P2, Approve PUR oleh Pergudangan, serta Approve PO dan Admin PO oleh Purchasing.
Di DC ada admin DC.
Setiap peran hanya melihat tugas yang sedang menunggunya, melalui lonceng notifikasi dan tab Giliran saya. Dengan begitu tidak ada pekerjaan yang terlewat.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tiga fitur utama di aplikasi web.
Pertama, Pesan ke DC. Admin kapal memilih barang dan dek tujuan, lalu mengirim permintaan ke DC.
Kedua, persetujuan berjenjang. Status setiap tahap terlihat jelas, dan setelah disetujui, permintaan otomatis menjadi Sales Order di SAP.
Ketiga, posisi stok per dek. Stok setiap dek, totalnya, dan penjualan tujuh hari terakhir terlihat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bekerja dalam empat langkah sederhana.
Scan barang dengan barcode, atau ketik nama atau kode barang.
Terima pembayaran tunai atau QRIS. Kembalian dihitung otomatis.
Struk tercetak, dan bisa dicetak ulang dari riwayat transaksi.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dapat diringkas dalam tiga kata.
Transparan. Stok setiap dek dan status setiap permintaan terpantau secara real-time, lengkap dengan riwayatnya.
Terkendali. Setiap tahap melalui persetujuan berjenjang, dan setiap persetujuan tercatat lengkap: siapa yang menyetujui dan kapan.
Terintegrasi. Dokumen SAP Business One dibuat otomatis, dan penjualan harian setiap dek masuk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juga perlu menyampaikan dua batasan PID POS saat ini.
Pertama, aplikasi memerlukan koneksi internet. Aplikasi web dan aplikasi kasir hanya dapat digunakan saat perangkat terhubung ke internet. Karena itu, koneksi internet di kapal, DC, dan kantor pusat perlu disiapkan.
Kedua, aplikasi kasir baru tersedia di Android. Versi iOS untuk iPhone dan iPad belum tersedia, sehingga perangkat kasir di setiap dek perlu menggunakan Android.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Berikut usulan timeline setelah go-live.
PID POS mulai digunakan pada 27 Oktober 2026.
Dua minggu pertama, sampai 9 November, adalah masa pendampingan intensif. Tim pendamping siaga setiap hari, dan setiap kendala pengguna ditangani dengan cepat.
Sampai akhir November, aplikasi masuk tahap stabilisasi: transaksi dan sinkronisasi ke SAP dipantau, penyesuaian kecil dilakukan, dan pelatihan ulang diberikan bila perlu.
Pada Desember 2026, kami menyampaikan laporan evaluasi kepada Direksi, mencakup tingkat penggunaan, akurasi stok, dan kecepatan persetujuan.
Selanjutnya pada 2027, pengembangan berlanjut dengan aktivasi fitur retur dan kas keluar, serta kajian aplikasi kasir untuk iOS.
Jadwal ini masih usulan dan dapat disesuaikan dengan arahan Direksi.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Demikian paparan kami. PID POS: satu alur, dari kapal sampai kasir.
Terima kasih. Kami persilakan Bapak dan Ibu Direksi untuk memberikan arahan atau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Distribution Center (DC), dan kantor pusat: pesan barang, persetujuan, stok,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491740"/>
            <a:ext cx="160020" cy="0"/>
          </a:xfrm>
          <a:prstGeom prst="line">
            <a:avLst/>
          </a:prstGeom>
          <a:noFill/>
          <a:ln w="25400">
            <a:solidFill>
              <a:srgbClr val="3D6FC2"/>
            </a:solidFill>
            <a:prstDash val="solid"/>
            <a:tailEnd type="triangle"/>
          </a:ln>
        </p:spPr>
      </p:sp>
      <p:sp>
        <p:nvSpPr>
          <p:cNvPr id="6" name="Tahap Persetujuan permintaan"/>
          <p:cNvSpPr/>
          <p:nvPr/>
        </p:nvSpPr>
        <p:spPr>
          <a:xfrm>
            <a:off x="2528316"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Persetujuan permintaan</a:t>
            </a:r>
            <a:endParaRPr lang="en-US" sz="1500" dirty="0"/>
          </a:p>
          <a:p>
            <a:pPr algn="ctr" indent="0" marL="0">
              <a:buNone/>
            </a:pPr>
            <a:r>
              <a:rPr lang="en-US" sz="1200" dirty="0">
                <a:solidFill>
                  <a:srgbClr val="5B6B86"/>
                </a:solidFill>
              </a:rPr>
              <a:t>P2</a:t>
            </a:r>
            <a:endParaRPr lang="en-US" sz="1500" dirty="0"/>
          </a:p>
        </p:txBody>
      </p:sp>
      <p:sp>
        <p:nvSpPr>
          <p:cNvPr id="8" name="Panah alur"/>
          <p:cNvSpPr/>
          <p:nvPr/>
        </p:nvSpPr>
        <p:spPr>
          <a:xfrm>
            <a:off x="4183380" y="2491740"/>
            <a:ext cx="160020" cy="0"/>
          </a:xfrm>
          <a:prstGeom prst="line">
            <a:avLst/>
          </a:prstGeom>
          <a:noFill/>
          <a:ln w="25400">
            <a:solidFill>
              <a:srgbClr val="3D6FC2"/>
            </a:solidFill>
            <a:prstDash val="solid"/>
            <a:tailEnd type="triangle"/>
          </a:ln>
        </p:spPr>
      </p:sp>
      <p:sp>
        <p:nvSpPr>
          <p:cNvPr id="9" name="Dokumen SO"/>
          <p:cNvSpPr/>
          <p:nvPr/>
        </p:nvSpPr>
        <p:spPr>
          <a:xfrm>
            <a:off x="2958084" y="30449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491740"/>
            <a:ext cx="160020" cy="0"/>
          </a:xfrm>
          <a:prstGeom prst="line">
            <a:avLst/>
          </a:prstGeom>
          <a:noFill/>
          <a:ln w="25400">
            <a:solidFill>
              <a:srgbClr val="3D6FC2"/>
            </a:solidFill>
            <a:prstDash val="solid"/>
            <a:tailEnd type="triangle"/>
          </a:ln>
        </p:spPr>
      </p:sp>
      <p:sp>
        <p:nvSpPr>
          <p:cNvPr id="14" name="Tahap Transfer ke dek"/>
          <p:cNvSpPr/>
          <p:nvPr/>
        </p:nvSpPr>
        <p:spPr>
          <a:xfrm>
            <a:off x="6213348"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491740"/>
            <a:ext cx="160020" cy="0"/>
          </a:xfrm>
          <a:prstGeom prst="line">
            <a:avLst/>
          </a:prstGeom>
          <a:noFill/>
          <a:ln w="25400">
            <a:solidFill>
              <a:srgbClr val="3D6FC2"/>
            </a:solidFill>
            <a:prstDash val="solid"/>
            <a:tailEnd type="triangle"/>
          </a:ln>
        </p:spPr>
      </p:sp>
      <p:sp>
        <p:nvSpPr>
          <p:cNvPr id="17" name="Dokumen IT"/>
          <p:cNvSpPr/>
          <p:nvPr/>
        </p:nvSpPr>
        <p:spPr>
          <a:xfrm>
            <a:off x="6643116" y="30449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a:t>
            </a:r>
            <a:endParaRPr lang="en-US" sz="1500" dirty="0"/>
          </a:p>
        </p:txBody>
      </p:sp>
      <p:sp>
        <p:nvSpPr>
          <p:cNvPr id="21" name="Panah alur"/>
          <p:cNvSpPr/>
          <p:nvPr/>
        </p:nvSpPr>
        <p:spPr>
          <a:xfrm>
            <a:off x="9710928" y="2491740"/>
            <a:ext cx="160020" cy="0"/>
          </a:xfrm>
          <a:prstGeom prst="line">
            <a:avLst/>
          </a:prstGeom>
          <a:noFill/>
          <a:ln w="25400">
            <a:solidFill>
              <a:srgbClr val="3D6FC2"/>
            </a:solidFill>
            <a:prstDash val="solid"/>
            <a:tailEnd type="triangle"/>
          </a:ln>
        </p:spPr>
      </p:sp>
      <p:sp>
        <p:nvSpPr>
          <p:cNvPr id="22" name="Tahap Jual di kasir"/>
          <p:cNvSpPr/>
          <p:nvPr/>
        </p:nvSpPr>
        <p:spPr>
          <a:xfrm>
            <a:off x="989838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30449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Siklus ulang"/>
          <p:cNvSpPr/>
          <p:nvPr/>
        </p:nvSpPr>
        <p:spPr>
          <a:xfrm>
            <a:off x="1499616" y="1737360"/>
            <a:ext cx="9212580" cy="0"/>
          </a:xfrm>
          <a:prstGeom prst="line">
            <a:avLst/>
          </a:prstGeom>
          <a:noFill/>
          <a:ln w="28575">
            <a:solidFill>
              <a:srgbClr val="5AB4E5"/>
            </a:solidFill>
            <a:prstDash val="solid"/>
          </a:ln>
        </p:spPr>
      </p:sp>
      <p:sp>
        <p:nvSpPr>
          <p:cNvPr id="27" name="Siklus ulang dari kasir"/>
          <p:cNvSpPr/>
          <p:nvPr/>
        </p:nvSpPr>
        <p:spPr>
          <a:xfrm>
            <a:off x="10712196" y="1737360"/>
            <a:ext cx="0" cy="274320"/>
          </a:xfrm>
          <a:prstGeom prst="line">
            <a:avLst/>
          </a:prstGeom>
          <a:noFill/>
          <a:ln w="28575">
            <a:solidFill>
              <a:srgbClr val="5AB4E5"/>
            </a:solidFill>
            <a:prstDash val="solid"/>
          </a:ln>
        </p:spPr>
      </p:sp>
      <p:sp>
        <p:nvSpPr>
          <p:cNvPr id="28" name="Siklus ulang ke pesan"/>
          <p:cNvSpPr/>
          <p:nvPr/>
        </p:nvSpPr>
        <p:spPr>
          <a:xfrm>
            <a:off x="1499616" y="1737360"/>
            <a:ext cx="0" cy="256032"/>
          </a:xfrm>
          <a:prstGeom prst="line">
            <a:avLst/>
          </a:prstGeom>
          <a:noFill/>
          <a:ln w="28575">
            <a:solidFill>
              <a:srgbClr val="5AB4E5"/>
            </a:solidFill>
            <a:prstDash val="solid"/>
            <a:tailEnd type="triangle"/>
          </a:ln>
        </p:spPr>
      </p:sp>
      <p:sp>
        <p:nvSpPr>
          <p:cNvPr id="29" name="Text 27"/>
          <p:cNvSpPr txBox="1"/>
          <p:nvPr/>
        </p:nvSpPr>
        <p:spPr>
          <a:xfrm>
            <a:off x="4023360" y="1581912"/>
            <a:ext cx="4206240" cy="310896"/>
          </a:xfrm>
          <a:prstGeom prst="rect">
            <a:avLst/>
          </a:prstGeom>
          <a:solidFill>
            <a:srgbClr val="FFFFFF"/>
          </a:solidFill>
          <a:ln/>
        </p:spPr>
        <p:txBody>
          <a:bodyPr wrap="square" lIns="0" tIns="0" rIns="0" bIns="0" rtlCol="0" anchor="ctr"/>
          <a:lstStyle/>
          <a:p>
            <a:pPr algn="ctr" indent="0" marL="0">
              <a:buNone/>
            </a:pPr>
            <a:r>
              <a:rPr lang="en-US" sz="1200" b="1" dirty="0">
                <a:solidFill>
                  <a:srgbClr val="5AB4E5"/>
                </a:solidFill>
              </a:rPr>
              <a:t>↻  Stok dek menipis: kapal memesan lagi ke DC</a:t>
            </a:r>
            <a:endParaRPr lang="en-US" sz="1200" dirty="0"/>
          </a:p>
        </p:txBody>
      </p:sp>
      <p:sp>
        <p:nvSpPr>
          <p:cNvPr id="30" name="Text 28"/>
          <p:cNvSpPr txBox="1"/>
          <p:nvPr/>
        </p:nvSpPr>
        <p:spPr>
          <a:xfrm>
            <a:off x="685800" y="385876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31" name="Cabang pembelian"/>
          <p:cNvSpPr/>
          <p:nvPr/>
        </p:nvSpPr>
        <p:spPr>
          <a:xfrm>
            <a:off x="5184648" y="2971800"/>
            <a:ext cx="0" cy="594360"/>
          </a:xfrm>
          <a:prstGeom prst="line">
            <a:avLst/>
          </a:prstGeom>
          <a:noFill/>
          <a:ln w="25400">
            <a:solidFill>
              <a:srgbClr val="3D6FC2"/>
            </a:solidFill>
            <a:prstDash val="dash"/>
            <a:tailEnd type="triangle"/>
          </a:ln>
        </p:spPr>
      </p:sp>
      <p:sp>
        <p:nvSpPr>
          <p:cNvPr id="32" name="Cabang Permintaan pembelian"/>
          <p:cNvSpPr/>
          <p:nvPr/>
        </p:nvSpPr>
        <p:spPr>
          <a:xfrm>
            <a:off x="4370832"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3" name="Text 31"/>
          <p:cNvSpPr txBox="1"/>
          <p:nvPr/>
        </p:nvSpPr>
        <p:spPr>
          <a:xfrm>
            <a:off x="4462272"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Permintaan pembelian</a:t>
            </a:r>
            <a:endParaRPr lang="en-US" sz="1400" dirty="0"/>
          </a:p>
          <a:p>
            <a:pPr algn="ctr" indent="0" marL="0">
              <a:buNone/>
            </a:pPr>
            <a:r>
              <a:rPr lang="en-US" sz="1200" dirty="0">
                <a:solidFill>
                  <a:srgbClr val="5B6B86"/>
                </a:solidFill>
              </a:rPr>
              <a:t>Pergudangan</a:t>
            </a:r>
            <a:endParaRPr lang="en-US" sz="1400" dirty="0"/>
          </a:p>
        </p:txBody>
      </p:sp>
      <p:sp>
        <p:nvSpPr>
          <p:cNvPr id="34" name="Dokumen PR"/>
          <p:cNvSpPr/>
          <p:nvPr/>
        </p:nvSpPr>
        <p:spPr>
          <a:xfrm>
            <a:off x="4800600" y="4599432"/>
            <a:ext cx="768096" cy="310896"/>
          </a:xfrm>
          <a:prstGeom prst="roundRect">
            <a:avLst>
              <a:gd name="adj" fmla="val 23529"/>
            </a:avLst>
          </a:prstGeom>
          <a:solidFill>
            <a:srgbClr val="A87412"/>
          </a:solidFill>
          <a:ln w="12700">
            <a:solidFill>
              <a:srgbClr val="A87412"/>
            </a:solidFill>
            <a:prstDash val="solid"/>
          </a:ln>
        </p:spPr>
      </p:sp>
      <p:sp>
        <p:nvSpPr>
          <p:cNvPr id="35" name="Text 33"/>
          <p:cNvSpPr txBox="1"/>
          <p:nvPr/>
        </p:nvSpPr>
        <p:spPr>
          <a:xfrm>
            <a:off x="4800600"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6" name="Panah cabang"/>
          <p:cNvSpPr/>
          <p:nvPr/>
        </p:nvSpPr>
        <p:spPr>
          <a:xfrm>
            <a:off x="6025896" y="4046220"/>
            <a:ext cx="160020" cy="0"/>
          </a:xfrm>
          <a:prstGeom prst="line">
            <a:avLst/>
          </a:prstGeom>
          <a:noFill/>
          <a:ln w="25400">
            <a:solidFill>
              <a:srgbClr val="3D6FC2"/>
            </a:solidFill>
            <a:prstDash val="solid"/>
            <a:tailEnd type="triangle"/>
          </a:ln>
        </p:spPr>
      </p:sp>
      <p:sp>
        <p:nvSpPr>
          <p:cNvPr id="37" name="Cabang Pesanan ke vendor"/>
          <p:cNvSpPr/>
          <p:nvPr/>
        </p:nvSpPr>
        <p:spPr>
          <a:xfrm>
            <a:off x="6213348"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8" name="Text 36"/>
          <p:cNvSpPr txBox="1"/>
          <p:nvPr/>
        </p:nvSpPr>
        <p:spPr>
          <a:xfrm>
            <a:off x="6304788"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Pesanan ke vendor</a:t>
            </a:r>
            <a:endParaRPr lang="en-US" sz="1400" dirty="0"/>
          </a:p>
          <a:p>
            <a:pPr algn="ctr" indent="0" marL="0">
              <a:buNone/>
            </a:pPr>
            <a:r>
              <a:rPr lang="en-US" sz="1200" dirty="0">
                <a:solidFill>
                  <a:srgbClr val="5B6B86"/>
                </a:solidFill>
              </a:rPr>
              <a:t>Purchasing</a:t>
            </a:r>
            <a:endParaRPr lang="en-US" sz="1400" dirty="0"/>
          </a:p>
        </p:txBody>
      </p:sp>
      <p:sp>
        <p:nvSpPr>
          <p:cNvPr id="39" name="Dokumen PO"/>
          <p:cNvSpPr/>
          <p:nvPr/>
        </p:nvSpPr>
        <p:spPr>
          <a:xfrm>
            <a:off x="6643116" y="4599432"/>
            <a:ext cx="768096" cy="310896"/>
          </a:xfrm>
          <a:prstGeom prst="roundRect">
            <a:avLst>
              <a:gd name="adj" fmla="val 23529"/>
            </a:avLst>
          </a:prstGeom>
          <a:solidFill>
            <a:srgbClr val="C85A1C"/>
          </a:solidFill>
          <a:ln w="12700">
            <a:solidFill>
              <a:srgbClr val="C85A1C"/>
            </a:solidFill>
            <a:prstDash val="solid"/>
          </a:ln>
        </p:spPr>
      </p:sp>
      <p:sp>
        <p:nvSpPr>
          <p:cNvPr id="40" name="Text 38"/>
          <p:cNvSpPr txBox="1"/>
          <p:nvPr/>
        </p:nvSpPr>
        <p:spPr>
          <a:xfrm>
            <a:off x="6643116"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41" name="Panah cabang"/>
          <p:cNvSpPr/>
          <p:nvPr/>
        </p:nvSpPr>
        <p:spPr>
          <a:xfrm>
            <a:off x="7868412" y="4046220"/>
            <a:ext cx="160020" cy="0"/>
          </a:xfrm>
          <a:prstGeom prst="line">
            <a:avLst/>
          </a:prstGeom>
          <a:noFill/>
          <a:ln w="25400">
            <a:solidFill>
              <a:srgbClr val="3D6FC2"/>
            </a:solidFill>
            <a:prstDash val="solid"/>
            <a:tailEnd type="triangle"/>
          </a:ln>
        </p:spPr>
      </p:sp>
      <p:sp>
        <p:nvSpPr>
          <p:cNvPr id="42" name="Cabang Barang vendor tiba"/>
          <p:cNvSpPr/>
          <p:nvPr/>
        </p:nvSpPr>
        <p:spPr>
          <a:xfrm>
            <a:off x="8055864"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3" name="Text 41"/>
          <p:cNvSpPr txBox="1"/>
          <p:nvPr/>
        </p:nvSpPr>
        <p:spPr>
          <a:xfrm>
            <a:off x="8147304"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4" name="Dokumen GRPO"/>
          <p:cNvSpPr/>
          <p:nvPr/>
        </p:nvSpPr>
        <p:spPr>
          <a:xfrm>
            <a:off x="8485632" y="4599432"/>
            <a:ext cx="768096" cy="310896"/>
          </a:xfrm>
          <a:prstGeom prst="roundRect">
            <a:avLst>
              <a:gd name="adj" fmla="val 23529"/>
            </a:avLst>
          </a:prstGeom>
          <a:solidFill>
            <a:srgbClr val="7C68B8"/>
          </a:solidFill>
          <a:ln w="12700">
            <a:solidFill>
              <a:srgbClr val="7C68B8"/>
            </a:solidFill>
            <a:prstDash val="solid"/>
          </a:ln>
        </p:spPr>
      </p:sp>
      <p:sp>
        <p:nvSpPr>
          <p:cNvPr id="45" name="Text 43"/>
          <p:cNvSpPr txBox="1"/>
          <p:nvPr/>
        </p:nvSpPr>
        <p:spPr>
          <a:xfrm>
            <a:off x="8485632"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6" name="Kembali ke transfer"/>
          <p:cNvSpPr/>
          <p:nvPr/>
        </p:nvSpPr>
        <p:spPr>
          <a:xfrm>
            <a:off x="7027164" y="3401568"/>
            <a:ext cx="1842516" cy="164592"/>
          </a:xfrm>
          <a:prstGeom prst="line">
            <a:avLst/>
          </a:prstGeom>
          <a:noFill/>
          <a:ln w="25400">
            <a:solidFill>
              <a:srgbClr val="3D6FC2"/>
            </a:solidFill>
            <a:prstDash val="dash"/>
            <a:headEnd type="triangle"/>
          </a:ln>
        </p:spPr>
      </p:sp>
      <p:sp>
        <p:nvSpPr>
          <p:cNvPr id="47" name="Keterangan dokumen SAP"/>
          <p:cNvSpPr/>
          <p:nvPr/>
        </p:nvSpPr>
        <p:spPr>
          <a:xfrm>
            <a:off x="1600200" y="5010912"/>
            <a:ext cx="9921240" cy="1097280"/>
          </a:xfrm>
          <a:prstGeom prst="roundRect">
            <a:avLst>
              <a:gd name="adj" fmla="val 10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8" name="Text 46"/>
          <p:cNvSpPr txBox="1"/>
          <p:nvPr/>
        </p:nvSpPr>
        <p:spPr>
          <a:xfrm>
            <a:off x="1828800" y="5056632"/>
            <a:ext cx="5486400" cy="274320"/>
          </a:xfrm>
          <a:prstGeom prst="rect">
            <a:avLst/>
          </a:prstGeom>
          <a:noFill/>
          <a:ln/>
        </p:spPr>
        <p:txBody>
          <a:bodyPr wrap="square" lIns="0" tIns="0" rIns="0" bIns="0" rtlCol="0" anchor="t"/>
          <a:lstStyle/>
          <a:p>
            <a:pPr indent="0" marL="0">
              <a:buNone/>
            </a:pPr>
            <a:r>
              <a:rPr lang="en-US" sz="1300" b="1" dirty="0">
                <a:solidFill>
                  <a:srgbClr val="274289"/>
                </a:solidFill>
              </a:rPr>
              <a:t>Dokumen SAP yang dibuat otomatis:</a:t>
            </a:r>
            <a:endParaRPr lang="en-US" sz="1300" dirty="0"/>
          </a:p>
        </p:txBody>
      </p:sp>
      <p:sp>
        <p:nvSpPr>
          <p:cNvPr id="49" name="Keterangan SO"/>
          <p:cNvSpPr/>
          <p:nvPr/>
        </p:nvSpPr>
        <p:spPr>
          <a:xfrm>
            <a:off x="1828800" y="5376672"/>
            <a:ext cx="658368" cy="274320"/>
          </a:xfrm>
          <a:prstGeom prst="roundRect">
            <a:avLst>
              <a:gd name="adj" fmla="val 20000"/>
            </a:avLst>
          </a:prstGeom>
          <a:solidFill>
            <a:srgbClr val="4A8A3C"/>
          </a:solidFill>
          <a:ln w="12700">
            <a:solidFill>
              <a:srgbClr val="4A8A3C"/>
            </a:solidFill>
            <a:prstDash val="solid"/>
          </a:ln>
        </p:spPr>
      </p:sp>
      <p:sp>
        <p:nvSpPr>
          <p:cNvPr id="50" name="Text 48"/>
          <p:cNvSpPr txBox="1"/>
          <p:nvPr/>
        </p:nvSpPr>
        <p:spPr>
          <a:xfrm>
            <a:off x="182880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SO</a:t>
            </a:r>
            <a:endParaRPr lang="en-US" sz="1100" dirty="0"/>
          </a:p>
        </p:txBody>
      </p:sp>
      <p:sp>
        <p:nvSpPr>
          <p:cNvPr id="51" name="Text 49"/>
          <p:cNvSpPr txBox="1"/>
          <p:nvPr/>
        </p:nvSpPr>
        <p:spPr>
          <a:xfrm>
            <a:off x="257860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Sales Order</a:t>
            </a:r>
            <a:pPr indent="0" marL="0">
              <a:buNone/>
            </a:pPr>
            <a:r>
              <a:rPr lang="en-US" sz="1200" dirty="0">
                <a:solidFill>
                  <a:srgbClr val="5B6B86"/>
                </a:solidFill>
              </a:rPr>
              <a:t> · pesanan per dek</a:t>
            </a:r>
            <a:endParaRPr lang="en-US" sz="1200" dirty="0"/>
          </a:p>
        </p:txBody>
      </p:sp>
      <p:sp>
        <p:nvSpPr>
          <p:cNvPr id="52" name="Keterangan PR"/>
          <p:cNvSpPr/>
          <p:nvPr/>
        </p:nvSpPr>
        <p:spPr>
          <a:xfrm>
            <a:off x="5074920" y="5376672"/>
            <a:ext cx="658368" cy="274320"/>
          </a:xfrm>
          <a:prstGeom prst="roundRect">
            <a:avLst>
              <a:gd name="adj" fmla="val 20000"/>
            </a:avLst>
          </a:prstGeom>
          <a:solidFill>
            <a:srgbClr val="A87412"/>
          </a:solidFill>
          <a:ln w="12700">
            <a:solidFill>
              <a:srgbClr val="A87412"/>
            </a:solidFill>
            <a:prstDash val="solid"/>
          </a:ln>
        </p:spPr>
      </p:sp>
      <p:sp>
        <p:nvSpPr>
          <p:cNvPr id="53" name="Text 51"/>
          <p:cNvSpPr txBox="1"/>
          <p:nvPr/>
        </p:nvSpPr>
        <p:spPr>
          <a:xfrm>
            <a:off x="507492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PR</a:t>
            </a:r>
            <a:endParaRPr lang="en-US" sz="1100" dirty="0"/>
          </a:p>
        </p:txBody>
      </p:sp>
      <p:sp>
        <p:nvSpPr>
          <p:cNvPr id="54" name="Text 52"/>
          <p:cNvSpPr txBox="1"/>
          <p:nvPr/>
        </p:nvSpPr>
        <p:spPr>
          <a:xfrm>
            <a:off x="582472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Request</a:t>
            </a:r>
            <a:pPr indent="0" marL="0">
              <a:buNone/>
            </a:pPr>
            <a:r>
              <a:rPr lang="en-US" sz="1200" dirty="0">
                <a:solidFill>
                  <a:srgbClr val="5B6B86"/>
                </a:solidFill>
              </a:rPr>
              <a:t> · permintaan pembelian</a:t>
            </a:r>
            <a:endParaRPr lang="en-US" sz="1200" dirty="0"/>
          </a:p>
        </p:txBody>
      </p:sp>
      <p:sp>
        <p:nvSpPr>
          <p:cNvPr id="55" name="Keterangan PO"/>
          <p:cNvSpPr/>
          <p:nvPr/>
        </p:nvSpPr>
        <p:spPr>
          <a:xfrm>
            <a:off x="8321040" y="5376672"/>
            <a:ext cx="658368" cy="274320"/>
          </a:xfrm>
          <a:prstGeom prst="roundRect">
            <a:avLst>
              <a:gd name="adj" fmla="val 20000"/>
            </a:avLst>
          </a:prstGeom>
          <a:solidFill>
            <a:srgbClr val="C85A1C"/>
          </a:solidFill>
          <a:ln w="12700">
            <a:solidFill>
              <a:srgbClr val="C85A1C"/>
            </a:solidFill>
            <a:prstDash val="solid"/>
          </a:ln>
        </p:spPr>
      </p:sp>
      <p:sp>
        <p:nvSpPr>
          <p:cNvPr id="56" name="Text 54"/>
          <p:cNvSpPr txBox="1"/>
          <p:nvPr/>
        </p:nvSpPr>
        <p:spPr>
          <a:xfrm>
            <a:off x="832104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PO</a:t>
            </a:r>
            <a:endParaRPr lang="en-US" sz="1100" dirty="0"/>
          </a:p>
        </p:txBody>
      </p:sp>
      <p:sp>
        <p:nvSpPr>
          <p:cNvPr id="57" name="Text 55"/>
          <p:cNvSpPr txBox="1"/>
          <p:nvPr/>
        </p:nvSpPr>
        <p:spPr>
          <a:xfrm>
            <a:off x="907084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Order</a:t>
            </a:r>
            <a:pPr indent="0" marL="0">
              <a:buNone/>
            </a:pPr>
            <a:r>
              <a:rPr lang="en-US" sz="1200" dirty="0">
                <a:solidFill>
                  <a:srgbClr val="5B6B86"/>
                </a:solidFill>
              </a:rPr>
              <a:t> · pesanan ke vendor</a:t>
            </a:r>
            <a:endParaRPr lang="en-US" sz="1200" dirty="0"/>
          </a:p>
        </p:txBody>
      </p:sp>
      <p:sp>
        <p:nvSpPr>
          <p:cNvPr id="58" name="Keterangan GRPO"/>
          <p:cNvSpPr/>
          <p:nvPr/>
        </p:nvSpPr>
        <p:spPr>
          <a:xfrm>
            <a:off x="1828800" y="5724144"/>
            <a:ext cx="658368" cy="274320"/>
          </a:xfrm>
          <a:prstGeom prst="roundRect">
            <a:avLst>
              <a:gd name="adj" fmla="val 20000"/>
            </a:avLst>
          </a:prstGeom>
          <a:solidFill>
            <a:srgbClr val="7C68B8"/>
          </a:solidFill>
          <a:ln w="12700">
            <a:solidFill>
              <a:srgbClr val="7C68B8"/>
            </a:solidFill>
            <a:prstDash val="solid"/>
          </a:ln>
        </p:spPr>
      </p:sp>
      <p:sp>
        <p:nvSpPr>
          <p:cNvPr id="59" name="Text 57"/>
          <p:cNvSpPr txBox="1"/>
          <p:nvPr/>
        </p:nvSpPr>
        <p:spPr>
          <a:xfrm>
            <a:off x="182880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GRPO</a:t>
            </a:r>
            <a:endParaRPr lang="en-US" sz="1100" dirty="0"/>
          </a:p>
        </p:txBody>
      </p:sp>
      <p:sp>
        <p:nvSpPr>
          <p:cNvPr id="60" name="Text 58"/>
          <p:cNvSpPr txBox="1"/>
          <p:nvPr/>
        </p:nvSpPr>
        <p:spPr>
          <a:xfrm>
            <a:off x="257860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Goods Receipt PO</a:t>
            </a:r>
            <a:pPr indent="0" marL="0">
              <a:buNone/>
            </a:pPr>
            <a:r>
              <a:rPr lang="en-US" sz="1200" dirty="0">
                <a:solidFill>
                  <a:srgbClr val="5B6B86"/>
                </a:solidFill>
              </a:rPr>
              <a:t> · penerimaan barang vendor</a:t>
            </a:r>
            <a:endParaRPr lang="en-US" sz="1200" dirty="0"/>
          </a:p>
        </p:txBody>
      </p:sp>
      <p:sp>
        <p:nvSpPr>
          <p:cNvPr id="61" name="Keterangan IT"/>
          <p:cNvSpPr/>
          <p:nvPr/>
        </p:nvSpPr>
        <p:spPr>
          <a:xfrm>
            <a:off x="5074920" y="5724144"/>
            <a:ext cx="658368" cy="274320"/>
          </a:xfrm>
          <a:prstGeom prst="roundRect">
            <a:avLst>
              <a:gd name="adj" fmla="val 20000"/>
            </a:avLst>
          </a:prstGeom>
          <a:solidFill>
            <a:srgbClr val="C45C8E"/>
          </a:solidFill>
          <a:ln w="12700">
            <a:solidFill>
              <a:srgbClr val="C45C8E"/>
            </a:solidFill>
            <a:prstDash val="solid"/>
          </a:ln>
        </p:spPr>
      </p:sp>
      <p:sp>
        <p:nvSpPr>
          <p:cNvPr id="62" name="Text 60"/>
          <p:cNvSpPr txBox="1"/>
          <p:nvPr/>
        </p:nvSpPr>
        <p:spPr>
          <a:xfrm>
            <a:off x="507492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IT</a:t>
            </a:r>
            <a:endParaRPr lang="en-US" sz="1100" dirty="0"/>
          </a:p>
        </p:txBody>
      </p:sp>
      <p:sp>
        <p:nvSpPr>
          <p:cNvPr id="63" name="Text 61"/>
          <p:cNvSpPr txBox="1"/>
          <p:nvPr/>
        </p:nvSpPr>
        <p:spPr>
          <a:xfrm>
            <a:off x="582472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Inventory Transfer</a:t>
            </a:r>
            <a:pPr indent="0" marL="0">
              <a:buNone/>
            </a:pPr>
            <a:r>
              <a:rPr lang="en-US" sz="1200" dirty="0">
                <a:solidFill>
                  <a:srgbClr val="5B6B86"/>
                </a:solidFill>
              </a:rPr>
              <a:t> · kiriman DC ke dek</a:t>
            </a:r>
            <a:endParaRPr lang="en-US" sz="1200" dirty="0"/>
          </a:p>
        </p:txBody>
      </p:sp>
      <p:sp>
        <p:nvSpPr>
          <p:cNvPr id="64" name="Keterangan DO"/>
          <p:cNvSpPr/>
          <p:nvPr/>
        </p:nvSpPr>
        <p:spPr>
          <a:xfrm>
            <a:off x="8321040" y="5724144"/>
            <a:ext cx="658368" cy="274320"/>
          </a:xfrm>
          <a:prstGeom prst="roundRect">
            <a:avLst>
              <a:gd name="adj" fmla="val 20000"/>
            </a:avLst>
          </a:prstGeom>
          <a:solidFill>
            <a:srgbClr val="CF5140"/>
          </a:solidFill>
          <a:ln w="12700">
            <a:solidFill>
              <a:srgbClr val="CF5140"/>
            </a:solidFill>
            <a:prstDash val="solid"/>
          </a:ln>
        </p:spPr>
      </p:sp>
      <p:sp>
        <p:nvSpPr>
          <p:cNvPr id="65" name="Text 63"/>
          <p:cNvSpPr txBox="1"/>
          <p:nvPr/>
        </p:nvSpPr>
        <p:spPr>
          <a:xfrm>
            <a:off x="832104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DO</a:t>
            </a:r>
            <a:endParaRPr lang="en-US" sz="1100" dirty="0"/>
          </a:p>
        </p:txBody>
      </p:sp>
      <p:sp>
        <p:nvSpPr>
          <p:cNvPr id="66" name="Text 64"/>
          <p:cNvSpPr txBox="1"/>
          <p:nvPr/>
        </p:nvSpPr>
        <p:spPr>
          <a:xfrm>
            <a:off x="907084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Delivery Order</a:t>
            </a:r>
            <a:pPr indent="0" marL="0">
              <a:buNone/>
            </a:pPr>
            <a:r>
              <a:rPr lang="en-US" sz="1200" dirty="0">
                <a:solidFill>
                  <a:srgbClr val="5B6B86"/>
                </a:solidFill>
              </a:rPr>
              <a:t> · penjualan harian kasir</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penjualan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O (P2)"/>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SO (P2)</a:t>
            </a:r>
            <a:endParaRPr lang="en-US" sz="1500" dirty="0"/>
          </a:p>
          <a:p>
            <a:pPr indent="0" marL="0">
              <a:buNone/>
            </a:pPr>
            <a:r>
              <a:rPr lang="en-US" sz="1200" dirty="0">
                <a:solidFill>
                  <a:srgbClr val="5B6B86"/>
                </a:solidFill>
              </a:rPr>
              <a:t>Setujui permintaan kapal jadi Sales Order</a:t>
            </a:r>
            <a:endParaRPr lang="en-US" sz="1500" dirty="0"/>
          </a:p>
        </p:txBody>
      </p:sp>
      <p:sp>
        <p:nvSpPr>
          <p:cNvPr id="17" name="Peran Approve PUR (Pergudangan)"/>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 (Pergudangan)</a:t>
            </a:r>
            <a:endParaRPr lang="en-US" sz="1500" dirty="0"/>
          </a:p>
          <a:p>
            <a:pPr indent="0" marL="0">
              <a:buNone/>
            </a:pPr>
            <a:r>
              <a:rPr lang="en-US" sz="1200" dirty="0">
                <a:solidFill>
                  <a:srgbClr val="5B6B86"/>
                </a:solidFill>
              </a:rPr>
              <a:t>Setujui Purchase Request, penerimaan, transfer</a:t>
            </a:r>
            <a:endParaRPr lang="en-US" sz="1500" dirty="0"/>
          </a:p>
        </p:txBody>
      </p:sp>
      <p:sp>
        <p:nvSpPr>
          <p:cNvPr id="19" name="Peran Approve PO (Purchasing)"/>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PO (Purchasing)</a:t>
            </a:r>
            <a:endParaRPr lang="en-US" sz="1500" dirty="0"/>
          </a:p>
          <a:p>
            <a:pPr indent="0" marL="0">
              <a:buNone/>
            </a:pPr>
            <a:r>
              <a:rPr lang="en-US" sz="1200" dirty="0">
                <a:solidFill>
                  <a:srgbClr val="5B6B86"/>
                </a:solidFill>
              </a:rPr>
              <a:t>Setujui Purchase Order ke vendor</a:t>
            </a:r>
            <a:endParaRPr lang="en-US" sz="1500" dirty="0"/>
          </a:p>
        </p:txBody>
      </p:sp>
      <p:sp>
        <p:nvSpPr>
          <p:cNvPr id="21" name="Peran Admin PO (Purchasing)"/>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PO (Purchasing)</a:t>
            </a:r>
            <a:endParaRPr lang="en-US" sz="1500" dirty="0"/>
          </a:p>
          <a:p>
            <a:pPr indent="0" marL="0">
              <a:buNone/>
            </a:pPr>
            <a:r>
              <a:rPr lang="en-US" sz="1200" dirty="0">
                <a:solidFill>
                  <a:srgbClr val="5B6B86"/>
                </a:solidFill>
              </a:rPr>
              <a:t>Buat Purchase Order ke vendor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penerimaan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Delivery Order</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dan setiap persetujuan tercatat lengkap dengan siapa dan kapan.</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Delivery Order.</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Batasan aplikasi saat ini</a:t>
            </a:r>
            <a:endParaRPr lang="en-US" sz="3000" dirty="0"/>
          </a:p>
        </p:txBody>
      </p:sp>
      <p:sp>
        <p:nvSpPr>
          <p:cNvPr id="3" name="Batasan Memerlukan koneksi internet"/>
          <p:cNvSpPr/>
          <p:nvPr/>
        </p:nvSpPr>
        <p:spPr>
          <a:xfrm>
            <a:off x="685800" y="1737360"/>
            <a:ext cx="5303520" cy="3429000"/>
          </a:xfrm>
          <a:prstGeom prst="roundRect">
            <a:avLst>
              <a:gd name="adj" fmla="val 32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Memerlukan koneksi internet latar"/>
          <p:cNvSpPr/>
          <p:nvPr/>
        </p:nvSpPr>
        <p:spPr>
          <a:xfrm>
            <a:off x="1005840" y="2011680"/>
            <a:ext cx="868680" cy="868680"/>
          </a:xfrm>
          <a:prstGeom prst="ellipse">
            <a:avLst/>
          </a:prstGeom>
          <a:solidFill>
            <a:srgbClr val="274289"/>
          </a:solidFill>
          <a:ln w="12700">
            <a:solidFill>
              <a:srgbClr val="274289"/>
            </a:solidFill>
            <a:prstDash val="solid"/>
          </a:ln>
        </p:spPr>
      </p:sp>
      <p:pic>
        <p:nvPicPr>
          <p:cNvPr id="5" name="Ikon Memerlukan koneksi internet" descr="Ikon Memerlukan koneksi internet">    </p:cNvPr>
          <p:cNvPicPr>
            <a:picLocks noChangeAspect="1"/>
          </p:cNvPicPr>
          <p:nvPr/>
        </p:nvPicPr>
        <p:blipFill>
          <a:blip r:embed="rId1"/>
          <a:stretch>
            <a:fillRect/>
          </a:stretch>
        </p:blipFill>
        <p:spPr>
          <a:xfrm>
            <a:off x="1223010" y="2228850"/>
            <a:ext cx="434340" cy="434340"/>
          </a:xfrm>
          <a:prstGeom prst="rect">
            <a:avLst/>
          </a:prstGeom>
        </p:spPr>
      </p:pic>
      <p:sp>
        <p:nvSpPr>
          <p:cNvPr id="6" name="Text 3"/>
          <p:cNvSpPr txBox="1"/>
          <p:nvPr/>
        </p:nvSpPr>
        <p:spPr>
          <a:xfrm>
            <a:off x="1005840" y="3063240"/>
            <a:ext cx="4663440" cy="502920"/>
          </a:xfrm>
          <a:prstGeom prst="rect">
            <a:avLst/>
          </a:prstGeom>
          <a:noFill/>
          <a:ln/>
        </p:spPr>
        <p:txBody>
          <a:bodyPr wrap="square" lIns="0" tIns="0" rIns="0" bIns="0" rtlCol="0" anchor="t"/>
          <a:lstStyle/>
          <a:p>
            <a:pPr indent="0" marL="0">
              <a:buNone/>
            </a:pPr>
            <a:r>
              <a:rPr lang="en-US" sz="2400" b="1" dirty="0">
                <a:solidFill>
                  <a:srgbClr val="274289"/>
                </a:solidFill>
              </a:rPr>
              <a:t>Memerlukan koneksi internet</a:t>
            </a:r>
            <a:endParaRPr lang="en-US" sz="2400" dirty="0"/>
          </a:p>
        </p:txBody>
      </p:sp>
      <p:sp>
        <p:nvSpPr>
          <p:cNvPr id="7" name="Text 4"/>
          <p:cNvSpPr txBox="1"/>
          <p:nvPr/>
        </p:nvSpPr>
        <p:spPr>
          <a:xfrm>
            <a:off x="1005840" y="3611880"/>
            <a:ext cx="4663440" cy="731520"/>
          </a:xfrm>
          <a:prstGeom prst="rect">
            <a:avLst/>
          </a:prstGeom>
          <a:noFill/>
          <a:ln/>
        </p:spPr>
        <p:txBody>
          <a:bodyPr wrap="square" lIns="0" tIns="0" rIns="0" bIns="0" rtlCol="0" anchor="t"/>
          <a:lstStyle/>
          <a:p>
            <a:pPr indent="0" marL="0">
              <a:buNone/>
            </a:pPr>
            <a:r>
              <a:rPr lang="en-US" sz="1500" dirty="0">
                <a:solidFill>
                  <a:srgbClr val="1B2437"/>
                </a:solidFill>
              </a:rPr>
              <a:t>Aplikasi web dan aplikasi kasir hanya dapat digunakan saat perangkat terhubung ke internet.</a:t>
            </a:r>
            <a:endParaRPr lang="en-US" sz="1500" dirty="0"/>
          </a:p>
        </p:txBody>
      </p:sp>
      <p:sp>
        <p:nvSpPr>
          <p:cNvPr id="8" name="Pemisah"/>
          <p:cNvSpPr/>
          <p:nvPr/>
        </p:nvSpPr>
        <p:spPr>
          <a:xfrm>
            <a:off x="1005840" y="4434840"/>
            <a:ext cx="4663440" cy="0"/>
          </a:xfrm>
          <a:prstGeom prst="line">
            <a:avLst/>
          </a:prstGeom>
          <a:noFill/>
          <a:ln w="12700">
            <a:solidFill>
              <a:srgbClr val="E3E9F3"/>
            </a:solidFill>
            <a:prstDash val="solid"/>
          </a:ln>
        </p:spPr>
      </p:sp>
      <p:sp>
        <p:nvSpPr>
          <p:cNvPr id="9" name="Text 6"/>
          <p:cNvSpPr txBox="1"/>
          <p:nvPr/>
        </p:nvSpPr>
        <p:spPr>
          <a:xfrm>
            <a:off x="1005840" y="4553712"/>
            <a:ext cx="4663440" cy="457200"/>
          </a:xfrm>
          <a:prstGeom prst="rect">
            <a:avLst/>
          </a:prstGeom>
          <a:noFill/>
          <a:ln/>
        </p:spPr>
        <p:txBody>
          <a:bodyPr wrap="square" lIns="0" tIns="0" rIns="0" bIns="0" rtlCol="0" anchor="t"/>
          <a:lstStyle/>
          <a:p>
            <a:pPr indent="0" marL="0">
              <a:buNone/>
            </a:pPr>
            <a:r>
              <a:rPr lang="en-US" sz="1400" b="1" dirty="0">
                <a:solidFill>
                  <a:srgbClr val="274289"/>
                </a:solidFill>
              </a:rPr>
              <a:t>Perlu disiapkan: </a:t>
            </a:r>
            <a:pPr indent="0" marL="0">
              <a:buNone/>
            </a:pPr>
            <a:r>
              <a:rPr lang="en-US" sz="1400" dirty="0">
                <a:solidFill>
                  <a:srgbClr val="1B2437"/>
                </a:solidFill>
              </a:rPr>
              <a:t>Koneksi internet di kapal, DC, dan kantor pusat.</a:t>
            </a:r>
            <a:endParaRPr lang="en-US" sz="1400" dirty="0"/>
          </a:p>
        </p:txBody>
      </p:sp>
      <p:sp>
        <p:nvSpPr>
          <p:cNvPr id="10" name="Batasan Kasir hanya di Android"/>
          <p:cNvSpPr/>
          <p:nvPr/>
        </p:nvSpPr>
        <p:spPr>
          <a:xfrm>
            <a:off x="6217920" y="1737360"/>
            <a:ext cx="5303520" cy="3429000"/>
          </a:xfrm>
          <a:prstGeom prst="roundRect">
            <a:avLst>
              <a:gd name="adj" fmla="val 32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1" name="Ikon Kasir hanya di Android latar"/>
          <p:cNvSpPr/>
          <p:nvPr/>
        </p:nvSpPr>
        <p:spPr>
          <a:xfrm>
            <a:off x="6537960" y="2011680"/>
            <a:ext cx="868680" cy="868680"/>
          </a:xfrm>
          <a:prstGeom prst="ellipse">
            <a:avLst/>
          </a:prstGeom>
          <a:solidFill>
            <a:srgbClr val="274289"/>
          </a:solidFill>
          <a:ln w="12700">
            <a:solidFill>
              <a:srgbClr val="274289"/>
            </a:solidFill>
            <a:prstDash val="solid"/>
          </a:ln>
        </p:spPr>
      </p:sp>
      <p:pic>
        <p:nvPicPr>
          <p:cNvPr id="12" name="Ikon Kasir hanya di Android" descr="Ikon Kasir hanya di Android">    </p:cNvPr>
          <p:cNvPicPr>
            <a:picLocks noChangeAspect="1"/>
          </p:cNvPicPr>
          <p:nvPr/>
        </p:nvPicPr>
        <p:blipFill>
          <a:blip r:embed="rId2"/>
          <a:stretch>
            <a:fillRect/>
          </a:stretch>
        </p:blipFill>
        <p:spPr>
          <a:xfrm>
            <a:off x="6755130" y="2228850"/>
            <a:ext cx="434340" cy="434340"/>
          </a:xfrm>
          <a:prstGeom prst="rect">
            <a:avLst/>
          </a:prstGeom>
        </p:spPr>
      </p:pic>
      <p:sp>
        <p:nvSpPr>
          <p:cNvPr id="13" name="Status Android"/>
          <p:cNvSpPr/>
          <p:nvPr/>
        </p:nvSpPr>
        <p:spPr>
          <a:xfrm>
            <a:off x="7680960" y="2258568"/>
            <a:ext cx="1691640" cy="384048"/>
          </a:xfrm>
          <a:prstGeom prst="roundRect">
            <a:avLst>
              <a:gd name="adj" fmla="val 50000"/>
            </a:avLst>
          </a:prstGeom>
          <a:solidFill>
            <a:srgbClr val="E8F2E4"/>
          </a:solidFill>
          <a:ln w="12700">
            <a:solidFill>
              <a:srgbClr val="4A8A3C"/>
            </a:solidFill>
            <a:prstDash val="solid"/>
          </a:ln>
        </p:spPr>
      </p:sp>
      <p:sp>
        <p:nvSpPr>
          <p:cNvPr id="14" name="Text 10"/>
          <p:cNvSpPr txBox="1"/>
          <p:nvPr/>
        </p:nvSpPr>
        <p:spPr>
          <a:xfrm>
            <a:off x="7680960" y="2258568"/>
            <a:ext cx="1691640" cy="384048"/>
          </a:xfrm>
          <a:prstGeom prst="rect">
            <a:avLst/>
          </a:prstGeom>
          <a:noFill/>
          <a:ln/>
        </p:spPr>
        <p:txBody>
          <a:bodyPr wrap="square" lIns="0" tIns="0" rIns="0" bIns="0" rtlCol="0" anchor="ctr"/>
          <a:lstStyle/>
          <a:p>
            <a:pPr algn="ctr" indent="0" marL="0">
              <a:buNone/>
            </a:pPr>
            <a:r>
              <a:rPr lang="en-US" sz="1200" b="1" dirty="0">
                <a:solidFill>
                  <a:srgbClr val="4A8A3C"/>
                </a:solidFill>
              </a:rPr>
              <a:t>Android: </a:t>
            </a:r>
            <a:pPr algn="ctr" indent="0" marL="0">
              <a:buNone/>
            </a:pPr>
            <a:r>
              <a:rPr lang="en-US" sz="1200" dirty="0">
                <a:solidFill>
                  <a:srgbClr val="4A8A3C"/>
                </a:solidFill>
              </a:rPr>
              <a:t>Tersedia</a:t>
            </a:r>
            <a:endParaRPr lang="en-US" sz="1200" dirty="0"/>
          </a:p>
        </p:txBody>
      </p:sp>
      <p:sp>
        <p:nvSpPr>
          <p:cNvPr id="15" name="Status iOS"/>
          <p:cNvSpPr/>
          <p:nvPr/>
        </p:nvSpPr>
        <p:spPr>
          <a:xfrm>
            <a:off x="9509760" y="2258568"/>
            <a:ext cx="1691640" cy="384048"/>
          </a:xfrm>
          <a:prstGeom prst="roundRect">
            <a:avLst>
              <a:gd name="adj" fmla="val 50000"/>
            </a:avLst>
          </a:prstGeom>
          <a:solidFill>
            <a:srgbClr val="EEF1F6"/>
          </a:solidFill>
          <a:ln w="12700">
            <a:solidFill>
              <a:srgbClr val="5B6B86"/>
            </a:solidFill>
            <a:prstDash val="solid"/>
          </a:ln>
        </p:spPr>
      </p:sp>
      <p:sp>
        <p:nvSpPr>
          <p:cNvPr id="16" name="Text 12"/>
          <p:cNvSpPr txBox="1"/>
          <p:nvPr/>
        </p:nvSpPr>
        <p:spPr>
          <a:xfrm>
            <a:off x="9509760" y="2258568"/>
            <a:ext cx="1691640" cy="384048"/>
          </a:xfrm>
          <a:prstGeom prst="rect">
            <a:avLst/>
          </a:prstGeom>
          <a:noFill/>
          <a:ln/>
        </p:spPr>
        <p:txBody>
          <a:bodyPr wrap="square" lIns="0" tIns="0" rIns="0" bIns="0" rtlCol="0" anchor="ctr"/>
          <a:lstStyle/>
          <a:p>
            <a:pPr algn="ctr" indent="0" marL="0">
              <a:buNone/>
            </a:pPr>
            <a:r>
              <a:rPr lang="en-US" sz="1200" b="1" dirty="0">
                <a:solidFill>
                  <a:srgbClr val="5B6B86"/>
                </a:solidFill>
              </a:rPr>
              <a:t>iOS: </a:t>
            </a:r>
            <a:pPr algn="ctr" indent="0" marL="0">
              <a:buNone/>
            </a:pPr>
            <a:r>
              <a:rPr lang="en-US" sz="1200" dirty="0">
                <a:solidFill>
                  <a:srgbClr val="5B6B86"/>
                </a:solidFill>
              </a:rPr>
              <a:t>Belum tersedia</a:t>
            </a:r>
            <a:endParaRPr lang="en-US" sz="1200" dirty="0"/>
          </a:p>
        </p:txBody>
      </p:sp>
      <p:sp>
        <p:nvSpPr>
          <p:cNvPr id="17" name="Text 13"/>
          <p:cNvSpPr txBox="1"/>
          <p:nvPr/>
        </p:nvSpPr>
        <p:spPr>
          <a:xfrm>
            <a:off x="6537960" y="3063240"/>
            <a:ext cx="4663440" cy="502920"/>
          </a:xfrm>
          <a:prstGeom prst="rect">
            <a:avLst/>
          </a:prstGeom>
          <a:noFill/>
          <a:ln/>
        </p:spPr>
        <p:txBody>
          <a:bodyPr wrap="square" lIns="0" tIns="0" rIns="0" bIns="0" rtlCol="0" anchor="t"/>
          <a:lstStyle/>
          <a:p>
            <a:pPr indent="0" marL="0">
              <a:buNone/>
            </a:pPr>
            <a:r>
              <a:rPr lang="en-US" sz="2400" b="1" dirty="0">
                <a:solidFill>
                  <a:srgbClr val="274289"/>
                </a:solidFill>
              </a:rPr>
              <a:t>Kasir hanya di Android</a:t>
            </a:r>
            <a:endParaRPr lang="en-US" sz="2400" dirty="0"/>
          </a:p>
        </p:txBody>
      </p:sp>
      <p:sp>
        <p:nvSpPr>
          <p:cNvPr id="18" name="Text 14"/>
          <p:cNvSpPr txBox="1"/>
          <p:nvPr/>
        </p:nvSpPr>
        <p:spPr>
          <a:xfrm>
            <a:off x="6537960" y="3611880"/>
            <a:ext cx="4663440" cy="731520"/>
          </a:xfrm>
          <a:prstGeom prst="rect">
            <a:avLst/>
          </a:prstGeom>
          <a:noFill/>
          <a:ln/>
        </p:spPr>
        <p:txBody>
          <a:bodyPr wrap="square" lIns="0" tIns="0" rIns="0" bIns="0" rtlCol="0" anchor="t"/>
          <a:lstStyle/>
          <a:p>
            <a:pPr indent="0" marL="0">
              <a:buNone/>
            </a:pPr>
            <a:r>
              <a:rPr lang="en-US" sz="1500" dirty="0">
                <a:solidFill>
                  <a:srgbClr val="1B2437"/>
                </a:solidFill>
              </a:rPr>
              <a:t>Aplikasi kasir baru tersedia untuk perangkat Android. Versi iOS (iPhone dan iPad) belum tersedia.</a:t>
            </a:r>
            <a:endParaRPr lang="en-US" sz="1500" dirty="0"/>
          </a:p>
        </p:txBody>
      </p:sp>
      <p:sp>
        <p:nvSpPr>
          <p:cNvPr id="19" name="Pemisah"/>
          <p:cNvSpPr/>
          <p:nvPr/>
        </p:nvSpPr>
        <p:spPr>
          <a:xfrm>
            <a:off x="6537960" y="4434840"/>
            <a:ext cx="4663440" cy="0"/>
          </a:xfrm>
          <a:prstGeom prst="line">
            <a:avLst/>
          </a:prstGeom>
          <a:noFill/>
          <a:ln w="12700">
            <a:solidFill>
              <a:srgbClr val="E3E9F3"/>
            </a:solidFill>
            <a:prstDash val="solid"/>
          </a:ln>
        </p:spPr>
      </p:sp>
      <p:sp>
        <p:nvSpPr>
          <p:cNvPr id="20" name="Text 16"/>
          <p:cNvSpPr txBox="1"/>
          <p:nvPr/>
        </p:nvSpPr>
        <p:spPr>
          <a:xfrm>
            <a:off x="6537960" y="4553712"/>
            <a:ext cx="4663440" cy="457200"/>
          </a:xfrm>
          <a:prstGeom prst="rect">
            <a:avLst/>
          </a:prstGeom>
          <a:noFill/>
          <a:ln/>
        </p:spPr>
        <p:txBody>
          <a:bodyPr wrap="square" lIns="0" tIns="0" rIns="0" bIns="0" rtlCol="0" anchor="t"/>
          <a:lstStyle/>
          <a:p>
            <a:pPr indent="0" marL="0">
              <a:buNone/>
            </a:pPr>
            <a:r>
              <a:rPr lang="en-US" sz="1400" b="1" dirty="0">
                <a:solidFill>
                  <a:srgbClr val="274289"/>
                </a:solidFill>
              </a:rPr>
              <a:t>Perlu disiapkan: </a:t>
            </a:r>
            <a:pPr indent="0" marL="0">
              <a:buNone/>
            </a:pPr>
            <a:r>
              <a:rPr lang="en-US" sz="1400" dirty="0">
                <a:solidFill>
                  <a:srgbClr val="1B2437"/>
                </a:solidFill>
              </a:rPr>
              <a:t>Perangkat kasir Android di setiap dek.</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Timeline setelah go-live</a:t>
            </a:r>
            <a:endParaRPr lang="en-US" sz="3000" dirty="0"/>
          </a:p>
        </p:txBody>
      </p:sp>
      <p:sp>
        <p:nvSpPr>
          <p:cNvPr id="3" name="Garis timeline"/>
          <p:cNvSpPr/>
          <p:nvPr/>
        </p:nvSpPr>
        <p:spPr>
          <a:xfrm>
            <a:off x="1714500" y="2331720"/>
            <a:ext cx="8778240" cy="0"/>
          </a:xfrm>
          <a:prstGeom prst="line">
            <a:avLst/>
          </a:prstGeom>
          <a:noFill/>
          <a:ln w="38100">
            <a:solidFill>
              <a:srgbClr val="5AB4E5"/>
            </a:solidFill>
            <a:prstDash val="solid"/>
          </a:ln>
        </p:spPr>
      </p:sp>
      <p:sp>
        <p:nvSpPr>
          <p:cNvPr id="4" name="Text 2"/>
          <p:cNvSpPr txBox="1"/>
          <p:nvPr/>
        </p:nvSpPr>
        <p:spPr>
          <a:xfrm>
            <a:off x="685800" y="1691640"/>
            <a:ext cx="2057400" cy="320040"/>
          </a:xfrm>
          <a:prstGeom prst="rect">
            <a:avLst/>
          </a:prstGeom>
          <a:noFill/>
          <a:ln/>
        </p:spPr>
        <p:txBody>
          <a:bodyPr wrap="square" lIns="0" tIns="0" rIns="0" bIns="0" rtlCol="0" anchor="t"/>
          <a:lstStyle/>
          <a:p>
            <a:pPr algn="ctr" indent="0" marL="0">
              <a:buNone/>
            </a:pPr>
            <a:r>
              <a:rPr lang="en-US" sz="1300" b="1" dirty="0">
                <a:solidFill>
                  <a:srgbClr val="F2762E"/>
                </a:solidFill>
              </a:rPr>
              <a:t>27 Okt 2026</a:t>
            </a:r>
            <a:endParaRPr lang="en-US" sz="1300" dirty="0"/>
          </a:p>
        </p:txBody>
      </p:sp>
      <p:sp>
        <p:nvSpPr>
          <p:cNvPr id="5" name="Titik Go-live"/>
          <p:cNvSpPr/>
          <p:nvPr/>
        </p:nvSpPr>
        <p:spPr>
          <a:xfrm>
            <a:off x="1549908" y="2167128"/>
            <a:ext cx="329184" cy="329184"/>
          </a:xfrm>
          <a:prstGeom prst="ellipse">
            <a:avLst/>
          </a:prstGeom>
          <a:solidFill>
            <a:srgbClr val="F2762E"/>
          </a:solidFill>
          <a:ln w="31750">
            <a:solidFill>
              <a:srgbClr val="FFFFFF"/>
            </a:solidFill>
            <a:prstDash val="solid"/>
          </a:ln>
        </p:spPr>
      </p:sp>
      <p:sp>
        <p:nvSpPr>
          <p:cNvPr id="6" name="Fase Go-live"/>
          <p:cNvSpPr/>
          <p:nvPr/>
        </p:nvSpPr>
        <p:spPr>
          <a:xfrm>
            <a:off x="685800" y="2697480"/>
            <a:ext cx="2057400" cy="2331720"/>
          </a:xfrm>
          <a:prstGeom prst="roundRect">
            <a:avLst>
              <a:gd name="adj" fmla="val 5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Aksen"/>
          <p:cNvSpPr/>
          <p:nvPr/>
        </p:nvSpPr>
        <p:spPr>
          <a:xfrm>
            <a:off x="868680" y="2880360"/>
            <a:ext cx="411480" cy="54864"/>
          </a:xfrm>
          <a:prstGeom prst="rect">
            <a:avLst/>
          </a:prstGeom>
          <a:solidFill>
            <a:srgbClr val="F2762E"/>
          </a:solidFill>
          <a:ln w="12700">
            <a:solidFill>
              <a:srgbClr val="F2762E"/>
            </a:solidFill>
            <a:prstDash val="solid"/>
          </a:ln>
        </p:spPr>
      </p:sp>
      <p:sp>
        <p:nvSpPr>
          <p:cNvPr id="8" name="Text 6"/>
          <p:cNvSpPr txBox="1"/>
          <p:nvPr/>
        </p:nvSpPr>
        <p:spPr>
          <a:xfrm>
            <a:off x="868680" y="3017520"/>
            <a:ext cx="1691640" cy="685800"/>
          </a:xfrm>
          <a:prstGeom prst="rect">
            <a:avLst/>
          </a:prstGeom>
          <a:noFill/>
          <a:ln/>
        </p:spPr>
        <p:txBody>
          <a:bodyPr wrap="square" lIns="0" tIns="0" rIns="0" bIns="0" rtlCol="0" anchor="t"/>
          <a:lstStyle/>
          <a:p>
            <a:pPr indent="0" marL="0">
              <a:buNone/>
            </a:pPr>
            <a:r>
              <a:rPr lang="en-US" sz="1700" b="1" dirty="0">
                <a:solidFill>
                  <a:srgbClr val="274289"/>
                </a:solidFill>
              </a:rPr>
              <a:t>Go-live</a:t>
            </a:r>
            <a:endParaRPr lang="en-US" sz="1700" dirty="0"/>
          </a:p>
        </p:txBody>
      </p:sp>
      <p:sp>
        <p:nvSpPr>
          <p:cNvPr id="9" name="Text 7"/>
          <p:cNvSpPr txBox="1"/>
          <p:nvPr/>
        </p:nvSpPr>
        <p:spPr>
          <a:xfrm>
            <a:off x="868680" y="3703320"/>
            <a:ext cx="1691640" cy="1234440"/>
          </a:xfrm>
          <a:prstGeom prst="rect">
            <a:avLst/>
          </a:prstGeom>
          <a:noFill/>
          <a:ln/>
        </p:spPr>
        <p:txBody>
          <a:bodyPr wrap="square" lIns="0" tIns="0" rIns="0" bIns="0" rtlCol="0" anchor="t"/>
          <a:lstStyle/>
          <a:p>
            <a:pPr indent="0" marL="0">
              <a:buNone/>
            </a:pPr>
            <a:r>
              <a:rPr lang="en-US" sz="1250" dirty="0">
                <a:solidFill>
                  <a:srgbClr val="1B2437"/>
                </a:solidFill>
              </a:rPr>
              <a:t>PID POS resmi digunakan di kapal, DC, dan kantor pusat.</a:t>
            </a:r>
            <a:endParaRPr lang="en-US" sz="1250" dirty="0"/>
          </a:p>
        </p:txBody>
      </p:sp>
      <p:sp>
        <p:nvSpPr>
          <p:cNvPr id="10" name="Text 8"/>
          <p:cNvSpPr txBox="1"/>
          <p:nvPr/>
        </p:nvSpPr>
        <p:spPr>
          <a:xfrm>
            <a:off x="2880360" y="1691640"/>
            <a:ext cx="2057400" cy="320040"/>
          </a:xfrm>
          <a:prstGeom prst="rect">
            <a:avLst/>
          </a:prstGeom>
          <a:noFill/>
          <a:ln/>
        </p:spPr>
        <p:txBody>
          <a:bodyPr wrap="square" lIns="0" tIns="0" rIns="0" bIns="0" rtlCol="0" anchor="t"/>
          <a:lstStyle/>
          <a:p>
            <a:pPr algn="ctr" indent="0" marL="0">
              <a:buNone/>
            </a:pPr>
            <a:r>
              <a:rPr lang="en-US" sz="1300" b="1" dirty="0">
                <a:solidFill>
                  <a:srgbClr val="5B6B86"/>
                </a:solidFill>
              </a:rPr>
              <a:t>27 Okt – 9 Nov</a:t>
            </a:r>
            <a:endParaRPr lang="en-US" sz="1300" dirty="0"/>
          </a:p>
        </p:txBody>
      </p:sp>
      <p:sp>
        <p:nvSpPr>
          <p:cNvPr id="11" name="Titik Pendampingan intensif"/>
          <p:cNvSpPr/>
          <p:nvPr/>
        </p:nvSpPr>
        <p:spPr>
          <a:xfrm>
            <a:off x="3744468" y="2167128"/>
            <a:ext cx="329184" cy="329184"/>
          </a:xfrm>
          <a:prstGeom prst="ellipse">
            <a:avLst/>
          </a:prstGeom>
          <a:solidFill>
            <a:srgbClr val="274289"/>
          </a:solidFill>
          <a:ln w="31750">
            <a:solidFill>
              <a:srgbClr val="FFFFFF"/>
            </a:solidFill>
            <a:prstDash val="solid"/>
          </a:ln>
        </p:spPr>
      </p:sp>
      <p:sp>
        <p:nvSpPr>
          <p:cNvPr id="12" name="Fase Pendampingan intensif"/>
          <p:cNvSpPr/>
          <p:nvPr/>
        </p:nvSpPr>
        <p:spPr>
          <a:xfrm>
            <a:off x="2880360" y="2697480"/>
            <a:ext cx="2057400" cy="2331720"/>
          </a:xfrm>
          <a:prstGeom prst="roundRect">
            <a:avLst>
              <a:gd name="adj" fmla="val 5333"/>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3" name="Aksen"/>
          <p:cNvSpPr/>
          <p:nvPr/>
        </p:nvSpPr>
        <p:spPr>
          <a:xfrm>
            <a:off x="3063240" y="2880360"/>
            <a:ext cx="411480" cy="54864"/>
          </a:xfrm>
          <a:prstGeom prst="rect">
            <a:avLst/>
          </a:prstGeom>
          <a:solidFill>
            <a:srgbClr val="5AB4E5"/>
          </a:solidFill>
          <a:ln w="12700">
            <a:solidFill>
              <a:srgbClr val="5AB4E5"/>
            </a:solidFill>
            <a:prstDash val="solid"/>
          </a:ln>
        </p:spPr>
      </p:sp>
      <p:sp>
        <p:nvSpPr>
          <p:cNvPr id="14" name="Text 12"/>
          <p:cNvSpPr txBox="1"/>
          <p:nvPr/>
        </p:nvSpPr>
        <p:spPr>
          <a:xfrm>
            <a:off x="3063240" y="3017520"/>
            <a:ext cx="1691640" cy="685800"/>
          </a:xfrm>
          <a:prstGeom prst="rect">
            <a:avLst/>
          </a:prstGeom>
          <a:noFill/>
          <a:ln/>
        </p:spPr>
        <p:txBody>
          <a:bodyPr wrap="square" lIns="0" tIns="0" rIns="0" bIns="0" rtlCol="0" anchor="t"/>
          <a:lstStyle/>
          <a:p>
            <a:pPr indent="0" marL="0">
              <a:buNone/>
            </a:pPr>
            <a:r>
              <a:rPr lang="en-US" sz="1700" b="1" dirty="0">
                <a:solidFill>
                  <a:srgbClr val="274289"/>
                </a:solidFill>
              </a:rPr>
              <a:t>Pendampingan intensif</a:t>
            </a:r>
            <a:endParaRPr lang="en-US" sz="1700" dirty="0"/>
          </a:p>
        </p:txBody>
      </p:sp>
      <p:sp>
        <p:nvSpPr>
          <p:cNvPr id="15" name="Text 13"/>
          <p:cNvSpPr txBox="1"/>
          <p:nvPr/>
        </p:nvSpPr>
        <p:spPr>
          <a:xfrm>
            <a:off x="3063240" y="3703320"/>
            <a:ext cx="1691640" cy="1234440"/>
          </a:xfrm>
          <a:prstGeom prst="rect">
            <a:avLst/>
          </a:prstGeom>
          <a:noFill/>
          <a:ln/>
        </p:spPr>
        <p:txBody>
          <a:bodyPr wrap="square" lIns="0" tIns="0" rIns="0" bIns="0" rtlCol="0" anchor="t"/>
          <a:lstStyle/>
          <a:p>
            <a:pPr indent="0" marL="0">
              <a:buNone/>
            </a:pPr>
            <a:r>
              <a:rPr lang="en-US" sz="1250" dirty="0">
                <a:solidFill>
                  <a:srgbClr val="1B2437"/>
                </a:solidFill>
              </a:rPr>
              <a:t>Tim pendamping siaga setiap hari; kendala pengguna ditangani cepat.</a:t>
            </a:r>
            <a:endParaRPr lang="en-US" sz="1250" dirty="0"/>
          </a:p>
        </p:txBody>
      </p:sp>
      <p:sp>
        <p:nvSpPr>
          <p:cNvPr id="16" name="Text 14"/>
          <p:cNvSpPr txBox="1"/>
          <p:nvPr/>
        </p:nvSpPr>
        <p:spPr>
          <a:xfrm>
            <a:off x="5074920" y="1691640"/>
            <a:ext cx="2057400" cy="320040"/>
          </a:xfrm>
          <a:prstGeom prst="rect">
            <a:avLst/>
          </a:prstGeom>
          <a:noFill/>
          <a:ln/>
        </p:spPr>
        <p:txBody>
          <a:bodyPr wrap="square" lIns="0" tIns="0" rIns="0" bIns="0" rtlCol="0" anchor="t"/>
          <a:lstStyle/>
          <a:p>
            <a:pPr algn="ctr" indent="0" marL="0">
              <a:buNone/>
            </a:pPr>
            <a:r>
              <a:rPr lang="en-US" sz="1300" b="1" dirty="0">
                <a:solidFill>
                  <a:srgbClr val="5B6B86"/>
                </a:solidFill>
              </a:rPr>
              <a:t>10 – 30 Nov</a:t>
            </a:r>
            <a:endParaRPr lang="en-US" sz="1300" dirty="0"/>
          </a:p>
        </p:txBody>
      </p:sp>
      <p:sp>
        <p:nvSpPr>
          <p:cNvPr id="17" name="Titik Stabilisasi"/>
          <p:cNvSpPr/>
          <p:nvPr/>
        </p:nvSpPr>
        <p:spPr>
          <a:xfrm>
            <a:off x="5939028" y="2167128"/>
            <a:ext cx="329184" cy="329184"/>
          </a:xfrm>
          <a:prstGeom prst="ellipse">
            <a:avLst/>
          </a:prstGeom>
          <a:solidFill>
            <a:srgbClr val="274289"/>
          </a:solidFill>
          <a:ln w="31750">
            <a:solidFill>
              <a:srgbClr val="FFFFFF"/>
            </a:solidFill>
            <a:prstDash val="solid"/>
          </a:ln>
        </p:spPr>
      </p:sp>
      <p:sp>
        <p:nvSpPr>
          <p:cNvPr id="18" name="Fase Stabilisasi"/>
          <p:cNvSpPr/>
          <p:nvPr/>
        </p:nvSpPr>
        <p:spPr>
          <a:xfrm>
            <a:off x="5074920" y="2697480"/>
            <a:ext cx="2057400" cy="2331720"/>
          </a:xfrm>
          <a:prstGeom prst="roundRect">
            <a:avLst>
              <a:gd name="adj" fmla="val 5333"/>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9" name="Aksen"/>
          <p:cNvSpPr/>
          <p:nvPr/>
        </p:nvSpPr>
        <p:spPr>
          <a:xfrm>
            <a:off x="5257800" y="2880360"/>
            <a:ext cx="411480" cy="54864"/>
          </a:xfrm>
          <a:prstGeom prst="rect">
            <a:avLst/>
          </a:prstGeom>
          <a:solidFill>
            <a:srgbClr val="5AB4E5"/>
          </a:solidFill>
          <a:ln w="12700">
            <a:solidFill>
              <a:srgbClr val="5AB4E5"/>
            </a:solidFill>
            <a:prstDash val="solid"/>
          </a:ln>
        </p:spPr>
      </p:sp>
      <p:sp>
        <p:nvSpPr>
          <p:cNvPr id="20" name="Text 18"/>
          <p:cNvSpPr txBox="1"/>
          <p:nvPr/>
        </p:nvSpPr>
        <p:spPr>
          <a:xfrm>
            <a:off x="5257800" y="3017520"/>
            <a:ext cx="1691640" cy="685800"/>
          </a:xfrm>
          <a:prstGeom prst="rect">
            <a:avLst/>
          </a:prstGeom>
          <a:noFill/>
          <a:ln/>
        </p:spPr>
        <p:txBody>
          <a:bodyPr wrap="square" lIns="0" tIns="0" rIns="0" bIns="0" rtlCol="0" anchor="t"/>
          <a:lstStyle/>
          <a:p>
            <a:pPr indent="0" marL="0">
              <a:buNone/>
            </a:pPr>
            <a:r>
              <a:rPr lang="en-US" sz="1700" b="1" dirty="0">
                <a:solidFill>
                  <a:srgbClr val="274289"/>
                </a:solidFill>
              </a:rPr>
              <a:t>Stabilisasi</a:t>
            </a:r>
            <a:endParaRPr lang="en-US" sz="1700" dirty="0"/>
          </a:p>
        </p:txBody>
      </p:sp>
      <p:sp>
        <p:nvSpPr>
          <p:cNvPr id="21" name="Text 19"/>
          <p:cNvSpPr txBox="1"/>
          <p:nvPr/>
        </p:nvSpPr>
        <p:spPr>
          <a:xfrm>
            <a:off x="5257800" y="3703320"/>
            <a:ext cx="1691640" cy="1234440"/>
          </a:xfrm>
          <a:prstGeom prst="rect">
            <a:avLst/>
          </a:prstGeom>
          <a:noFill/>
          <a:ln/>
        </p:spPr>
        <p:txBody>
          <a:bodyPr wrap="square" lIns="0" tIns="0" rIns="0" bIns="0" rtlCol="0" anchor="t"/>
          <a:lstStyle/>
          <a:p>
            <a:pPr indent="0" marL="0">
              <a:buNone/>
            </a:pPr>
            <a:r>
              <a:rPr lang="en-US" sz="1250" dirty="0">
                <a:solidFill>
                  <a:srgbClr val="1B2437"/>
                </a:solidFill>
              </a:rPr>
              <a:t>Pemantauan transaksi dan sinkron SAP, penyesuaian kecil, pelatihan ulang bila perlu.</a:t>
            </a:r>
            <a:endParaRPr lang="en-US" sz="1250" dirty="0"/>
          </a:p>
        </p:txBody>
      </p:sp>
      <p:sp>
        <p:nvSpPr>
          <p:cNvPr id="22" name="Text 20"/>
          <p:cNvSpPr txBox="1"/>
          <p:nvPr/>
        </p:nvSpPr>
        <p:spPr>
          <a:xfrm>
            <a:off x="7269480" y="1691640"/>
            <a:ext cx="2057400" cy="320040"/>
          </a:xfrm>
          <a:prstGeom prst="rect">
            <a:avLst/>
          </a:prstGeom>
          <a:noFill/>
          <a:ln/>
        </p:spPr>
        <p:txBody>
          <a:bodyPr wrap="square" lIns="0" tIns="0" rIns="0" bIns="0" rtlCol="0" anchor="t"/>
          <a:lstStyle/>
          <a:p>
            <a:pPr algn="ctr" indent="0" marL="0">
              <a:buNone/>
            </a:pPr>
            <a:r>
              <a:rPr lang="en-US" sz="1300" b="1" dirty="0">
                <a:solidFill>
                  <a:srgbClr val="5B6B86"/>
                </a:solidFill>
              </a:rPr>
              <a:t>Desember 2026</a:t>
            </a:r>
            <a:endParaRPr lang="en-US" sz="1300" dirty="0"/>
          </a:p>
        </p:txBody>
      </p:sp>
      <p:sp>
        <p:nvSpPr>
          <p:cNvPr id="23" name="Titik Evaluasi"/>
          <p:cNvSpPr/>
          <p:nvPr/>
        </p:nvSpPr>
        <p:spPr>
          <a:xfrm>
            <a:off x="8133588" y="2167128"/>
            <a:ext cx="329184" cy="329184"/>
          </a:xfrm>
          <a:prstGeom prst="ellipse">
            <a:avLst/>
          </a:prstGeom>
          <a:solidFill>
            <a:srgbClr val="274289"/>
          </a:solidFill>
          <a:ln w="31750">
            <a:solidFill>
              <a:srgbClr val="FFFFFF"/>
            </a:solidFill>
            <a:prstDash val="solid"/>
          </a:ln>
        </p:spPr>
      </p:sp>
      <p:sp>
        <p:nvSpPr>
          <p:cNvPr id="24" name="Fase Evaluasi"/>
          <p:cNvSpPr/>
          <p:nvPr/>
        </p:nvSpPr>
        <p:spPr>
          <a:xfrm>
            <a:off x="7269480" y="2697480"/>
            <a:ext cx="2057400" cy="2331720"/>
          </a:xfrm>
          <a:prstGeom prst="roundRect">
            <a:avLst>
              <a:gd name="adj" fmla="val 5333"/>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5" name="Aksen"/>
          <p:cNvSpPr/>
          <p:nvPr/>
        </p:nvSpPr>
        <p:spPr>
          <a:xfrm>
            <a:off x="7452360" y="2880360"/>
            <a:ext cx="411480" cy="54864"/>
          </a:xfrm>
          <a:prstGeom prst="rect">
            <a:avLst/>
          </a:prstGeom>
          <a:solidFill>
            <a:srgbClr val="5AB4E5"/>
          </a:solidFill>
          <a:ln w="12700">
            <a:solidFill>
              <a:srgbClr val="5AB4E5"/>
            </a:solidFill>
            <a:prstDash val="solid"/>
          </a:ln>
        </p:spPr>
      </p:sp>
      <p:sp>
        <p:nvSpPr>
          <p:cNvPr id="26" name="Text 24"/>
          <p:cNvSpPr txBox="1"/>
          <p:nvPr/>
        </p:nvSpPr>
        <p:spPr>
          <a:xfrm>
            <a:off x="7452360" y="3017520"/>
            <a:ext cx="1691640" cy="685800"/>
          </a:xfrm>
          <a:prstGeom prst="rect">
            <a:avLst/>
          </a:prstGeom>
          <a:noFill/>
          <a:ln/>
        </p:spPr>
        <p:txBody>
          <a:bodyPr wrap="square" lIns="0" tIns="0" rIns="0" bIns="0" rtlCol="0" anchor="t"/>
          <a:lstStyle/>
          <a:p>
            <a:pPr indent="0" marL="0">
              <a:buNone/>
            </a:pPr>
            <a:r>
              <a:rPr lang="en-US" sz="1700" b="1" dirty="0">
                <a:solidFill>
                  <a:srgbClr val="274289"/>
                </a:solidFill>
              </a:rPr>
              <a:t>Evaluasi</a:t>
            </a:r>
            <a:endParaRPr lang="en-US" sz="1700" dirty="0"/>
          </a:p>
        </p:txBody>
      </p:sp>
      <p:sp>
        <p:nvSpPr>
          <p:cNvPr id="27" name="Text 25"/>
          <p:cNvSpPr txBox="1"/>
          <p:nvPr/>
        </p:nvSpPr>
        <p:spPr>
          <a:xfrm>
            <a:off x="7452360" y="3703320"/>
            <a:ext cx="1691640" cy="1234440"/>
          </a:xfrm>
          <a:prstGeom prst="rect">
            <a:avLst/>
          </a:prstGeom>
          <a:noFill/>
          <a:ln/>
        </p:spPr>
        <p:txBody>
          <a:bodyPr wrap="square" lIns="0" tIns="0" rIns="0" bIns="0" rtlCol="0" anchor="t"/>
          <a:lstStyle/>
          <a:p>
            <a:pPr indent="0" marL="0">
              <a:buNone/>
            </a:pPr>
            <a:r>
              <a:rPr lang="en-US" sz="1250" dirty="0">
                <a:solidFill>
                  <a:srgbClr val="1B2437"/>
                </a:solidFill>
              </a:rPr>
              <a:t>Laporan evaluasi kepada Direksi: penggunaan, stok, dan kecepatan persetujuan.</a:t>
            </a:r>
            <a:endParaRPr lang="en-US" sz="1250" dirty="0"/>
          </a:p>
        </p:txBody>
      </p:sp>
      <p:sp>
        <p:nvSpPr>
          <p:cNvPr id="28" name="Text 26"/>
          <p:cNvSpPr txBox="1"/>
          <p:nvPr/>
        </p:nvSpPr>
        <p:spPr>
          <a:xfrm>
            <a:off x="9464040" y="1691640"/>
            <a:ext cx="2057400" cy="320040"/>
          </a:xfrm>
          <a:prstGeom prst="rect">
            <a:avLst/>
          </a:prstGeom>
          <a:noFill/>
          <a:ln/>
        </p:spPr>
        <p:txBody>
          <a:bodyPr wrap="square" lIns="0" tIns="0" rIns="0" bIns="0" rtlCol="0" anchor="t"/>
          <a:lstStyle/>
          <a:p>
            <a:pPr algn="ctr" indent="0" marL="0">
              <a:buNone/>
            </a:pPr>
            <a:r>
              <a:rPr lang="en-US" sz="1300" b="1" dirty="0">
                <a:solidFill>
                  <a:srgbClr val="5B6B86"/>
                </a:solidFill>
              </a:rPr>
              <a:t>2027</a:t>
            </a:r>
            <a:endParaRPr lang="en-US" sz="1300" dirty="0"/>
          </a:p>
        </p:txBody>
      </p:sp>
      <p:sp>
        <p:nvSpPr>
          <p:cNvPr id="29" name="Titik Pengembangan lanjutan"/>
          <p:cNvSpPr/>
          <p:nvPr/>
        </p:nvSpPr>
        <p:spPr>
          <a:xfrm>
            <a:off x="10328148" y="2167128"/>
            <a:ext cx="329184" cy="329184"/>
          </a:xfrm>
          <a:prstGeom prst="ellipse">
            <a:avLst/>
          </a:prstGeom>
          <a:solidFill>
            <a:srgbClr val="274289"/>
          </a:solidFill>
          <a:ln w="31750">
            <a:solidFill>
              <a:srgbClr val="FFFFFF"/>
            </a:solidFill>
            <a:prstDash val="solid"/>
          </a:ln>
        </p:spPr>
      </p:sp>
      <p:sp>
        <p:nvSpPr>
          <p:cNvPr id="30" name="Fase Pengembangan lanjutan"/>
          <p:cNvSpPr/>
          <p:nvPr/>
        </p:nvSpPr>
        <p:spPr>
          <a:xfrm>
            <a:off x="9464040" y="2697480"/>
            <a:ext cx="2057400" cy="2331720"/>
          </a:xfrm>
          <a:prstGeom prst="roundRect">
            <a:avLst>
              <a:gd name="adj" fmla="val 5333"/>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1" name="Aksen"/>
          <p:cNvSpPr/>
          <p:nvPr/>
        </p:nvSpPr>
        <p:spPr>
          <a:xfrm>
            <a:off x="9646920" y="2880360"/>
            <a:ext cx="411480" cy="54864"/>
          </a:xfrm>
          <a:prstGeom prst="rect">
            <a:avLst/>
          </a:prstGeom>
          <a:solidFill>
            <a:srgbClr val="5AB4E5"/>
          </a:solidFill>
          <a:ln w="12700">
            <a:solidFill>
              <a:srgbClr val="5AB4E5"/>
            </a:solidFill>
            <a:prstDash val="solid"/>
          </a:ln>
        </p:spPr>
      </p:sp>
      <p:sp>
        <p:nvSpPr>
          <p:cNvPr id="32" name="Text 30"/>
          <p:cNvSpPr txBox="1"/>
          <p:nvPr/>
        </p:nvSpPr>
        <p:spPr>
          <a:xfrm>
            <a:off x="9646920" y="3017520"/>
            <a:ext cx="1691640" cy="685800"/>
          </a:xfrm>
          <a:prstGeom prst="rect">
            <a:avLst/>
          </a:prstGeom>
          <a:noFill/>
          <a:ln/>
        </p:spPr>
        <p:txBody>
          <a:bodyPr wrap="square" lIns="0" tIns="0" rIns="0" bIns="0" rtlCol="0" anchor="t"/>
          <a:lstStyle/>
          <a:p>
            <a:pPr indent="0" marL="0">
              <a:buNone/>
            </a:pPr>
            <a:r>
              <a:rPr lang="en-US" sz="1700" b="1" dirty="0">
                <a:solidFill>
                  <a:srgbClr val="274289"/>
                </a:solidFill>
              </a:rPr>
              <a:t>Pengembangan lanjutan</a:t>
            </a:r>
            <a:endParaRPr lang="en-US" sz="1700" dirty="0"/>
          </a:p>
        </p:txBody>
      </p:sp>
      <p:sp>
        <p:nvSpPr>
          <p:cNvPr id="33" name="Text 31"/>
          <p:cNvSpPr txBox="1"/>
          <p:nvPr/>
        </p:nvSpPr>
        <p:spPr>
          <a:xfrm>
            <a:off x="9646920" y="3703320"/>
            <a:ext cx="1691640" cy="1234440"/>
          </a:xfrm>
          <a:prstGeom prst="rect">
            <a:avLst/>
          </a:prstGeom>
          <a:noFill/>
          <a:ln/>
        </p:spPr>
        <p:txBody>
          <a:bodyPr wrap="square" lIns="0" tIns="0" rIns="0" bIns="0" rtlCol="0" anchor="t"/>
          <a:lstStyle/>
          <a:p>
            <a:pPr indent="0" marL="0">
              <a:buNone/>
            </a:pPr>
            <a:r>
              <a:rPr lang="en-US" sz="1250" dirty="0">
                <a:solidFill>
                  <a:srgbClr val="1B2437"/>
                </a:solidFill>
              </a:rPr>
              <a:t>Aktivasi retur dan kas keluar, serta kajian aplikasi kasir iOS.</a:t>
            </a:r>
            <a:endParaRPr lang="en-US" sz="1250" dirty="0"/>
          </a:p>
        </p:txBody>
      </p:sp>
      <p:sp>
        <p:nvSpPr>
          <p:cNvPr id="34" name="Text 32"/>
          <p:cNvSpPr txBox="1"/>
          <p:nvPr/>
        </p:nvSpPr>
        <p:spPr>
          <a:xfrm>
            <a:off x="1600200" y="5257800"/>
            <a:ext cx="9921240" cy="320040"/>
          </a:xfrm>
          <a:prstGeom prst="rect">
            <a:avLst/>
          </a:prstGeom>
          <a:noFill/>
          <a:ln/>
        </p:spPr>
        <p:txBody>
          <a:bodyPr wrap="square" lIns="0" tIns="0" rIns="0" bIns="0" rtlCol="0" anchor="t"/>
          <a:lstStyle/>
          <a:p>
            <a:pPr indent="0" marL="0">
              <a:buNone/>
            </a:pPr>
            <a:r>
              <a:rPr lang="en-US" sz="1200" i="1" dirty="0">
                <a:solidFill>
                  <a:srgbClr val="5B6B86"/>
                </a:solidFill>
              </a:rPr>
              <a:t>Jadwal di atas adalah usulan dan dapat disesuaikan dengan keputusan Direksi.</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2026-10-27T02:01:16Z</dcterms:created>
  <dcterms:modified xsi:type="dcterms:W3CDTF">2026-10-27T02:01:16Z</dcterms:modified>
</cp:coreProperties>
</file>