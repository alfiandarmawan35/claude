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246d58d-673d-62c2-343d-f44f0976fb23}">
          <p14:sldIdLst>
            <p14:sldId id="256"/>
          </p14:sldIdLst>
        </p14:section>
        <p14:section name="Aplikasi" id="{73ecabd6-a98c-efec-7b48-598297a97884}">
          <p14:sldIdLst>
            <p14:sldId id="257"/>
            <p14:sldId id="258"/>
            <p14:sldId id="259"/>
            <p14:sldId id="260"/>
            <p14:sldId id="261"/>
            <p14:sldId id="262"/>
          </p14:sldIdLst>
        </p14:section>
        <p14:section name="Penutup" id="{4dd4af8b-0a74-d759-b251-92137b15ef5f}">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dan P2, lalu dijual di kasir dan masuk SAP sebagai Delivery Order. Bila stok DC kurang, jalur pembelian berjalan: Purchase Request, Purchase Order ke vendor, dan GRPO saat barang tiba di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Approve PUR, Admin Purchase, dan Approve PO.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263140"/>
            <a:ext cx="160020" cy="0"/>
          </a:xfrm>
          <a:prstGeom prst="line">
            <a:avLst/>
          </a:prstGeom>
          <a:noFill/>
          <a:ln w="25400">
            <a:solidFill>
              <a:srgbClr val="3D6FC2"/>
            </a:solidFill>
            <a:prstDash val="solid"/>
            <a:tailEnd type="triangle"/>
          </a:ln>
        </p:spPr>
      </p:sp>
      <p:sp>
        <p:nvSpPr>
          <p:cNvPr id="6" name="Tahap Approve SO"/>
          <p:cNvSpPr/>
          <p:nvPr/>
        </p:nvSpPr>
        <p:spPr>
          <a:xfrm>
            <a:off x="2528316"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Approve SO</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83380" y="2263140"/>
            <a:ext cx="160020" cy="0"/>
          </a:xfrm>
          <a:prstGeom prst="line">
            <a:avLst/>
          </a:prstGeom>
          <a:noFill/>
          <a:ln w="25400">
            <a:solidFill>
              <a:srgbClr val="3D6FC2"/>
            </a:solidFill>
            <a:prstDash val="solid"/>
            <a:tailEnd type="triangle"/>
          </a:ln>
        </p:spPr>
      </p:sp>
      <p:sp>
        <p:nvSpPr>
          <p:cNvPr id="9" name="Dokumen SO"/>
          <p:cNvSpPr/>
          <p:nvPr/>
        </p:nvSpPr>
        <p:spPr>
          <a:xfrm>
            <a:off x="2958084" y="28163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263140"/>
            <a:ext cx="160020" cy="0"/>
          </a:xfrm>
          <a:prstGeom prst="line">
            <a:avLst/>
          </a:prstGeom>
          <a:noFill/>
          <a:ln w="25400">
            <a:solidFill>
              <a:srgbClr val="3D6FC2"/>
            </a:solidFill>
            <a:prstDash val="solid"/>
            <a:tailEnd type="triangle"/>
          </a:ln>
        </p:spPr>
      </p:sp>
      <p:sp>
        <p:nvSpPr>
          <p:cNvPr id="14" name="Tahap Transfer ke dek"/>
          <p:cNvSpPr/>
          <p:nvPr/>
        </p:nvSpPr>
        <p:spPr>
          <a:xfrm>
            <a:off x="6213348"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263140"/>
            <a:ext cx="160020" cy="0"/>
          </a:xfrm>
          <a:prstGeom prst="line">
            <a:avLst/>
          </a:prstGeom>
          <a:noFill/>
          <a:ln w="25400">
            <a:solidFill>
              <a:srgbClr val="3D6FC2"/>
            </a:solidFill>
            <a:prstDash val="solid"/>
            <a:tailEnd type="triangle"/>
          </a:ln>
        </p:spPr>
      </p:sp>
      <p:sp>
        <p:nvSpPr>
          <p:cNvPr id="17" name="Dokumen IT"/>
          <p:cNvSpPr/>
          <p:nvPr/>
        </p:nvSpPr>
        <p:spPr>
          <a:xfrm>
            <a:off x="6643116" y="28163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 · P2</a:t>
            </a:r>
            <a:endParaRPr lang="en-US" sz="1500" dirty="0"/>
          </a:p>
        </p:txBody>
      </p:sp>
      <p:sp>
        <p:nvSpPr>
          <p:cNvPr id="21" name="Panah alur"/>
          <p:cNvSpPr/>
          <p:nvPr/>
        </p:nvSpPr>
        <p:spPr>
          <a:xfrm>
            <a:off x="9710928" y="2263140"/>
            <a:ext cx="160020" cy="0"/>
          </a:xfrm>
          <a:prstGeom prst="line">
            <a:avLst/>
          </a:prstGeom>
          <a:noFill/>
          <a:ln w="25400">
            <a:solidFill>
              <a:srgbClr val="3D6FC2"/>
            </a:solidFill>
            <a:prstDash val="solid"/>
            <a:tailEnd type="triangle"/>
          </a:ln>
        </p:spPr>
      </p:sp>
      <p:sp>
        <p:nvSpPr>
          <p:cNvPr id="22" name="Tahap Jual di kasir"/>
          <p:cNvSpPr/>
          <p:nvPr/>
        </p:nvSpPr>
        <p:spPr>
          <a:xfrm>
            <a:off x="989838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28163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Text 24"/>
          <p:cNvSpPr txBox="1"/>
          <p:nvPr/>
        </p:nvSpPr>
        <p:spPr>
          <a:xfrm>
            <a:off x="685800" y="367588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27" name="Cabang pembelian"/>
          <p:cNvSpPr/>
          <p:nvPr/>
        </p:nvSpPr>
        <p:spPr>
          <a:xfrm>
            <a:off x="5184648" y="2743200"/>
            <a:ext cx="0" cy="640080"/>
          </a:xfrm>
          <a:prstGeom prst="line">
            <a:avLst/>
          </a:prstGeom>
          <a:noFill/>
          <a:ln w="25400">
            <a:solidFill>
              <a:srgbClr val="3D6FC2"/>
            </a:solidFill>
            <a:prstDash val="dash"/>
            <a:tailEnd type="triangle"/>
          </a:ln>
        </p:spPr>
      </p:sp>
      <p:sp>
        <p:nvSpPr>
          <p:cNvPr id="28" name="Cabang Purchase Request"/>
          <p:cNvSpPr/>
          <p:nvPr/>
        </p:nvSpPr>
        <p:spPr>
          <a:xfrm>
            <a:off x="4370832"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9" name="Text 27"/>
          <p:cNvSpPr txBox="1"/>
          <p:nvPr/>
        </p:nvSpPr>
        <p:spPr>
          <a:xfrm>
            <a:off x="4462272"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Request</a:t>
            </a:r>
            <a:endParaRPr lang="en-US" sz="1400" dirty="0"/>
          </a:p>
          <a:p>
            <a:pPr algn="ctr" indent="0" marL="0">
              <a:buNone/>
            </a:pPr>
            <a:r>
              <a:rPr lang="en-US" sz="1200" dirty="0">
                <a:solidFill>
                  <a:srgbClr val="5B6B86"/>
                </a:solidFill>
              </a:rPr>
              <a:t>Approve PUR</a:t>
            </a:r>
            <a:endParaRPr lang="en-US" sz="1400" dirty="0"/>
          </a:p>
        </p:txBody>
      </p:sp>
      <p:sp>
        <p:nvSpPr>
          <p:cNvPr id="30" name="Dokumen PR"/>
          <p:cNvSpPr/>
          <p:nvPr/>
        </p:nvSpPr>
        <p:spPr>
          <a:xfrm>
            <a:off x="4800600" y="4416552"/>
            <a:ext cx="768096" cy="310896"/>
          </a:xfrm>
          <a:prstGeom prst="roundRect">
            <a:avLst>
              <a:gd name="adj" fmla="val 23529"/>
            </a:avLst>
          </a:prstGeom>
          <a:solidFill>
            <a:srgbClr val="A87412"/>
          </a:solidFill>
          <a:ln w="12700">
            <a:solidFill>
              <a:srgbClr val="A87412"/>
            </a:solidFill>
            <a:prstDash val="solid"/>
          </a:ln>
        </p:spPr>
      </p:sp>
      <p:sp>
        <p:nvSpPr>
          <p:cNvPr id="31" name="Text 29"/>
          <p:cNvSpPr txBox="1"/>
          <p:nvPr/>
        </p:nvSpPr>
        <p:spPr>
          <a:xfrm>
            <a:off x="4800600"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2" name="Panah cabang"/>
          <p:cNvSpPr/>
          <p:nvPr/>
        </p:nvSpPr>
        <p:spPr>
          <a:xfrm>
            <a:off x="6025896" y="3863340"/>
            <a:ext cx="160020" cy="0"/>
          </a:xfrm>
          <a:prstGeom prst="line">
            <a:avLst/>
          </a:prstGeom>
          <a:noFill/>
          <a:ln w="25400">
            <a:solidFill>
              <a:srgbClr val="3D6FC2"/>
            </a:solidFill>
            <a:prstDash val="solid"/>
            <a:tailEnd type="triangle"/>
          </a:ln>
        </p:spPr>
      </p:sp>
      <p:sp>
        <p:nvSpPr>
          <p:cNvPr id="33" name="Cabang Purchase Order"/>
          <p:cNvSpPr/>
          <p:nvPr/>
        </p:nvSpPr>
        <p:spPr>
          <a:xfrm>
            <a:off x="6213348"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4" name="Text 32"/>
          <p:cNvSpPr txBox="1"/>
          <p:nvPr/>
        </p:nvSpPr>
        <p:spPr>
          <a:xfrm>
            <a:off x="6304788"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Order</a:t>
            </a:r>
            <a:endParaRPr lang="en-US" sz="1400" dirty="0"/>
          </a:p>
          <a:p>
            <a:pPr algn="ctr" indent="0" marL="0">
              <a:buNone/>
            </a:pPr>
            <a:r>
              <a:rPr lang="en-US" sz="1200" dirty="0">
                <a:solidFill>
                  <a:srgbClr val="5B6B86"/>
                </a:solidFill>
              </a:rPr>
              <a:t>Purchasing</a:t>
            </a:r>
            <a:endParaRPr lang="en-US" sz="1400" dirty="0"/>
          </a:p>
        </p:txBody>
      </p:sp>
      <p:sp>
        <p:nvSpPr>
          <p:cNvPr id="35" name="Dokumen PO"/>
          <p:cNvSpPr/>
          <p:nvPr/>
        </p:nvSpPr>
        <p:spPr>
          <a:xfrm>
            <a:off x="6643116" y="4416552"/>
            <a:ext cx="768096" cy="310896"/>
          </a:xfrm>
          <a:prstGeom prst="roundRect">
            <a:avLst>
              <a:gd name="adj" fmla="val 23529"/>
            </a:avLst>
          </a:prstGeom>
          <a:solidFill>
            <a:srgbClr val="C85A1C"/>
          </a:solidFill>
          <a:ln w="12700">
            <a:solidFill>
              <a:srgbClr val="C85A1C"/>
            </a:solidFill>
            <a:prstDash val="solid"/>
          </a:ln>
        </p:spPr>
      </p:sp>
      <p:sp>
        <p:nvSpPr>
          <p:cNvPr id="36" name="Text 34"/>
          <p:cNvSpPr txBox="1"/>
          <p:nvPr/>
        </p:nvSpPr>
        <p:spPr>
          <a:xfrm>
            <a:off x="6643116"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37" name="Panah cabang"/>
          <p:cNvSpPr/>
          <p:nvPr/>
        </p:nvSpPr>
        <p:spPr>
          <a:xfrm>
            <a:off x="7868412" y="3863340"/>
            <a:ext cx="160020" cy="0"/>
          </a:xfrm>
          <a:prstGeom prst="line">
            <a:avLst/>
          </a:prstGeom>
          <a:noFill/>
          <a:ln w="25400">
            <a:solidFill>
              <a:srgbClr val="3D6FC2"/>
            </a:solidFill>
            <a:prstDash val="solid"/>
            <a:tailEnd type="triangle"/>
          </a:ln>
        </p:spPr>
      </p:sp>
      <p:sp>
        <p:nvSpPr>
          <p:cNvPr id="38" name="Cabang Barang vendor tiba"/>
          <p:cNvSpPr/>
          <p:nvPr/>
        </p:nvSpPr>
        <p:spPr>
          <a:xfrm>
            <a:off x="8055864"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9" name="Text 37"/>
          <p:cNvSpPr txBox="1"/>
          <p:nvPr/>
        </p:nvSpPr>
        <p:spPr>
          <a:xfrm>
            <a:off x="8147304"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0" name="Dokumen GRPO"/>
          <p:cNvSpPr/>
          <p:nvPr/>
        </p:nvSpPr>
        <p:spPr>
          <a:xfrm>
            <a:off x="8485632" y="4416552"/>
            <a:ext cx="768096" cy="310896"/>
          </a:xfrm>
          <a:prstGeom prst="roundRect">
            <a:avLst>
              <a:gd name="adj" fmla="val 23529"/>
            </a:avLst>
          </a:prstGeom>
          <a:solidFill>
            <a:srgbClr val="7C68B8"/>
          </a:solidFill>
          <a:ln w="12700">
            <a:solidFill>
              <a:srgbClr val="7C68B8"/>
            </a:solidFill>
            <a:prstDash val="solid"/>
          </a:ln>
        </p:spPr>
      </p:sp>
      <p:sp>
        <p:nvSpPr>
          <p:cNvPr id="41" name="Text 39"/>
          <p:cNvSpPr txBox="1"/>
          <p:nvPr/>
        </p:nvSpPr>
        <p:spPr>
          <a:xfrm>
            <a:off x="8485632"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2" name="Kembali ke transfer"/>
          <p:cNvSpPr/>
          <p:nvPr/>
        </p:nvSpPr>
        <p:spPr>
          <a:xfrm>
            <a:off x="7027164" y="3172968"/>
            <a:ext cx="1842516" cy="210312"/>
          </a:xfrm>
          <a:prstGeom prst="line">
            <a:avLst/>
          </a:prstGeom>
          <a:noFill/>
          <a:ln w="25400">
            <a:solidFill>
              <a:srgbClr val="3D6FC2"/>
            </a:solidFill>
            <a:prstDash val="dash"/>
            <a:headEnd type="triangle"/>
          </a:ln>
        </p:spPr>
      </p:sp>
      <p:sp>
        <p:nvSpPr>
          <p:cNvPr id="43" name="Kesimpulan alur"/>
          <p:cNvSpPr/>
          <p:nvPr/>
        </p:nvSpPr>
        <p:spPr>
          <a:xfrm>
            <a:off x="1600200" y="5074920"/>
            <a:ext cx="9921240" cy="731520"/>
          </a:xfrm>
          <a:prstGeom prst="roundRect">
            <a:avLst>
              <a:gd name="adj" fmla="val 15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4" name="Text 42"/>
          <p:cNvSpPr txBox="1"/>
          <p:nvPr/>
        </p:nvSpPr>
        <p:spPr>
          <a:xfrm>
            <a:off x="1874520" y="5074920"/>
            <a:ext cx="9464040" cy="731520"/>
          </a:xfrm>
          <a:prstGeom prst="rect">
            <a:avLst/>
          </a:prstGeom>
          <a:noFill/>
          <a:ln/>
        </p:spPr>
        <p:txBody>
          <a:bodyPr wrap="square" lIns="0" tIns="0" rIns="0" bIns="0" rtlCol="0" anchor="ctr"/>
          <a:lstStyle/>
          <a:p>
            <a:pPr indent="0" marL="0">
              <a:buNone/>
            </a:pPr>
            <a:r>
              <a:rPr lang="en-US" sz="1500" b="1" dirty="0">
                <a:solidFill>
                  <a:srgbClr val="274289"/>
                </a:solidFill>
              </a:rPr>
              <a:t>6 jenis dokumen SAP dibuat otomatis: </a:t>
            </a:r>
            <a:pPr indent="0" marL="0">
              <a:buNone/>
            </a:pPr>
            <a:r>
              <a:rPr lang="en-US" sz="1500" dirty="0">
                <a:solidFill>
                  <a:srgbClr val="1B2437"/>
                </a:solidFill>
              </a:rPr>
              <a:t>SO, PR, PO, GRPO, IT, dan DO, tanpa input ulang.</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DO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jadi Sales Order</a:t>
            </a:r>
            <a:endParaRPr lang="en-US" sz="1500" dirty="0"/>
          </a:p>
        </p:txBody>
      </p:sp>
      <p:sp>
        <p:nvSpPr>
          <p:cNvPr id="17" name="Peran Approve PUR"/>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a:t>
            </a:r>
            <a:endParaRPr lang="en-US" sz="1500" dirty="0"/>
          </a:p>
          <a:p>
            <a:pPr indent="0" marL="0">
              <a:buNone/>
            </a:pPr>
            <a:r>
              <a:rPr lang="en-US" sz="1200" dirty="0">
                <a:solidFill>
                  <a:srgbClr val="5B6B86"/>
                </a:solidFill>
              </a:rPr>
              <a:t>Setujui PR, GRPO, dan transfer</a:t>
            </a:r>
            <a:endParaRPr lang="en-US" sz="1500" dirty="0"/>
          </a:p>
        </p:txBody>
      </p:sp>
      <p:sp>
        <p:nvSpPr>
          <p:cNvPr id="19" name="Peran Admin Purchase"/>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O"/>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a:t>
            </a:r>
            <a:endParaRPr lang="en-US" sz="1500" dirty="0"/>
          </a:p>
          <a:p>
            <a:pPr indent="0" marL="0">
              <a:buNone/>
            </a:pPr>
            <a:r>
              <a:rPr lang="en-US" sz="1200" dirty="0">
                <a:solidFill>
                  <a:srgbClr val="5B6B86"/>
                </a:solidFill>
              </a:rPr>
              <a:t>Setujui Purchase Order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GRPO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DO</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DO.</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2026-10-26T08:18:59Z</dcterms:created>
  <dcterms:modified xsi:type="dcterms:W3CDTF">2026-10-26T08:18:59Z</dcterms:modified>
</cp:coreProperties>
</file>