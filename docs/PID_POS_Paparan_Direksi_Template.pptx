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7ee4df1e-e647-c914-c2d0-95a46013e39a}">
          <p14:sldIdLst>
            <p14:sldId id="256"/>
          </p14:sldIdLst>
        </p14:section>
        <p14:section name="Aplikasi" id="{80a5c0d5-7884-bc11-a976-b034a9a16899}">
          <p14:sldIdLst>
            <p14:sldId id="257"/>
            <p14:sldId id="258"/>
            <p14:sldId id="259"/>
            <p14:sldId id="260"/>
            <p14:sldId id="261"/>
            <p14:sldId id="262"/>
            <p14:sldId id="263"/>
          </p14:sldIdLst>
        </p14:section>
        <p14:section name="Penutup" id="{e6694273-b787-15a7-be2e-19fd6a1cbab2}">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keunggulan, dan batasannya saat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Distribution Center atau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lalu dijual di kasir dan masuk SAP sebagai Delivery Order. Bila stok DC kurang, jalur pembelian berjalan: Purchase Request, Purchase Order ke vendor, dan Goods Receipt PO (GRPO) saat barang tiba di DC. Alur ini berulang: setelah barang terjual dan stok dek menipis, kapal memesan lagi ke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SO oleh P2, Approve PUR oleh Pergudangan, serta Approve PO dan Admin PO oleh Purchasing.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setiap persetujuan tercatat lengkap dengan siapa dan kapan.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dua batasan PID POS saat ini. Pertama, aplikasi web dan kasir memerlukan koneksi internet, jadi kapal, DC, dan kantor pusat perlu terhubung saat aplikasi dipakai. Kedua, aplikasi kasir baru tersedia di Android; versi iOS untuk iPhone dan iPad belum tersedia, jadi perangkat kasir di setiap dek perlu memakai Android.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Distribution Center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491740"/>
            <a:ext cx="160020" cy="0"/>
          </a:xfrm>
          <a:prstGeom prst="line">
            <a:avLst/>
          </a:prstGeom>
          <a:noFill/>
          <a:ln w="25400">
            <a:solidFill>
              <a:srgbClr val="3D6FC2"/>
            </a:solidFill>
            <a:prstDash val="solid"/>
            <a:tailEnd type="triangle"/>
          </a:ln>
        </p:spPr>
      </p:sp>
      <p:sp>
        <p:nvSpPr>
          <p:cNvPr id="6" name="Tahap Persetujuan permintaan"/>
          <p:cNvSpPr/>
          <p:nvPr/>
        </p:nvSpPr>
        <p:spPr>
          <a:xfrm>
            <a:off x="2528316"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Persetujuan permintaan</a:t>
            </a:r>
            <a:endParaRPr lang="en-US" sz="1500" dirty="0"/>
          </a:p>
          <a:p>
            <a:pPr algn="ctr" indent="0" marL="0">
              <a:buNone/>
            </a:pPr>
            <a:r>
              <a:rPr lang="en-US" sz="1200" dirty="0">
                <a:solidFill>
                  <a:srgbClr val="5B6B86"/>
                </a:solidFill>
              </a:rPr>
              <a:t>Kantor pusat · P2</a:t>
            </a:r>
            <a:endParaRPr lang="en-US" sz="1500" dirty="0"/>
          </a:p>
        </p:txBody>
      </p:sp>
      <p:sp>
        <p:nvSpPr>
          <p:cNvPr id="8" name="Panah alur"/>
          <p:cNvSpPr/>
          <p:nvPr/>
        </p:nvSpPr>
        <p:spPr>
          <a:xfrm>
            <a:off x="4183380" y="2491740"/>
            <a:ext cx="160020" cy="0"/>
          </a:xfrm>
          <a:prstGeom prst="line">
            <a:avLst/>
          </a:prstGeom>
          <a:noFill/>
          <a:ln w="25400">
            <a:solidFill>
              <a:srgbClr val="3D6FC2"/>
            </a:solidFill>
            <a:prstDash val="solid"/>
            <a:tailEnd type="triangle"/>
          </a:ln>
        </p:spPr>
      </p:sp>
      <p:sp>
        <p:nvSpPr>
          <p:cNvPr id="9" name="Dokumen SO"/>
          <p:cNvSpPr/>
          <p:nvPr/>
        </p:nvSpPr>
        <p:spPr>
          <a:xfrm>
            <a:off x="2958084" y="30449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491740"/>
            <a:ext cx="160020" cy="0"/>
          </a:xfrm>
          <a:prstGeom prst="line">
            <a:avLst/>
          </a:prstGeom>
          <a:noFill/>
          <a:ln w="25400">
            <a:solidFill>
              <a:srgbClr val="3D6FC2"/>
            </a:solidFill>
            <a:prstDash val="solid"/>
            <a:tailEnd type="triangle"/>
          </a:ln>
        </p:spPr>
      </p:sp>
      <p:sp>
        <p:nvSpPr>
          <p:cNvPr id="14" name="Tahap Transfer ke dek"/>
          <p:cNvSpPr/>
          <p:nvPr/>
        </p:nvSpPr>
        <p:spPr>
          <a:xfrm>
            <a:off x="6213348"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491740"/>
            <a:ext cx="160020" cy="0"/>
          </a:xfrm>
          <a:prstGeom prst="line">
            <a:avLst/>
          </a:prstGeom>
          <a:noFill/>
          <a:ln w="25400">
            <a:solidFill>
              <a:srgbClr val="3D6FC2"/>
            </a:solidFill>
            <a:prstDash val="solid"/>
            <a:tailEnd type="triangle"/>
          </a:ln>
        </p:spPr>
      </p:sp>
      <p:sp>
        <p:nvSpPr>
          <p:cNvPr id="17" name="Dokumen IT"/>
          <p:cNvSpPr/>
          <p:nvPr/>
        </p:nvSpPr>
        <p:spPr>
          <a:xfrm>
            <a:off x="6643116" y="30449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a:t>
            </a:r>
            <a:endParaRPr lang="en-US" sz="1500" dirty="0"/>
          </a:p>
        </p:txBody>
      </p:sp>
      <p:sp>
        <p:nvSpPr>
          <p:cNvPr id="21" name="Panah alur"/>
          <p:cNvSpPr/>
          <p:nvPr/>
        </p:nvSpPr>
        <p:spPr>
          <a:xfrm>
            <a:off x="9710928" y="2491740"/>
            <a:ext cx="160020" cy="0"/>
          </a:xfrm>
          <a:prstGeom prst="line">
            <a:avLst/>
          </a:prstGeom>
          <a:noFill/>
          <a:ln w="25400">
            <a:solidFill>
              <a:srgbClr val="3D6FC2"/>
            </a:solidFill>
            <a:prstDash val="solid"/>
            <a:tailEnd type="triangle"/>
          </a:ln>
        </p:spPr>
      </p:sp>
      <p:sp>
        <p:nvSpPr>
          <p:cNvPr id="22" name="Tahap Jual di kasir"/>
          <p:cNvSpPr/>
          <p:nvPr/>
        </p:nvSpPr>
        <p:spPr>
          <a:xfrm>
            <a:off x="989838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30449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Siklus ulang"/>
          <p:cNvSpPr/>
          <p:nvPr/>
        </p:nvSpPr>
        <p:spPr>
          <a:xfrm>
            <a:off x="1499616" y="1737360"/>
            <a:ext cx="9212580" cy="0"/>
          </a:xfrm>
          <a:prstGeom prst="line">
            <a:avLst/>
          </a:prstGeom>
          <a:noFill/>
          <a:ln w="28575">
            <a:solidFill>
              <a:srgbClr val="5AB4E5"/>
            </a:solidFill>
            <a:prstDash val="solid"/>
          </a:ln>
        </p:spPr>
      </p:sp>
      <p:sp>
        <p:nvSpPr>
          <p:cNvPr id="27" name="Siklus ulang dari kasir"/>
          <p:cNvSpPr/>
          <p:nvPr/>
        </p:nvSpPr>
        <p:spPr>
          <a:xfrm>
            <a:off x="10712196" y="1737360"/>
            <a:ext cx="0" cy="274320"/>
          </a:xfrm>
          <a:prstGeom prst="line">
            <a:avLst/>
          </a:prstGeom>
          <a:noFill/>
          <a:ln w="28575">
            <a:solidFill>
              <a:srgbClr val="5AB4E5"/>
            </a:solidFill>
            <a:prstDash val="solid"/>
          </a:ln>
        </p:spPr>
      </p:sp>
      <p:sp>
        <p:nvSpPr>
          <p:cNvPr id="28" name="Siklus ulang ke pesan"/>
          <p:cNvSpPr/>
          <p:nvPr/>
        </p:nvSpPr>
        <p:spPr>
          <a:xfrm>
            <a:off x="1499616" y="1737360"/>
            <a:ext cx="0" cy="256032"/>
          </a:xfrm>
          <a:prstGeom prst="line">
            <a:avLst/>
          </a:prstGeom>
          <a:noFill/>
          <a:ln w="28575">
            <a:solidFill>
              <a:srgbClr val="5AB4E5"/>
            </a:solidFill>
            <a:prstDash val="solid"/>
            <a:tailEnd type="triangle"/>
          </a:ln>
        </p:spPr>
      </p:sp>
      <p:sp>
        <p:nvSpPr>
          <p:cNvPr id="29" name="Text 27"/>
          <p:cNvSpPr txBox="1"/>
          <p:nvPr/>
        </p:nvSpPr>
        <p:spPr>
          <a:xfrm>
            <a:off x="4023360" y="1581912"/>
            <a:ext cx="4206240" cy="310896"/>
          </a:xfrm>
          <a:prstGeom prst="rect">
            <a:avLst/>
          </a:prstGeom>
          <a:solidFill>
            <a:srgbClr val="FFFFFF"/>
          </a:solidFill>
          <a:ln/>
        </p:spPr>
        <p:txBody>
          <a:bodyPr wrap="square" lIns="0" tIns="0" rIns="0" bIns="0" rtlCol="0" anchor="ctr"/>
          <a:lstStyle/>
          <a:p>
            <a:pPr algn="ctr" indent="0" marL="0">
              <a:buNone/>
            </a:pPr>
            <a:r>
              <a:rPr lang="en-US" sz="1200" b="1" dirty="0">
                <a:solidFill>
                  <a:srgbClr val="5AB4E5"/>
                </a:solidFill>
              </a:rPr>
              <a:t>↻  Stok dek menipis: kapal memesan lagi ke DC</a:t>
            </a:r>
            <a:endParaRPr lang="en-US" sz="1200" dirty="0"/>
          </a:p>
        </p:txBody>
      </p:sp>
      <p:sp>
        <p:nvSpPr>
          <p:cNvPr id="30" name="Text 28"/>
          <p:cNvSpPr txBox="1"/>
          <p:nvPr/>
        </p:nvSpPr>
        <p:spPr>
          <a:xfrm>
            <a:off x="685800" y="385876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31" name="Cabang pembelian"/>
          <p:cNvSpPr/>
          <p:nvPr/>
        </p:nvSpPr>
        <p:spPr>
          <a:xfrm>
            <a:off x="5184648" y="2971800"/>
            <a:ext cx="0" cy="594360"/>
          </a:xfrm>
          <a:prstGeom prst="line">
            <a:avLst/>
          </a:prstGeom>
          <a:noFill/>
          <a:ln w="25400">
            <a:solidFill>
              <a:srgbClr val="3D6FC2"/>
            </a:solidFill>
            <a:prstDash val="dash"/>
            <a:tailEnd type="triangle"/>
          </a:ln>
        </p:spPr>
      </p:sp>
      <p:sp>
        <p:nvSpPr>
          <p:cNvPr id="32" name="Cabang Permintaan pembelian"/>
          <p:cNvSpPr/>
          <p:nvPr/>
        </p:nvSpPr>
        <p:spPr>
          <a:xfrm>
            <a:off x="4370832"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3" name="Text 31"/>
          <p:cNvSpPr txBox="1"/>
          <p:nvPr/>
        </p:nvSpPr>
        <p:spPr>
          <a:xfrm>
            <a:off x="4462272"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Permintaan pembelian</a:t>
            </a:r>
            <a:endParaRPr lang="en-US" sz="1400" dirty="0"/>
          </a:p>
          <a:p>
            <a:pPr algn="ctr" indent="0" marL="0">
              <a:buNone/>
            </a:pPr>
            <a:r>
              <a:rPr lang="en-US" sz="1200" dirty="0">
                <a:solidFill>
                  <a:srgbClr val="5B6B86"/>
                </a:solidFill>
              </a:rPr>
              <a:t>Pergudangan</a:t>
            </a:r>
            <a:endParaRPr lang="en-US" sz="1400" dirty="0"/>
          </a:p>
        </p:txBody>
      </p:sp>
      <p:sp>
        <p:nvSpPr>
          <p:cNvPr id="34" name="Dokumen PR"/>
          <p:cNvSpPr/>
          <p:nvPr/>
        </p:nvSpPr>
        <p:spPr>
          <a:xfrm>
            <a:off x="4800600" y="4599432"/>
            <a:ext cx="768096" cy="310896"/>
          </a:xfrm>
          <a:prstGeom prst="roundRect">
            <a:avLst>
              <a:gd name="adj" fmla="val 23529"/>
            </a:avLst>
          </a:prstGeom>
          <a:solidFill>
            <a:srgbClr val="A87412"/>
          </a:solidFill>
          <a:ln w="12700">
            <a:solidFill>
              <a:srgbClr val="A87412"/>
            </a:solidFill>
            <a:prstDash val="solid"/>
          </a:ln>
        </p:spPr>
      </p:sp>
      <p:sp>
        <p:nvSpPr>
          <p:cNvPr id="35" name="Text 33"/>
          <p:cNvSpPr txBox="1"/>
          <p:nvPr/>
        </p:nvSpPr>
        <p:spPr>
          <a:xfrm>
            <a:off x="4800600"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6" name="Panah cabang"/>
          <p:cNvSpPr/>
          <p:nvPr/>
        </p:nvSpPr>
        <p:spPr>
          <a:xfrm>
            <a:off x="6025896" y="4046220"/>
            <a:ext cx="160020" cy="0"/>
          </a:xfrm>
          <a:prstGeom prst="line">
            <a:avLst/>
          </a:prstGeom>
          <a:noFill/>
          <a:ln w="25400">
            <a:solidFill>
              <a:srgbClr val="3D6FC2"/>
            </a:solidFill>
            <a:prstDash val="solid"/>
            <a:tailEnd type="triangle"/>
          </a:ln>
        </p:spPr>
      </p:sp>
      <p:sp>
        <p:nvSpPr>
          <p:cNvPr id="37" name="Cabang Pesanan ke vendor"/>
          <p:cNvSpPr/>
          <p:nvPr/>
        </p:nvSpPr>
        <p:spPr>
          <a:xfrm>
            <a:off x="6213348"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8" name="Text 36"/>
          <p:cNvSpPr txBox="1"/>
          <p:nvPr/>
        </p:nvSpPr>
        <p:spPr>
          <a:xfrm>
            <a:off x="6304788"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Pesanan ke vendor</a:t>
            </a:r>
            <a:endParaRPr lang="en-US" sz="1400" dirty="0"/>
          </a:p>
          <a:p>
            <a:pPr algn="ctr" indent="0" marL="0">
              <a:buNone/>
            </a:pPr>
            <a:r>
              <a:rPr lang="en-US" sz="1200" dirty="0">
                <a:solidFill>
                  <a:srgbClr val="5B6B86"/>
                </a:solidFill>
              </a:rPr>
              <a:t>Purchasing</a:t>
            </a:r>
            <a:endParaRPr lang="en-US" sz="1400" dirty="0"/>
          </a:p>
        </p:txBody>
      </p:sp>
      <p:sp>
        <p:nvSpPr>
          <p:cNvPr id="39" name="Dokumen PO"/>
          <p:cNvSpPr/>
          <p:nvPr/>
        </p:nvSpPr>
        <p:spPr>
          <a:xfrm>
            <a:off x="6643116" y="4599432"/>
            <a:ext cx="768096" cy="310896"/>
          </a:xfrm>
          <a:prstGeom prst="roundRect">
            <a:avLst>
              <a:gd name="adj" fmla="val 23529"/>
            </a:avLst>
          </a:prstGeom>
          <a:solidFill>
            <a:srgbClr val="C85A1C"/>
          </a:solidFill>
          <a:ln w="12700">
            <a:solidFill>
              <a:srgbClr val="C85A1C"/>
            </a:solidFill>
            <a:prstDash val="solid"/>
          </a:ln>
        </p:spPr>
      </p:sp>
      <p:sp>
        <p:nvSpPr>
          <p:cNvPr id="40" name="Text 38"/>
          <p:cNvSpPr txBox="1"/>
          <p:nvPr/>
        </p:nvSpPr>
        <p:spPr>
          <a:xfrm>
            <a:off x="6643116"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41" name="Panah cabang"/>
          <p:cNvSpPr/>
          <p:nvPr/>
        </p:nvSpPr>
        <p:spPr>
          <a:xfrm>
            <a:off x="7868412" y="4046220"/>
            <a:ext cx="160020" cy="0"/>
          </a:xfrm>
          <a:prstGeom prst="line">
            <a:avLst/>
          </a:prstGeom>
          <a:noFill/>
          <a:ln w="25400">
            <a:solidFill>
              <a:srgbClr val="3D6FC2"/>
            </a:solidFill>
            <a:prstDash val="solid"/>
            <a:tailEnd type="triangle"/>
          </a:ln>
        </p:spPr>
      </p:sp>
      <p:sp>
        <p:nvSpPr>
          <p:cNvPr id="42" name="Cabang Barang vendor tiba"/>
          <p:cNvSpPr/>
          <p:nvPr/>
        </p:nvSpPr>
        <p:spPr>
          <a:xfrm>
            <a:off x="8055864"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3" name="Text 41"/>
          <p:cNvSpPr txBox="1"/>
          <p:nvPr/>
        </p:nvSpPr>
        <p:spPr>
          <a:xfrm>
            <a:off x="8147304"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4" name="Dokumen GRPO"/>
          <p:cNvSpPr/>
          <p:nvPr/>
        </p:nvSpPr>
        <p:spPr>
          <a:xfrm>
            <a:off x="8485632" y="4599432"/>
            <a:ext cx="768096" cy="310896"/>
          </a:xfrm>
          <a:prstGeom prst="roundRect">
            <a:avLst>
              <a:gd name="adj" fmla="val 23529"/>
            </a:avLst>
          </a:prstGeom>
          <a:solidFill>
            <a:srgbClr val="7C68B8"/>
          </a:solidFill>
          <a:ln w="12700">
            <a:solidFill>
              <a:srgbClr val="7C68B8"/>
            </a:solidFill>
            <a:prstDash val="solid"/>
          </a:ln>
        </p:spPr>
      </p:sp>
      <p:sp>
        <p:nvSpPr>
          <p:cNvPr id="45" name="Text 43"/>
          <p:cNvSpPr txBox="1"/>
          <p:nvPr/>
        </p:nvSpPr>
        <p:spPr>
          <a:xfrm>
            <a:off x="8485632"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6" name="Kembali ke transfer"/>
          <p:cNvSpPr/>
          <p:nvPr/>
        </p:nvSpPr>
        <p:spPr>
          <a:xfrm>
            <a:off x="7027164" y="3401568"/>
            <a:ext cx="1842516" cy="164592"/>
          </a:xfrm>
          <a:prstGeom prst="line">
            <a:avLst/>
          </a:prstGeom>
          <a:noFill/>
          <a:ln w="25400">
            <a:solidFill>
              <a:srgbClr val="3D6FC2"/>
            </a:solidFill>
            <a:prstDash val="dash"/>
            <a:headEnd type="triangle"/>
          </a:ln>
        </p:spPr>
      </p:sp>
      <p:sp>
        <p:nvSpPr>
          <p:cNvPr id="47" name="Keterangan dokumen SAP"/>
          <p:cNvSpPr/>
          <p:nvPr/>
        </p:nvSpPr>
        <p:spPr>
          <a:xfrm>
            <a:off x="1600200" y="5010912"/>
            <a:ext cx="9921240" cy="109728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8" name="Text 46"/>
          <p:cNvSpPr txBox="1"/>
          <p:nvPr/>
        </p:nvSpPr>
        <p:spPr>
          <a:xfrm>
            <a:off x="1828800" y="5056632"/>
            <a:ext cx="5486400" cy="274320"/>
          </a:xfrm>
          <a:prstGeom prst="rect">
            <a:avLst/>
          </a:prstGeom>
          <a:noFill/>
          <a:ln/>
        </p:spPr>
        <p:txBody>
          <a:bodyPr wrap="square" lIns="0" tIns="0" rIns="0" bIns="0" rtlCol="0" anchor="t"/>
          <a:lstStyle/>
          <a:p>
            <a:pPr indent="0" marL="0">
              <a:buNone/>
            </a:pPr>
            <a:r>
              <a:rPr lang="en-US" sz="1300" b="1" dirty="0">
                <a:solidFill>
                  <a:srgbClr val="274289"/>
                </a:solidFill>
              </a:rPr>
              <a:t>Dokumen SAP yang dibuat otomatis:</a:t>
            </a:r>
            <a:endParaRPr lang="en-US" sz="1300" dirty="0"/>
          </a:p>
        </p:txBody>
      </p:sp>
      <p:sp>
        <p:nvSpPr>
          <p:cNvPr id="49" name="Keterangan SO"/>
          <p:cNvSpPr/>
          <p:nvPr/>
        </p:nvSpPr>
        <p:spPr>
          <a:xfrm>
            <a:off x="1828800" y="5376672"/>
            <a:ext cx="658368" cy="274320"/>
          </a:xfrm>
          <a:prstGeom prst="roundRect">
            <a:avLst>
              <a:gd name="adj" fmla="val 20000"/>
            </a:avLst>
          </a:prstGeom>
          <a:solidFill>
            <a:srgbClr val="4A8A3C"/>
          </a:solidFill>
          <a:ln w="12700">
            <a:solidFill>
              <a:srgbClr val="4A8A3C"/>
            </a:solidFill>
            <a:prstDash val="solid"/>
          </a:ln>
        </p:spPr>
      </p:sp>
      <p:sp>
        <p:nvSpPr>
          <p:cNvPr id="50" name="Text 48"/>
          <p:cNvSpPr txBox="1"/>
          <p:nvPr/>
        </p:nvSpPr>
        <p:spPr>
          <a:xfrm>
            <a:off x="182880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SO</a:t>
            </a:r>
            <a:endParaRPr lang="en-US" sz="1100" dirty="0"/>
          </a:p>
        </p:txBody>
      </p:sp>
      <p:sp>
        <p:nvSpPr>
          <p:cNvPr id="51" name="Text 49"/>
          <p:cNvSpPr txBox="1"/>
          <p:nvPr/>
        </p:nvSpPr>
        <p:spPr>
          <a:xfrm>
            <a:off x="257860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Sales Order</a:t>
            </a:r>
            <a:pPr indent="0" marL="0">
              <a:buNone/>
            </a:pPr>
            <a:r>
              <a:rPr lang="en-US" sz="1200" dirty="0">
                <a:solidFill>
                  <a:srgbClr val="5B6B86"/>
                </a:solidFill>
              </a:rPr>
              <a:t> · pesanan per dek</a:t>
            </a:r>
            <a:endParaRPr lang="en-US" sz="1200" dirty="0"/>
          </a:p>
        </p:txBody>
      </p:sp>
      <p:sp>
        <p:nvSpPr>
          <p:cNvPr id="52" name="Keterangan PR"/>
          <p:cNvSpPr/>
          <p:nvPr/>
        </p:nvSpPr>
        <p:spPr>
          <a:xfrm>
            <a:off x="5074920" y="5376672"/>
            <a:ext cx="658368" cy="274320"/>
          </a:xfrm>
          <a:prstGeom prst="roundRect">
            <a:avLst>
              <a:gd name="adj" fmla="val 20000"/>
            </a:avLst>
          </a:prstGeom>
          <a:solidFill>
            <a:srgbClr val="A87412"/>
          </a:solidFill>
          <a:ln w="12700">
            <a:solidFill>
              <a:srgbClr val="A87412"/>
            </a:solidFill>
            <a:prstDash val="solid"/>
          </a:ln>
        </p:spPr>
      </p:sp>
      <p:sp>
        <p:nvSpPr>
          <p:cNvPr id="53" name="Text 51"/>
          <p:cNvSpPr txBox="1"/>
          <p:nvPr/>
        </p:nvSpPr>
        <p:spPr>
          <a:xfrm>
            <a:off x="507492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PR</a:t>
            </a:r>
            <a:endParaRPr lang="en-US" sz="1100" dirty="0"/>
          </a:p>
        </p:txBody>
      </p:sp>
      <p:sp>
        <p:nvSpPr>
          <p:cNvPr id="54" name="Text 52"/>
          <p:cNvSpPr txBox="1"/>
          <p:nvPr/>
        </p:nvSpPr>
        <p:spPr>
          <a:xfrm>
            <a:off x="582472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Request</a:t>
            </a:r>
            <a:pPr indent="0" marL="0">
              <a:buNone/>
            </a:pPr>
            <a:r>
              <a:rPr lang="en-US" sz="1200" dirty="0">
                <a:solidFill>
                  <a:srgbClr val="5B6B86"/>
                </a:solidFill>
              </a:rPr>
              <a:t> · permintaan pembelian</a:t>
            </a:r>
            <a:endParaRPr lang="en-US" sz="1200" dirty="0"/>
          </a:p>
        </p:txBody>
      </p:sp>
      <p:sp>
        <p:nvSpPr>
          <p:cNvPr id="55" name="Keterangan PO"/>
          <p:cNvSpPr/>
          <p:nvPr/>
        </p:nvSpPr>
        <p:spPr>
          <a:xfrm>
            <a:off x="8321040" y="5376672"/>
            <a:ext cx="658368" cy="274320"/>
          </a:xfrm>
          <a:prstGeom prst="roundRect">
            <a:avLst>
              <a:gd name="adj" fmla="val 20000"/>
            </a:avLst>
          </a:prstGeom>
          <a:solidFill>
            <a:srgbClr val="C85A1C"/>
          </a:solidFill>
          <a:ln w="12700">
            <a:solidFill>
              <a:srgbClr val="C85A1C"/>
            </a:solidFill>
            <a:prstDash val="solid"/>
          </a:ln>
        </p:spPr>
      </p:sp>
      <p:sp>
        <p:nvSpPr>
          <p:cNvPr id="56" name="Text 54"/>
          <p:cNvSpPr txBox="1"/>
          <p:nvPr/>
        </p:nvSpPr>
        <p:spPr>
          <a:xfrm>
            <a:off x="832104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PO</a:t>
            </a:r>
            <a:endParaRPr lang="en-US" sz="1100" dirty="0"/>
          </a:p>
        </p:txBody>
      </p:sp>
      <p:sp>
        <p:nvSpPr>
          <p:cNvPr id="57" name="Text 55"/>
          <p:cNvSpPr txBox="1"/>
          <p:nvPr/>
        </p:nvSpPr>
        <p:spPr>
          <a:xfrm>
            <a:off x="907084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Order</a:t>
            </a:r>
            <a:pPr indent="0" marL="0">
              <a:buNone/>
            </a:pPr>
            <a:r>
              <a:rPr lang="en-US" sz="1200" dirty="0">
                <a:solidFill>
                  <a:srgbClr val="5B6B86"/>
                </a:solidFill>
              </a:rPr>
              <a:t> · pesanan ke vendor</a:t>
            </a:r>
            <a:endParaRPr lang="en-US" sz="1200" dirty="0"/>
          </a:p>
        </p:txBody>
      </p:sp>
      <p:sp>
        <p:nvSpPr>
          <p:cNvPr id="58" name="Keterangan GRPO"/>
          <p:cNvSpPr/>
          <p:nvPr/>
        </p:nvSpPr>
        <p:spPr>
          <a:xfrm>
            <a:off x="1828800" y="5724144"/>
            <a:ext cx="658368" cy="274320"/>
          </a:xfrm>
          <a:prstGeom prst="roundRect">
            <a:avLst>
              <a:gd name="adj" fmla="val 20000"/>
            </a:avLst>
          </a:prstGeom>
          <a:solidFill>
            <a:srgbClr val="7C68B8"/>
          </a:solidFill>
          <a:ln w="12700">
            <a:solidFill>
              <a:srgbClr val="7C68B8"/>
            </a:solidFill>
            <a:prstDash val="solid"/>
          </a:ln>
        </p:spPr>
      </p:sp>
      <p:sp>
        <p:nvSpPr>
          <p:cNvPr id="59" name="Text 57"/>
          <p:cNvSpPr txBox="1"/>
          <p:nvPr/>
        </p:nvSpPr>
        <p:spPr>
          <a:xfrm>
            <a:off x="182880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GRPO</a:t>
            </a:r>
            <a:endParaRPr lang="en-US" sz="1100" dirty="0"/>
          </a:p>
        </p:txBody>
      </p:sp>
      <p:sp>
        <p:nvSpPr>
          <p:cNvPr id="60" name="Text 58"/>
          <p:cNvSpPr txBox="1"/>
          <p:nvPr/>
        </p:nvSpPr>
        <p:spPr>
          <a:xfrm>
            <a:off x="257860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Goods Receipt PO</a:t>
            </a:r>
            <a:pPr indent="0" marL="0">
              <a:buNone/>
            </a:pPr>
            <a:r>
              <a:rPr lang="en-US" sz="1200" dirty="0">
                <a:solidFill>
                  <a:srgbClr val="5B6B86"/>
                </a:solidFill>
              </a:rPr>
              <a:t> · penerimaan barang vendor</a:t>
            </a:r>
            <a:endParaRPr lang="en-US" sz="1200" dirty="0"/>
          </a:p>
        </p:txBody>
      </p:sp>
      <p:sp>
        <p:nvSpPr>
          <p:cNvPr id="61" name="Keterangan IT"/>
          <p:cNvSpPr/>
          <p:nvPr/>
        </p:nvSpPr>
        <p:spPr>
          <a:xfrm>
            <a:off x="5074920" y="5724144"/>
            <a:ext cx="658368" cy="274320"/>
          </a:xfrm>
          <a:prstGeom prst="roundRect">
            <a:avLst>
              <a:gd name="adj" fmla="val 20000"/>
            </a:avLst>
          </a:prstGeom>
          <a:solidFill>
            <a:srgbClr val="C45C8E"/>
          </a:solidFill>
          <a:ln w="12700">
            <a:solidFill>
              <a:srgbClr val="C45C8E"/>
            </a:solidFill>
            <a:prstDash val="solid"/>
          </a:ln>
        </p:spPr>
      </p:sp>
      <p:sp>
        <p:nvSpPr>
          <p:cNvPr id="62" name="Text 60"/>
          <p:cNvSpPr txBox="1"/>
          <p:nvPr/>
        </p:nvSpPr>
        <p:spPr>
          <a:xfrm>
            <a:off x="507492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IT</a:t>
            </a:r>
            <a:endParaRPr lang="en-US" sz="1100" dirty="0"/>
          </a:p>
        </p:txBody>
      </p:sp>
      <p:sp>
        <p:nvSpPr>
          <p:cNvPr id="63" name="Text 61"/>
          <p:cNvSpPr txBox="1"/>
          <p:nvPr/>
        </p:nvSpPr>
        <p:spPr>
          <a:xfrm>
            <a:off x="582472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Inventory Transfer</a:t>
            </a:r>
            <a:pPr indent="0" marL="0">
              <a:buNone/>
            </a:pPr>
            <a:r>
              <a:rPr lang="en-US" sz="1200" dirty="0">
                <a:solidFill>
                  <a:srgbClr val="5B6B86"/>
                </a:solidFill>
              </a:rPr>
              <a:t> · kiriman DC ke dek</a:t>
            </a:r>
            <a:endParaRPr lang="en-US" sz="1200" dirty="0"/>
          </a:p>
        </p:txBody>
      </p:sp>
      <p:sp>
        <p:nvSpPr>
          <p:cNvPr id="64" name="Keterangan DO"/>
          <p:cNvSpPr/>
          <p:nvPr/>
        </p:nvSpPr>
        <p:spPr>
          <a:xfrm>
            <a:off x="8321040" y="5724144"/>
            <a:ext cx="658368" cy="274320"/>
          </a:xfrm>
          <a:prstGeom prst="roundRect">
            <a:avLst>
              <a:gd name="adj" fmla="val 20000"/>
            </a:avLst>
          </a:prstGeom>
          <a:solidFill>
            <a:srgbClr val="CF5140"/>
          </a:solidFill>
          <a:ln w="12700">
            <a:solidFill>
              <a:srgbClr val="CF5140"/>
            </a:solidFill>
            <a:prstDash val="solid"/>
          </a:ln>
        </p:spPr>
      </p:sp>
      <p:sp>
        <p:nvSpPr>
          <p:cNvPr id="65" name="Text 63"/>
          <p:cNvSpPr txBox="1"/>
          <p:nvPr/>
        </p:nvSpPr>
        <p:spPr>
          <a:xfrm>
            <a:off x="832104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DO</a:t>
            </a:r>
            <a:endParaRPr lang="en-US" sz="1100" dirty="0"/>
          </a:p>
        </p:txBody>
      </p:sp>
      <p:sp>
        <p:nvSpPr>
          <p:cNvPr id="66" name="Text 64"/>
          <p:cNvSpPr txBox="1"/>
          <p:nvPr/>
        </p:nvSpPr>
        <p:spPr>
          <a:xfrm>
            <a:off x="907084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Delivery Order</a:t>
            </a:r>
            <a:pPr indent="0" marL="0">
              <a:buNone/>
            </a:pPr>
            <a:r>
              <a:rPr lang="en-US" sz="1200" dirty="0">
                <a:solidFill>
                  <a:srgbClr val="5B6B86"/>
                </a:solidFill>
              </a:rPr>
              <a:t> · penjualan harian kasir</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penjualan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kapal jadi Sales Order</a:t>
            </a:r>
            <a:endParaRPr lang="en-US" sz="1500" dirty="0"/>
          </a:p>
        </p:txBody>
      </p:sp>
      <p:sp>
        <p:nvSpPr>
          <p:cNvPr id="17" name="Peran Approve PUR (Pergudangan)"/>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 (Pergudangan)</a:t>
            </a:r>
            <a:endParaRPr lang="en-US" sz="1500" dirty="0"/>
          </a:p>
          <a:p>
            <a:pPr indent="0" marL="0">
              <a:buNone/>
            </a:pPr>
            <a:r>
              <a:rPr lang="en-US" sz="1200" dirty="0">
                <a:solidFill>
                  <a:srgbClr val="5B6B86"/>
                </a:solidFill>
              </a:rPr>
              <a:t>Setujui Purchase Request, penerimaan, transfer</a:t>
            </a:r>
            <a:endParaRPr lang="en-US" sz="1500" dirty="0"/>
          </a:p>
        </p:txBody>
      </p:sp>
      <p:sp>
        <p:nvSpPr>
          <p:cNvPr id="19" name="Peran Approve PO (Purchasing)"/>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 (Purchasing)</a:t>
            </a:r>
            <a:endParaRPr lang="en-US" sz="1500" dirty="0"/>
          </a:p>
          <a:p>
            <a:pPr indent="0" marL="0">
              <a:buNone/>
            </a:pPr>
            <a:r>
              <a:rPr lang="en-US" sz="1200" dirty="0">
                <a:solidFill>
                  <a:srgbClr val="5B6B86"/>
                </a:solidFill>
              </a:rPr>
              <a:t>Setujui Purchase Order ke vendor</a:t>
            </a:r>
            <a:endParaRPr lang="en-US" sz="1500" dirty="0"/>
          </a:p>
        </p:txBody>
      </p:sp>
      <p:sp>
        <p:nvSpPr>
          <p:cNvPr id="21" name="Peran Admin PO (Purchasing)"/>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PO (Purchasing)</a:t>
            </a:r>
            <a:endParaRPr lang="en-US" sz="1500" dirty="0"/>
          </a:p>
          <a:p>
            <a:pPr indent="0" marL="0">
              <a:buNone/>
            </a:pPr>
            <a:r>
              <a:rPr lang="en-US" sz="1200" dirty="0">
                <a:solidFill>
                  <a:srgbClr val="5B6B86"/>
                </a:solidFill>
              </a:rPr>
              <a:t>Buat Purchase Order ke vendor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penerimaan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Delivery Order</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Delivery Order.</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Batasan aplikasi saat ini</a:t>
            </a:r>
            <a:endParaRPr lang="en-US" sz="3000" dirty="0"/>
          </a:p>
        </p:txBody>
      </p:sp>
      <p:sp>
        <p:nvSpPr>
          <p:cNvPr id="3" name="Batasan Memerlukan koneksi internet"/>
          <p:cNvSpPr/>
          <p:nvPr/>
        </p:nvSpPr>
        <p:spPr>
          <a:xfrm>
            <a:off x="68580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Memerlukan koneksi internet latar"/>
          <p:cNvSpPr/>
          <p:nvPr/>
        </p:nvSpPr>
        <p:spPr>
          <a:xfrm>
            <a:off x="1005840" y="2011680"/>
            <a:ext cx="868680" cy="868680"/>
          </a:xfrm>
          <a:prstGeom prst="ellipse">
            <a:avLst/>
          </a:prstGeom>
          <a:solidFill>
            <a:srgbClr val="274289"/>
          </a:solidFill>
          <a:ln w="12700">
            <a:solidFill>
              <a:srgbClr val="274289"/>
            </a:solidFill>
            <a:prstDash val="solid"/>
          </a:ln>
        </p:spPr>
      </p:sp>
      <p:pic>
        <p:nvPicPr>
          <p:cNvPr id="5" name="Ikon Memerlukan koneksi internet" descr="Ikon Memerlukan koneksi internet">    </p:cNvPr>
          <p:cNvPicPr>
            <a:picLocks noChangeAspect="1"/>
          </p:cNvPicPr>
          <p:nvPr/>
        </p:nvPicPr>
        <p:blipFill>
          <a:blip r:embed="rId1"/>
          <a:stretch>
            <a:fillRect/>
          </a:stretch>
        </p:blipFill>
        <p:spPr>
          <a:xfrm>
            <a:off x="1223010" y="2228850"/>
            <a:ext cx="434340" cy="434340"/>
          </a:xfrm>
          <a:prstGeom prst="rect">
            <a:avLst/>
          </a:prstGeom>
        </p:spPr>
      </p:pic>
      <p:sp>
        <p:nvSpPr>
          <p:cNvPr id="6" name="Text 3"/>
          <p:cNvSpPr txBox="1"/>
          <p:nvPr/>
        </p:nvSpPr>
        <p:spPr>
          <a:xfrm>
            <a:off x="100584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Memerlukan koneksi internet</a:t>
            </a:r>
            <a:endParaRPr lang="en-US" sz="2400" dirty="0"/>
          </a:p>
        </p:txBody>
      </p:sp>
      <p:sp>
        <p:nvSpPr>
          <p:cNvPr id="7" name="Text 4"/>
          <p:cNvSpPr txBox="1"/>
          <p:nvPr/>
        </p:nvSpPr>
        <p:spPr>
          <a:xfrm>
            <a:off x="100584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web dan aplikasi kasir hanya dapat digunakan saat perangkat terhubung ke internet.</a:t>
            </a:r>
            <a:endParaRPr lang="en-US" sz="1500" dirty="0"/>
          </a:p>
        </p:txBody>
      </p:sp>
      <p:sp>
        <p:nvSpPr>
          <p:cNvPr id="8" name="Pemisah"/>
          <p:cNvSpPr/>
          <p:nvPr/>
        </p:nvSpPr>
        <p:spPr>
          <a:xfrm>
            <a:off x="1005840" y="4434840"/>
            <a:ext cx="4663440" cy="0"/>
          </a:xfrm>
          <a:prstGeom prst="line">
            <a:avLst/>
          </a:prstGeom>
          <a:noFill/>
          <a:ln w="12700">
            <a:solidFill>
              <a:srgbClr val="E3E9F3"/>
            </a:solidFill>
            <a:prstDash val="solid"/>
          </a:ln>
        </p:spPr>
      </p:sp>
      <p:sp>
        <p:nvSpPr>
          <p:cNvPr id="9" name="Text 6"/>
          <p:cNvSpPr txBox="1"/>
          <p:nvPr/>
        </p:nvSpPr>
        <p:spPr>
          <a:xfrm>
            <a:off x="100584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Koneksi internet di kapal, DC, dan kantor pusat.</a:t>
            </a:r>
            <a:endParaRPr lang="en-US" sz="1400" dirty="0"/>
          </a:p>
        </p:txBody>
      </p:sp>
      <p:sp>
        <p:nvSpPr>
          <p:cNvPr id="10" name="Batasan Kasir hanya di Android"/>
          <p:cNvSpPr/>
          <p:nvPr/>
        </p:nvSpPr>
        <p:spPr>
          <a:xfrm>
            <a:off x="621792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1" name="Ikon Kasir hanya di Android latar"/>
          <p:cNvSpPr/>
          <p:nvPr/>
        </p:nvSpPr>
        <p:spPr>
          <a:xfrm>
            <a:off x="6537960" y="2011680"/>
            <a:ext cx="868680" cy="868680"/>
          </a:xfrm>
          <a:prstGeom prst="ellipse">
            <a:avLst/>
          </a:prstGeom>
          <a:solidFill>
            <a:srgbClr val="274289"/>
          </a:solidFill>
          <a:ln w="12700">
            <a:solidFill>
              <a:srgbClr val="274289"/>
            </a:solidFill>
            <a:prstDash val="solid"/>
          </a:ln>
        </p:spPr>
      </p:sp>
      <p:pic>
        <p:nvPicPr>
          <p:cNvPr id="12" name="Ikon Kasir hanya di Android" descr="Ikon Kasir hanya di Android">    </p:cNvPr>
          <p:cNvPicPr>
            <a:picLocks noChangeAspect="1"/>
          </p:cNvPicPr>
          <p:nvPr/>
        </p:nvPicPr>
        <p:blipFill>
          <a:blip r:embed="rId2"/>
          <a:stretch>
            <a:fillRect/>
          </a:stretch>
        </p:blipFill>
        <p:spPr>
          <a:xfrm>
            <a:off x="6755130" y="2228850"/>
            <a:ext cx="434340" cy="434340"/>
          </a:xfrm>
          <a:prstGeom prst="rect">
            <a:avLst/>
          </a:prstGeom>
        </p:spPr>
      </p:pic>
      <p:sp>
        <p:nvSpPr>
          <p:cNvPr id="13" name="Status Android"/>
          <p:cNvSpPr/>
          <p:nvPr/>
        </p:nvSpPr>
        <p:spPr>
          <a:xfrm>
            <a:off x="7680960" y="2258568"/>
            <a:ext cx="1691640" cy="384048"/>
          </a:xfrm>
          <a:prstGeom prst="roundRect">
            <a:avLst>
              <a:gd name="adj" fmla="val 50000"/>
            </a:avLst>
          </a:prstGeom>
          <a:solidFill>
            <a:srgbClr val="E8F2E4"/>
          </a:solidFill>
          <a:ln w="12700">
            <a:solidFill>
              <a:srgbClr val="4A8A3C"/>
            </a:solidFill>
            <a:prstDash val="solid"/>
          </a:ln>
        </p:spPr>
      </p:sp>
      <p:sp>
        <p:nvSpPr>
          <p:cNvPr id="14" name="Text 10"/>
          <p:cNvSpPr txBox="1"/>
          <p:nvPr/>
        </p:nvSpPr>
        <p:spPr>
          <a:xfrm>
            <a:off x="7680960" y="2258568"/>
            <a:ext cx="1691640" cy="384048"/>
          </a:xfrm>
          <a:prstGeom prst="rect">
            <a:avLst/>
          </a:prstGeom>
          <a:noFill/>
          <a:ln/>
        </p:spPr>
        <p:txBody>
          <a:bodyPr wrap="square" lIns="0" tIns="0" rIns="0" bIns="0" rtlCol="0" anchor="ctr"/>
          <a:lstStyle/>
          <a:p>
            <a:pPr algn="ctr" indent="0" marL="0">
              <a:buNone/>
            </a:pPr>
            <a:r>
              <a:rPr lang="en-US" sz="1200" b="1" dirty="0">
                <a:solidFill>
                  <a:srgbClr val="4A8A3C"/>
                </a:solidFill>
              </a:rPr>
              <a:t>Android: </a:t>
            </a:r>
            <a:pPr algn="ctr" indent="0" marL="0">
              <a:buNone/>
            </a:pPr>
            <a:r>
              <a:rPr lang="en-US" sz="1200" dirty="0">
                <a:solidFill>
                  <a:srgbClr val="4A8A3C"/>
                </a:solidFill>
              </a:rPr>
              <a:t>Tersedia</a:t>
            </a:r>
            <a:endParaRPr lang="en-US" sz="1200" dirty="0"/>
          </a:p>
        </p:txBody>
      </p:sp>
      <p:sp>
        <p:nvSpPr>
          <p:cNvPr id="15" name="Status iOS"/>
          <p:cNvSpPr/>
          <p:nvPr/>
        </p:nvSpPr>
        <p:spPr>
          <a:xfrm>
            <a:off x="9509760" y="2258568"/>
            <a:ext cx="1691640" cy="384048"/>
          </a:xfrm>
          <a:prstGeom prst="roundRect">
            <a:avLst>
              <a:gd name="adj" fmla="val 50000"/>
            </a:avLst>
          </a:prstGeom>
          <a:solidFill>
            <a:srgbClr val="EEF1F6"/>
          </a:solidFill>
          <a:ln w="12700">
            <a:solidFill>
              <a:srgbClr val="5B6B86"/>
            </a:solidFill>
            <a:prstDash val="solid"/>
          </a:ln>
        </p:spPr>
      </p:sp>
      <p:sp>
        <p:nvSpPr>
          <p:cNvPr id="16" name="Text 12"/>
          <p:cNvSpPr txBox="1"/>
          <p:nvPr/>
        </p:nvSpPr>
        <p:spPr>
          <a:xfrm>
            <a:off x="9509760" y="2258568"/>
            <a:ext cx="1691640" cy="384048"/>
          </a:xfrm>
          <a:prstGeom prst="rect">
            <a:avLst/>
          </a:prstGeom>
          <a:noFill/>
          <a:ln/>
        </p:spPr>
        <p:txBody>
          <a:bodyPr wrap="square" lIns="0" tIns="0" rIns="0" bIns="0" rtlCol="0" anchor="ctr"/>
          <a:lstStyle/>
          <a:p>
            <a:pPr algn="ctr" indent="0" marL="0">
              <a:buNone/>
            </a:pPr>
            <a:r>
              <a:rPr lang="en-US" sz="1200" b="1" dirty="0">
                <a:solidFill>
                  <a:srgbClr val="5B6B86"/>
                </a:solidFill>
              </a:rPr>
              <a:t>iOS: </a:t>
            </a:r>
            <a:pPr algn="ctr" indent="0" marL="0">
              <a:buNone/>
            </a:pPr>
            <a:r>
              <a:rPr lang="en-US" sz="1200" dirty="0">
                <a:solidFill>
                  <a:srgbClr val="5B6B86"/>
                </a:solidFill>
              </a:rPr>
              <a:t>Belum tersedia</a:t>
            </a:r>
            <a:endParaRPr lang="en-US" sz="1200" dirty="0"/>
          </a:p>
        </p:txBody>
      </p:sp>
      <p:sp>
        <p:nvSpPr>
          <p:cNvPr id="17" name="Text 13"/>
          <p:cNvSpPr txBox="1"/>
          <p:nvPr/>
        </p:nvSpPr>
        <p:spPr>
          <a:xfrm>
            <a:off x="653796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Kasir hanya di Android</a:t>
            </a:r>
            <a:endParaRPr lang="en-US" sz="2400" dirty="0"/>
          </a:p>
        </p:txBody>
      </p:sp>
      <p:sp>
        <p:nvSpPr>
          <p:cNvPr id="18" name="Text 14"/>
          <p:cNvSpPr txBox="1"/>
          <p:nvPr/>
        </p:nvSpPr>
        <p:spPr>
          <a:xfrm>
            <a:off x="653796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kasir baru tersedia untuk perangkat Android. Versi iOS (iPhone dan iPad) belum tersedia.</a:t>
            </a:r>
            <a:endParaRPr lang="en-US" sz="1500" dirty="0"/>
          </a:p>
        </p:txBody>
      </p:sp>
      <p:sp>
        <p:nvSpPr>
          <p:cNvPr id="19" name="Pemisah"/>
          <p:cNvSpPr/>
          <p:nvPr/>
        </p:nvSpPr>
        <p:spPr>
          <a:xfrm>
            <a:off x="6537960" y="4434840"/>
            <a:ext cx="4663440" cy="0"/>
          </a:xfrm>
          <a:prstGeom prst="line">
            <a:avLst/>
          </a:prstGeom>
          <a:noFill/>
          <a:ln w="12700">
            <a:solidFill>
              <a:srgbClr val="E3E9F3"/>
            </a:solidFill>
            <a:prstDash val="solid"/>
          </a:ln>
        </p:spPr>
      </p:sp>
      <p:sp>
        <p:nvSpPr>
          <p:cNvPr id="20" name="Text 16"/>
          <p:cNvSpPr txBox="1"/>
          <p:nvPr/>
        </p:nvSpPr>
        <p:spPr>
          <a:xfrm>
            <a:off x="653796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Perangkat kasir Android di setiap dek.</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2026-10-26T11:18:01Z</dcterms:created>
  <dcterms:modified xsi:type="dcterms:W3CDTF">2026-10-26T11:18:01Z</dcterms:modified>
</cp:coreProperties>
</file>