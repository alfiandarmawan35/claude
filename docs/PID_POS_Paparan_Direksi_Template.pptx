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1ac08df1-fef5-5067-460b-977c58a60feb}">
          <p14:sldIdLst>
            <p14:sldId id="256"/>
          </p14:sldIdLst>
        </p14:section>
        <p14:section name="Aplikasi" id="{81d8d1a3-b1c6-91e1-a87e-b23a6c8b8e29}">
          <p14:sldIdLst>
            <p14:sldId id="257"/>
            <p14:sldId id="258"/>
            <p14:sldId id="259"/>
            <p14:sldId id="260"/>
            <p14:sldId id="261"/>
            <p14:sldId id="262"/>
          </p14:sldIdLst>
        </p14:section>
        <p14:section name="Penutup" id="{bae6b110-b689-8b6b-4673-71f5cacc5380}">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 POS adalah aplikasi toko kapal PELNI Services yang terhubung langsung dengan SAP Business One. Paparan ini menyampaikan apa itu PID POS, alurnya, peran yang terlibat, fitur utama, kasir, dan keunggulannya.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 POS terdiri dari aplikasi web untuk admin kapal, Distribution Center atau DC, dan kantor pusat, serta aplikasi kasir Android untuk setiap dek. Keduanya terhubung langsung dengan SAP Business One, sehingga dokumen dibuat otomatis setelah disetujui.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Jalur atas selalu dijalani: kapal memesan ke DC, kantor pusat menyetujui sehingga Sales Order terbentuk di SAP, DC memilah stok, barang dikirim ke dek dengan Inventory Transfer, diterima kepala toko, lalu dijual di kasir dan masuk SAP sebagai Delivery Order. Bila stok DC kurang, jalur pembelian berjalan: Purchase Request, Purchase Order ke vendor, dan Goods Receipt PO (GRPO) saat barang tiba di 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tujuh peran. Di kapal: admin kapal atau kepala toko, dan kasir. Di kantor pusat: Approve Sales Order, Approve Purchasing, Admin Purchase, dan Approve Purchase Order. Di DC: admin DC. Setiap peran hanya melihat tugas yang menunggunya, lewat lonceng dan tab Giliran saya.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fitur utama aplikasi web: admin kapal memesan barang ke DC per dek; setiap permintaan disetujui berjenjang dan statusnya terlihat per tahap, lalu menjadi Sales Order di SAP; dan posisi stok setiap dek terpantau dalam satu tabel.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setiap dek, kasir cukup scan barang, menerima pembayaran tunai atau QRIS dengan kembalian dihitung otomatis, lalu struk tercetak. Di akhir hari, penjualan dikirim ke SAP sebagai Delivery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Keunggulan PID POS ada tiga. Transparan: stok setiap dek dan status permintaan terpantau real-time. Terkendali: setiap tahap disetujui berjenjang, dan setiap persetujuan tercatat lengkap dengan siapa dan kapan. Terintegrasi: dokumen SAP dibuat otomatis, termasuk penjualan harian setiap dek sebagai Delivery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 POS: satu alur, dari kapal sampai kasir. Terima kasih.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SAMPUL-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SI-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AMPUL">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12648" y="2148840"/>
            <a:ext cx="6949440" cy="868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Shape 0"/>
          <p:cNvSpPr/>
          <p:nvPr/>
        </p:nvSpPr>
        <p:spPr>
          <a:xfrm>
            <a:off x="612648" y="3127248"/>
            <a:ext cx="6766560" cy="0"/>
          </a:xfrm>
          <a:prstGeom prst="line">
            <a:avLst/>
          </a:prstGeom>
          <a:noFill/>
          <a:ln w="15875">
            <a:solidFill>
              <a:srgbClr val="FFFFFF"/>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SI">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914400"/>
            <a:ext cx="10835640" cy="64008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0996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12648" y="2148840"/>
            <a:ext cx="6949440" cy="868680"/>
          </a:xfrm>
          <a:prstGeom prst="rect">
            <a:avLst/>
          </a:prstGeom>
          <a:noFill/>
          <a:ln/>
        </p:spPr>
        <p:txBody>
          <a:bodyPr wrap="square" lIns="0" tIns="0" rIns="0" bIns="0" rtlCol="0" anchor="b"/>
          <a:lstStyle/>
          <a:p>
            <a:pPr algn="l" indent="0" marL="0">
              <a:buNone/>
            </a:pPr>
            <a:r>
              <a:rPr lang="en-US" sz="4400" b="1" dirty="0">
                <a:solidFill>
                  <a:schemeClr val="bg1"/>
                </a:solidFill>
              </a:rPr>
              <a:t>PID POS</a:t>
            </a:r>
            <a:endParaRPr lang="en-US" sz="4400" dirty="0"/>
          </a:p>
        </p:txBody>
      </p:sp>
      <p:sp>
        <p:nvSpPr>
          <p:cNvPr id="3" name="Text 1"/>
          <p:cNvSpPr txBox="1"/>
          <p:nvPr/>
        </p:nvSpPr>
        <p:spPr>
          <a:xfrm>
            <a:off x="612648" y="3246120"/>
            <a:ext cx="6766560" cy="457200"/>
          </a:xfrm>
          <a:prstGeom prst="rect">
            <a:avLst/>
          </a:prstGeom>
          <a:noFill/>
          <a:ln/>
        </p:spPr>
        <p:txBody>
          <a:bodyPr wrap="square" lIns="0" tIns="0" rIns="0" bIns="0" rtlCol="0" anchor="t"/>
          <a:lstStyle/>
          <a:p>
            <a:pPr indent="0" marL="0">
              <a:buNone/>
            </a:pPr>
            <a:r>
              <a:rPr lang="en-US" sz="2200" b="1" dirty="0">
                <a:solidFill>
                  <a:srgbClr val="FFFFFF"/>
                </a:solidFill>
              </a:rPr>
              <a:t>Aplikasi Toko Kapal Terintegrasi SAP Business One</a:t>
            </a:r>
            <a:endParaRPr lang="en-US" sz="2200" dirty="0"/>
          </a:p>
        </p:txBody>
      </p:sp>
      <p:sp>
        <p:nvSpPr>
          <p:cNvPr id="4" name="Text 2"/>
          <p:cNvSpPr txBox="1"/>
          <p:nvPr/>
        </p:nvSpPr>
        <p:spPr>
          <a:xfrm>
            <a:off x="612648" y="3749040"/>
            <a:ext cx="6766560" cy="365760"/>
          </a:xfrm>
          <a:prstGeom prst="rect">
            <a:avLst/>
          </a:prstGeom>
          <a:noFill/>
          <a:ln/>
        </p:spPr>
        <p:txBody>
          <a:bodyPr wrap="square" lIns="0" tIns="0" rIns="0" bIns="0" rtlCol="0" anchor="t"/>
          <a:lstStyle/>
          <a:p>
            <a:pPr indent="0" marL="0">
              <a:buNone/>
            </a:pPr>
            <a:r>
              <a:rPr lang="en-US" sz="1600" dirty="0">
                <a:solidFill>
                  <a:srgbClr val="D6E4F5"/>
                </a:solidFill>
              </a:rPr>
              <a:t>PT Pelita Indonesia Djaya (PELNI Services)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85800" y="914400"/>
            <a:ext cx="10835640" cy="640080"/>
          </a:xfrm>
          <a:prstGeom prst="rect">
            <a:avLst/>
          </a:prstGeom>
          <a:noFill/>
          <a:ln/>
        </p:spPr>
        <p:txBody>
          <a:bodyPr wrap="square" lIns="0" tIns="0" rIns="0" bIns="0" rtlCol="0" anchor="ctr"/>
          <a:lstStyle/>
          <a:p>
            <a:pPr algn="l" indent="0" marL="0">
              <a:buNone/>
            </a:pPr>
            <a:r>
              <a:rPr lang="en-US" sz="3000" b="1" dirty="0">
                <a:solidFill>
                  <a:schemeClr val="tx2"/>
                </a:solidFill>
              </a:rPr>
              <a:t>Satu aplikasi untuk seluruh alur toko kapal</a:t>
            </a:r>
            <a:endParaRPr lang="en-US" sz="3000" dirty="0"/>
          </a:p>
        </p:txBody>
      </p:sp>
      <p:sp>
        <p:nvSpPr>
          <p:cNvPr id="3" name="Aplikasi web latar"/>
          <p:cNvSpPr/>
          <p:nvPr/>
        </p:nvSpPr>
        <p:spPr>
          <a:xfrm>
            <a:off x="685800" y="1828800"/>
            <a:ext cx="777240" cy="777240"/>
          </a:xfrm>
          <a:prstGeom prst="ellipse">
            <a:avLst/>
          </a:prstGeom>
          <a:solidFill>
            <a:srgbClr val="274289"/>
          </a:solidFill>
          <a:ln w="12700">
            <a:solidFill>
              <a:srgbClr val="274289"/>
            </a:solidFill>
            <a:prstDash val="solid"/>
          </a:ln>
        </p:spPr>
      </p:sp>
      <p:pic>
        <p:nvPicPr>
          <p:cNvPr id="4" name="Aplikasi web" descr="Aplikasi web">    </p:cNvPr>
          <p:cNvPicPr>
            <a:picLocks noChangeAspect="1"/>
          </p:cNvPicPr>
          <p:nvPr/>
        </p:nvPicPr>
        <p:blipFill>
          <a:blip r:embed="rId1"/>
          <a:stretch>
            <a:fillRect/>
          </a:stretch>
        </p:blipFill>
        <p:spPr>
          <a:xfrm>
            <a:off x="880110" y="2023110"/>
            <a:ext cx="388620" cy="388620"/>
          </a:xfrm>
          <a:prstGeom prst="rect">
            <a:avLst/>
          </a:prstGeom>
        </p:spPr>
      </p:pic>
      <p:sp>
        <p:nvSpPr>
          <p:cNvPr id="5" name="Text 2"/>
          <p:cNvSpPr txBox="1"/>
          <p:nvPr/>
        </p:nvSpPr>
        <p:spPr>
          <a:xfrm>
            <a:off x="1691640" y="1783080"/>
            <a:ext cx="4480560" cy="1005840"/>
          </a:xfrm>
          <a:prstGeom prst="rect">
            <a:avLst/>
          </a:prstGeom>
          <a:noFill/>
          <a:ln/>
        </p:spPr>
        <p:txBody>
          <a:bodyPr wrap="square" lIns="0" tIns="0" rIns="0" bIns="0" rtlCol="0" anchor="t"/>
          <a:lstStyle/>
          <a:p>
            <a:pPr indent="0" marL="0">
              <a:buNone/>
            </a:pPr>
            <a:r>
              <a:rPr lang="en-US" sz="1900" b="1" dirty="0">
                <a:solidFill>
                  <a:srgbClr val="274289"/>
                </a:solidFill>
              </a:rPr>
              <a:t>Aplikasi web</a:t>
            </a:r>
            <a:endParaRPr lang="en-US" sz="1900" dirty="0"/>
          </a:p>
          <a:p>
            <a:pPr indent="0" marL="0">
              <a:buNone/>
            </a:pPr>
            <a:r>
              <a:rPr lang="en-US" sz="1400" dirty="0">
                <a:solidFill>
                  <a:srgbClr val="1B2437"/>
                </a:solidFill>
              </a:rPr>
              <a:t>Untuk admin kapal, Distribution Center (DC), dan kantor pusat: pesan barang, persetujuan, stok, dan laporan.</a:t>
            </a:r>
            <a:endParaRPr lang="en-US" sz="1900" dirty="0"/>
          </a:p>
        </p:txBody>
      </p:sp>
      <p:sp>
        <p:nvSpPr>
          <p:cNvPr id="6" name="Aplikasi kasir Android latar"/>
          <p:cNvSpPr/>
          <p:nvPr/>
        </p:nvSpPr>
        <p:spPr>
          <a:xfrm>
            <a:off x="685800" y="2926080"/>
            <a:ext cx="777240" cy="777240"/>
          </a:xfrm>
          <a:prstGeom prst="ellipse">
            <a:avLst/>
          </a:prstGeom>
          <a:solidFill>
            <a:srgbClr val="274289"/>
          </a:solidFill>
          <a:ln w="12700">
            <a:solidFill>
              <a:srgbClr val="274289"/>
            </a:solidFill>
            <a:prstDash val="solid"/>
          </a:ln>
        </p:spPr>
      </p:sp>
      <p:pic>
        <p:nvPicPr>
          <p:cNvPr id="7" name="Aplikasi kasir Android" descr="Aplikasi kasir Android">    </p:cNvPr>
          <p:cNvPicPr>
            <a:picLocks noChangeAspect="1"/>
          </p:cNvPicPr>
          <p:nvPr/>
        </p:nvPicPr>
        <p:blipFill>
          <a:blip r:embed="rId2"/>
          <a:stretch>
            <a:fillRect/>
          </a:stretch>
        </p:blipFill>
        <p:spPr>
          <a:xfrm>
            <a:off x="880110" y="3120390"/>
            <a:ext cx="388620" cy="388620"/>
          </a:xfrm>
          <a:prstGeom prst="rect">
            <a:avLst/>
          </a:prstGeom>
        </p:spPr>
      </p:pic>
      <p:sp>
        <p:nvSpPr>
          <p:cNvPr id="8" name="Text 4"/>
          <p:cNvSpPr txBox="1"/>
          <p:nvPr/>
        </p:nvSpPr>
        <p:spPr>
          <a:xfrm>
            <a:off x="1691640" y="2880360"/>
            <a:ext cx="4480560" cy="1005840"/>
          </a:xfrm>
          <a:prstGeom prst="rect">
            <a:avLst/>
          </a:prstGeom>
          <a:noFill/>
          <a:ln/>
        </p:spPr>
        <p:txBody>
          <a:bodyPr wrap="square" lIns="0" tIns="0" rIns="0" bIns="0" rtlCol="0" anchor="t"/>
          <a:lstStyle/>
          <a:p>
            <a:pPr indent="0" marL="0">
              <a:buNone/>
            </a:pPr>
            <a:r>
              <a:rPr lang="en-US" sz="1900" b="1" dirty="0">
                <a:solidFill>
                  <a:srgbClr val="274289"/>
                </a:solidFill>
              </a:rPr>
              <a:t>Aplikasi kasir Android</a:t>
            </a:r>
            <a:endParaRPr lang="en-US" sz="1900" dirty="0"/>
          </a:p>
          <a:p>
            <a:pPr indent="0" marL="0">
              <a:buNone/>
            </a:pPr>
            <a:r>
              <a:rPr lang="en-US" sz="1400" dirty="0">
                <a:solidFill>
                  <a:srgbClr val="1B2437"/>
                </a:solidFill>
              </a:rPr>
              <a:t>Untuk kasir di setiap dek: scan, bayar tunai atau QRIS, struk, dan rekap shift.</a:t>
            </a:r>
            <a:endParaRPr lang="en-US" sz="1900" dirty="0"/>
          </a:p>
        </p:txBody>
      </p:sp>
      <p:sp>
        <p:nvSpPr>
          <p:cNvPr id="9" name="Terhubung SAP Business One latar"/>
          <p:cNvSpPr/>
          <p:nvPr/>
        </p:nvSpPr>
        <p:spPr>
          <a:xfrm>
            <a:off x="685800" y="4023360"/>
            <a:ext cx="777240" cy="777240"/>
          </a:xfrm>
          <a:prstGeom prst="ellipse">
            <a:avLst/>
          </a:prstGeom>
          <a:solidFill>
            <a:srgbClr val="5AB4E5"/>
          </a:solidFill>
          <a:ln w="12700">
            <a:solidFill>
              <a:srgbClr val="5AB4E5"/>
            </a:solidFill>
            <a:prstDash val="solid"/>
          </a:ln>
        </p:spPr>
      </p:sp>
      <p:pic>
        <p:nvPicPr>
          <p:cNvPr id="10" name="Terhubung SAP Business One" descr="Terhubung SAP Business One">    </p:cNvPr>
          <p:cNvPicPr>
            <a:picLocks noChangeAspect="1"/>
          </p:cNvPicPr>
          <p:nvPr/>
        </p:nvPicPr>
        <p:blipFill>
          <a:blip r:embed="rId3"/>
          <a:stretch>
            <a:fillRect/>
          </a:stretch>
        </p:blipFill>
        <p:spPr>
          <a:xfrm>
            <a:off x="880110" y="4217670"/>
            <a:ext cx="388620" cy="388620"/>
          </a:xfrm>
          <a:prstGeom prst="rect">
            <a:avLst/>
          </a:prstGeom>
        </p:spPr>
      </p:pic>
      <p:sp>
        <p:nvSpPr>
          <p:cNvPr id="11" name="Text 6"/>
          <p:cNvSpPr txBox="1"/>
          <p:nvPr/>
        </p:nvSpPr>
        <p:spPr>
          <a:xfrm>
            <a:off x="1691640" y="3977640"/>
            <a:ext cx="4480560" cy="1005840"/>
          </a:xfrm>
          <a:prstGeom prst="rect">
            <a:avLst/>
          </a:prstGeom>
          <a:noFill/>
          <a:ln/>
        </p:spPr>
        <p:txBody>
          <a:bodyPr wrap="square" lIns="0" tIns="0" rIns="0" bIns="0" rtlCol="0" anchor="t"/>
          <a:lstStyle/>
          <a:p>
            <a:pPr indent="0" marL="0">
              <a:buNone/>
            </a:pPr>
            <a:r>
              <a:rPr lang="en-US" sz="1900" b="1" dirty="0">
                <a:solidFill>
                  <a:srgbClr val="274289"/>
                </a:solidFill>
              </a:rPr>
              <a:t>Terhubung SAP Business One</a:t>
            </a:r>
            <a:endParaRPr lang="en-US" sz="1900" dirty="0"/>
          </a:p>
          <a:p>
            <a:pPr indent="0" marL="0">
              <a:buNone/>
            </a:pPr>
            <a:r>
              <a:rPr lang="en-US" sz="1400" dirty="0">
                <a:solidFill>
                  <a:srgbClr val="1B2437"/>
                </a:solidFill>
              </a:rPr>
              <a:t>Dokumen dibuat otomatis setelah disetujui, tanpa input ulang.</a:t>
            </a:r>
            <a:endParaRPr lang="en-US" sz="1900" dirty="0"/>
          </a:p>
        </p:txBody>
      </p:sp>
      <p:sp>
        <p:nvSpPr>
          <p:cNvPr id="12" name="Beranda admin kapal bingkai"/>
          <p:cNvSpPr/>
          <p:nvPr/>
        </p:nvSpPr>
        <p:spPr>
          <a:xfrm>
            <a:off x="6336792" y="2210568"/>
            <a:ext cx="5248656" cy="3076945"/>
          </a:xfrm>
          <a:prstGeom prst="roundRect">
            <a:avLst>
              <a:gd name="adj" fmla="val 3566"/>
            </a:avLst>
          </a:prstGeom>
          <a:solidFill>
            <a:srgbClr val="E4EAF4"/>
          </a:solidFill>
          <a:ln w="9525">
            <a:solidFill>
              <a:srgbClr val="E4EAF4"/>
            </a:solidFill>
            <a:prstDash val="solid"/>
          </a:ln>
          <a:effectLst>
            <a:outerShdw sx="100000" sy="100000" kx="0" ky="0" algn="bl" rotWithShape="0" blurRad="101600" dist="25400" dir="5400000">
              <a:srgbClr val="274289">
                <a:alpha val="12000"/>
              </a:srgbClr>
            </a:outerShdw>
          </a:effectLst>
        </p:spPr>
      </p:sp>
      <p:pic>
        <p:nvPicPr>
          <p:cNvPr id="13" name="Beranda admin kapal" descr="Layar PID POS: Beranda admin kapal">    </p:cNvPr>
          <p:cNvPicPr>
            <a:picLocks noChangeAspect="1"/>
          </p:cNvPicPr>
          <p:nvPr/>
        </p:nvPicPr>
        <p:blipFill>
          <a:blip r:embed="rId4"/>
          <a:stretch>
            <a:fillRect/>
          </a:stretch>
        </p:blipFill>
        <p:spPr>
          <a:xfrm>
            <a:off x="6400800" y="2274576"/>
            <a:ext cx="5120640" cy="2948929"/>
          </a:xfrm>
          <a:prstGeom prst="rect">
            <a:avLst/>
          </a:prstGeom>
        </p:spPr>
      </p:pic>
      <p:sp>
        <p:nvSpPr>
          <p:cNvPr id="25" name="Slide Number Placeholder 0"/>
          <p:cNvSpPr>
            <a:spLocks noGrp="1"/>
          </p:cNvSpPr>
          <p:nvPr>
            <p:ph type="sldNum" sz="quarter" idx="4294967295"/>
          </p:nvPr>
        </p:nvSpPr>
        <p:spPr>
          <a:xfrm>
            <a:off x="1110996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85800" y="914400"/>
            <a:ext cx="10835640" cy="640080"/>
          </a:xfrm>
          <a:prstGeom prst="rect">
            <a:avLst/>
          </a:prstGeom>
          <a:noFill/>
          <a:ln/>
        </p:spPr>
        <p:txBody>
          <a:bodyPr wrap="square" lIns="0" tIns="0" rIns="0" bIns="0" rtlCol="0" anchor="ctr"/>
          <a:lstStyle/>
          <a:p>
            <a:pPr algn="l" indent="0" marL="0">
              <a:buNone/>
            </a:pPr>
            <a:r>
              <a:rPr lang="en-US" sz="3000" b="1" dirty="0">
                <a:solidFill>
                  <a:schemeClr val="tx2"/>
                </a:solidFill>
              </a:rPr>
              <a:t>Alur end-to-end: setiap langkah tercatat di SAP</a:t>
            </a:r>
            <a:endParaRPr lang="en-US" sz="3000" dirty="0"/>
          </a:p>
        </p:txBody>
      </p:sp>
      <p:sp>
        <p:nvSpPr>
          <p:cNvPr id="3" name="Tahap Pesan ke DC"/>
          <p:cNvSpPr/>
          <p:nvPr/>
        </p:nvSpPr>
        <p:spPr>
          <a:xfrm>
            <a:off x="685800" y="1783080"/>
            <a:ext cx="1627632" cy="960120"/>
          </a:xfrm>
          <a:prstGeom prst="roundRect">
            <a:avLst>
              <a:gd name="adj" fmla="val 11429"/>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4" name="Text 2"/>
          <p:cNvSpPr txBox="1"/>
          <p:nvPr/>
        </p:nvSpPr>
        <p:spPr>
          <a:xfrm>
            <a:off x="777240" y="1856232"/>
            <a:ext cx="1444752" cy="822960"/>
          </a:xfrm>
          <a:prstGeom prst="rect">
            <a:avLst/>
          </a:prstGeom>
          <a:noFill/>
          <a:ln/>
        </p:spPr>
        <p:txBody>
          <a:bodyPr wrap="square" lIns="0" tIns="0" rIns="0" bIns="0" rtlCol="0" anchor="ctr"/>
          <a:lstStyle/>
          <a:p>
            <a:pPr algn="ctr" indent="0" marL="0">
              <a:buNone/>
            </a:pPr>
            <a:r>
              <a:rPr lang="en-US" sz="1500" b="1" dirty="0">
                <a:solidFill>
                  <a:srgbClr val="274289"/>
                </a:solidFill>
              </a:rPr>
              <a:t>Pesan ke DC</a:t>
            </a:r>
            <a:endParaRPr lang="en-US" sz="1500" dirty="0"/>
          </a:p>
          <a:p>
            <a:pPr algn="ctr" indent="0" marL="0">
              <a:buNone/>
            </a:pPr>
            <a:r>
              <a:rPr lang="en-US" sz="1200" dirty="0">
                <a:solidFill>
                  <a:srgbClr val="5B6B86"/>
                </a:solidFill>
              </a:rPr>
              <a:t>Admin kapal</a:t>
            </a:r>
            <a:endParaRPr lang="en-US" sz="1500" dirty="0"/>
          </a:p>
        </p:txBody>
      </p:sp>
      <p:sp>
        <p:nvSpPr>
          <p:cNvPr id="5" name="Panah alur"/>
          <p:cNvSpPr/>
          <p:nvPr/>
        </p:nvSpPr>
        <p:spPr>
          <a:xfrm>
            <a:off x="2340864" y="2263140"/>
            <a:ext cx="160020" cy="0"/>
          </a:xfrm>
          <a:prstGeom prst="line">
            <a:avLst/>
          </a:prstGeom>
          <a:noFill/>
          <a:ln w="25400">
            <a:solidFill>
              <a:srgbClr val="3D6FC2"/>
            </a:solidFill>
            <a:prstDash val="solid"/>
            <a:tailEnd type="triangle"/>
          </a:ln>
        </p:spPr>
      </p:sp>
      <p:sp>
        <p:nvSpPr>
          <p:cNvPr id="6" name="Tahap Persetujuan permintaan"/>
          <p:cNvSpPr/>
          <p:nvPr/>
        </p:nvSpPr>
        <p:spPr>
          <a:xfrm>
            <a:off x="2528316" y="1783080"/>
            <a:ext cx="1627632" cy="960120"/>
          </a:xfrm>
          <a:prstGeom prst="roundRect">
            <a:avLst>
              <a:gd name="adj" fmla="val 11429"/>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7" name="Text 5"/>
          <p:cNvSpPr txBox="1"/>
          <p:nvPr/>
        </p:nvSpPr>
        <p:spPr>
          <a:xfrm>
            <a:off x="2619756" y="1856232"/>
            <a:ext cx="1444752" cy="822960"/>
          </a:xfrm>
          <a:prstGeom prst="rect">
            <a:avLst/>
          </a:prstGeom>
          <a:noFill/>
          <a:ln/>
        </p:spPr>
        <p:txBody>
          <a:bodyPr wrap="square" lIns="0" tIns="0" rIns="0" bIns="0" rtlCol="0" anchor="ctr"/>
          <a:lstStyle/>
          <a:p>
            <a:pPr algn="ctr" indent="0" marL="0">
              <a:buNone/>
            </a:pPr>
            <a:r>
              <a:rPr lang="en-US" sz="1500" b="1" dirty="0">
                <a:solidFill>
                  <a:srgbClr val="274289"/>
                </a:solidFill>
              </a:rPr>
              <a:t>Persetujuan permintaan</a:t>
            </a:r>
            <a:endParaRPr lang="en-US" sz="1500" dirty="0"/>
          </a:p>
          <a:p>
            <a:pPr algn="ctr" indent="0" marL="0">
              <a:buNone/>
            </a:pPr>
            <a:r>
              <a:rPr lang="en-US" sz="1200" dirty="0">
                <a:solidFill>
                  <a:srgbClr val="5B6B86"/>
                </a:solidFill>
              </a:rPr>
              <a:t>Kantor pusat</a:t>
            </a:r>
            <a:endParaRPr lang="en-US" sz="1500" dirty="0"/>
          </a:p>
        </p:txBody>
      </p:sp>
      <p:sp>
        <p:nvSpPr>
          <p:cNvPr id="8" name="Panah alur"/>
          <p:cNvSpPr/>
          <p:nvPr/>
        </p:nvSpPr>
        <p:spPr>
          <a:xfrm>
            <a:off x="4183380" y="2263140"/>
            <a:ext cx="160020" cy="0"/>
          </a:xfrm>
          <a:prstGeom prst="line">
            <a:avLst/>
          </a:prstGeom>
          <a:noFill/>
          <a:ln w="25400">
            <a:solidFill>
              <a:srgbClr val="3D6FC2"/>
            </a:solidFill>
            <a:prstDash val="solid"/>
            <a:tailEnd type="triangle"/>
          </a:ln>
        </p:spPr>
      </p:sp>
      <p:sp>
        <p:nvSpPr>
          <p:cNvPr id="9" name="Dokumen SO"/>
          <p:cNvSpPr/>
          <p:nvPr/>
        </p:nvSpPr>
        <p:spPr>
          <a:xfrm>
            <a:off x="2958084" y="2816352"/>
            <a:ext cx="768096" cy="310896"/>
          </a:xfrm>
          <a:prstGeom prst="roundRect">
            <a:avLst>
              <a:gd name="adj" fmla="val 23529"/>
            </a:avLst>
          </a:prstGeom>
          <a:solidFill>
            <a:srgbClr val="4A8A3C"/>
          </a:solidFill>
          <a:ln w="12700">
            <a:solidFill>
              <a:srgbClr val="4A8A3C"/>
            </a:solidFill>
            <a:prstDash val="solid"/>
          </a:ln>
        </p:spPr>
      </p:sp>
      <p:sp>
        <p:nvSpPr>
          <p:cNvPr id="10" name="Text 8"/>
          <p:cNvSpPr txBox="1"/>
          <p:nvPr/>
        </p:nvSpPr>
        <p:spPr>
          <a:xfrm>
            <a:off x="2958084" y="2816352"/>
            <a:ext cx="768096" cy="310896"/>
          </a:xfrm>
          <a:prstGeom prst="rect">
            <a:avLst/>
          </a:prstGeom>
          <a:noFill/>
          <a:ln/>
        </p:spPr>
        <p:txBody>
          <a:bodyPr wrap="square" lIns="0" tIns="0" rIns="0" bIns="0" rtlCol="0" anchor="ctr"/>
          <a:lstStyle/>
          <a:p>
            <a:pPr algn="ctr" indent="0" marL="0">
              <a:buNone/>
            </a:pPr>
            <a:r>
              <a:rPr lang="en-US" sz="1200" b="1" dirty="0">
                <a:solidFill>
                  <a:srgbClr val="FFFFFF"/>
                </a:solidFill>
              </a:rPr>
              <a:t>SO</a:t>
            </a:r>
            <a:endParaRPr lang="en-US" sz="1200" dirty="0"/>
          </a:p>
        </p:txBody>
      </p:sp>
      <p:sp>
        <p:nvSpPr>
          <p:cNvPr id="11" name="Tahap Pilah stok"/>
          <p:cNvSpPr/>
          <p:nvPr/>
        </p:nvSpPr>
        <p:spPr>
          <a:xfrm>
            <a:off x="4370832" y="1783080"/>
            <a:ext cx="1627632" cy="960120"/>
          </a:xfrm>
          <a:prstGeom prst="roundRect">
            <a:avLst>
              <a:gd name="adj" fmla="val 11429"/>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12" name="Text 10"/>
          <p:cNvSpPr txBox="1"/>
          <p:nvPr/>
        </p:nvSpPr>
        <p:spPr>
          <a:xfrm>
            <a:off x="4462272" y="1856232"/>
            <a:ext cx="1444752" cy="822960"/>
          </a:xfrm>
          <a:prstGeom prst="rect">
            <a:avLst/>
          </a:prstGeom>
          <a:noFill/>
          <a:ln/>
        </p:spPr>
        <p:txBody>
          <a:bodyPr wrap="square" lIns="0" tIns="0" rIns="0" bIns="0" rtlCol="0" anchor="ctr"/>
          <a:lstStyle/>
          <a:p>
            <a:pPr algn="ctr" indent="0" marL="0">
              <a:buNone/>
            </a:pPr>
            <a:r>
              <a:rPr lang="en-US" sz="1500" b="1" dirty="0">
                <a:solidFill>
                  <a:srgbClr val="274289"/>
                </a:solidFill>
              </a:rPr>
              <a:t>Pilah stok</a:t>
            </a:r>
            <a:endParaRPr lang="en-US" sz="1500" dirty="0"/>
          </a:p>
          <a:p>
            <a:pPr algn="ctr" indent="0" marL="0">
              <a:buNone/>
            </a:pPr>
            <a:r>
              <a:rPr lang="en-US" sz="1200" dirty="0">
                <a:solidFill>
                  <a:srgbClr val="5B6B86"/>
                </a:solidFill>
              </a:rPr>
              <a:t>Admin DC</a:t>
            </a:r>
            <a:endParaRPr lang="en-US" sz="1500" dirty="0"/>
          </a:p>
        </p:txBody>
      </p:sp>
      <p:sp>
        <p:nvSpPr>
          <p:cNvPr id="13" name="Panah alur"/>
          <p:cNvSpPr/>
          <p:nvPr/>
        </p:nvSpPr>
        <p:spPr>
          <a:xfrm>
            <a:off x="6025896" y="2263140"/>
            <a:ext cx="160020" cy="0"/>
          </a:xfrm>
          <a:prstGeom prst="line">
            <a:avLst/>
          </a:prstGeom>
          <a:noFill/>
          <a:ln w="25400">
            <a:solidFill>
              <a:srgbClr val="3D6FC2"/>
            </a:solidFill>
            <a:prstDash val="solid"/>
            <a:tailEnd type="triangle"/>
          </a:ln>
        </p:spPr>
      </p:sp>
      <p:sp>
        <p:nvSpPr>
          <p:cNvPr id="14" name="Tahap Transfer ke dek"/>
          <p:cNvSpPr/>
          <p:nvPr/>
        </p:nvSpPr>
        <p:spPr>
          <a:xfrm>
            <a:off x="6213348" y="1783080"/>
            <a:ext cx="1627632" cy="960120"/>
          </a:xfrm>
          <a:prstGeom prst="roundRect">
            <a:avLst>
              <a:gd name="adj" fmla="val 11429"/>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15" name="Text 13"/>
          <p:cNvSpPr txBox="1"/>
          <p:nvPr/>
        </p:nvSpPr>
        <p:spPr>
          <a:xfrm>
            <a:off x="6304788" y="1856232"/>
            <a:ext cx="1444752" cy="822960"/>
          </a:xfrm>
          <a:prstGeom prst="rect">
            <a:avLst/>
          </a:prstGeom>
          <a:noFill/>
          <a:ln/>
        </p:spPr>
        <p:txBody>
          <a:bodyPr wrap="square" lIns="0" tIns="0" rIns="0" bIns="0" rtlCol="0" anchor="ctr"/>
          <a:lstStyle/>
          <a:p>
            <a:pPr algn="ctr" indent="0" marL="0">
              <a:buNone/>
            </a:pPr>
            <a:r>
              <a:rPr lang="en-US" sz="1500" b="1" dirty="0">
                <a:solidFill>
                  <a:srgbClr val="274289"/>
                </a:solidFill>
              </a:rPr>
              <a:t>Transfer ke dek</a:t>
            </a:r>
            <a:endParaRPr lang="en-US" sz="1500" dirty="0"/>
          </a:p>
          <a:p>
            <a:pPr algn="ctr" indent="0" marL="0">
              <a:buNone/>
            </a:pPr>
            <a:r>
              <a:rPr lang="en-US" sz="1200" dirty="0">
                <a:solidFill>
                  <a:srgbClr val="5B6B86"/>
                </a:solidFill>
              </a:rPr>
              <a:t>Admin DC</a:t>
            </a:r>
            <a:endParaRPr lang="en-US" sz="1500" dirty="0"/>
          </a:p>
        </p:txBody>
      </p:sp>
      <p:sp>
        <p:nvSpPr>
          <p:cNvPr id="16" name="Panah alur"/>
          <p:cNvSpPr/>
          <p:nvPr/>
        </p:nvSpPr>
        <p:spPr>
          <a:xfrm>
            <a:off x="7868412" y="2263140"/>
            <a:ext cx="160020" cy="0"/>
          </a:xfrm>
          <a:prstGeom prst="line">
            <a:avLst/>
          </a:prstGeom>
          <a:noFill/>
          <a:ln w="25400">
            <a:solidFill>
              <a:srgbClr val="3D6FC2"/>
            </a:solidFill>
            <a:prstDash val="solid"/>
            <a:tailEnd type="triangle"/>
          </a:ln>
        </p:spPr>
      </p:sp>
      <p:sp>
        <p:nvSpPr>
          <p:cNvPr id="17" name="Dokumen IT"/>
          <p:cNvSpPr/>
          <p:nvPr/>
        </p:nvSpPr>
        <p:spPr>
          <a:xfrm>
            <a:off x="6643116" y="2816352"/>
            <a:ext cx="768096" cy="310896"/>
          </a:xfrm>
          <a:prstGeom prst="roundRect">
            <a:avLst>
              <a:gd name="adj" fmla="val 23529"/>
            </a:avLst>
          </a:prstGeom>
          <a:solidFill>
            <a:srgbClr val="C45C8E"/>
          </a:solidFill>
          <a:ln w="12700">
            <a:solidFill>
              <a:srgbClr val="C45C8E"/>
            </a:solidFill>
            <a:prstDash val="solid"/>
          </a:ln>
        </p:spPr>
      </p:sp>
      <p:sp>
        <p:nvSpPr>
          <p:cNvPr id="18" name="Text 16"/>
          <p:cNvSpPr txBox="1"/>
          <p:nvPr/>
        </p:nvSpPr>
        <p:spPr>
          <a:xfrm>
            <a:off x="6643116" y="2816352"/>
            <a:ext cx="768096" cy="310896"/>
          </a:xfrm>
          <a:prstGeom prst="rect">
            <a:avLst/>
          </a:prstGeom>
          <a:noFill/>
          <a:ln/>
        </p:spPr>
        <p:txBody>
          <a:bodyPr wrap="square" lIns="0" tIns="0" rIns="0" bIns="0" rtlCol="0" anchor="ctr"/>
          <a:lstStyle/>
          <a:p>
            <a:pPr algn="ctr" indent="0" marL="0">
              <a:buNone/>
            </a:pPr>
            <a:r>
              <a:rPr lang="en-US" sz="1200" b="1" dirty="0">
                <a:solidFill>
                  <a:srgbClr val="FFFFFF"/>
                </a:solidFill>
              </a:rPr>
              <a:t>IT</a:t>
            </a:r>
            <a:endParaRPr lang="en-US" sz="1200" dirty="0"/>
          </a:p>
        </p:txBody>
      </p:sp>
      <p:sp>
        <p:nvSpPr>
          <p:cNvPr id="19" name="Tahap Terima di dek"/>
          <p:cNvSpPr/>
          <p:nvPr/>
        </p:nvSpPr>
        <p:spPr>
          <a:xfrm>
            <a:off x="8055864" y="1783080"/>
            <a:ext cx="1627632" cy="960120"/>
          </a:xfrm>
          <a:prstGeom prst="roundRect">
            <a:avLst>
              <a:gd name="adj" fmla="val 11429"/>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20" name="Text 18"/>
          <p:cNvSpPr txBox="1"/>
          <p:nvPr/>
        </p:nvSpPr>
        <p:spPr>
          <a:xfrm>
            <a:off x="8147304" y="1856232"/>
            <a:ext cx="1444752" cy="822960"/>
          </a:xfrm>
          <a:prstGeom prst="rect">
            <a:avLst/>
          </a:prstGeom>
          <a:noFill/>
          <a:ln/>
        </p:spPr>
        <p:txBody>
          <a:bodyPr wrap="square" lIns="0" tIns="0" rIns="0" bIns="0" rtlCol="0" anchor="ctr"/>
          <a:lstStyle/>
          <a:p>
            <a:pPr algn="ctr" indent="0" marL="0">
              <a:buNone/>
            </a:pPr>
            <a:r>
              <a:rPr lang="en-US" sz="1500" b="1" dirty="0">
                <a:solidFill>
                  <a:srgbClr val="274289"/>
                </a:solidFill>
              </a:rPr>
              <a:t>Terima di dek</a:t>
            </a:r>
            <a:endParaRPr lang="en-US" sz="1500" dirty="0"/>
          </a:p>
          <a:p>
            <a:pPr algn="ctr" indent="0" marL="0">
              <a:buNone/>
            </a:pPr>
            <a:r>
              <a:rPr lang="en-US" sz="1200" dirty="0">
                <a:solidFill>
                  <a:srgbClr val="5B6B86"/>
                </a:solidFill>
              </a:rPr>
              <a:t>Kepala toko</a:t>
            </a:r>
            <a:endParaRPr lang="en-US" sz="1500" dirty="0"/>
          </a:p>
        </p:txBody>
      </p:sp>
      <p:sp>
        <p:nvSpPr>
          <p:cNvPr id="21" name="Panah alur"/>
          <p:cNvSpPr/>
          <p:nvPr/>
        </p:nvSpPr>
        <p:spPr>
          <a:xfrm>
            <a:off x="9710928" y="2263140"/>
            <a:ext cx="160020" cy="0"/>
          </a:xfrm>
          <a:prstGeom prst="line">
            <a:avLst/>
          </a:prstGeom>
          <a:noFill/>
          <a:ln w="25400">
            <a:solidFill>
              <a:srgbClr val="3D6FC2"/>
            </a:solidFill>
            <a:prstDash val="solid"/>
            <a:tailEnd type="triangle"/>
          </a:ln>
        </p:spPr>
      </p:sp>
      <p:sp>
        <p:nvSpPr>
          <p:cNvPr id="22" name="Tahap Jual di kasir"/>
          <p:cNvSpPr/>
          <p:nvPr/>
        </p:nvSpPr>
        <p:spPr>
          <a:xfrm>
            <a:off x="9898380" y="1783080"/>
            <a:ext cx="1627632" cy="960120"/>
          </a:xfrm>
          <a:prstGeom prst="roundRect">
            <a:avLst>
              <a:gd name="adj" fmla="val 11429"/>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23" name="Text 21"/>
          <p:cNvSpPr txBox="1"/>
          <p:nvPr/>
        </p:nvSpPr>
        <p:spPr>
          <a:xfrm>
            <a:off x="9989820" y="1856232"/>
            <a:ext cx="1444752" cy="822960"/>
          </a:xfrm>
          <a:prstGeom prst="rect">
            <a:avLst/>
          </a:prstGeom>
          <a:noFill/>
          <a:ln/>
        </p:spPr>
        <p:txBody>
          <a:bodyPr wrap="square" lIns="0" tIns="0" rIns="0" bIns="0" rtlCol="0" anchor="ctr"/>
          <a:lstStyle/>
          <a:p>
            <a:pPr algn="ctr" indent="0" marL="0">
              <a:buNone/>
            </a:pPr>
            <a:r>
              <a:rPr lang="en-US" sz="1500" b="1" dirty="0">
                <a:solidFill>
                  <a:srgbClr val="274289"/>
                </a:solidFill>
              </a:rPr>
              <a:t>Jual di kasir</a:t>
            </a:r>
            <a:endParaRPr lang="en-US" sz="1500" dirty="0"/>
          </a:p>
          <a:p>
            <a:pPr algn="ctr" indent="0" marL="0">
              <a:buNone/>
            </a:pPr>
            <a:r>
              <a:rPr lang="en-US" sz="1200" dirty="0">
                <a:solidFill>
                  <a:srgbClr val="5B6B86"/>
                </a:solidFill>
              </a:rPr>
              <a:t>Kasir</a:t>
            </a:r>
            <a:endParaRPr lang="en-US" sz="1500" dirty="0"/>
          </a:p>
        </p:txBody>
      </p:sp>
      <p:sp>
        <p:nvSpPr>
          <p:cNvPr id="24" name="Dokumen DO"/>
          <p:cNvSpPr/>
          <p:nvPr/>
        </p:nvSpPr>
        <p:spPr>
          <a:xfrm>
            <a:off x="10328148" y="2816352"/>
            <a:ext cx="768096" cy="310896"/>
          </a:xfrm>
          <a:prstGeom prst="roundRect">
            <a:avLst>
              <a:gd name="adj" fmla="val 23529"/>
            </a:avLst>
          </a:prstGeom>
          <a:solidFill>
            <a:srgbClr val="CF5140"/>
          </a:solidFill>
          <a:ln w="12700">
            <a:solidFill>
              <a:srgbClr val="CF5140"/>
            </a:solidFill>
            <a:prstDash val="solid"/>
          </a:ln>
        </p:spPr>
      </p:sp>
      <p:sp>
        <p:nvSpPr>
          <p:cNvPr id="25" name="Text 23"/>
          <p:cNvSpPr txBox="1"/>
          <p:nvPr/>
        </p:nvSpPr>
        <p:spPr>
          <a:xfrm>
            <a:off x="10328148" y="2816352"/>
            <a:ext cx="768096" cy="310896"/>
          </a:xfrm>
          <a:prstGeom prst="rect">
            <a:avLst/>
          </a:prstGeom>
          <a:noFill/>
          <a:ln/>
        </p:spPr>
        <p:txBody>
          <a:bodyPr wrap="square" lIns="0" tIns="0" rIns="0" bIns="0" rtlCol="0" anchor="ctr"/>
          <a:lstStyle/>
          <a:p>
            <a:pPr algn="ctr" indent="0" marL="0">
              <a:buNone/>
            </a:pPr>
            <a:r>
              <a:rPr lang="en-US" sz="1200" b="1" dirty="0">
                <a:solidFill>
                  <a:srgbClr val="FFFFFF"/>
                </a:solidFill>
              </a:rPr>
              <a:t>DO</a:t>
            </a:r>
            <a:endParaRPr lang="en-US" sz="1200" dirty="0"/>
          </a:p>
        </p:txBody>
      </p:sp>
      <p:sp>
        <p:nvSpPr>
          <p:cNvPr id="26" name="Text 24"/>
          <p:cNvSpPr txBox="1"/>
          <p:nvPr/>
        </p:nvSpPr>
        <p:spPr>
          <a:xfrm>
            <a:off x="685800" y="3675888"/>
            <a:ext cx="3520440" cy="365760"/>
          </a:xfrm>
          <a:prstGeom prst="rect">
            <a:avLst/>
          </a:prstGeom>
          <a:noFill/>
          <a:ln/>
        </p:spPr>
        <p:txBody>
          <a:bodyPr wrap="square" lIns="0" tIns="0" rIns="0" bIns="0" rtlCol="0" anchor="t"/>
          <a:lstStyle/>
          <a:p>
            <a:pPr algn="r" indent="0" marL="0">
              <a:buNone/>
            </a:pPr>
            <a:r>
              <a:rPr lang="en-US" sz="1400" i="1" dirty="0">
                <a:solidFill>
                  <a:srgbClr val="5B6B86"/>
                </a:solidFill>
              </a:rPr>
              <a:t>Bila stok DC kurang:</a:t>
            </a:r>
            <a:endParaRPr lang="en-US" sz="1400" dirty="0"/>
          </a:p>
        </p:txBody>
      </p:sp>
      <p:sp>
        <p:nvSpPr>
          <p:cNvPr id="27" name="Cabang pembelian"/>
          <p:cNvSpPr/>
          <p:nvPr/>
        </p:nvSpPr>
        <p:spPr>
          <a:xfrm>
            <a:off x="5184648" y="2743200"/>
            <a:ext cx="0" cy="640080"/>
          </a:xfrm>
          <a:prstGeom prst="line">
            <a:avLst/>
          </a:prstGeom>
          <a:noFill/>
          <a:ln w="25400">
            <a:solidFill>
              <a:srgbClr val="3D6FC2"/>
            </a:solidFill>
            <a:prstDash val="dash"/>
            <a:tailEnd type="triangle"/>
          </a:ln>
        </p:spPr>
      </p:sp>
      <p:sp>
        <p:nvSpPr>
          <p:cNvPr id="28" name="Cabang Permintaan pembelian"/>
          <p:cNvSpPr/>
          <p:nvPr/>
        </p:nvSpPr>
        <p:spPr>
          <a:xfrm>
            <a:off x="4370832" y="3383280"/>
            <a:ext cx="1627632" cy="960120"/>
          </a:xfrm>
          <a:prstGeom prst="roundRect">
            <a:avLst>
              <a:gd name="adj" fmla="val 11429"/>
            </a:avLst>
          </a:prstGeom>
          <a:solidFill>
            <a:srgbClr val="EEF3FA"/>
          </a:solidFill>
          <a:ln w="9525">
            <a:solidFill>
              <a:srgbClr val="EEF3FA"/>
            </a:solidFill>
            <a:prstDash val="solid"/>
          </a:ln>
          <a:effectLst>
            <a:outerShdw sx="100000" sy="100000" kx="0" ky="0" algn="bl" rotWithShape="0" blurRad="101600" dist="25400" dir="5400000">
              <a:srgbClr val="274289">
                <a:alpha val="12000"/>
              </a:srgbClr>
            </a:outerShdw>
          </a:effectLst>
        </p:spPr>
      </p:sp>
      <p:sp>
        <p:nvSpPr>
          <p:cNvPr id="29" name="Text 27"/>
          <p:cNvSpPr txBox="1"/>
          <p:nvPr/>
        </p:nvSpPr>
        <p:spPr>
          <a:xfrm>
            <a:off x="4462272" y="3456432"/>
            <a:ext cx="1444752" cy="822960"/>
          </a:xfrm>
          <a:prstGeom prst="rect">
            <a:avLst/>
          </a:prstGeom>
          <a:noFill/>
          <a:ln/>
        </p:spPr>
        <p:txBody>
          <a:bodyPr wrap="square" lIns="0" tIns="0" rIns="0" bIns="0" rtlCol="0" anchor="ctr"/>
          <a:lstStyle/>
          <a:p>
            <a:pPr algn="ctr" indent="0" marL="0">
              <a:buNone/>
            </a:pPr>
            <a:r>
              <a:rPr lang="en-US" sz="1400" b="1" dirty="0">
                <a:solidFill>
                  <a:srgbClr val="274289"/>
                </a:solidFill>
              </a:rPr>
              <a:t>Permintaan pembelian</a:t>
            </a:r>
            <a:endParaRPr lang="en-US" sz="1400" dirty="0"/>
          </a:p>
          <a:p>
            <a:pPr algn="ctr" indent="0" marL="0">
              <a:buNone/>
            </a:pPr>
            <a:r>
              <a:rPr lang="en-US" sz="1200" dirty="0">
                <a:solidFill>
                  <a:srgbClr val="5B6B86"/>
                </a:solidFill>
              </a:rPr>
              <a:t>Kantor pusat</a:t>
            </a:r>
            <a:endParaRPr lang="en-US" sz="1400" dirty="0"/>
          </a:p>
        </p:txBody>
      </p:sp>
      <p:sp>
        <p:nvSpPr>
          <p:cNvPr id="30" name="Dokumen PR"/>
          <p:cNvSpPr/>
          <p:nvPr/>
        </p:nvSpPr>
        <p:spPr>
          <a:xfrm>
            <a:off x="4800600" y="4416552"/>
            <a:ext cx="768096" cy="310896"/>
          </a:xfrm>
          <a:prstGeom prst="roundRect">
            <a:avLst>
              <a:gd name="adj" fmla="val 23529"/>
            </a:avLst>
          </a:prstGeom>
          <a:solidFill>
            <a:srgbClr val="A87412"/>
          </a:solidFill>
          <a:ln w="12700">
            <a:solidFill>
              <a:srgbClr val="A87412"/>
            </a:solidFill>
            <a:prstDash val="solid"/>
          </a:ln>
        </p:spPr>
      </p:sp>
      <p:sp>
        <p:nvSpPr>
          <p:cNvPr id="31" name="Text 29"/>
          <p:cNvSpPr txBox="1"/>
          <p:nvPr/>
        </p:nvSpPr>
        <p:spPr>
          <a:xfrm>
            <a:off x="4800600" y="4416552"/>
            <a:ext cx="768096" cy="310896"/>
          </a:xfrm>
          <a:prstGeom prst="rect">
            <a:avLst/>
          </a:prstGeom>
          <a:noFill/>
          <a:ln/>
        </p:spPr>
        <p:txBody>
          <a:bodyPr wrap="square" lIns="0" tIns="0" rIns="0" bIns="0" rtlCol="0" anchor="ctr"/>
          <a:lstStyle/>
          <a:p>
            <a:pPr algn="ctr" indent="0" marL="0">
              <a:buNone/>
            </a:pPr>
            <a:r>
              <a:rPr lang="en-US" sz="1200" b="1" dirty="0">
                <a:solidFill>
                  <a:srgbClr val="FFFFFF"/>
                </a:solidFill>
              </a:rPr>
              <a:t>PR</a:t>
            </a:r>
            <a:endParaRPr lang="en-US" sz="1200" dirty="0"/>
          </a:p>
        </p:txBody>
      </p:sp>
      <p:sp>
        <p:nvSpPr>
          <p:cNvPr id="32" name="Panah cabang"/>
          <p:cNvSpPr/>
          <p:nvPr/>
        </p:nvSpPr>
        <p:spPr>
          <a:xfrm>
            <a:off x="6025896" y="3863340"/>
            <a:ext cx="160020" cy="0"/>
          </a:xfrm>
          <a:prstGeom prst="line">
            <a:avLst/>
          </a:prstGeom>
          <a:noFill/>
          <a:ln w="25400">
            <a:solidFill>
              <a:srgbClr val="3D6FC2"/>
            </a:solidFill>
            <a:prstDash val="solid"/>
            <a:tailEnd type="triangle"/>
          </a:ln>
        </p:spPr>
      </p:sp>
      <p:sp>
        <p:nvSpPr>
          <p:cNvPr id="33" name="Cabang Pesanan ke vendor"/>
          <p:cNvSpPr/>
          <p:nvPr/>
        </p:nvSpPr>
        <p:spPr>
          <a:xfrm>
            <a:off x="6213348" y="3383280"/>
            <a:ext cx="1627632" cy="960120"/>
          </a:xfrm>
          <a:prstGeom prst="roundRect">
            <a:avLst>
              <a:gd name="adj" fmla="val 11429"/>
            </a:avLst>
          </a:prstGeom>
          <a:solidFill>
            <a:srgbClr val="EEF3FA"/>
          </a:solidFill>
          <a:ln w="9525">
            <a:solidFill>
              <a:srgbClr val="EEF3FA"/>
            </a:solidFill>
            <a:prstDash val="solid"/>
          </a:ln>
          <a:effectLst>
            <a:outerShdw sx="100000" sy="100000" kx="0" ky="0" algn="bl" rotWithShape="0" blurRad="101600" dist="25400" dir="5400000">
              <a:srgbClr val="274289">
                <a:alpha val="12000"/>
              </a:srgbClr>
            </a:outerShdw>
          </a:effectLst>
        </p:spPr>
      </p:sp>
      <p:sp>
        <p:nvSpPr>
          <p:cNvPr id="34" name="Text 32"/>
          <p:cNvSpPr txBox="1"/>
          <p:nvPr/>
        </p:nvSpPr>
        <p:spPr>
          <a:xfrm>
            <a:off x="6304788" y="3456432"/>
            <a:ext cx="1444752" cy="822960"/>
          </a:xfrm>
          <a:prstGeom prst="rect">
            <a:avLst/>
          </a:prstGeom>
          <a:noFill/>
          <a:ln/>
        </p:spPr>
        <p:txBody>
          <a:bodyPr wrap="square" lIns="0" tIns="0" rIns="0" bIns="0" rtlCol="0" anchor="ctr"/>
          <a:lstStyle/>
          <a:p>
            <a:pPr algn="ctr" indent="0" marL="0">
              <a:buNone/>
            </a:pPr>
            <a:r>
              <a:rPr lang="en-US" sz="1400" b="1" dirty="0">
                <a:solidFill>
                  <a:srgbClr val="274289"/>
                </a:solidFill>
              </a:rPr>
              <a:t>Pesanan ke vendor</a:t>
            </a:r>
            <a:endParaRPr lang="en-US" sz="1400" dirty="0"/>
          </a:p>
          <a:p>
            <a:pPr algn="ctr" indent="0" marL="0">
              <a:buNone/>
            </a:pPr>
            <a:r>
              <a:rPr lang="en-US" sz="1200" dirty="0">
                <a:solidFill>
                  <a:srgbClr val="5B6B86"/>
                </a:solidFill>
              </a:rPr>
              <a:t>Purchasing</a:t>
            </a:r>
            <a:endParaRPr lang="en-US" sz="1400" dirty="0"/>
          </a:p>
        </p:txBody>
      </p:sp>
      <p:sp>
        <p:nvSpPr>
          <p:cNvPr id="35" name="Dokumen PO"/>
          <p:cNvSpPr/>
          <p:nvPr/>
        </p:nvSpPr>
        <p:spPr>
          <a:xfrm>
            <a:off x="6643116" y="4416552"/>
            <a:ext cx="768096" cy="310896"/>
          </a:xfrm>
          <a:prstGeom prst="roundRect">
            <a:avLst>
              <a:gd name="adj" fmla="val 23529"/>
            </a:avLst>
          </a:prstGeom>
          <a:solidFill>
            <a:srgbClr val="C85A1C"/>
          </a:solidFill>
          <a:ln w="12700">
            <a:solidFill>
              <a:srgbClr val="C85A1C"/>
            </a:solidFill>
            <a:prstDash val="solid"/>
          </a:ln>
        </p:spPr>
      </p:sp>
      <p:sp>
        <p:nvSpPr>
          <p:cNvPr id="36" name="Text 34"/>
          <p:cNvSpPr txBox="1"/>
          <p:nvPr/>
        </p:nvSpPr>
        <p:spPr>
          <a:xfrm>
            <a:off x="6643116" y="4416552"/>
            <a:ext cx="768096" cy="310896"/>
          </a:xfrm>
          <a:prstGeom prst="rect">
            <a:avLst/>
          </a:prstGeom>
          <a:noFill/>
          <a:ln/>
        </p:spPr>
        <p:txBody>
          <a:bodyPr wrap="square" lIns="0" tIns="0" rIns="0" bIns="0" rtlCol="0" anchor="ctr"/>
          <a:lstStyle/>
          <a:p>
            <a:pPr algn="ctr" indent="0" marL="0">
              <a:buNone/>
            </a:pPr>
            <a:r>
              <a:rPr lang="en-US" sz="1200" b="1" dirty="0">
                <a:solidFill>
                  <a:srgbClr val="FFFFFF"/>
                </a:solidFill>
              </a:rPr>
              <a:t>PO</a:t>
            </a:r>
            <a:endParaRPr lang="en-US" sz="1200" dirty="0"/>
          </a:p>
        </p:txBody>
      </p:sp>
      <p:sp>
        <p:nvSpPr>
          <p:cNvPr id="37" name="Panah cabang"/>
          <p:cNvSpPr/>
          <p:nvPr/>
        </p:nvSpPr>
        <p:spPr>
          <a:xfrm>
            <a:off x="7868412" y="3863340"/>
            <a:ext cx="160020" cy="0"/>
          </a:xfrm>
          <a:prstGeom prst="line">
            <a:avLst/>
          </a:prstGeom>
          <a:noFill/>
          <a:ln w="25400">
            <a:solidFill>
              <a:srgbClr val="3D6FC2"/>
            </a:solidFill>
            <a:prstDash val="solid"/>
            <a:tailEnd type="triangle"/>
          </a:ln>
        </p:spPr>
      </p:sp>
      <p:sp>
        <p:nvSpPr>
          <p:cNvPr id="38" name="Cabang Barang vendor tiba"/>
          <p:cNvSpPr/>
          <p:nvPr/>
        </p:nvSpPr>
        <p:spPr>
          <a:xfrm>
            <a:off x="8055864" y="3383280"/>
            <a:ext cx="1627632" cy="960120"/>
          </a:xfrm>
          <a:prstGeom prst="roundRect">
            <a:avLst>
              <a:gd name="adj" fmla="val 11429"/>
            </a:avLst>
          </a:prstGeom>
          <a:solidFill>
            <a:srgbClr val="EEF3FA"/>
          </a:solidFill>
          <a:ln w="9525">
            <a:solidFill>
              <a:srgbClr val="EEF3FA"/>
            </a:solidFill>
            <a:prstDash val="solid"/>
          </a:ln>
          <a:effectLst>
            <a:outerShdw sx="100000" sy="100000" kx="0" ky="0" algn="bl" rotWithShape="0" blurRad="101600" dist="25400" dir="5400000">
              <a:srgbClr val="274289">
                <a:alpha val="12000"/>
              </a:srgbClr>
            </a:outerShdw>
          </a:effectLst>
        </p:spPr>
      </p:sp>
      <p:sp>
        <p:nvSpPr>
          <p:cNvPr id="39" name="Text 37"/>
          <p:cNvSpPr txBox="1"/>
          <p:nvPr/>
        </p:nvSpPr>
        <p:spPr>
          <a:xfrm>
            <a:off x="8147304" y="3456432"/>
            <a:ext cx="1444752" cy="822960"/>
          </a:xfrm>
          <a:prstGeom prst="rect">
            <a:avLst/>
          </a:prstGeom>
          <a:noFill/>
          <a:ln/>
        </p:spPr>
        <p:txBody>
          <a:bodyPr wrap="square" lIns="0" tIns="0" rIns="0" bIns="0" rtlCol="0" anchor="ctr"/>
          <a:lstStyle/>
          <a:p>
            <a:pPr algn="ctr" indent="0" marL="0">
              <a:buNone/>
            </a:pPr>
            <a:r>
              <a:rPr lang="en-US" sz="1400" b="1" dirty="0">
                <a:solidFill>
                  <a:srgbClr val="274289"/>
                </a:solidFill>
              </a:rPr>
              <a:t>Barang vendor tiba</a:t>
            </a:r>
            <a:endParaRPr lang="en-US" sz="1400" dirty="0"/>
          </a:p>
          <a:p>
            <a:pPr algn="ctr" indent="0" marL="0">
              <a:buNone/>
            </a:pPr>
            <a:r>
              <a:rPr lang="en-US" sz="1200" dirty="0">
                <a:solidFill>
                  <a:srgbClr val="5B6B86"/>
                </a:solidFill>
              </a:rPr>
              <a:t>Admin DC</a:t>
            </a:r>
            <a:endParaRPr lang="en-US" sz="1400" dirty="0"/>
          </a:p>
        </p:txBody>
      </p:sp>
      <p:sp>
        <p:nvSpPr>
          <p:cNvPr id="40" name="Dokumen GRPO"/>
          <p:cNvSpPr/>
          <p:nvPr/>
        </p:nvSpPr>
        <p:spPr>
          <a:xfrm>
            <a:off x="8485632" y="4416552"/>
            <a:ext cx="768096" cy="310896"/>
          </a:xfrm>
          <a:prstGeom prst="roundRect">
            <a:avLst>
              <a:gd name="adj" fmla="val 23529"/>
            </a:avLst>
          </a:prstGeom>
          <a:solidFill>
            <a:srgbClr val="7C68B8"/>
          </a:solidFill>
          <a:ln w="12700">
            <a:solidFill>
              <a:srgbClr val="7C68B8"/>
            </a:solidFill>
            <a:prstDash val="solid"/>
          </a:ln>
        </p:spPr>
      </p:sp>
      <p:sp>
        <p:nvSpPr>
          <p:cNvPr id="41" name="Text 39"/>
          <p:cNvSpPr txBox="1"/>
          <p:nvPr/>
        </p:nvSpPr>
        <p:spPr>
          <a:xfrm>
            <a:off x="8485632" y="4416552"/>
            <a:ext cx="768096" cy="310896"/>
          </a:xfrm>
          <a:prstGeom prst="rect">
            <a:avLst/>
          </a:prstGeom>
          <a:noFill/>
          <a:ln/>
        </p:spPr>
        <p:txBody>
          <a:bodyPr wrap="square" lIns="0" tIns="0" rIns="0" bIns="0" rtlCol="0" anchor="ctr"/>
          <a:lstStyle/>
          <a:p>
            <a:pPr algn="ctr" indent="0" marL="0">
              <a:buNone/>
            </a:pPr>
            <a:r>
              <a:rPr lang="en-US" sz="1200" b="1" dirty="0">
                <a:solidFill>
                  <a:srgbClr val="FFFFFF"/>
                </a:solidFill>
              </a:rPr>
              <a:t>GRPO</a:t>
            </a:r>
            <a:endParaRPr lang="en-US" sz="1200" dirty="0"/>
          </a:p>
        </p:txBody>
      </p:sp>
      <p:sp>
        <p:nvSpPr>
          <p:cNvPr id="42" name="Kembali ke transfer"/>
          <p:cNvSpPr/>
          <p:nvPr/>
        </p:nvSpPr>
        <p:spPr>
          <a:xfrm>
            <a:off x="7027164" y="3172968"/>
            <a:ext cx="1842516" cy="210312"/>
          </a:xfrm>
          <a:prstGeom prst="line">
            <a:avLst/>
          </a:prstGeom>
          <a:noFill/>
          <a:ln w="25400">
            <a:solidFill>
              <a:srgbClr val="3D6FC2"/>
            </a:solidFill>
            <a:prstDash val="dash"/>
            <a:headEnd type="triangle"/>
          </a:ln>
        </p:spPr>
      </p:sp>
      <p:sp>
        <p:nvSpPr>
          <p:cNvPr id="43" name="Keterangan dokumen SAP"/>
          <p:cNvSpPr/>
          <p:nvPr/>
        </p:nvSpPr>
        <p:spPr>
          <a:xfrm>
            <a:off x="1600200" y="4892040"/>
            <a:ext cx="9921240" cy="1188720"/>
          </a:xfrm>
          <a:prstGeom prst="roundRect">
            <a:avLst>
              <a:gd name="adj" fmla="val 9231"/>
            </a:avLst>
          </a:prstGeom>
          <a:solidFill>
            <a:srgbClr val="EEF3FA"/>
          </a:solidFill>
          <a:ln w="9525">
            <a:solidFill>
              <a:srgbClr val="EEF3FA"/>
            </a:solidFill>
            <a:prstDash val="solid"/>
          </a:ln>
          <a:effectLst>
            <a:outerShdw sx="100000" sy="100000" kx="0" ky="0" algn="bl" rotWithShape="0" blurRad="101600" dist="25400" dir="5400000">
              <a:srgbClr val="274289">
                <a:alpha val="12000"/>
              </a:srgbClr>
            </a:outerShdw>
          </a:effectLst>
        </p:spPr>
      </p:sp>
      <p:sp>
        <p:nvSpPr>
          <p:cNvPr id="44" name="Text 42"/>
          <p:cNvSpPr txBox="1"/>
          <p:nvPr/>
        </p:nvSpPr>
        <p:spPr>
          <a:xfrm>
            <a:off x="1828800" y="4965192"/>
            <a:ext cx="5486400" cy="274320"/>
          </a:xfrm>
          <a:prstGeom prst="rect">
            <a:avLst/>
          </a:prstGeom>
          <a:noFill/>
          <a:ln/>
        </p:spPr>
        <p:txBody>
          <a:bodyPr wrap="square" lIns="0" tIns="0" rIns="0" bIns="0" rtlCol="0" anchor="t"/>
          <a:lstStyle/>
          <a:p>
            <a:pPr indent="0" marL="0">
              <a:buNone/>
            </a:pPr>
            <a:r>
              <a:rPr lang="en-US" sz="1300" b="1" dirty="0">
                <a:solidFill>
                  <a:srgbClr val="274289"/>
                </a:solidFill>
              </a:rPr>
              <a:t>Dokumen SAP yang dibuat otomatis:</a:t>
            </a:r>
            <a:endParaRPr lang="en-US" sz="1300" dirty="0"/>
          </a:p>
        </p:txBody>
      </p:sp>
      <p:sp>
        <p:nvSpPr>
          <p:cNvPr id="45" name="Keterangan SO"/>
          <p:cNvSpPr/>
          <p:nvPr/>
        </p:nvSpPr>
        <p:spPr>
          <a:xfrm>
            <a:off x="1828800" y="5303520"/>
            <a:ext cx="658368" cy="274320"/>
          </a:xfrm>
          <a:prstGeom prst="roundRect">
            <a:avLst>
              <a:gd name="adj" fmla="val 20000"/>
            </a:avLst>
          </a:prstGeom>
          <a:solidFill>
            <a:srgbClr val="4A8A3C"/>
          </a:solidFill>
          <a:ln w="12700">
            <a:solidFill>
              <a:srgbClr val="4A8A3C"/>
            </a:solidFill>
            <a:prstDash val="solid"/>
          </a:ln>
        </p:spPr>
      </p:sp>
      <p:sp>
        <p:nvSpPr>
          <p:cNvPr id="46" name="Text 44"/>
          <p:cNvSpPr txBox="1"/>
          <p:nvPr/>
        </p:nvSpPr>
        <p:spPr>
          <a:xfrm>
            <a:off x="1828800" y="5303520"/>
            <a:ext cx="658368" cy="274320"/>
          </a:xfrm>
          <a:prstGeom prst="rect">
            <a:avLst/>
          </a:prstGeom>
          <a:noFill/>
          <a:ln/>
        </p:spPr>
        <p:txBody>
          <a:bodyPr wrap="square" lIns="0" tIns="0" rIns="0" bIns="0" rtlCol="0" anchor="ctr"/>
          <a:lstStyle/>
          <a:p>
            <a:pPr algn="ctr" indent="0" marL="0">
              <a:buNone/>
            </a:pPr>
            <a:r>
              <a:rPr lang="en-US" sz="1100" b="1" dirty="0">
                <a:solidFill>
                  <a:srgbClr val="FFFFFF"/>
                </a:solidFill>
              </a:rPr>
              <a:t>SO</a:t>
            </a:r>
            <a:endParaRPr lang="en-US" sz="1100" dirty="0"/>
          </a:p>
        </p:txBody>
      </p:sp>
      <p:sp>
        <p:nvSpPr>
          <p:cNvPr id="47" name="Text 45"/>
          <p:cNvSpPr txBox="1"/>
          <p:nvPr/>
        </p:nvSpPr>
        <p:spPr>
          <a:xfrm>
            <a:off x="2578608" y="5285232"/>
            <a:ext cx="2423160" cy="310896"/>
          </a:xfrm>
          <a:prstGeom prst="rect">
            <a:avLst/>
          </a:prstGeom>
          <a:noFill/>
          <a:ln/>
        </p:spPr>
        <p:txBody>
          <a:bodyPr wrap="square" lIns="0" tIns="0" rIns="0" bIns="0" rtlCol="0" anchor="ctr"/>
          <a:lstStyle/>
          <a:p>
            <a:pPr indent="0" marL="0">
              <a:buNone/>
            </a:pPr>
            <a:r>
              <a:rPr lang="en-US" sz="1200" b="1" dirty="0">
                <a:solidFill>
                  <a:srgbClr val="274289"/>
                </a:solidFill>
              </a:rPr>
              <a:t>Sales Order</a:t>
            </a:r>
            <a:pPr indent="0" marL="0">
              <a:buNone/>
            </a:pPr>
            <a:r>
              <a:rPr lang="en-US" sz="1200" dirty="0">
                <a:solidFill>
                  <a:srgbClr val="5B6B86"/>
                </a:solidFill>
              </a:rPr>
              <a:t> · pesanan per dek</a:t>
            </a:r>
            <a:endParaRPr lang="en-US" sz="1200" dirty="0"/>
          </a:p>
        </p:txBody>
      </p:sp>
      <p:sp>
        <p:nvSpPr>
          <p:cNvPr id="48" name="Keterangan PR"/>
          <p:cNvSpPr/>
          <p:nvPr/>
        </p:nvSpPr>
        <p:spPr>
          <a:xfrm>
            <a:off x="5074920" y="5303520"/>
            <a:ext cx="658368" cy="274320"/>
          </a:xfrm>
          <a:prstGeom prst="roundRect">
            <a:avLst>
              <a:gd name="adj" fmla="val 20000"/>
            </a:avLst>
          </a:prstGeom>
          <a:solidFill>
            <a:srgbClr val="A87412"/>
          </a:solidFill>
          <a:ln w="12700">
            <a:solidFill>
              <a:srgbClr val="A87412"/>
            </a:solidFill>
            <a:prstDash val="solid"/>
          </a:ln>
        </p:spPr>
      </p:sp>
      <p:sp>
        <p:nvSpPr>
          <p:cNvPr id="49" name="Text 47"/>
          <p:cNvSpPr txBox="1"/>
          <p:nvPr/>
        </p:nvSpPr>
        <p:spPr>
          <a:xfrm>
            <a:off x="5074920" y="5303520"/>
            <a:ext cx="658368" cy="274320"/>
          </a:xfrm>
          <a:prstGeom prst="rect">
            <a:avLst/>
          </a:prstGeom>
          <a:noFill/>
          <a:ln/>
        </p:spPr>
        <p:txBody>
          <a:bodyPr wrap="square" lIns="0" tIns="0" rIns="0" bIns="0" rtlCol="0" anchor="ctr"/>
          <a:lstStyle/>
          <a:p>
            <a:pPr algn="ctr" indent="0" marL="0">
              <a:buNone/>
            </a:pPr>
            <a:r>
              <a:rPr lang="en-US" sz="1100" b="1" dirty="0">
                <a:solidFill>
                  <a:srgbClr val="FFFFFF"/>
                </a:solidFill>
              </a:rPr>
              <a:t>PR</a:t>
            </a:r>
            <a:endParaRPr lang="en-US" sz="1100" dirty="0"/>
          </a:p>
        </p:txBody>
      </p:sp>
      <p:sp>
        <p:nvSpPr>
          <p:cNvPr id="50" name="Text 48"/>
          <p:cNvSpPr txBox="1"/>
          <p:nvPr/>
        </p:nvSpPr>
        <p:spPr>
          <a:xfrm>
            <a:off x="5824728" y="5285232"/>
            <a:ext cx="2423160" cy="310896"/>
          </a:xfrm>
          <a:prstGeom prst="rect">
            <a:avLst/>
          </a:prstGeom>
          <a:noFill/>
          <a:ln/>
        </p:spPr>
        <p:txBody>
          <a:bodyPr wrap="square" lIns="0" tIns="0" rIns="0" bIns="0" rtlCol="0" anchor="ctr"/>
          <a:lstStyle/>
          <a:p>
            <a:pPr indent="0" marL="0">
              <a:buNone/>
            </a:pPr>
            <a:r>
              <a:rPr lang="en-US" sz="1200" b="1" dirty="0">
                <a:solidFill>
                  <a:srgbClr val="274289"/>
                </a:solidFill>
              </a:rPr>
              <a:t>Purchase Request</a:t>
            </a:r>
            <a:pPr indent="0" marL="0">
              <a:buNone/>
            </a:pPr>
            <a:r>
              <a:rPr lang="en-US" sz="1200" dirty="0">
                <a:solidFill>
                  <a:srgbClr val="5B6B86"/>
                </a:solidFill>
              </a:rPr>
              <a:t> · permintaan pembelian</a:t>
            </a:r>
            <a:endParaRPr lang="en-US" sz="1200" dirty="0"/>
          </a:p>
        </p:txBody>
      </p:sp>
      <p:sp>
        <p:nvSpPr>
          <p:cNvPr id="51" name="Keterangan PO"/>
          <p:cNvSpPr/>
          <p:nvPr/>
        </p:nvSpPr>
        <p:spPr>
          <a:xfrm>
            <a:off x="8321040" y="5303520"/>
            <a:ext cx="658368" cy="274320"/>
          </a:xfrm>
          <a:prstGeom prst="roundRect">
            <a:avLst>
              <a:gd name="adj" fmla="val 20000"/>
            </a:avLst>
          </a:prstGeom>
          <a:solidFill>
            <a:srgbClr val="C85A1C"/>
          </a:solidFill>
          <a:ln w="12700">
            <a:solidFill>
              <a:srgbClr val="C85A1C"/>
            </a:solidFill>
            <a:prstDash val="solid"/>
          </a:ln>
        </p:spPr>
      </p:sp>
      <p:sp>
        <p:nvSpPr>
          <p:cNvPr id="52" name="Text 50"/>
          <p:cNvSpPr txBox="1"/>
          <p:nvPr/>
        </p:nvSpPr>
        <p:spPr>
          <a:xfrm>
            <a:off x="8321040" y="5303520"/>
            <a:ext cx="658368" cy="274320"/>
          </a:xfrm>
          <a:prstGeom prst="rect">
            <a:avLst/>
          </a:prstGeom>
          <a:noFill/>
          <a:ln/>
        </p:spPr>
        <p:txBody>
          <a:bodyPr wrap="square" lIns="0" tIns="0" rIns="0" bIns="0" rtlCol="0" anchor="ctr"/>
          <a:lstStyle/>
          <a:p>
            <a:pPr algn="ctr" indent="0" marL="0">
              <a:buNone/>
            </a:pPr>
            <a:r>
              <a:rPr lang="en-US" sz="1100" b="1" dirty="0">
                <a:solidFill>
                  <a:srgbClr val="FFFFFF"/>
                </a:solidFill>
              </a:rPr>
              <a:t>PO</a:t>
            </a:r>
            <a:endParaRPr lang="en-US" sz="1100" dirty="0"/>
          </a:p>
        </p:txBody>
      </p:sp>
      <p:sp>
        <p:nvSpPr>
          <p:cNvPr id="53" name="Text 51"/>
          <p:cNvSpPr txBox="1"/>
          <p:nvPr/>
        </p:nvSpPr>
        <p:spPr>
          <a:xfrm>
            <a:off x="9070848" y="5285232"/>
            <a:ext cx="2423160" cy="310896"/>
          </a:xfrm>
          <a:prstGeom prst="rect">
            <a:avLst/>
          </a:prstGeom>
          <a:noFill/>
          <a:ln/>
        </p:spPr>
        <p:txBody>
          <a:bodyPr wrap="square" lIns="0" tIns="0" rIns="0" bIns="0" rtlCol="0" anchor="ctr"/>
          <a:lstStyle/>
          <a:p>
            <a:pPr indent="0" marL="0">
              <a:buNone/>
            </a:pPr>
            <a:r>
              <a:rPr lang="en-US" sz="1200" b="1" dirty="0">
                <a:solidFill>
                  <a:srgbClr val="274289"/>
                </a:solidFill>
              </a:rPr>
              <a:t>Purchase Order</a:t>
            </a:r>
            <a:pPr indent="0" marL="0">
              <a:buNone/>
            </a:pPr>
            <a:r>
              <a:rPr lang="en-US" sz="1200" dirty="0">
                <a:solidFill>
                  <a:srgbClr val="5B6B86"/>
                </a:solidFill>
              </a:rPr>
              <a:t> · pesanan ke vendor</a:t>
            </a:r>
            <a:endParaRPr lang="en-US" sz="1200" dirty="0"/>
          </a:p>
        </p:txBody>
      </p:sp>
      <p:sp>
        <p:nvSpPr>
          <p:cNvPr id="54" name="Keterangan GRPO"/>
          <p:cNvSpPr/>
          <p:nvPr/>
        </p:nvSpPr>
        <p:spPr>
          <a:xfrm>
            <a:off x="1828800" y="5669280"/>
            <a:ext cx="658368" cy="274320"/>
          </a:xfrm>
          <a:prstGeom prst="roundRect">
            <a:avLst>
              <a:gd name="adj" fmla="val 20000"/>
            </a:avLst>
          </a:prstGeom>
          <a:solidFill>
            <a:srgbClr val="7C68B8"/>
          </a:solidFill>
          <a:ln w="12700">
            <a:solidFill>
              <a:srgbClr val="7C68B8"/>
            </a:solidFill>
            <a:prstDash val="solid"/>
          </a:ln>
        </p:spPr>
      </p:sp>
      <p:sp>
        <p:nvSpPr>
          <p:cNvPr id="55" name="Text 53"/>
          <p:cNvSpPr txBox="1"/>
          <p:nvPr/>
        </p:nvSpPr>
        <p:spPr>
          <a:xfrm>
            <a:off x="1828800" y="5669280"/>
            <a:ext cx="658368" cy="274320"/>
          </a:xfrm>
          <a:prstGeom prst="rect">
            <a:avLst/>
          </a:prstGeom>
          <a:noFill/>
          <a:ln/>
        </p:spPr>
        <p:txBody>
          <a:bodyPr wrap="square" lIns="0" tIns="0" rIns="0" bIns="0" rtlCol="0" anchor="ctr"/>
          <a:lstStyle/>
          <a:p>
            <a:pPr algn="ctr" indent="0" marL="0">
              <a:buNone/>
            </a:pPr>
            <a:r>
              <a:rPr lang="en-US" sz="1100" b="1" dirty="0">
                <a:solidFill>
                  <a:srgbClr val="FFFFFF"/>
                </a:solidFill>
              </a:rPr>
              <a:t>GRPO</a:t>
            </a:r>
            <a:endParaRPr lang="en-US" sz="1100" dirty="0"/>
          </a:p>
        </p:txBody>
      </p:sp>
      <p:sp>
        <p:nvSpPr>
          <p:cNvPr id="56" name="Text 54"/>
          <p:cNvSpPr txBox="1"/>
          <p:nvPr/>
        </p:nvSpPr>
        <p:spPr>
          <a:xfrm>
            <a:off x="2578608" y="5650992"/>
            <a:ext cx="2423160" cy="310896"/>
          </a:xfrm>
          <a:prstGeom prst="rect">
            <a:avLst/>
          </a:prstGeom>
          <a:noFill/>
          <a:ln/>
        </p:spPr>
        <p:txBody>
          <a:bodyPr wrap="square" lIns="0" tIns="0" rIns="0" bIns="0" rtlCol="0" anchor="ctr"/>
          <a:lstStyle/>
          <a:p>
            <a:pPr indent="0" marL="0">
              <a:buNone/>
            </a:pPr>
            <a:r>
              <a:rPr lang="en-US" sz="1200" b="1" dirty="0">
                <a:solidFill>
                  <a:srgbClr val="274289"/>
                </a:solidFill>
              </a:rPr>
              <a:t>Goods Receipt PO</a:t>
            </a:r>
            <a:pPr indent="0" marL="0">
              <a:buNone/>
            </a:pPr>
            <a:r>
              <a:rPr lang="en-US" sz="1200" dirty="0">
                <a:solidFill>
                  <a:srgbClr val="5B6B86"/>
                </a:solidFill>
              </a:rPr>
              <a:t> · penerimaan barang vendor</a:t>
            </a:r>
            <a:endParaRPr lang="en-US" sz="1200" dirty="0"/>
          </a:p>
        </p:txBody>
      </p:sp>
      <p:sp>
        <p:nvSpPr>
          <p:cNvPr id="57" name="Keterangan IT"/>
          <p:cNvSpPr/>
          <p:nvPr/>
        </p:nvSpPr>
        <p:spPr>
          <a:xfrm>
            <a:off x="5074920" y="5669280"/>
            <a:ext cx="658368" cy="274320"/>
          </a:xfrm>
          <a:prstGeom prst="roundRect">
            <a:avLst>
              <a:gd name="adj" fmla="val 20000"/>
            </a:avLst>
          </a:prstGeom>
          <a:solidFill>
            <a:srgbClr val="C45C8E"/>
          </a:solidFill>
          <a:ln w="12700">
            <a:solidFill>
              <a:srgbClr val="C45C8E"/>
            </a:solidFill>
            <a:prstDash val="solid"/>
          </a:ln>
        </p:spPr>
      </p:sp>
      <p:sp>
        <p:nvSpPr>
          <p:cNvPr id="58" name="Text 56"/>
          <p:cNvSpPr txBox="1"/>
          <p:nvPr/>
        </p:nvSpPr>
        <p:spPr>
          <a:xfrm>
            <a:off x="5074920" y="5669280"/>
            <a:ext cx="658368" cy="274320"/>
          </a:xfrm>
          <a:prstGeom prst="rect">
            <a:avLst/>
          </a:prstGeom>
          <a:noFill/>
          <a:ln/>
        </p:spPr>
        <p:txBody>
          <a:bodyPr wrap="square" lIns="0" tIns="0" rIns="0" bIns="0" rtlCol="0" anchor="ctr"/>
          <a:lstStyle/>
          <a:p>
            <a:pPr algn="ctr" indent="0" marL="0">
              <a:buNone/>
            </a:pPr>
            <a:r>
              <a:rPr lang="en-US" sz="1100" b="1" dirty="0">
                <a:solidFill>
                  <a:srgbClr val="FFFFFF"/>
                </a:solidFill>
              </a:rPr>
              <a:t>IT</a:t>
            </a:r>
            <a:endParaRPr lang="en-US" sz="1100" dirty="0"/>
          </a:p>
        </p:txBody>
      </p:sp>
      <p:sp>
        <p:nvSpPr>
          <p:cNvPr id="59" name="Text 57"/>
          <p:cNvSpPr txBox="1"/>
          <p:nvPr/>
        </p:nvSpPr>
        <p:spPr>
          <a:xfrm>
            <a:off x="5824728" y="5650992"/>
            <a:ext cx="2423160" cy="310896"/>
          </a:xfrm>
          <a:prstGeom prst="rect">
            <a:avLst/>
          </a:prstGeom>
          <a:noFill/>
          <a:ln/>
        </p:spPr>
        <p:txBody>
          <a:bodyPr wrap="square" lIns="0" tIns="0" rIns="0" bIns="0" rtlCol="0" anchor="ctr"/>
          <a:lstStyle/>
          <a:p>
            <a:pPr indent="0" marL="0">
              <a:buNone/>
            </a:pPr>
            <a:r>
              <a:rPr lang="en-US" sz="1200" b="1" dirty="0">
                <a:solidFill>
                  <a:srgbClr val="274289"/>
                </a:solidFill>
              </a:rPr>
              <a:t>Inventory Transfer</a:t>
            </a:r>
            <a:pPr indent="0" marL="0">
              <a:buNone/>
            </a:pPr>
            <a:r>
              <a:rPr lang="en-US" sz="1200" dirty="0">
                <a:solidFill>
                  <a:srgbClr val="5B6B86"/>
                </a:solidFill>
              </a:rPr>
              <a:t> · kiriman DC ke dek</a:t>
            </a:r>
            <a:endParaRPr lang="en-US" sz="1200" dirty="0"/>
          </a:p>
        </p:txBody>
      </p:sp>
      <p:sp>
        <p:nvSpPr>
          <p:cNvPr id="60" name="Keterangan DO"/>
          <p:cNvSpPr/>
          <p:nvPr/>
        </p:nvSpPr>
        <p:spPr>
          <a:xfrm>
            <a:off x="8321040" y="5669280"/>
            <a:ext cx="658368" cy="274320"/>
          </a:xfrm>
          <a:prstGeom prst="roundRect">
            <a:avLst>
              <a:gd name="adj" fmla="val 20000"/>
            </a:avLst>
          </a:prstGeom>
          <a:solidFill>
            <a:srgbClr val="CF5140"/>
          </a:solidFill>
          <a:ln w="12700">
            <a:solidFill>
              <a:srgbClr val="CF5140"/>
            </a:solidFill>
            <a:prstDash val="solid"/>
          </a:ln>
        </p:spPr>
      </p:sp>
      <p:sp>
        <p:nvSpPr>
          <p:cNvPr id="61" name="Text 59"/>
          <p:cNvSpPr txBox="1"/>
          <p:nvPr/>
        </p:nvSpPr>
        <p:spPr>
          <a:xfrm>
            <a:off x="8321040" y="5669280"/>
            <a:ext cx="658368" cy="274320"/>
          </a:xfrm>
          <a:prstGeom prst="rect">
            <a:avLst/>
          </a:prstGeom>
          <a:noFill/>
          <a:ln/>
        </p:spPr>
        <p:txBody>
          <a:bodyPr wrap="square" lIns="0" tIns="0" rIns="0" bIns="0" rtlCol="0" anchor="ctr"/>
          <a:lstStyle/>
          <a:p>
            <a:pPr algn="ctr" indent="0" marL="0">
              <a:buNone/>
            </a:pPr>
            <a:r>
              <a:rPr lang="en-US" sz="1100" b="1" dirty="0">
                <a:solidFill>
                  <a:srgbClr val="FFFFFF"/>
                </a:solidFill>
              </a:rPr>
              <a:t>DO</a:t>
            </a:r>
            <a:endParaRPr lang="en-US" sz="1100" dirty="0"/>
          </a:p>
        </p:txBody>
      </p:sp>
      <p:sp>
        <p:nvSpPr>
          <p:cNvPr id="62" name="Text 60"/>
          <p:cNvSpPr txBox="1"/>
          <p:nvPr/>
        </p:nvSpPr>
        <p:spPr>
          <a:xfrm>
            <a:off x="9070848" y="5650992"/>
            <a:ext cx="2423160" cy="310896"/>
          </a:xfrm>
          <a:prstGeom prst="rect">
            <a:avLst/>
          </a:prstGeom>
          <a:noFill/>
          <a:ln/>
        </p:spPr>
        <p:txBody>
          <a:bodyPr wrap="square" lIns="0" tIns="0" rIns="0" bIns="0" rtlCol="0" anchor="ctr"/>
          <a:lstStyle/>
          <a:p>
            <a:pPr indent="0" marL="0">
              <a:buNone/>
            </a:pPr>
            <a:r>
              <a:rPr lang="en-US" sz="1200" b="1" dirty="0">
                <a:solidFill>
                  <a:srgbClr val="274289"/>
                </a:solidFill>
              </a:rPr>
              <a:t>Delivery Order</a:t>
            </a:r>
            <a:pPr indent="0" marL="0">
              <a:buNone/>
            </a:pPr>
            <a:r>
              <a:rPr lang="en-US" sz="1200" dirty="0">
                <a:solidFill>
                  <a:srgbClr val="5B6B86"/>
                </a:solidFill>
              </a:rPr>
              <a:t> · penjualan harian kasir</a:t>
            </a:r>
            <a:endParaRPr lang="en-US" sz="1200" dirty="0"/>
          </a:p>
        </p:txBody>
      </p:sp>
      <p:sp>
        <p:nvSpPr>
          <p:cNvPr id="25" name="Slide Number Placeholder 0"/>
          <p:cNvSpPr>
            <a:spLocks noGrp="1"/>
          </p:cNvSpPr>
          <p:nvPr>
            <p:ph type="sldNum" sz="quarter" idx="4294967295"/>
          </p:nvPr>
        </p:nvSpPr>
        <p:spPr>
          <a:xfrm>
            <a:off x="1110996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85800" y="914400"/>
            <a:ext cx="10835640" cy="640080"/>
          </a:xfrm>
          <a:prstGeom prst="rect">
            <a:avLst/>
          </a:prstGeom>
          <a:noFill/>
          <a:ln/>
        </p:spPr>
        <p:txBody>
          <a:bodyPr wrap="square" lIns="0" tIns="0" rIns="0" bIns="0" rtlCol="0" anchor="ctr"/>
          <a:lstStyle/>
          <a:p>
            <a:pPr algn="l" indent="0" marL="0">
              <a:buNone/>
            </a:pPr>
            <a:r>
              <a:rPr lang="en-US" sz="3000" b="1" dirty="0">
                <a:solidFill>
                  <a:schemeClr val="tx2"/>
                </a:solidFill>
              </a:rPr>
              <a:t>Tujuh peran, masing-masing melihat tugasnya sendiri</a:t>
            </a:r>
            <a:endParaRPr lang="en-US" sz="3000" dirty="0"/>
          </a:p>
        </p:txBody>
      </p:sp>
      <p:sp>
        <p:nvSpPr>
          <p:cNvPr id="3" name="Zona Kapal"/>
          <p:cNvSpPr/>
          <p:nvPr/>
        </p:nvSpPr>
        <p:spPr>
          <a:xfrm>
            <a:off x="685800" y="1737360"/>
            <a:ext cx="3383280" cy="2660904"/>
          </a:xfrm>
          <a:prstGeom prst="roundRect">
            <a:avLst>
              <a:gd name="adj" fmla="val 4124"/>
            </a:avLst>
          </a:prstGeom>
          <a:solidFill>
            <a:srgbClr val="EEF3FA"/>
          </a:solidFill>
          <a:ln w="9525">
            <a:solidFill>
              <a:srgbClr val="EEF3FA"/>
            </a:solidFill>
            <a:prstDash val="solid"/>
          </a:ln>
          <a:effectLst>
            <a:outerShdw sx="100000" sy="100000" kx="0" ky="0" algn="bl" rotWithShape="0" blurRad="101600" dist="25400" dir="5400000">
              <a:srgbClr val="274289">
                <a:alpha val="12000"/>
              </a:srgbClr>
            </a:outerShdw>
          </a:effectLst>
        </p:spPr>
      </p:sp>
      <p:sp>
        <p:nvSpPr>
          <p:cNvPr id="4" name="Ikon Kapal latar"/>
          <p:cNvSpPr/>
          <p:nvPr/>
        </p:nvSpPr>
        <p:spPr>
          <a:xfrm>
            <a:off x="914400" y="1874520"/>
            <a:ext cx="502920" cy="502920"/>
          </a:xfrm>
          <a:prstGeom prst="ellipse">
            <a:avLst/>
          </a:prstGeom>
          <a:solidFill>
            <a:srgbClr val="274289"/>
          </a:solidFill>
          <a:ln w="12700">
            <a:solidFill>
              <a:srgbClr val="274289"/>
            </a:solidFill>
            <a:prstDash val="solid"/>
          </a:ln>
        </p:spPr>
      </p:sp>
      <p:pic>
        <p:nvPicPr>
          <p:cNvPr id="5" name="Ikon Kapal" descr="Ikon Kapal">    </p:cNvPr>
          <p:cNvPicPr>
            <a:picLocks noChangeAspect="1"/>
          </p:cNvPicPr>
          <p:nvPr/>
        </p:nvPicPr>
        <p:blipFill>
          <a:blip r:embed="rId1"/>
          <a:stretch>
            <a:fillRect/>
          </a:stretch>
        </p:blipFill>
        <p:spPr>
          <a:xfrm>
            <a:off x="1040130" y="2000250"/>
            <a:ext cx="251460" cy="251460"/>
          </a:xfrm>
          <a:prstGeom prst="rect">
            <a:avLst/>
          </a:prstGeom>
        </p:spPr>
      </p:pic>
      <p:sp>
        <p:nvSpPr>
          <p:cNvPr id="6" name="Text 3"/>
          <p:cNvSpPr txBox="1"/>
          <p:nvPr/>
        </p:nvSpPr>
        <p:spPr>
          <a:xfrm>
            <a:off x="1554480" y="1874520"/>
            <a:ext cx="2286000" cy="502920"/>
          </a:xfrm>
          <a:prstGeom prst="rect">
            <a:avLst/>
          </a:prstGeom>
          <a:noFill/>
          <a:ln/>
        </p:spPr>
        <p:txBody>
          <a:bodyPr wrap="square" lIns="0" tIns="0" rIns="0" bIns="0" rtlCol="0" anchor="ctr"/>
          <a:lstStyle/>
          <a:p>
            <a:pPr indent="0" marL="0">
              <a:buNone/>
            </a:pPr>
            <a:r>
              <a:rPr lang="en-US" sz="1900" b="1" dirty="0">
                <a:solidFill>
                  <a:srgbClr val="274289"/>
                </a:solidFill>
              </a:rPr>
              <a:t>Kapal</a:t>
            </a:r>
            <a:endParaRPr lang="en-US" sz="1900" dirty="0"/>
          </a:p>
        </p:txBody>
      </p:sp>
      <p:sp>
        <p:nvSpPr>
          <p:cNvPr id="7" name="Peran Admin Kapal / Kepala Toko"/>
          <p:cNvSpPr/>
          <p:nvPr/>
        </p:nvSpPr>
        <p:spPr>
          <a:xfrm>
            <a:off x="886968" y="2560320"/>
            <a:ext cx="2980944" cy="694944"/>
          </a:xfrm>
          <a:prstGeom prst="roundRect">
            <a:avLst>
              <a:gd name="adj" fmla="val 15789"/>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8" name="Text 5"/>
          <p:cNvSpPr txBox="1"/>
          <p:nvPr/>
        </p:nvSpPr>
        <p:spPr>
          <a:xfrm>
            <a:off x="1051560" y="2560320"/>
            <a:ext cx="2651760" cy="694944"/>
          </a:xfrm>
          <a:prstGeom prst="rect">
            <a:avLst/>
          </a:prstGeom>
          <a:noFill/>
          <a:ln/>
        </p:spPr>
        <p:txBody>
          <a:bodyPr wrap="square" lIns="0" tIns="0" rIns="0" bIns="0" rtlCol="0" anchor="ctr"/>
          <a:lstStyle/>
          <a:p>
            <a:pPr indent="0" marL="0">
              <a:buNone/>
            </a:pPr>
            <a:r>
              <a:rPr lang="en-US" sz="1500" b="1" dirty="0">
                <a:solidFill>
                  <a:srgbClr val="274289"/>
                </a:solidFill>
              </a:rPr>
              <a:t>Admin Kapal / Kepala Toko</a:t>
            </a:r>
            <a:endParaRPr lang="en-US" sz="1500" dirty="0"/>
          </a:p>
          <a:p>
            <a:pPr indent="0" marL="0">
              <a:buNone/>
            </a:pPr>
            <a:r>
              <a:rPr lang="en-US" sz="1200" dirty="0">
                <a:solidFill>
                  <a:srgbClr val="5B6B86"/>
                </a:solidFill>
              </a:rPr>
              <a:t>Pesan ke DC, terima barang di dek</a:t>
            </a:r>
            <a:endParaRPr lang="en-US" sz="1500" dirty="0"/>
          </a:p>
        </p:txBody>
      </p:sp>
      <p:sp>
        <p:nvSpPr>
          <p:cNvPr id="9" name="Peran Kasir"/>
          <p:cNvSpPr/>
          <p:nvPr/>
        </p:nvSpPr>
        <p:spPr>
          <a:xfrm>
            <a:off x="886968" y="3364992"/>
            <a:ext cx="2980944" cy="694944"/>
          </a:xfrm>
          <a:prstGeom prst="roundRect">
            <a:avLst>
              <a:gd name="adj" fmla="val 15789"/>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10" name="Text 7"/>
          <p:cNvSpPr txBox="1"/>
          <p:nvPr/>
        </p:nvSpPr>
        <p:spPr>
          <a:xfrm>
            <a:off x="1051560" y="3364992"/>
            <a:ext cx="2651760" cy="694944"/>
          </a:xfrm>
          <a:prstGeom prst="rect">
            <a:avLst/>
          </a:prstGeom>
          <a:noFill/>
          <a:ln/>
        </p:spPr>
        <p:txBody>
          <a:bodyPr wrap="square" lIns="0" tIns="0" rIns="0" bIns="0" rtlCol="0" anchor="ctr"/>
          <a:lstStyle/>
          <a:p>
            <a:pPr indent="0" marL="0">
              <a:buNone/>
            </a:pPr>
            <a:r>
              <a:rPr lang="en-US" sz="1500" b="1" dirty="0">
                <a:solidFill>
                  <a:srgbClr val="274289"/>
                </a:solidFill>
              </a:rPr>
              <a:t>Kasir</a:t>
            </a:r>
            <a:endParaRPr lang="en-US" sz="1500" dirty="0"/>
          </a:p>
          <a:p>
            <a:pPr indent="0" marL="0">
              <a:buNone/>
            </a:pPr>
            <a:r>
              <a:rPr lang="en-US" sz="1200" dirty="0">
                <a:solidFill>
                  <a:srgbClr val="5B6B86"/>
                </a:solidFill>
              </a:rPr>
              <a:t>Jual, kirim penjualan harian ke SAP</a:t>
            </a:r>
            <a:endParaRPr lang="en-US" sz="1500" dirty="0"/>
          </a:p>
        </p:txBody>
      </p:sp>
      <p:sp>
        <p:nvSpPr>
          <p:cNvPr id="11" name="Zona Kantor pusat"/>
          <p:cNvSpPr/>
          <p:nvPr/>
        </p:nvSpPr>
        <p:spPr>
          <a:xfrm>
            <a:off x="4343400" y="1737360"/>
            <a:ext cx="4069080" cy="4270248"/>
          </a:xfrm>
          <a:prstGeom prst="roundRect">
            <a:avLst>
              <a:gd name="adj" fmla="val 2697"/>
            </a:avLst>
          </a:prstGeom>
          <a:solidFill>
            <a:srgbClr val="EEF3FA"/>
          </a:solidFill>
          <a:ln w="9525">
            <a:solidFill>
              <a:srgbClr val="EEF3FA"/>
            </a:solidFill>
            <a:prstDash val="solid"/>
          </a:ln>
          <a:effectLst>
            <a:outerShdw sx="100000" sy="100000" kx="0" ky="0" algn="bl" rotWithShape="0" blurRad="101600" dist="25400" dir="5400000">
              <a:srgbClr val="274289">
                <a:alpha val="12000"/>
              </a:srgbClr>
            </a:outerShdw>
          </a:effectLst>
        </p:spPr>
      </p:sp>
      <p:sp>
        <p:nvSpPr>
          <p:cNvPr id="12" name="Ikon Kantor pusat latar"/>
          <p:cNvSpPr/>
          <p:nvPr/>
        </p:nvSpPr>
        <p:spPr>
          <a:xfrm>
            <a:off x="4572000" y="1874520"/>
            <a:ext cx="502920" cy="502920"/>
          </a:xfrm>
          <a:prstGeom prst="ellipse">
            <a:avLst/>
          </a:prstGeom>
          <a:solidFill>
            <a:srgbClr val="274289"/>
          </a:solidFill>
          <a:ln w="12700">
            <a:solidFill>
              <a:srgbClr val="274289"/>
            </a:solidFill>
            <a:prstDash val="solid"/>
          </a:ln>
        </p:spPr>
      </p:sp>
      <p:pic>
        <p:nvPicPr>
          <p:cNvPr id="13" name="Ikon Kantor pusat" descr="Ikon Kantor pusat">    </p:cNvPr>
          <p:cNvPicPr>
            <a:picLocks noChangeAspect="1"/>
          </p:cNvPicPr>
          <p:nvPr/>
        </p:nvPicPr>
        <p:blipFill>
          <a:blip r:embed="rId2"/>
          <a:stretch>
            <a:fillRect/>
          </a:stretch>
        </p:blipFill>
        <p:spPr>
          <a:xfrm>
            <a:off x="4697730" y="2000250"/>
            <a:ext cx="251460" cy="251460"/>
          </a:xfrm>
          <a:prstGeom prst="rect">
            <a:avLst/>
          </a:prstGeom>
        </p:spPr>
      </p:pic>
      <p:sp>
        <p:nvSpPr>
          <p:cNvPr id="14" name="Text 10"/>
          <p:cNvSpPr txBox="1"/>
          <p:nvPr/>
        </p:nvSpPr>
        <p:spPr>
          <a:xfrm>
            <a:off x="5212080" y="1874520"/>
            <a:ext cx="2971800" cy="502920"/>
          </a:xfrm>
          <a:prstGeom prst="rect">
            <a:avLst/>
          </a:prstGeom>
          <a:noFill/>
          <a:ln/>
        </p:spPr>
        <p:txBody>
          <a:bodyPr wrap="square" lIns="0" tIns="0" rIns="0" bIns="0" rtlCol="0" anchor="ctr"/>
          <a:lstStyle/>
          <a:p>
            <a:pPr indent="0" marL="0">
              <a:buNone/>
            </a:pPr>
            <a:r>
              <a:rPr lang="en-US" sz="1900" b="1" dirty="0">
                <a:solidFill>
                  <a:srgbClr val="274289"/>
                </a:solidFill>
              </a:rPr>
              <a:t>Kantor pusat</a:t>
            </a:r>
            <a:endParaRPr lang="en-US" sz="1900" dirty="0"/>
          </a:p>
        </p:txBody>
      </p:sp>
      <p:sp>
        <p:nvSpPr>
          <p:cNvPr id="15" name="Peran Approve Sales Order"/>
          <p:cNvSpPr/>
          <p:nvPr/>
        </p:nvSpPr>
        <p:spPr>
          <a:xfrm>
            <a:off x="4544568" y="2560320"/>
            <a:ext cx="3666744" cy="694944"/>
          </a:xfrm>
          <a:prstGeom prst="roundRect">
            <a:avLst>
              <a:gd name="adj" fmla="val 15789"/>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16" name="Text 12"/>
          <p:cNvSpPr txBox="1"/>
          <p:nvPr/>
        </p:nvSpPr>
        <p:spPr>
          <a:xfrm>
            <a:off x="4709160" y="2560320"/>
            <a:ext cx="3337560" cy="694944"/>
          </a:xfrm>
          <a:prstGeom prst="rect">
            <a:avLst/>
          </a:prstGeom>
          <a:noFill/>
          <a:ln/>
        </p:spPr>
        <p:txBody>
          <a:bodyPr wrap="square" lIns="0" tIns="0" rIns="0" bIns="0" rtlCol="0" anchor="ctr"/>
          <a:lstStyle/>
          <a:p>
            <a:pPr indent="0" marL="0">
              <a:buNone/>
            </a:pPr>
            <a:r>
              <a:rPr lang="en-US" sz="1500" b="1" dirty="0">
                <a:solidFill>
                  <a:srgbClr val="274289"/>
                </a:solidFill>
              </a:rPr>
              <a:t>Approve Sales Order</a:t>
            </a:r>
            <a:endParaRPr lang="en-US" sz="1500" dirty="0"/>
          </a:p>
          <a:p>
            <a:pPr indent="0" marL="0">
              <a:buNone/>
            </a:pPr>
            <a:r>
              <a:rPr lang="en-US" sz="1200" dirty="0">
                <a:solidFill>
                  <a:srgbClr val="5B6B86"/>
                </a:solidFill>
              </a:rPr>
              <a:t>Setujui permintaan kapal ke DC</a:t>
            </a:r>
            <a:endParaRPr lang="en-US" sz="1500" dirty="0"/>
          </a:p>
        </p:txBody>
      </p:sp>
      <p:sp>
        <p:nvSpPr>
          <p:cNvPr id="17" name="Peran Approve Purchasing"/>
          <p:cNvSpPr/>
          <p:nvPr/>
        </p:nvSpPr>
        <p:spPr>
          <a:xfrm>
            <a:off x="4544568" y="3364992"/>
            <a:ext cx="3666744" cy="694944"/>
          </a:xfrm>
          <a:prstGeom prst="roundRect">
            <a:avLst>
              <a:gd name="adj" fmla="val 15789"/>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18" name="Text 14"/>
          <p:cNvSpPr txBox="1"/>
          <p:nvPr/>
        </p:nvSpPr>
        <p:spPr>
          <a:xfrm>
            <a:off x="4709160" y="3364992"/>
            <a:ext cx="3337560" cy="694944"/>
          </a:xfrm>
          <a:prstGeom prst="rect">
            <a:avLst/>
          </a:prstGeom>
          <a:noFill/>
          <a:ln/>
        </p:spPr>
        <p:txBody>
          <a:bodyPr wrap="square" lIns="0" tIns="0" rIns="0" bIns="0" rtlCol="0" anchor="ctr"/>
          <a:lstStyle/>
          <a:p>
            <a:pPr indent="0" marL="0">
              <a:buNone/>
            </a:pPr>
            <a:r>
              <a:rPr lang="en-US" sz="1500" b="1" dirty="0">
                <a:solidFill>
                  <a:srgbClr val="274289"/>
                </a:solidFill>
              </a:rPr>
              <a:t>Approve Purchasing</a:t>
            </a:r>
            <a:endParaRPr lang="en-US" sz="1500" dirty="0"/>
          </a:p>
          <a:p>
            <a:pPr indent="0" marL="0">
              <a:buNone/>
            </a:pPr>
            <a:r>
              <a:rPr lang="en-US" sz="1200" dirty="0">
                <a:solidFill>
                  <a:srgbClr val="5B6B86"/>
                </a:solidFill>
              </a:rPr>
              <a:t>Setujui pembelian, penerimaan, transfer</a:t>
            </a:r>
            <a:endParaRPr lang="en-US" sz="1500" dirty="0"/>
          </a:p>
        </p:txBody>
      </p:sp>
      <p:sp>
        <p:nvSpPr>
          <p:cNvPr id="19" name="Peran Admin Purchase"/>
          <p:cNvSpPr/>
          <p:nvPr/>
        </p:nvSpPr>
        <p:spPr>
          <a:xfrm>
            <a:off x="4544568" y="4169664"/>
            <a:ext cx="3666744" cy="694944"/>
          </a:xfrm>
          <a:prstGeom prst="roundRect">
            <a:avLst>
              <a:gd name="adj" fmla="val 15789"/>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20" name="Text 16"/>
          <p:cNvSpPr txBox="1"/>
          <p:nvPr/>
        </p:nvSpPr>
        <p:spPr>
          <a:xfrm>
            <a:off x="4709160" y="4169664"/>
            <a:ext cx="3337560" cy="694944"/>
          </a:xfrm>
          <a:prstGeom prst="rect">
            <a:avLst/>
          </a:prstGeom>
          <a:noFill/>
          <a:ln/>
        </p:spPr>
        <p:txBody>
          <a:bodyPr wrap="square" lIns="0" tIns="0" rIns="0" bIns="0" rtlCol="0" anchor="ctr"/>
          <a:lstStyle/>
          <a:p>
            <a:pPr indent="0" marL="0">
              <a:buNone/>
            </a:pPr>
            <a:r>
              <a:rPr lang="en-US" sz="1500" b="1" dirty="0">
                <a:solidFill>
                  <a:srgbClr val="274289"/>
                </a:solidFill>
              </a:rPr>
              <a:t>Admin Purchase</a:t>
            </a:r>
            <a:endParaRPr lang="en-US" sz="1500" dirty="0"/>
          </a:p>
          <a:p>
            <a:pPr indent="0" marL="0">
              <a:buNone/>
            </a:pPr>
            <a:r>
              <a:rPr lang="en-US" sz="1200" dirty="0">
                <a:solidFill>
                  <a:srgbClr val="5B6B86"/>
                </a:solidFill>
              </a:rPr>
              <a:t>Buat Purchase Order ke vendor</a:t>
            </a:r>
            <a:endParaRPr lang="en-US" sz="1500" dirty="0"/>
          </a:p>
        </p:txBody>
      </p:sp>
      <p:sp>
        <p:nvSpPr>
          <p:cNvPr id="21" name="Peran Approve Purchase Order"/>
          <p:cNvSpPr/>
          <p:nvPr/>
        </p:nvSpPr>
        <p:spPr>
          <a:xfrm>
            <a:off x="4544568" y="4974336"/>
            <a:ext cx="3666744" cy="694944"/>
          </a:xfrm>
          <a:prstGeom prst="roundRect">
            <a:avLst>
              <a:gd name="adj" fmla="val 15789"/>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22" name="Text 18"/>
          <p:cNvSpPr txBox="1"/>
          <p:nvPr/>
        </p:nvSpPr>
        <p:spPr>
          <a:xfrm>
            <a:off x="4709160" y="4974336"/>
            <a:ext cx="3337560" cy="694944"/>
          </a:xfrm>
          <a:prstGeom prst="rect">
            <a:avLst/>
          </a:prstGeom>
          <a:noFill/>
          <a:ln/>
        </p:spPr>
        <p:txBody>
          <a:bodyPr wrap="square" lIns="0" tIns="0" rIns="0" bIns="0" rtlCol="0" anchor="ctr"/>
          <a:lstStyle/>
          <a:p>
            <a:pPr indent="0" marL="0">
              <a:buNone/>
            </a:pPr>
            <a:r>
              <a:rPr lang="en-US" sz="1500" b="1" dirty="0">
                <a:solidFill>
                  <a:srgbClr val="274289"/>
                </a:solidFill>
              </a:rPr>
              <a:t>Approve Purchase Order</a:t>
            </a:r>
            <a:endParaRPr lang="en-US" sz="1500" dirty="0"/>
          </a:p>
          <a:p>
            <a:pPr indent="0" marL="0">
              <a:buNone/>
            </a:pPr>
            <a:r>
              <a:rPr lang="en-US" sz="1200" dirty="0">
                <a:solidFill>
                  <a:srgbClr val="5B6B86"/>
                </a:solidFill>
              </a:rPr>
              <a:t>Setujui pesanan ke vendor</a:t>
            </a:r>
            <a:endParaRPr lang="en-US" sz="1500" dirty="0"/>
          </a:p>
        </p:txBody>
      </p:sp>
      <p:sp>
        <p:nvSpPr>
          <p:cNvPr id="23" name="Zona DC"/>
          <p:cNvSpPr/>
          <p:nvPr/>
        </p:nvSpPr>
        <p:spPr>
          <a:xfrm>
            <a:off x="8686800" y="1737360"/>
            <a:ext cx="2834640" cy="1856232"/>
          </a:xfrm>
          <a:prstGeom prst="roundRect">
            <a:avLst>
              <a:gd name="adj" fmla="val 5911"/>
            </a:avLst>
          </a:prstGeom>
          <a:solidFill>
            <a:srgbClr val="EEF3FA"/>
          </a:solidFill>
          <a:ln w="9525">
            <a:solidFill>
              <a:srgbClr val="EEF3FA"/>
            </a:solidFill>
            <a:prstDash val="solid"/>
          </a:ln>
          <a:effectLst>
            <a:outerShdw sx="100000" sy="100000" kx="0" ky="0" algn="bl" rotWithShape="0" blurRad="101600" dist="25400" dir="5400000">
              <a:srgbClr val="274289">
                <a:alpha val="12000"/>
              </a:srgbClr>
            </a:outerShdw>
          </a:effectLst>
        </p:spPr>
      </p:sp>
      <p:sp>
        <p:nvSpPr>
          <p:cNvPr id="24" name="Ikon DC latar"/>
          <p:cNvSpPr/>
          <p:nvPr/>
        </p:nvSpPr>
        <p:spPr>
          <a:xfrm>
            <a:off x="8915400" y="1874520"/>
            <a:ext cx="502920" cy="502920"/>
          </a:xfrm>
          <a:prstGeom prst="ellipse">
            <a:avLst/>
          </a:prstGeom>
          <a:solidFill>
            <a:srgbClr val="274289"/>
          </a:solidFill>
          <a:ln w="12700">
            <a:solidFill>
              <a:srgbClr val="274289"/>
            </a:solidFill>
            <a:prstDash val="solid"/>
          </a:ln>
        </p:spPr>
      </p:sp>
      <p:pic>
        <p:nvPicPr>
          <p:cNvPr id="25" name="Ikon DC" descr="Ikon DC">    </p:cNvPr>
          <p:cNvPicPr>
            <a:picLocks noChangeAspect="1"/>
          </p:cNvPicPr>
          <p:nvPr/>
        </p:nvPicPr>
        <p:blipFill>
          <a:blip r:embed="rId3"/>
          <a:stretch>
            <a:fillRect/>
          </a:stretch>
        </p:blipFill>
        <p:spPr>
          <a:xfrm>
            <a:off x="9041130" y="2000250"/>
            <a:ext cx="251460" cy="251460"/>
          </a:xfrm>
          <a:prstGeom prst="rect">
            <a:avLst/>
          </a:prstGeom>
        </p:spPr>
      </p:pic>
      <p:sp>
        <p:nvSpPr>
          <p:cNvPr id="26" name="Text 21"/>
          <p:cNvSpPr txBox="1"/>
          <p:nvPr/>
        </p:nvSpPr>
        <p:spPr>
          <a:xfrm>
            <a:off x="9555480" y="1874520"/>
            <a:ext cx="1737360" cy="502920"/>
          </a:xfrm>
          <a:prstGeom prst="rect">
            <a:avLst/>
          </a:prstGeom>
          <a:noFill/>
          <a:ln/>
        </p:spPr>
        <p:txBody>
          <a:bodyPr wrap="square" lIns="0" tIns="0" rIns="0" bIns="0" rtlCol="0" anchor="ctr"/>
          <a:lstStyle/>
          <a:p>
            <a:pPr indent="0" marL="0">
              <a:buNone/>
            </a:pPr>
            <a:r>
              <a:rPr lang="en-US" sz="1900" b="1" dirty="0">
                <a:solidFill>
                  <a:srgbClr val="274289"/>
                </a:solidFill>
              </a:rPr>
              <a:t>DC</a:t>
            </a:r>
            <a:endParaRPr lang="en-US" sz="1900" dirty="0"/>
          </a:p>
        </p:txBody>
      </p:sp>
      <p:sp>
        <p:nvSpPr>
          <p:cNvPr id="27" name="Peran Admin DC"/>
          <p:cNvSpPr/>
          <p:nvPr/>
        </p:nvSpPr>
        <p:spPr>
          <a:xfrm>
            <a:off x="8887968" y="2560320"/>
            <a:ext cx="2432304" cy="694944"/>
          </a:xfrm>
          <a:prstGeom prst="roundRect">
            <a:avLst>
              <a:gd name="adj" fmla="val 15789"/>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28" name="Text 23"/>
          <p:cNvSpPr txBox="1"/>
          <p:nvPr/>
        </p:nvSpPr>
        <p:spPr>
          <a:xfrm>
            <a:off x="9052560" y="2560320"/>
            <a:ext cx="2103120" cy="694944"/>
          </a:xfrm>
          <a:prstGeom prst="rect">
            <a:avLst/>
          </a:prstGeom>
          <a:noFill/>
          <a:ln/>
        </p:spPr>
        <p:txBody>
          <a:bodyPr wrap="square" lIns="0" tIns="0" rIns="0" bIns="0" rtlCol="0" anchor="ctr"/>
          <a:lstStyle/>
          <a:p>
            <a:pPr indent="0" marL="0">
              <a:buNone/>
            </a:pPr>
            <a:r>
              <a:rPr lang="en-US" sz="1500" b="1" dirty="0">
                <a:solidFill>
                  <a:srgbClr val="274289"/>
                </a:solidFill>
              </a:rPr>
              <a:t>Admin DC</a:t>
            </a:r>
            <a:endParaRPr lang="en-US" sz="1500" dirty="0"/>
          </a:p>
          <a:p>
            <a:pPr indent="0" marL="0">
              <a:buNone/>
            </a:pPr>
            <a:r>
              <a:rPr lang="en-US" sz="1200" dirty="0">
                <a:solidFill>
                  <a:srgbClr val="5B6B86"/>
                </a:solidFill>
              </a:rPr>
              <a:t>Pilah stok, ajukan penerimaan dan transfer</a:t>
            </a:r>
            <a:endParaRPr lang="en-US" sz="1500" dirty="0"/>
          </a:p>
        </p:txBody>
      </p:sp>
      <p:sp>
        <p:nvSpPr>
          <p:cNvPr id="25" name="Slide Number Placeholder 0"/>
          <p:cNvSpPr>
            <a:spLocks noGrp="1"/>
          </p:cNvSpPr>
          <p:nvPr>
            <p:ph type="sldNum" sz="quarter" idx="4294967295"/>
          </p:nvPr>
        </p:nvSpPr>
        <p:spPr>
          <a:xfrm>
            <a:off x="1110996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85800" y="914400"/>
            <a:ext cx="10835640" cy="640080"/>
          </a:xfrm>
          <a:prstGeom prst="rect">
            <a:avLst/>
          </a:prstGeom>
          <a:noFill/>
          <a:ln/>
        </p:spPr>
        <p:txBody>
          <a:bodyPr wrap="square" lIns="0" tIns="0" rIns="0" bIns="0" rtlCol="0" anchor="ctr"/>
          <a:lstStyle/>
          <a:p>
            <a:pPr algn="l" indent="0" marL="0">
              <a:buNone/>
            </a:pPr>
            <a:r>
              <a:rPr lang="en-US" sz="3000" b="1" dirty="0">
                <a:solidFill>
                  <a:schemeClr val="tx2"/>
                </a:solidFill>
              </a:rPr>
              <a:t>Fitur utama aplikasi web</a:t>
            </a:r>
            <a:endParaRPr lang="en-US" sz="3000" dirty="0"/>
          </a:p>
        </p:txBody>
      </p:sp>
      <p:sp>
        <p:nvSpPr>
          <p:cNvPr id="3" name="Fitur Pesan ke DC"/>
          <p:cNvSpPr/>
          <p:nvPr/>
        </p:nvSpPr>
        <p:spPr>
          <a:xfrm>
            <a:off x="685800" y="1737360"/>
            <a:ext cx="3429000" cy="3291840"/>
          </a:xfrm>
          <a:prstGeom prst="roundRect">
            <a:avLst>
              <a:gd name="adj" fmla="val 3333"/>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4" name="Pesan ke DC bingkai"/>
          <p:cNvSpPr/>
          <p:nvPr/>
        </p:nvSpPr>
        <p:spPr>
          <a:xfrm>
            <a:off x="822960" y="2051264"/>
            <a:ext cx="3154680" cy="1566752"/>
          </a:xfrm>
          <a:prstGeom prst="roundRect">
            <a:avLst>
              <a:gd name="adj" fmla="val 7004"/>
            </a:avLst>
          </a:prstGeom>
          <a:solidFill>
            <a:srgbClr val="E4EAF4"/>
          </a:solidFill>
          <a:ln w="9525">
            <a:solidFill>
              <a:srgbClr val="E4EAF4"/>
            </a:solidFill>
            <a:prstDash val="solid"/>
          </a:ln>
          <a:effectLst>
            <a:outerShdw sx="100000" sy="100000" kx="0" ky="0" algn="bl" rotWithShape="0" blurRad="101600" dist="25400" dir="5400000">
              <a:srgbClr val="274289">
                <a:alpha val="12000"/>
              </a:srgbClr>
            </a:outerShdw>
          </a:effectLst>
        </p:spPr>
      </p:sp>
      <p:pic>
        <p:nvPicPr>
          <p:cNvPr id="5" name="Pesan ke DC" descr="Layar PID POS: Pesan ke DC">    </p:cNvPr>
          <p:cNvPicPr>
            <a:picLocks noChangeAspect="1"/>
          </p:cNvPicPr>
          <p:nvPr/>
        </p:nvPicPr>
        <p:blipFill>
          <a:blip r:embed="rId1"/>
          <a:stretch>
            <a:fillRect/>
          </a:stretch>
        </p:blipFill>
        <p:spPr>
          <a:xfrm>
            <a:off x="886968" y="2115272"/>
            <a:ext cx="3026664" cy="1438736"/>
          </a:xfrm>
          <a:prstGeom prst="rect">
            <a:avLst/>
          </a:prstGeom>
        </p:spPr>
      </p:pic>
      <p:sp>
        <p:nvSpPr>
          <p:cNvPr id="6" name="Text 3"/>
          <p:cNvSpPr txBox="1"/>
          <p:nvPr/>
        </p:nvSpPr>
        <p:spPr>
          <a:xfrm>
            <a:off x="914400" y="3931920"/>
            <a:ext cx="2971800" cy="1005840"/>
          </a:xfrm>
          <a:prstGeom prst="rect">
            <a:avLst/>
          </a:prstGeom>
          <a:noFill/>
          <a:ln/>
        </p:spPr>
        <p:txBody>
          <a:bodyPr wrap="square" lIns="0" tIns="0" rIns="0" bIns="0" rtlCol="0" anchor="t"/>
          <a:lstStyle/>
          <a:p>
            <a:pPr indent="0" marL="0">
              <a:spcAft>
                <a:spcPts val="400"/>
              </a:spcAft>
              <a:buNone/>
            </a:pPr>
            <a:r>
              <a:rPr lang="en-US" sz="1800" b="1" dirty="0">
                <a:solidFill>
                  <a:srgbClr val="274289"/>
                </a:solidFill>
              </a:rPr>
              <a:t>Pesan ke DC</a:t>
            </a:r>
            <a:endParaRPr lang="en-US" sz="1800" dirty="0"/>
          </a:p>
          <a:p>
            <a:pPr indent="0" marL="0">
              <a:spcAft>
                <a:spcPts val="400"/>
              </a:spcAft>
              <a:buNone/>
            </a:pPr>
            <a:r>
              <a:rPr lang="en-US" sz="1300" dirty="0">
                <a:solidFill>
                  <a:srgbClr val="1B2437"/>
                </a:solidFill>
              </a:rPr>
              <a:t>Pilih barang dan dek tujuan, lalu kirim permintaan ke DC.</a:t>
            </a:r>
            <a:endParaRPr lang="en-US" sz="1800" dirty="0"/>
          </a:p>
        </p:txBody>
      </p:sp>
      <p:sp>
        <p:nvSpPr>
          <p:cNvPr id="7" name="Fitur Persetujuan berjenjang"/>
          <p:cNvSpPr/>
          <p:nvPr/>
        </p:nvSpPr>
        <p:spPr>
          <a:xfrm>
            <a:off x="4343400" y="1737360"/>
            <a:ext cx="3429000" cy="3291840"/>
          </a:xfrm>
          <a:prstGeom prst="roundRect">
            <a:avLst>
              <a:gd name="adj" fmla="val 3333"/>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8" name="Persetujuan berjenjang bingkai"/>
          <p:cNvSpPr/>
          <p:nvPr/>
        </p:nvSpPr>
        <p:spPr>
          <a:xfrm>
            <a:off x="4964103" y="1856232"/>
            <a:ext cx="2187593" cy="1956816"/>
          </a:xfrm>
          <a:prstGeom prst="roundRect">
            <a:avLst>
              <a:gd name="adj" fmla="val 5607"/>
            </a:avLst>
          </a:prstGeom>
          <a:solidFill>
            <a:srgbClr val="E4EAF4"/>
          </a:solidFill>
          <a:ln w="9525">
            <a:solidFill>
              <a:srgbClr val="E4EAF4"/>
            </a:solidFill>
            <a:prstDash val="solid"/>
          </a:ln>
          <a:effectLst>
            <a:outerShdw sx="100000" sy="100000" kx="0" ky="0" algn="bl" rotWithShape="0" blurRad="101600" dist="25400" dir="5400000">
              <a:srgbClr val="274289">
                <a:alpha val="12000"/>
              </a:srgbClr>
            </a:outerShdw>
          </a:effectLst>
        </p:spPr>
      </p:sp>
      <p:pic>
        <p:nvPicPr>
          <p:cNvPr id="9" name="Persetujuan berjenjang" descr="Layar PID POS: Persetujuan berjenjang">    </p:cNvPr>
          <p:cNvPicPr>
            <a:picLocks noChangeAspect="1"/>
          </p:cNvPicPr>
          <p:nvPr/>
        </p:nvPicPr>
        <p:blipFill>
          <a:blip r:embed="rId2"/>
          <a:stretch>
            <a:fillRect/>
          </a:stretch>
        </p:blipFill>
        <p:spPr>
          <a:xfrm>
            <a:off x="5028111" y="1920240"/>
            <a:ext cx="2059577" cy="1828800"/>
          </a:xfrm>
          <a:prstGeom prst="rect">
            <a:avLst/>
          </a:prstGeom>
        </p:spPr>
      </p:pic>
      <p:sp>
        <p:nvSpPr>
          <p:cNvPr id="10" name="Text 6"/>
          <p:cNvSpPr txBox="1"/>
          <p:nvPr/>
        </p:nvSpPr>
        <p:spPr>
          <a:xfrm>
            <a:off x="4572000" y="3931920"/>
            <a:ext cx="2971800" cy="1005840"/>
          </a:xfrm>
          <a:prstGeom prst="rect">
            <a:avLst/>
          </a:prstGeom>
          <a:noFill/>
          <a:ln/>
        </p:spPr>
        <p:txBody>
          <a:bodyPr wrap="square" lIns="0" tIns="0" rIns="0" bIns="0" rtlCol="0" anchor="t"/>
          <a:lstStyle/>
          <a:p>
            <a:pPr indent="0" marL="0">
              <a:spcAft>
                <a:spcPts val="400"/>
              </a:spcAft>
              <a:buNone/>
            </a:pPr>
            <a:r>
              <a:rPr lang="en-US" sz="1800" b="1" dirty="0">
                <a:solidFill>
                  <a:srgbClr val="274289"/>
                </a:solidFill>
              </a:rPr>
              <a:t>Persetujuan berjenjang</a:t>
            </a:r>
            <a:endParaRPr lang="en-US" sz="1800" dirty="0"/>
          </a:p>
          <a:p>
            <a:pPr indent="0" marL="0">
              <a:spcAft>
                <a:spcPts val="400"/>
              </a:spcAft>
              <a:buNone/>
            </a:pPr>
            <a:r>
              <a:rPr lang="en-US" sz="1300" dirty="0">
                <a:solidFill>
                  <a:srgbClr val="1B2437"/>
                </a:solidFill>
              </a:rPr>
              <a:t>Status tiap tahap terlihat; setelah disetujui menjadi Sales Order di SAP.</a:t>
            </a:r>
            <a:endParaRPr lang="en-US" sz="1800" dirty="0"/>
          </a:p>
        </p:txBody>
      </p:sp>
      <p:sp>
        <p:nvSpPr>
          <p:cNvPr id="11" name="Fitur Posisi stok per dek"/>
          <p:cNvSpPr/>
          <p:nvPr/>
        </p:nvSpPr>
        <p:spPr>
          <a:xfrm>
            <a:off x="8001000" y="1737360"/>
            <a:ext cx="3429000" cy="3291840"/>
          </a:xfrm>
          <a:prstGeom prst="roundRect">
            <a:avLst>
              <a:gd name="adj" fmla="val 3333"/>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12" name="Posisi stok per dek bingkai"/>
          <p:cNvSpPr/>
          <p:nvPr/>
        </p:nvSpPr>
        <p:spPr>
          <a:xfrm>
            <a:off x="8138160" y="2334875"/>
            <a:ext cx="3154680" cy="999530"/>
          </a:xfrm>
          <a:prstGeom prst="roundRect">
            <a:avLst>
              <a:gd name="adj" fmla="val 10978"/>
            </a:avLst>
          </a:prstGeom>
          <a:solidFill>
            <a:srgbClr val="E4EAF4"/>
          </a:solidFill>
          <a:ln w="9525">
            <a:solidFill>
              <a:srgbClr val="E4EAF4"/>
            </a:solidFill>
            <a:prstDash val="solid"/>
          </a:ln>
          <a:effectLst>
            <a:outerShdw sx="100000" sy="100000" kx="0" ky="0" algn="bl" rotWithShape="0" blurRad="101600" dist="25400" dir="5400000">
              <a:srgbClr val="274289">
                <a:alpha val="12000"/>
              </a:srgbClr>
            </a:outerShdw>
          </a:effectLst>
        </p:spPr>
      </p:sp>
      <p:pic>
        <p:nvPicPr>
          <p:cNvPr id="13" name="Posisi stok per dek" descr="Layar PID POS: Posisi stok per dek">    </p:cNvPr>
          <p:cNvPicPr>
            <a:picLocks noChangeAspect="1"/>
          </p:cNvPicPr>
          <p:nvPr/>
        </p:nvPicPr>
        <p:blipFill>
          <a:blip r:embed="rId3"/>
          <a:stretch>
            <a:fillRect/>
          </a:stretch>
        </p:blipFill>
        <p:spPr>
          <a:xfrm>
            <a:off x="8202168" y="2398883"/>
            <a:ext cx="3026664" cy="871514"/>
          </a:xfrm>
          <a:prstGeom prst="rect">
            <a:avLst/>
          </a:prstGeom>
        </p:spPr>
      </p:pic>
      <p:sp>
        <p:nvSpPr>
          <p:cNvPr id="14" name="Text 9"/>
          <p:cNvSpPr txBox="1"/>
          <p:nvPr/>
        </p:nvSpPr>
        <p:spPr>
          <a:xfrm>
            <a:off x="8229600" y="3931920"/>
            <a:ext cx="2971800" cy="1005840"/>
          </a:xfrm>
          <a:prstGeom prst="rect">
            <a:avLst/>
          </a:prstGeom>
          <a:noFill/>
          <a:ln/>
        </p:spPr>
        <p:txBody>
          <a:bodyPr wrap="square" lIns="0" tIns="0" rIns="0" bIns="0" rtlCol="0" anchor="t"/>
          <a:lstStyle/>
          <a:p>
            <a:pPr indent="0" marL="0">
              <a:spcAft>
                <a:spcPts val="400"/>
              </a:spcAft>
              <a:buNone/>
            </a:pPr>
            <a:r>
              <a:rPr lang="en-US" sz="1800" b="1" dirty="0">
                <a:solidFill>
                  <a:srgbClr val="274289"/>
                </a:solidFill>
              </a:rPr>
              <a:t>Posisi stok per dek</a:t>
            </a:r>
            <a:endParaRPr lang="en-US" sz="1800" dirty="0"/>
          </a:p>
          <a:p>
            <a:pPr indent="0" marL="0">
              <a:spcAft>
                <a:spcPts val="400"/>
              </a:spcAft>
              <a:buNone/>
            </a:pPr>
            <a:r>
              <a:rPr lang="en-US" sz="1300" dirty="0">
                <a:solidFill>
                  <a:srgbClr val="1B2437"/>
                </a:solidFill>
              </a:rPr>
              <a:t>Stok setiap dek, total, dan penjualan 7 hari dalam satu tabel.</a:t>
            </a:r>
            <a:endParaRPr lang="en-US" sz="1800" dirty="0"/>
          </a:p>
        </p:txBody>
      </p:sp>
      <p:sp>
        <p:nvSpPr>
          <p:cNvPr id="25" name="Slide Number Placeholder 0"/>
          <p:cNvSpPr>
            <a:spLocks noGrp="1"/>
          </p:cNvSpPr>
          <p:nvPr>
            <p:ph type="sldNum" sz="quarter" idx="4294967295"/>
          </p:nvPr>
        </p:nvSpPr>
        <p:spPr>
          <a:xfrm>
            <a:off x="1110996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85800" y="914400"/>
            <a:ext cx="10835640" cy="640080"/>
          </a:xfrm>
          <a:prstGeom prst="rect">
            <a:avLst/>
          </a:prstGeom>
          <a:noFill/>
          <a:ln/>
        </p:spPr>
        <p:txBody>
          <a:bodyPr wrap="square" lIns="0" tIns="0" rIns="0" bIns="0" rtlCol="0" anchor="ctr"/>
          <a:lstStyle/>
          <a:p>
            <a:pPr algn="l" indent="0" marL="0">
              <a:buNone/>
            </a:pPr>
            <a:r>
              <a:rPr lang="en-US" sz="3000" b="1" dirty="0">
                <a:solidFill>
                  <a:schemeClr val="tx2"/>
                </a:solidFill>
              </a:rPr>
              <a:t>Kasir di setiap dek</a:t>
            </a:r>
            <a:endParaRPr lang="en-US" sz="3000" dirty="0"/>
          </a:p>
        </p:txBody>
      </p:sp>
      <p:sp>
        <p:nvSpPr>
          <p:cNvPr id="3" name="Kasir: scan barang bingkai"/>
          <p:cNvSpPr/>
          <p:nvPr/>
        </p:nvSpPr>
        <p:spPr>
          <a:xfrm>
            <a:off x="674484" y="1719072"/>
            <a:ext cx="5280431" cy="3145536"/>
          </a:xfrm>
          <a:prstGeom prst="roundRect">
            <a:avLst>
              <a:gd name="adj" fmla="val 3488"/>
            </a:avLst>
          </a:prstGeom>
          <a:solidFill>
            <a:srgbClr val="E4EAF4"/>
          </a:solidFill>
          <a:ln w="9525">
            <a:solidFill>
              <a:srgbClr val="E4EAF4"/>
            </a:solidFill>
            <a:prstDash val="solid"/>
          </a:ln>
          <a:effectLst>
            <a:outerShdw sx="100000" sy="100000" kx="0" ky="0" algn="bl" rotWithShape="0" blurRad="101600" dist="25400" dir="5400000">
              <a:srgbClr val="274289">
                <a:alpha val="12000"/>
              </a:srgbClr>
            </a:outerShdw>
          </a:effectLst>
        </p:spPr>
      </p:sp>
      <p:pic>
        <p:nvPicPr>
          <p:cNvPr id="4" name="Kasir: scan barang" descr="Layar PID POS: Kasir: scan barang">    </p:cNvPr>
          <p:cNvPicPr>
            <a:picLocks noChangeAspect="1"/>
          </p:cNvPicPr>
          <p:nvPr/>
        </p:nvPicPr>
        <p:blipFill>
          <a:blip r:embed="rId1"/>
          <a:stretch>
            <a:fillRect/>
          </a:stretch>
        </p:blipFill>
        <p:spPr>
          <a:xfrm>
            <a:off x="738492" y="1783080"/>
            <a:ext cx="5152415" cy="3017520"/>
          </a:xfrm>
          <a:prstGeom prst="rect">
            <a:avLst/>
          </a:prstGeom>
        </p:spPr>
      </p:pic>
      <p:sp>
        <p:nvSpPr>
          <p:cNvPr id="5" name="Kasir: pembayaran bingkai"/>
          <p:cNvSpPr/>
          <p:nvPr/>
        </p:nvSpPr>
        <p:spPr>
          <a:xfrm>
            <a:off x="6199632" y="1951231"/>
            <a:ext cx="5385816" cy="2681218"/>
          </a:xfrm>
          <a:prstGeom prst="roundRect">
            <a:avLst>
              <a:gd name="adj" fmla="val 4092"/>
            </a:avLst>
          </a:prstGeom>
          <a:solidFill>
            <a:srgbClr val="E4EAF4"/>
          </a:solidFill>
          <a:ln w="9525">
            <a:solidFill>
              <a:srgbClr val="E4EAF4"/>
            </a:solidFill>
            <a:prstDash val="solid"/>
          </a:ln>
          <a:effectLst>
            <a:outerShdw sx="100000" sy="100000" kx="0" ky="0" algn="bl" rotWithShape="0" blurRad="101600" dist="25400" dir="5400000">
              <a:srgbClr val="274289">
                <a:alpha val="12000"/>
              </a:srgbClr>
            </a:outerShdw>
          </a:effectLst>
        </p:spPr>
      </p:sp>
      <p:pic>
        <p:nvPicPr>
          <p:cNvPr id="6" name="Kasir: pembayaran" descr="Layar PID POS: Kasir: pembayaran">    </p:cNvPr>
          <p:cNvPicPr>
            <a:picLocks noChangeAspect="1"/>
          </p:cNvPicPr>
          <p:nvPr/>
        </p:nvPicPr>
        <p:blipFill>
          <a:blip r:embed="rId2"/>
          <a:stretch>
            <a:fillRect/>
          </a:stretch>
        </p:blipFill>
        <p:spPr>
          <a:xfrm>
            <a:off x="6263640" y="2015239"/>
            <a:ext cx="5257800" cy="2553202"/>
          </a:xfrm>
          <a:prstGeom prst="rect">
            <a:avLst/>
          </a:prstGeom>
        </p:spPr>
      </p:pic>
      <p:sp>
        <p:nvSpPr>
          <p:cNvPr id="7" name="Langkah 1"/>
          <p:cNvSpPr/>
          <p:nvPr/>
        </p:nvSpPr>
        <p:spPr>
          <a:xfrm>
            <a:off x="1600200" y="5166360"/>
            <a:ext cx="475488" cy="475488"/>
          </a:xfrm>
          <a:prstGeom prst="ellipse">
            <a:avLst/>
          </a:prstGeom>
          <a:solidFill>
            <a:srgbClr val="274289"/>
          </a:solidFill>
          <a:ln w="12700">
            <a:solidFill>
              <a:srgbClr val="274289"/>
            </a:solidFill>
            <a:prstDash val="solid"/>
          </a:ln>
        </p:spPr>
      </p:sp>
      <p:sp>
        <p:nvSpPr>
          <p:cNvPr id="8" name="Text 4"/>
          <p:cNvSpPr txBox="1"/>
          <p:nvPr/>
        </p:nvSpPr>
        <p:spPr>
          <a:xfrm>
            <a:off x="1600200" y="516636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9" name="Text 5"/>
          <p:cNvSpPr txBox="1"/>
          <p:nvPr/>
        </p:nvSpPr>
        <p:spPr>
          <a:xfrm>
            <a:off x="2194560" y="5074920"/>
            <a:ext cx="1783080" cy="731520"/>
          </a:xfrm>
          <a:prstGeom prst="rect">
            <a:avLst/>
          </a:prstGeom>
          <a:noFill/>
          <a:ln/>
        </p:spPr>
        <p:txBody>
          <a:bodyPr wrap="square" lIns="0" tIns="0" rIns="0" bIns="0" rtlCol="0" anchor="ctr"/>
          <a:lstStyle/>
          <a:p>
            <a:pPr indent="0" marL="0">
              <a:buNone/>
            </a:pPr>
            <a:r>
              <a:rPr lang="en-US" sz="1500" b="1" dirty="0">
                <a:solidFill>
                  <a:srgbClr val="274289"/>
                </a:solidFill>
              </a:rPr>
              <a:t>Scan barang</a:t>
            </a:r>
            <a:endParaRPr lang="en-US" sz="1500" dirty="0"/>
          </a:p>
          <a:p>
            <a:pPr indent="0" marL="0">
              <a:buNone/>
            </a:pPr>
            <a:r>
              <a:rPr lang="en-US" sz="1200" dirty="0">
                <a:solidFill>
                  <a:srgbClr val="5B6B86"/>
                </a:solidFill>
              </a:rPr>
              <a:t>barcode, atau ketik nama/kode</a:t>
            </a:r>
            <a:endParaRPr lang="en-US" sz="1500" dirty="0"/>
          </a:p>
        </p:txBody>
      </p:sp>
      <p:sp>
        <p:nvSpPr>
          <p:cNvPr id="10" name="Langkah 2"/>
          <p:cNvSpPr/>
          <p:nvPr/>
        </p:nvSpPr>
        <p:spPr>
          <a:xfrm>
            <a:off x="4087368" y="5166360"/>
            <a:ext cx="475488" cy="475488"/>
          </a:xfrm>
          <a:prstGeom prst="ellipse">
            <a:avLst/>
          </a:prstGeom>
          <a:solidFill>
            <a:srgbClr val="274289"/>
          </a:solidFill>
          <a:ln w="12700">
            <a:solidFill>
              <a:srgbClr val="274289"/>
            </a:solidFill>
            <a:prstDash val="solid"/>
          </a:ln>
        </p:spPr>
      </p:sp>
      <p:sp>
        <p:nvSpPr>
          <p:cNvPr id="11" name="Text 7"/>
          <p:cNvSpPr txBox="1"/>
          <p:nvPr/>
        </p:nvSpPr>
        <p:spPr>
          <a:xfrm>
            <a:off x="4087368" y="516636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8"/>
          <p:cNvSpPr txBox="1"/>
          <p:nvPr/>
        </p:nvSpPr>
        <p:spPr>
          <a:xfrm>
            <a:off x="4681728" y="5074920"/>
            <a:ext cx="1783080" cy="731520"/>
          </a:xfrm>
          <a:prstGeom prst="rect">
            <a:avLst/>
          </a:prstGeom>
          <a:noFill/>
          <a:ln/>
        </p:spPr>
        <p:txBody>
          <a:bodyPr wrap="square" lIns="0" tIns="0" rIns="0" bIns="0" rtlCol="0" anchor="ctr"/>
          <a:lstStyle/>
          <a:p>
            <a:pPr indent="0" marL="0">
              <a:buNone/>
            </a:pPr>
            <a:r>
              <a:rPr lang="en-US" sz="1500" b="1" dirty="0">
                <a:solidFill>
                  <a:srgbClr val="274289"/>
                </a:solidFill>
              </a:rPr>
              <a:t>Bayar</a:t>
            </a:r>
            <a:endParaRPr lang="en-US" sz="1500" dirty="0"/>
          </a:p>
          <a:p>
            <a:pPr indent="0" marL="0">
              <a:buNone/>
            </a:pPr>
            <a:r>
              <a:rPr lang="en-US" sz="1200" dirty="0">
                <a:solidFill>
                  <a:srgbClr val="5B6B86"/>
                </a:solidFill>
              </a:rPr>
              <a:t>tunai atau QRIS, kembalian otomatis</a:t>
            </a:r>
            <a:endParaRPr lang="en-US" sz="1500" dirty="0"/>
          </a:p>
        </p:txBody>
      </p:sp>
      <p:sp>
        <p:nvSpPr>
          <p:cNvPr id="13" name="Langkah 3"/>
          <p:cNvSpPr/>
          <p:nvPr/>
        </p:nvSpPr>
        <p:spPr>
          <a:xfrm>
            <a:off x="6574536" y="5166360"/>
            <a:ext cx="475488" cy="475488"/>
          </a:xfrm>
          <a:prstGeom prst="ellipse">
            <a:avLst/>
          </a:prstGeom>
          <a:solidFill>
            <a:srgbClr val="274289"/>
          </a:solidFill>
          <a:ln w="12700">
            <a:solidFill>
              <a:srgbClr val="274289"/>
            </a:solidFill>
            <a:prstDash val="solid"/>
          </a:ln>
        </p:spPr>
      </p:sp>
      <p:sp>
        <p:nvSpPr>
          <p:cNvPr id="14" name="Text 10"/>
          <p:cNvSpPr txBox="1"/>
          <p:nvPr/>
        </p:nvSpPr>
        <p:spPr>
          <a:xfrm>
            <a:off x="6574536" y="516636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5" name="Text 11"/>
          <p:cNvSpPr txBox="1"/>
          <p:nvPr/>
        </p:nvSpPr>
        <p:spPr>
          <a:xfrm>
            <a:off x="7168896" y="5074920"/>
            <a:ext cx="1783080" cy="731520"/>
          </a:xfrm>
          <a:prstGeom prst="rect">
            <a:avLst/>
          </a:prstGeom>
          <a:noFill/>
          <a:ln/>
        </p:spPr>
        <p:txBody>
          <a:bodyPr wrap="square" lIns="0" tIns="0" rIns="0" bIns="0" rtlCol="0" anchor="ctr"/>
          <a:lstStyle/>
          <a:p>
            <a:pPr indent="0" marL="0">
              <a:buNone/>
            </a:pPr>
            <a:r>
              <a:rPr lang="en-US" sz="1500" b="1" dirty="0">
                <a:solidFill>
                  <a:srgbClr val="274289"/>
                </a:solidFill>
              </a:rPr>
              <a:t>Struk tercetak</a:t>
            </a:r>
            <a:endParaRPr lang="en-US" sz="1500" dirty="0"/>
          </a:p>
          <a:p>
            <a:pPr indent="0" marL="0">
              <a:buNone/>
            </a:pPr>
            <a:r>
              <a:rPr lang="en-US" sz="1200" dirty="0">
                <a:solidFill>
                  <a:srgbClr val="5B6B86"/>
                </a:solidFill>
              </a:rPr>
              <a:t>cetak ulang dari riwayat</a:t>
            </a:r>
            <a:endParaRPr lang="en-US" sz="1500" dirty="0"/>
          </a:p>
        </p:txBody>
      </p:sp>
      <p:sp>
        <p:nvSpPr>
          <p:cNvPr id="16" name="Langkah 4"/>
          <p:cNvSpPr/>
          <p:nvPr/>
        </p:nvSpPr>
        <p:spPr>
          <a:xfrm>
            <a:off x="9061704" y="5166360"/>
            <a:ext cx="475488" cy="475488"/>
          </a:xfrm>
          <a:prstGeom prst="ellipse">
            <a:avLst/>
          </a:prstGeom>
          <a:solidFill>
            <a:srgbClr val="F2762E"/>
          </a:solidFill>
          <a:ln w="12700">
            <a:solidFill>
              <a:srgbClr val="F2762E"/>
            </a:solidFill>
            <a:prstDash val="solid"/>
          </a:ln>
        </p:spPr>
      </p:sp>
      <p:sp>
        <p:nvSpPr>
          <p:cNvPr id="17" name="Text 13"/>
          <p:cNvSpPr txBox="1"/>
          <p:nvPr/>
        </p:nvSpPr>
        <p:spPr>
          <a:xfrm>
            <a:off x="9061704" y="516636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8" name="Text 14"/>
          <p:cNvSpPr txBox="1"/>
          <p:nvPr/>
        </p:nvSpPr>
        <p:spPr>
          <a:xfrm>
            <a:off x="9656064" y="5074920"/>
            <a:ext cx="1783080" cy="731520"/>
          </a:xfrm>
          <a:prstGeom prst="rect">
            <a:avLst/>
          </a:prstGeom>
          <a:noFill/>
          <a:ln/>
        </p:spPr>
        <p:txBody>
          <a:bodyPr wrap="square" lIns="0" tIns="0" rIns="0" bIns="0" rtlCol="0" anchor="ctr"/>
          <a:lstStyle/>
          <a:p>
            <a:pPr indent="0" marL="0">
              <a:buNone/>
            </a:pPr>
            <a:r>
              <a:rPr lang="en-US" sz="1500" b="1" dirty="0">
                <a:solidFill>
                  <a:srgbClr val="274289"/>
                </a:solidFill>
              </a:rPr>
              <a:t>Kirim Delivery Order</a:t>
            </a:r>
            <a:endParaRPr lang="en-US" sz="1500" dirty="0"/>
          </a:p>
          <a:p>
            <a:pPr indent="0" marL="0">
              <a:buNone/>
            </a:pPr>
            <a:r>
              <a:rPr lang="en-US" sz="1200" dirty="0">
                <a:solidFill>
                  <a:srgbClr val="5B6B86"/>
                </a:solidFill>
              </a:rPr>
              <a:t>penjualan harian masuk SAP</a:t>
            </a:r>
            <a:endParaRPr lang="en-US" sz="1500" dirty="0"/>
          </a:p>
        </p:txBody>
      </p:sp>
      <p:sp>
        <p:nvSpPr>
          <p:cNvPr id="25" name="Slide Number Placeholder 0"/>
          <p:cNvSpPr>
            <a:spLocks noGrp="1"/>
          </p:cNvSpPr>
          <p:nvPr>
            <p:ph type="sldNum" sz="quarter" idx="4294967295"/>
          </p:nvPr>
        </p:nvSpPr>
        <p:spPr>
          <a:xfrm>
            <a:off x="1110996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85800" y="914400"/>
            <a:ext cx="10835640" cy="640080"/>
          </a:xfrm>
          <a:prstGeom prst="rect">
            <a:avLst/>
          </a:prstGeom>
          <a:noFill/>
          <a:ln/>
        </p:spPr>
        <p:txBody>
          <a:bodyPr wrap="square" lIns="0" tIns="0" rIns="0" bIns="0" rtlCol="0" anchor="ctr"/>
          <a:lstStyle/>
          <a:p>
            <a:pPr algn="l" indent="0" marL="0">
              <a:buNone/>
            </a:pPr>
            <a:r>
              <a:rPr lang="en-US" sz="3000" b="1" dirty="0">
                <a:solidFill>
                  <a:schemeClr val="tx2"/>
                </a:solidFill>
              </a:rPr>
              <a:t>Keunggulan PID POS</a:t>
            </a:r>
            <a:endParaRPr lang="en-US" sz="3000" dirty="0"/>
          </a:p>
        </p:txBody>
      </p:sp>
      <p:sp>
        <p:nvSpPr>
          <p:cNvPr id="3" name="Keunggulan Transparan"/>
          <p:cNvSpPr/>
          <p:nvPr/>
        </p:nvSpPr>
        <p:spPr>
          <a:xfrm>
            <a:off x="685800" y="1737360"/>
            <a:ext cx="3429000" cy="3246120"/>
          </a:xfrm>
          <a:prstGeom prst="roundRect">
            <a:avLst>
              <a:gd name="adj" fmla="val 3380"/>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4" name="Ikon Transparan latar"/>
          <p:cNvSpPr/>
          <p:nvPr/>
        </p:nvSpPr>
        <p:spPr>
          <a:xfrm>
            <a:off x="960120" y="2011680"/>
            <a:ext cx="868680" cy="868680"/>
          </a:xfrm>
          <a:prstGeom prst="ellipse">
            <a:avLst/>
          </a:prstGeom>
          <a:solidFill>
            <a:srgbClr val="274289"/>
          </a:solidFill>
          <a:ln w="12700">
            <a:solidFill>
              <a:srgbClr val="274289"/>
            </a:solidFill>
            <a:prstDash val="solid"/>
          </a:ln>
        </p:spPr>
      </p:sp>
      <p:pic>
        <p:nvPicPr>
          <p:cNvPr id="5" name="Ikon Transparan" descr="Ikon Transparan">    </p:cNvPr>
          <p:cNvPicPr>
            <a:picLocks noChangeAspect="1"/>
          </p:cNvPicPr>
          <p:nvPr/>
        </p:nvPicPr>
        <p:blipFill>
          <a:blip r:embed="rId1"/>
          <a:stretch>
            <a:fillRect/>
          </a:stretch>
        </p:blipFill>
        <p:spPr>
          <a:xfrm>
            <a:off x="1177290" y="2228850"/>
            <a:ext cx="434340" cy="434340"/>
          </a:xfrm>
          <a:prstGeom prst="rect">
            <a:avLst/>
          </a:prstGeom>
        </p:spPr>
      </p:pic>
      <p:sp>
        <p:nvSpPr>
          <p:cNvPr id="6" name="Text 3"/>
          <p:cNvSpPr txBox="1"/>
          <p:nvPr/>
        </p:nvSpPr>
        <p:spPr>
          <a:xfrm>
            <a:off x="960120" y="3063240"/>
            <a:ext cx="2880360" cy="502920"/>
          </a:xfrm>
          <a:prstGeom prst="rect">
            <a:avLst/>
          </a:prstGeom>
          <a:noFill/>
          <a:ln/>
        </p:spPr>
        <p:txBody>
          <a:bodyPr wrap="square" lIns="0" tIns="0" rIns="0" bIns="0" rtlCol="0" anchor="t"/>
          <a:lstStyle/>
          <a:p>
            <a:pPr indent="0" marL="0">
              <a:buNone/>
            </a:pPr>
            <a:r>
              <a:rPr lang="en-US" sz="2400" b="1" dirty="0">
                <a:solidFill>
                  <a:srgbClr val="274289"/>
                </a:solidFill>
              </a:rPr>
              <a:t>Transparan</a:t>
            </a:r>
            <a:endParaRPr lang="en-US" sz="2400" dirty="0"/>
          </a:p>
        </p:txBody>
      </p:sp>
      <p:sp>
        <p:nvSpPr>
          <p:cNvPr id="7" name="Text 4"/>
          <p:cNvSpPr txBox="1"/>
          <p:nvPr/>
        </p:nvSpPr>
        <p:spPr>
          <a:xfrm>
            <a:off x="960120" y="3611880"/>
            <a:ext cx="2880360" cy="1234440"/>
          </a:xfrm>
          <a:prstGeom prst="rect">
            <a:avLst/>
          </a:prstGeom>
          <a:noFill/>
          <a:ln/>
        </p:spPr>
        <p:txBody>
          <a:bodyPr wrap="square" lIns="0" tIns="0" rIns="0" bIns="0" rtlCol="0" anchor="t"/>
          <a:lstStyle/>
          <a:p>
            <a:pPr indent="0" marL="0">
              <a:buNone/>
            </a:pPr>
            <a:r>
              <a:rPr lang="en-US" sz="1400" dirty="0">
                <a:solidFill>
                  <a:srgbClr val="1B2437"/>
                </a:solidFill>
              </a:rPr>
              <a:t>Stok setiap dek dan status setiap permintaan terpantau real-time, lengkap dengan riwayatnya.</a:t>
            </a:r>
            <a:endParaRPr lang="en-US" sz="1400" dirty="0"/>
          </a:p>
        </p:txBody>
      </p:sp>
      <p:sp>
        <p:nvSpPr>
          <p:cNvPr id="8" name="Keunggulan Terkendali"/>
          <p:cNvSpPr/>
          <p:nvPr/>
        </p:nvSpPr>
        <p:spPr>
          <a:xfrm>
            <a:off x="4343400" y="1737360"/>
            <a:ext cx="3429000" cy="3246120"/>
          </a:xfrm>
          <a:prstGeom prst="roundRect">
            <a:avLst>
              <a:gd name="adj" fmla="val 3380"/>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9" name="Ikon Terkendali latar"/>
          <p:cNvSpPr/>
          <p:nvPr/>
        </p:nvSpPr>
        <p:spPr>
          <a:xfrm>
            <a:off x="4617720" y="2011680"/>
            <a:ext cx="868680" cy="868680"/>
          </a:xfrm>
          <a:prstGeom prst="ellipse">
            <a:avLst/>
          </a:prstGeom>
          <a:solidFill>
            <a:srgbClr val="274289"/>
          </a:solidFill>
          <a:ln w="12700">
            <a:solidFill>
              <a:srgbClr val="274289"/>
            </a:solidFill>
            <a:prstDash val="solid"/>
          </a:ln>
        </p:spPr>
      </p:sp>
      <p:pic>
        <p:nvPicPr>
          <p:cNvPr id="10" name="Ikon Terkendali" descr="Ikon Terkendali">    </p:cNvPr>
          <p:cNvPicPr>
            <a:picLocks noChangeAspect="1"/>
          </p:cNvPicPr>
          <p:nvPr/>
        </p:nvPicPr>
        <p:blipFill>
          <a:blip r:embed="rId2"/>
          <a:stretch>
            <a:fillRect/>
          </a:stretch>
        </p:blipFill>
        <p:spPr>
          <a:xfrm>
            <a:off x="4834890" y="2228850"/>
            <a:ext cx="434340" cy="434340"/>
          </a:xfrm>
          <a:prstGeom prst="rect">
            <a:avLst/>
          </a:prstGeom>
        </p:spPr>
      </p:pic>
      <p:sp>
        <p:nvSpPr>
          <p:cNvPr id="11" name="Text 7"/>
          <p:cNvSpPr txBox="1"/>
          <p:nvPr/>
        </p:nvSpPr>
        <p:spPr>
          <a:xfrm>
            <a:off x="4617720" y="3063240"/>
            <a:ext cx="2880360" cy="502920"/>
          </a:xfrm>
          <a:prstGeom prst="rect">
            <a:avLst/>
          </a:prstGeom>
          <a:noFill/>
          <a:ln/>
        </p:spPr>
        <p:txBody>
          <a:bodyPr wrap="square" lIns="0" tIns="0" rIns="0" bIns="0" rtlCol="0" anchor="t"/>
          <a:lstStyle/>
          <a:p>
            <a:pPr indent="0" marL="0">
              <a:buNone/>
            </a:pPr>
            <a:r>
              <a:rPr lang="en-US" sz="2400" b="1" dirty="0">
                <a:solidFill>
                  <a:srgbClr val="274289"/>
                </a:solidFill>
              </a:rPr>
              <a:t>Terkendali</a:t>
            </a:r>
            <a:endParaRPr lang="en-US" sz="2400" dirty="0"/>
          </a:p>
        </p:txBody>
      </p:sp>
      <p:sp>
        <p:nvSpPr>
          <p:cNvPr id="12" name="Text 8"/>
          <p:cNvSpPr txBox="1"/>
          <p:nvPr/>
        </p:nvSpPr>
        <p:spPr>
          <a:xfrm>
            <a:off x="4617720" y="3611880"/>
            <a:ext cx="2880360" cy="1234440"/>
          </a:xfrm>
          <a:prstGeom prst="rect">
            <a:avLst/>
          </a:prstGeom>
          <a:noFill/>
          <a:ln/>
        </p:spPr>
        <p:txBody>
          <a:bodyPr wrap="square" lIns="0" tIns="0" rIns="0" bIns="0" rtlCol="0" anchor="t"/>
          <a:lstStyle/>
          <a:p>
            <a:pPr indent="0" marL="0">
              <a:buNone/>
            </a:pPr>
            <a:r>
              <a:rPr lang="en-US" sz="1400" dirty="0">
                <a:solidFill>
                  <a:srgbClr val="1B2437"/>
                </a:solidFill>
              </a:rPr>
              <a:t>Persetujuan berjenjang di setiap tahap, dan setiap persetujuan tercatat lengkap dengan siapa dan kapan.</a:t>
            </a:r>
            <a:endParaRPr lang="en-US" sz="1400" dirty="0"/>
          </a:p>
        </p:txBody>
      </p:sp>
      <p:sp>
        <p:nvSpPr>
          <p:cNvPr id="13" name="Keunggulan Terintegrasi"/>
          <p:cNvSpPr/>
          <p:nvPr/>
        </p:nvSpPr>
        <p:spPr>
          <a:xfrm>
            <a:off x="8001000" y="1737360"/>
            <a:ext cx="3429000" cy="3246120"/>
          </a:xfrm>
          <a:prstGeom prst="roundRect">
            <a:avLst>
              <a:gd name="adj" fmla="val 3380"/>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14" name="Ikon Terintegrasi latar"/>
          <p:cNvSpPr/>
          <p:nvPr/>
        </p:nvSpPr>
        <p:spPr>
          <a:xfrm>
            <a:off x="8275320" y="2011680"/>
            <a:ext cx="868680" cy="868680"/>
          </a:xfrm>
          <a:prstGeom prst="ellipse">
            <a:avLst/>
          </a:prstGeom>
          <a:solidFill>
            <a:srgbClr val="5AB4E5"/>
          </a:solidFill>
          <a:ln w="12700">
            <a:solidFill>
              <a:srgbClr val="5AB4E5"/>
            </a:solidFill>
            <a:prstDash val="solid"/>
          </a:ln>
        </p:spPr>
      </p:sp>
      <p:pic>
        <p:nvPicPr>
          <p:cNvPr id="15" name="Ikon Terintegrasi" descr="Ikon Terintegrasi">    </p:cNvPr>
          <p:cNvPicPr>
            <a:picLocks noChangeAspect="1"/>
          </p:cNvPicPr>
          <p:nvPr/>
        </p:nvPicPr>
        <p:blipFill>
          <a:blip r:embed="rId3"/>
          <a:stretch>
            <a:fillRect/>
          </a:stretch>
        </p:blipFill>
        <p:spPr>
          <a:xfrm>
            <a:off x="8492490" y="2228850"/>
            <a:ext cx="434340" cy="434340"/>
          </a:xfrm>
          <a:prstGeom prst="rect">
            <a:avLst/>
          </a:prstGeom>
        </p:spPr>
      </p:pic>
      <p:sp>
        <p:nvSpPr>
          <p:cNvPr id="16" name="Text 11"/>
          <p:cNvSpPr txBox="1"/>
          <p:nvPr/>
        </p:nvSpPr>
        <p:spPr>
          <a:xfrm>
            <a:off x="8275320" y="3063240"/>
            <a:ext cx="2880360" cy="502920"/>
          </a:xfrm>
          <a:prstGeom prst="rect">
            <a:avLst/>
          </a:prstGeom>
          <a:noFill/>
          <a:ln/>
        </p:spPr>
        <p:txBody>
          <a:bodyPr wrap="square" lIns="0" tIns="0" rIns="0" bIns="0" rtlCol="0" anchor="t"/>
          <a:lstStyle/>
          <a:p>
            <a:pPr indent="0" marL="0">
              <a:buNone/>
            </a:pPr>
            <a:r>
              <a:rPr lang="en-US" sz="2400" b="1" dirty="0">
                <a:solidFill>
                  <a:srgbClr val="274289"/>
                </a:solidFill>
              </a:rPr>
              <a:t>Terintegrasi</a:t>
            </a:r>
            <a:endParaRPr lang="en-US" sz="2400" dirty="0"/>
          </a:p>
        </p:txBody>
      </p:sp>
      <p:sp>
        <p:nvSpPr>
          <p:cNvPr id="17" name="Text 12"/>
          <p:cNvSpPr txBox="1"/>
          <p:nvPr/>
        </p:nvSpPr>
        <p:spPr>
          <a:xfrm>
            <a:off x="8275320" y="3611880"/>
            <a:ext cx="2880360" cy="1234440"/>
          </a:xfrm>
          <a:prstGeom prst="rect">
            <a:avLst/>
          </a:prstGeom>
          <a:noFill/>
          <a:ln/>
        </p:spPr>
        <p:txBody>
          <a:bodyPr wrap="square" lIns="0" tIns="0" rIns="0" bIns="0" rtlCol="0" anchor="t"/>
          <a:lstStyle/>
          <a:p>
            <a:pPr indent="0" marL="0">
              <a:buNone/>
            </a:pPr>
            <a:r>
              <a:rPr lang="en-US" sz="1400" dirty="0">
                <a:solidFill>
                  <a:srgbClr val="1B2437"/>
                </a:solidFill>
              </a:rPr>
              <a:t>Dokumen SAP Business One dibuat otomatis, dan penjualan harian setiap dek masuk SAP sebagai Delivery Order.</a:t>
            </a:r>
            <a:endParaRPr lang="en-US" sz="1400" dirty="0"/>
          </a:p>
        </p:txBody>
      </p:sp>
      <p:sp>
        <p:nvSpPr>
          <p:cNvPr id="25" name="Slide Number Placeholder 0"/>
          <p:cNvSpPr>
            <a:spLocks noGrp="1"/>
          </p:cNvSpPr>
          <p:nvPr>
            <p:ph type="sldNum" sz="quarter" idx="4294967295"/>
          </p:nvPr>
        </p:nvSpPr>
        <p:spPr>
          <a:xfrm>
            <a:off x="1110996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12648" y="2148840"/>
            <a:ext cx="6949440" cy="868680"/>
          </a:xfrm>
          <a:prstGeom prst="rect">
            <a:avLst/>
          </a:prstGeom>
          <a:noFill/>
          <a:ln/>
        </p:spPr>
        <p:txBody>
          <a:bodyPr wrap="square" lIns="0" tIns="0" rIns="0" bIns="0" rtlCol="0" anchor="b"/>
          <a:lstStyle/>
          <a:p>
            <a:pPr algn="l" indent="0" marL="0">
              <a:buNone/>
            </a:pPr>
            <a:r>
              <a:rPr lang="en-US" sz="4400" b="1" dirty="0">
                <a:solidFill>
                  <a:schemeClr val="bg1"/>
                </a:solidFill>
              </a:rPr>
              <a:t>Terima Kasih</a:t>
            </a:r>
            <a:endParaRPr lang="en-US" sz="4400" dirty="0"/>
          </a:p>
        </p:txBody>
      </p:sp>
      <p:sp>
        <p:nvSpPr>
          <p:cNvPr id="3" name="Text 1"/>
          <p:cNvSpPr txBox="1"/>
          <p:nvPr/>
        </p:nvSpPr>
        <p:spPr>
          <a:xfrm>
            <a:off x="612648" y="3246120"/>
            <a:ext cx="6766560" cy="457200"/>
          </a:xfrm>
          <a:prstGeom prst="rect">
            <a:avLst/>
          </a:prstGeom>
          <a:noFill/>
          <a:ln/>
        </p:spPr>
        <p:txBody>
          <a:bodyPr wrap="square" lIns="0" tIns="0" rIns="0" bIns="0" rtlCol="0" anchor="t"/>
          <a:lstStyle/>
          <a:p>
            <a:pPr indent="0" marL="0">
              <a:buNone/>
            </a:pPr>
            <a:r>
              <a:rPr lang="en-US" sz="2000" b="1" dirty="0">
                <a:solidFill>
                  <a:srgbClr val="FFFFFF"/>
                </a:solidFill>
              </a:rPr>
              <a:t>PID POS · Satu alur, dari kapal sampai kasir.</a:t>
            </a:r>
            <a:endParaRPr lang="en-US" sz="2000" dirty="0"/>
          </a:p>
        </p:txBody>
      </p:sp>
      <p:sp>
        <p:nvSpPr>
          <p:cNvPr id="4" name="Text 2"/>
          <p:cNvSpPr txBox="1"/>
          <p:nvPr/>
        </p:nvSpPr>
        <p:spPr>
          <a:xfrm>
            <a:off x="612648" y="3749040"/>
            <a:ext cx="6766560" cy="365760"/>
          </a:xfrm>
          <a:prstGeom prst="rect">
            <a:avLst/>
          </a:prstGeom>
          <a:noFill/>
          <a:ln/>
        </p:spPr>
        <p:txBody>
          <a:bodyPr wrap="square" lIns="0" tIns="0" rIns="0" bIns="0" rtlCol="0" anchor="t"/>
          <a:lstStyle/>
          <a:p>
            <a:pPr indent="0" marL="0">
              <a:buNone/>
            </a:pPr>
            <a:r>
              <a:rPr lang="en-US" sz="1600" dirty="0">
                <a:solidFill>
                  <a:srgbClr val="D6E4F5"/>
                </a:solidFill>
              </a:rPr>
              <a:t>PT Pelita Indonesia Djaya (PELNI Services)</a:t>
            </a:r>
            <a:endParaRPr lang="en-US" sz="1600" dirty="0"/>
          </a:p>
        </p:txBody>
      </p:sp>
    </p:spTree>
  </p:cSld>
  <p:clrMapOvr>
    <a:masterClrMapping/>
  </p:clrMapOvr>
</p:sld>
</file>

<file path=ppt/theme/theme1.xml><?xml version="1.0" encoding="utf-8"?>
<a:theme xmlns:a="http://schemas.openxmlformats.org/drawingml/2006/main" name="PELNI Services">
  <a:themeElements>
    <a:clrScheme name="PELNI Services">
      <a:dk1>
        <a:srgbClr val="1B2437"/>
      </a:dk1>
      <a:lt1>
        <a:srgbClr val="FFFFFF"/>
      </a:lt1>
      <a:dk2>
        <a:srgbClr val="274289"/>
      </a:dk2>
      <a:lt2>
        <a:srgbClr val="EEF3FA"/>
      </a:lt2>
      <a:accent1>
        <a:srgbClr val="5AB4E5"/>
      </a:accent1>
      <a:accent2>
        <a:srgbClr val="274289"/>
      </a:accent2>
      <a:accent3>
        <a:srgbClr val="3D6FC2"/>
      </a:accent3>
      <a:accent4>
        <a:srgbClr val="F2762E"/>
      </a:accent4>
      <a:accent5>
        <a:srgbClr val="5B6B86"/>
      </a:accent5>
      <a:accent6>
        <a:srgbClr val="D5DEEC"/>
      </a:accent6>
      <a:hlink>
        <a:srgbClr val="274289"/>
      </a:hlink>
      <a:folHlink>
        <a:srgbClr val="5B6B86"/>
      </a:folHlink>
    </a:clrScheme>
    <a:fontScheme name="PELNI Service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PID POS · Paparan Direksi</dc:title>
  <dc:subject>PptxGenJS Presentation</dc:subject>
  <dc:creator>PT Pelita Indonesia Djaya (PELNI Services)</dc:creator>
  <cp:lastModifiedBy>PT Pelita Indonesia Djaya (PELNI Services)</cp:lastModifiedBy>
  <cp:revision>1</cp:revision>
  <dcterms:created xsi:type="dcterms:W3CDTF">2026-10-26T08:35:39Z</dcterms:created>
  <dcterms:modified xsi:type="dcterms:W3CDTF">2026-10-26T08:35:39Z</dcterms:modified>
</cp:coreProperties>
</file>