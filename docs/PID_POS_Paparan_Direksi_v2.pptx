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bf3acd3-d695-5b61-7a35-27981f4f4453}">
          <p14:sldIdLst>
            <p14:sldId id="256"/>
          </p14:sldIdLst>
        </p14:section>
        <p14:section name="Aplikasi" id="{431f6ce3-1afd-2159-ba73-9c011f88bc6a}">
          <p14:sldIdLst>
            <p14:sldId id="257"/>
            <p14:sldId id="258"/>
            <p14:sldId id="259"/>
            <p14:sldId id="260"/>
            <p14:sldId id="261"/>
            <p14:sldId id="262"/>
          </p14:sldIdLst>
        </p14:section>
        <p14:section name="Penutup" id="{7596e758-71a3-8b4d-ea85-c230afa80bd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adalah aplikasi toko kapal PELNI Services yang terhubung langsung dengan SAP Business One. Paparan ini menyampaikan apa itu PID POS, alurnya, peran yang terlibat, fitur utamanya, kasir, dan keunggulannya.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terdiri dari aplikasi web untuk admin kapal, DC, dan kantor pusat, serta aplikasi kasir Android untuk setiap dek. Keduanya terhubung langsung dengan SAP Business One, sehingga dokumen dibuat otomatis setelah disetujui. Gambar di kanan adalah beranda admin kapal.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Jalur atas selalu dijalani: kapal memesan ke DC, kantor pusat menyetujui sehingga Sales Order terbentuk di SAP, DC memilah stok, barang dikirim ke dek dengan Inventory Transfer, diterima kepala toko dan P2, lalu dijual di kasir dan masuk SAP sebagai Delivery Order. Bila stok DC kurang, jalur pembelian berjalan: Purchase Request, Purchase Order ke vendor, dan GRPO saat barang tiba di 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tujuh peran. Di kapal: admin kapal atau kepala toko, dan kasir. Di kantor pusat: Approve SO, Approve PUR, Admin Purchase, dan Approve PO. Di DC: admin DC. Setiap peran hanya melihat tugas yang menunggunya, lewat lonceng dan tab Giliran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fitur utama aplikasi web: admin kapal memesan barang ke DC per dek; setiap permintaan disetujui berjenjang dan statusnya terlihat per tahap, lalu menjadi Sales Order di SAP; dan posisi stok setiap dek terpantau dalam satu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setiap dek, kasir cukup scan barang, menerima pembayaran tunai atau QRIS dengan kembalian dihitung otomatis, lalu struk tercetak. Di akhir hari, penjualan dikirim ke SAP sebagai Delivery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Nilainya bagi perusahaan ada tiga. Transparan: stok setiap dek dan status permintaan terpantau real-time. Terkendali: setiap tahap disetujui berjenjang, dan transaksi sensitif seperti retur memerlukan PIN kepala toko. Terintegrasi: dokumen SAP dibuat otomatis, termasuk penjualan harian setiap dek sebagai Delivery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satu alur, dari kapal sampai kasir.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LAP">
    <p:bg>
      <p:bgPr>
        <a:solidFill>
          <a:srgbClr val="0B1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31720"/>
            <a:ext cx="658368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pic>
        <p:nvPicPr>
          <p:cNvPr id="3" name="Image 0" descr="/home/user/claude/motion/public/brand/pelni_services.png">    </p:cNvPr>
          <p:cNvPicPr>
            <a:picLocks noChangeAspect="1"/>
          </p:cNvPicPr>
          <p:nvPr/>
        </p:nvPicPr>
        <p:blipFill>
          <a:blip r:embed="rId1"/>
          <a:stretch>
            <a:fillRect/>
          </a:stretch>
        </p:blipFill>
        <p:spPr>
          <a:xfrm>
            <a:off x="10561320" y="457200"/>
            <a:ext cx="1097280" cy="502920"/>
          </a:xfrm>
          <a:prstGeom prst="rect">
            <a:avLst/>
          </a:prstGeom>
        </p:spPr>
      </p:pic>
      <p:sp>
        <p:nvSpPr>
          <p:cNvPr id="4" name="Text 0"/>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PID POS · Paparan Direksi</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artu logo"/>
          <p:cNvSpPr/>
          <p:nvPr/>
        </p:nvSpPr>
        <p:spPr>
          <a:xfrm>
            <a:off x="640080" y="548640"/>
            <a:ext cx="4206240" cy="841248"/>
          </a:xfrm>
          <a:prstGeom prst="roundRect">
            <a:avLst>
              <a:gd name="adj" fmla="val 15217"/>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pic>
        <p:nvPicPr>
          <p:cNvPr id="3" name="Logo Danantara" descr="Logo Danantara Indonesia">    </p:cNvPr>
          <p:cNvPicPr>
            <a:picLocks noChangeAspect="1"/>
          </p:cNvPicPr>
          <p:nvPr/>
        </p:nvPicPr>
        <p:blipFill>
          <a:blip r:embed="rId1"/>
          <a:stretch>
            <a:fillRect/>
          </a:stretch>
        </p:blipFill>
        <p:spPr>
          <a:xfrm>
            <a:off x="850392" y="750540"/>
            <a:ext cx="1682496" cy="423892"/>
          </a:xfrm>
          <a:prstGeom prst="rect">
            <a:avLst/>
          </a:prstGeom>
        </p:spPr>
      </p:pic>
      <p:sp>
        <p:nvSpPr>
          <p:cNvPr id="4" name="Pemisah logo"/>
          <p:cNvSpPr/>
          <p:nvPr/>
        </p:nvSpPr>
        <p:spPr>
          <a:xfrm>
            <a:off x="2743200" y="716890"/>
            <a:ext cx="0" cy="504749"/>
          </a:xfrm>
          <a:prstGeom prst="line">
            <a:avLst/>
          </a:prstGeom>
          <a:noFill/>
          <a:ln w="19050">
            <a:solidFill>
              <a:srgbClr val="D5DEEC"/>
            </a:solidFill>
            <a:prstDash val="solid"/>
          </a:ln>
        </p:spPr>
      </p:sp>
      <p:pic>
        <p:nvPicPr>
          <p:cNvPr id="5" name="Logo PELNI Services" descr="Logo PELNI Services">    </p:cNvPr>
          <p:cNvPicPr>
            <a:picLocks noChangeAspect="1"/>
          </p:cNvPicPr>
          <p:nvPr/>
        </p:nvPicPr>
        <p:blipFill>
          <a:blip r:embed="rId2"/>
          <a:stretch>
            <a:fillRect/>
          </a:stretch>
        </p:blipFill>
        <p:spPr>
          <a:xfrm>
            <a:off x="2995574" y="683240"/>
            <a:ext cx="1598371" cy="735251"/>
          </a:xfrm>
          <a:prstGeom prst="rect">
            <a:avLst/>
          </a:prstGeom>
        </p:spPr>
      </p:pic>
      <p:sp>
        <p:nvSpPr>
          <p:cNvPr id="6" name="Text 0"/>
          <p:cNvSpPr/>
          <p:nvPr>
            <p:ph idx="100" type="title" hasCustomPrompt="1"/>
          </p:nvPr>
        </p:nvSpPr>
        <p:spPr>
          <a:xfrm>
            <a:off x="640080" y="2331720"/>
            <a:ext cx="6583680" cy="1188720"/>
          </a:xfrm>
          <a:prstGeom prst="rect">
            <a:avLst/>
          </a:prstGeom>
          <a:noFill/>
          <a:ln/>
        </p:spPr>
        <p:txBody>
          <a:bodyPr wrap="square" lIns="0" tIns="0" rIns="0" bIns="0" rtlCol="0" anchor="ctr"/>
          <a:lstStyle/>
          <a:p>
            <a:pPr algn="l" indent="0" marL="0">
              <a:buNone/>
            </a:pPr>
            <a:r>
              <a:rPr lang="en-US" sz="6600" b="1" dirty="0">
                <a:solidFill>
                  <a:schemeClr val="bg1"/>
                </a:solidFill>
              </a:rPr>
              <a:t>PID POS</a:t>
            </a:r>
            <a:endParaRPr lang="en-US" sz="6600" dirty="0"/>
          </a:p>
        </p:txBody>
      </p:sp>
      <p:sp>
        <p:nvSpPr>
          <p:cNvPr id="7" name="Text 3"/>
          <p:cNvSpPr txBox="1"/>
          <p:nvPr/>
        </p:nvSpPr>
        <p:spPr>
          <a:xfrm>
            <a:off x="640080" y="3611880"/>
            <a:ext cx="5852160" cy="868680"/>
          </a:xfrm>
          <a:prstGeom prst="rect">
            <a:avLst/>
          </a:prstGeom>
          <a:noFill/>
          <a:ln/>
        </p:spPr>
        <p:txBody>
          <a:bodyPr wrap="square" lIns="0" tIns="0" rIns="0" bIns="0" rtlCol="0" anchor="t"/>
          <a:lstStyle/>
          <a:p>
            <a:pPr indent="0" marL="0">
              <a:buNone/>
            </a:pPr>
            <a:r>
              <a:rPr lang="en-US" sz="2200" dirty="0">
                <a:solidFill>
                  <a:srgbClr val="CADCFC"/>
                </a:solidFill>
              </a:rPr>
              <a:t>Aplikasi toko kapal yang terhubung langsung dengan SAP Business One</a:t>
            </a:r>
            <a:endParaRPr lang="en-US" sz="2200" dirty="0"/>
          </a:p>
        </p:txBody>
      </p:sp>
      <p:sp>
        <p:nvSpPr>
          <p:cNvPr id="8" name="Text 4"/>
          <p:cNvSpPr txBox="1"/>
          <p:nvPr/>
        </p:nvSpPr>
        <p:spPr>
          <a:xfrm>
            <a:off x="640080" y="5989320"/>
            <a:ext cx="5486400" cy="320040"/>
          </a:xfrm>
          <a:prstGeom prst="rect">
            <a:avLst/>
          </a:prstGeom>
          <a:noFill/>
          <a:ln/>
        </p:spPr>
        <p:txBody>
          <a:bodyPr wrap="square" lIns="0" tIns="0" rIns="0" bIns="0" rtlCol="0" anchor="ctr"/>
          <a:lstStyle/>
          <a:p>
            <a:pPr indent="0" marL="0">
              <a:buNone/>
            </a:pPr>
            <a:r>
              <a:rPr lang="en-US" sz="1400" dirty="0">
                <a:solidFill>
                  <a:srgbClr val="8FA6D8"/>
                </a:solidFill>
              </a:rPr>
              <a:t>Paparan kepada Direksi · Oktober 2026</a:t>
            </a:r>
            <a:endParaRPr lang="en-US" sz="1400" dirty="0"/>
          </a:p>
        </p:txBody>
      </p:sp>
      <p:sp>
        <p:nvSpPr>
          <p:cNvPr id="9" name="Beranda admin kapal bingkai"/>
          <p:cNvSpPr/>
          <p:nvPr/>
        </p:nvSpPr>
        <p:spPr>
          <a:xfrm>
            <a:off x="7013448" y="2039362"/>
            <a:ext cx="4718304" cy="2779276"/>
          </a:xfrm>
          <a:prstGeom prst="roundRect">
            <a:avLst>
              <a:gd name="adj" fmla="val 4606"/>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10" name="Beranda admin kapal" descr="Layar PID POS: Beranda admin kapal">    </p:cNvPr>
          <p:cNvPicPr>
            <a:picLocks noChangeAspect="1"/>
          </p:cNvPicPr>
          <p:nvPr/>
        </p:nvPicPr>
        <p:blipFill>
          <a:blip r:embed="rId3"/>
          <a:stretch>
            <a:fillRect/>
          </a:stretch>
        </p:blipFill>
        <p:spPr>
          <a:xfrm>
            <a:off x="7086600" y="2112514"/>
            <a:ext cx="4572000" cy="26329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Satu aplikasi untuk seluruh alur toko kapal</a:t>
            </a:r>
            <a:endParaRPr lang="en-US" sz="3400" dirty="0"/>
          </a:p>
        </p:txBody>
      </p:sp>
      <p:sp>
        <p:nvSpPr>
          <p:cNvPr id="3" name="Aplikasi web latar"/>
          <p:cNvSpPr/>
          <p:nvPr/>
        </p:nvSpPr>
        <p:spPr>
          <a:xfrm>
            <a:off x="640080" y="1600200"/>
            <a:ext cx="868680" cy="868680"/>
          </a:xfrm>
          <a:prstGeom prst="ellipse">
            <a:avLst/>
          </a:prstGeom>
          <a:solidFill>
            <a:srgbClr val="1F3B7A"/>
          </a:solidFill>
          <a:ln w="12700">
            <a:solidFill>
              <a:srgbClr val="1F3B7A"/>
            </a:solidFill>
            <a:prstDash val="solid"/>
          </a:ln>
        </p:spPr>
      </p:sp>
      <p:pic>
        <p:nvPicPr>
          <p:cNvPr id="4" name="Aplikasi web" descr="Aplikasi web">    </p:cNvPr>
          <p:cNvPicPr>
            <a:picLocks noChangeAspect="1"/>
          </p:cNvPicPr>
          <p:nvPr/>
        </p:nvPicPr>
        <p:blipFill>
          <a:blip r:embed="rId1"/>
          <a:stretch>
            <a:fillRect/>
          </a:stretch>
        </p:blipFill>
        <p:spPr>
          <a:xfrm>
            <a:off x="848563" y="1808683"/>
            <a:ext cx="451714" cy="451714"/>
          </a:xfrm>
          <a:prstGeom prst="rect">
            <a:avLst/>
          </a:prstGeom>
        </p:spPr>
      </p:pic>
      <p:sp>
        <p:nvSpPr>
          <p:cNvPr id="5" name="Text 2"/>
          <p:cNvSpPr txBox="1"/>
          <p:nvPr/>
        </p:nvSpPr>
        <p:spPr>
          <a:xfrm>
            <a:off x="1737360" y="1508760"/>
            <a:ext cx="4480560" cy="1143000"/>
          </a:xfrm>
          <a:prstGeom prst="rect">
            <a:avLst/>
          </a:prstGeom>
          <a:noFill/>
          <a:ln/>
        </p:spPr>
        <p:txBody>
          <a:bodyPr wrap="square" lIns="0" tIns="0" rIns="0" bIns="0" rtlCol="0" anchor="t"/>
          <a:lstStyle/>
          <a:p>
            <a:pPr indent="0" marL="0">
              <a:buNone/>
            </a:pPr>
            <a:r>
              <a:rPr lang="en-US" sz="2000" b="1" dirty="0">
                <a:solidFill>
                  <a:srgbClr val="0B1A3A"/>
                </a:solidFill>
              </a:rPr>
              <a:t>Aplikasi web</a:t>
            </a:r>
            <a:endParaRPr lang="en-US" sz="2000" dirty="0"/>
          </a:p>
          <a:p>
            <a:pPr indent="0" marL="0">
              <a:buNone/>
            </a:pPr>
            <a:r>
              <a:rPr lang="en-US" sz="1500" dirty="0">
                <a:solidFill>
                  <a:srgbClr val="1B2437"/>
                </a:solidFill>
              </a:rPr>
              <a:t>Untuk admin kapal, DC, dan kantor pusat: pesan barang, persetujuan, stok, kas, dan laporan.</a:t>
            </a:r>
            <a:endParaRPr lang="en-US" sz="2000" dirty="0"/>
          </a:p>
        </p:txBody>
      </p:sp>
      <p:sp>
        <p:nvSpPr>
          <p:cNvPr id="6" name="Aplikasi kasir Android latar"/>
          <p:cNvSpPr/>
          <p:nvPr/>
        </p:nvSpPr>
        <p:spPr>
          <a:xfrm>
            <a:off x="640080" y="3063240"/>
            <a:ext cx="868680" cy="868680"/>
          </a:xfrm>
          <a:prstGeom prst="ellipse">
            <a:avLst/>
          </a:prstGeom>
          <a:solidFill>
            <a:srgbClr val="1F3B7A"/>
          </a:solidFill>
          <a:ln w="12700">
            <a:solidFill>
              <a:srgbClr val="1F3B7A"/>
            </a:solidFill>
            <a:prstDash val="solid"/>
          </a:ln>
        </p:spPr>
      </p:sp>
      <p:pic>
        <p:nvPicPr>
          <p:cNvPr id="7" name="Aplikasi kasir Android" descr="Aplikasi kasir Android">    </p:cNvPr>
          <p:cNvPicPr>
            <a:picLocks noChangeAspect="1"/>
          </p:cNvPicPr>
          <p:nvPr/>
        </p:nvPicPr>
        <p:blipFill>
          <a:blip r:embed="rId2"/>
          <a:stretch>
            <a:fillRect/>
          </a:stretch>
        </p:blipFill>
        <p:spPr>
          <a:xfrm>
            <a:off x="848563" y="3271723"/>
            <a:ext cx="451714" cy="451714"/>
          </a:xfrm>
          <a:prstGeom prst="rect">
            <a:avLst/>
          </a:prstGeom>
        </p:spPr>
      </p:pic>
      <p:sp>
        <p:nvSpPr>
          <p:cNvPr id="8" name="Text 4"/>
          <p:cNvSpPr txBox="1"/>
          <p:nvPr/>
        </p:nvSpPr>
        <p:spPr>
          <a:xfrm>
            <a:off x="1737360" y="2971800"/>
            <a:ext cx="4480560" cy="1143000"/>
          </a:xfrm>
          <a:prstGeom prst="rect">
            <a:avLst/>
          </a:prstGeom>
          <a:noFill/>
          <a:ln/>
        </p:spPr>
        <p:txBody>
          <a:bodyPr wrap="square" lIns="0" tIns="0" rIns="0" bIns="0" rtlCol="0" anchor="t"/>
          <a:lstStyle/>
          <a:p>
            <a:pPr indent="0" marL="0">
              <a:buNone/>
            </a:pPr>
            <a:r>
              <a:rPr lang="en-US" sz="2000" b="1" dirty="0">
                <a:solidFill>
                  <a:srgbClr val="0B1A3A"/>
                </a:solidFill>
              </a:rPr>
              <a:t>Aplikasi kasir Android</a:t>
            </a:r>
            <a:endParaRPr lang="en-US" sz="2000" dirty="0"/>
          </a:p>
          <a:p>
            <a:pPr indent="0" marL="0">
              <a:buNone/>
            </a:pPr>
            <a:r>
              <a:rPr lang="en-US" sz="1500" dirty="0">
                <a:solidFill>
                  <a:srgbClr val="1B2437"/>
                </a:solidFill>
              </a:rPr>
              <a:t>Untuk kasir di setiap dek: scan, bayar tunai atau QRIS, struk, dan rekap shift.</a:t>
            </a:r>
            <a:endParaRPr lang="en-US" sz="2000" dirty="0"/>
          </a:p>
        </p:txBody>
      </p:sp>
      <p:sp>
        <p:nvSpPr>
          <p:cNvPr id="9" name="Terhubung SAP Business One latar"/>
          <p:cNvSpPr/>
          <p:nvPr/>
        </p:nvSpPr>
        <p:spPr>
          <a:xfrm>
            <a:off x="640080" y="4526280"/>
            <a:ext cx="868680" cy="868680"/>
          </a:xfrm>
          <a:prstGeom prst="ellipse">
            <a:avLst/>
          </a:prstGeom>
          <a:solidFill>
            <a:srgbClr val="FF6B1A"/>
          </a:solidFill>
          <a:ln w="12700">
            <a:solidFill>
              <a:srgbClr val="FF6B1A"/>
            </a:solidFill>
            <a:prstDash val="solid"/>
          </a:ln>
        </p:spPr>
      </p:sp>
      <p:pic>
        <p:nvPicPr>
          <p:cNvPr id="10" name="Terhubung SAP Business One" descr="Terhubung SAP Business One">    </p:cNvPr>
          <p:cNvPicPr>
            <a:picLocks noChangeAspect="1"/>
          </p:cNvPicPr>
          <p:nvPr/>
        </p:nvPicPr>
        <p:blipFill>
          <a:blip r:embed="rId3"/>
          <a:stretch>
            <a:fillRect/>
          </a:stretch>
        </p:blipFill>
        <p:spPr>
          <a:xfrm>
            <a:off x="848563" y="4734763"/>
            <a:ext cx="451714" cy="451714"/>
          </a:xfrm>
          <a:prstGeom prst="rect">
            <a:avLst/>
          </a:prstGeom>
        </p:spPr>
      </p:pic>
      <p:sp>
        <p:nvSpPr>
          <p:cNvPr id="11" name="Text 6"/>
          <p:cNvSpPr txBox="1"/>
          <p:nvPr/>
        </p:nvSpPr>
        <p:spPr>
          <a:xfrm>
            <a:off x="1737360" y="4434840"/>
            <a:ext cx="4480560" cy="1143000"/>
          </a:xfrm>
          <a:prstGeom prst="rect">
            <a:avLst/>
          </a:prstGeom>
          <a:noFill/>
          <a:ln/>
        </p:spPr>
        <p:txBody>
          <a:bodyPr wrap="square" lIns="0" tIns="0" rIns="0" bIns="0" rtlCol="0" anchor="t"/>
          <a:lstStyle/>
          <a:p>
            <a:pPr indent="0" marL="0">
              <a:buNone/>
            </a:pPr>
            <a:r>
              <a:rPr lang="en-US" sz="2000" b="1" dirty="0">
                <a:solidFill>
                  <a:srgbClr val="0B1A3A"/>
                </a:solidFill>
              </a:rPr>
              <a:t>Terhubung SAP Business One</a:t>
            </a:r>
            <a:endParaRPr lang="en-US" sz="2000" dirty="0"/>
          </a:p>
          <a:p>
            <a:pPr indent="0" marL="0">
              <a:buNone/>
            </a:pPr>
            <a:r>
              <a:rPr lang="en-US" sz="1500" dirty="0">
                <a:solidFill>
                  <a:srgbClr val="1B2437"/>
                </a:solidFill>
              </a:rPr>
              <a:t>Dokumen dibuat otomatis setelah disetujui, tanpa input ulang.</a:t>
            </a:r>
            <a:endParaRPr lang="en-US" sz="2000" dirty="0"/>
          </a:p>
        </p:txBody>
      </p:sp>
      <p:sp>
        <p:nvSpPr>
          <p:cNvPr id="12" name="Beranda admin kapal bingkai"/>
          <p:cNvSpPr/>
          <p:nvPr/>
        </p:nvSpPr>
        <p:spPr>
          <a:xfrm>
            <a:off x="6510528" y="2214588"/>
            <a:ext cx="5221224" cy="3068903"/>
          </a:xfrm>
          <a:prstGeom prst="roundRect">
            <a:avLst>
              <a:gd name="adj" fmla="val 4171"/>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13" name="Beranda admin kapal" descr="Layar PID POS: Beranda admin kapal">    </p:cNvPr>
          <p:cNvPicPr>
            <a:picLocks noChangeAspect="1"/>
          </p:cNvPicPr>
          <p:nvPr/>
        </p:nvPicPr>
        <p:blipFill>
          <a:blip r:embed="rId4"/>
          <a:stretch>
            <a:fillRect/>
          </a:stretch>
        </p:blipFill>
        <p:spPr>
          <a:xfrm>
            <a:off x="6583680" y="2287740"/>
            <a:ext cx="5074920" cy="2922599"/>
          </a:xfrm>
          <a:prstGeom prst="rect">
            <a:avLst/>
          </a:prstGeom>
        </p:spPr>
      </p:pic>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Alur end-to-end: setiap langkah tercatat di SAP</a:t>
            </a:r>
            <a:endParaRPr lang="en-US" sz="3400" dirty="0"/>
          </a:p>
        </p:txBody>
      </p:sp>
      <p:sp>
        <p:nvSpPr>
          <p:cNvPr id="3" name="Tahap Pesan ke DC"/>
          <p:cNvSpPr/>
          <p:nvPr/>
        </p:nvSpPr>
        <p:spPr>
          <a:xfrm>
            <a:off x="640080"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4" name="Text 2"/>
          <p:cNvSpPr txBox="1"/>
          <p:nvPr/>
        </p:nvSpPr>
        <p:spPr>
          <a:xfrm>
            <a:off x="749808"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Pesan ke DC</a:t>
            </a:r>
            <a:endParaRPr lang="en-US" sz="1500" dirty="0"/>
          </a:p>
          <a:p>
            <a:pPr algn="ctr" indent="0" marL="0">
              <a:buNone/>
            </a:pPr>
            <a:r>
              <a:rPr lang="en-US" sz="1200" dirty="0">
                <a:solidFill>
                  <a:srgbClr val="5B6B86"/>
                </a:solidFill>
              </a:rPr>
              <a:t>Admin kapal</a:t>
            </a:r>
            <a:endParaRPr lang="en-US" sz="1500" dirty="0"/>
          </a:p>
        </p:txBody>
      </p:sp>
      <p:sp>
        <p:nvSpPr>
          <p:cNvPr id="5" name="Panah alur"/>
          <p:cNvSpPr/>
          <p:nvPr/>
        </p:nvSpPr>
        <p:spPr>
          <a:xfrm>
            <a:off x="2295144" y="2263140"/>
            <a:ext cx="173736" cy="0"/>
          </a:xfrm>
          <a:prstGeom prst="line">
            <a:avLst/>
          </a:prstGeom>
          <a:noFill/>
          <a:ln w="25400">
            <a:solidFill>
              <a:srgbClr val="3D6FC2"/>
            </a:solidFill>
            <a:prstDash val="solid"/>
            <a:tailEnd type="triangle"/>
          </a:ln>
        </p:spPr>
      </p:sp>
      <p:sp>
        <p:nvSpPr>
          <p:cNvPr id="6" name="Tahap Approve SO"/>
          <p:cNvSpPr/>
          <p:nvPr/>
        </p:nvSpPr>
        <p:spPr>
          <a:xfrm>
            <a:off x="2496312"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7" name="Text 5"/>
          <p:cNvSpPr txBox="1"/>
          <p:nvPr/>
        </p:nvSpPr>
        <p:spPr>
          <a:xfrm>
            <a:off x="2606040"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Approve SO</a:t>
            </a:r>
            <a:endParaRPr lang="en-US" sz="1500" dirty="0"/>
          </a:p>
          <a:p>
            <a:pPr algn="ctr" indent="0" marL="0">
              <a:buNone/>
            </a:pPr>
            <a:r>
              <a:rPr lang="en-US" sz="1200" dirty="0">
                <a:solidFill>
                  <a:srgbClr val="5B6B86"/>
                </a:solidFill>
              </a:rPr>
              <a:t>Kantor pusat</a:t>
            </a:r>
            <a:endParaRPr lang="en-US" sz="1500" dirty="0"/>
          </a:p>
        </p:txBody>
      </p:sp>
      <p:sp>
        <p:nvSpPr>
          <p:cNvPr id="8" name="Panah alur"/>
          <p:cNvSpPr/>
          <p:nvPr/>
        </p:nvSpPr>
        <p:spPr>
          <a:xfrm>
            <a:off x="4151376" y="2263140"/>
            <a:ext cx="173736" cy="0"/>
          </a:xfrm>
          <a:prstGeom prst="line">
            <a:avLst/>
          </a:prstGeom>
          <a:noFill/>
          <a:ln w="25400">
            <a:solidFill>
              <a:srgbClr val="3D6FC2"/>
            </a:solidFill>
            <a:prstDash val="solid"/>
            <a:tailEnd type="triangle"/>
          </a:ln>
        </p:spPr>
      </p:sp>
      <p:sp>
        <p:nvSpPr>
          <p:cNvPr id="9" name="Dokumen SO"/>
          <p:cNvSpPr/>
          <p:nvPr/>
        </p:nvSpPr>
        <p:spPr>
          <a:xfrm>
            <a:off x="2926080" y="2880360"/>
            <a:ext cx="768096" cy="329184"/>
          </a:xfrm>
          <a:prstGeom prst="roundRect">
            <a:avLst>
              <a:gd name="adj" fmla="val 22222"/>
            </a:avLst>
          </a:prstGeom>
          <a:solidFill>
            <a:srgbClr val="4A8A3C"/>
          </a:solidFill>
          <a:ln w="12700">
            <a:solidFill>
              <a:srgbClr val="4A8A3C"/>
            </a:solidFill>
            <a:prstDash val="solid"/>
          </a:ln>
        </p:spPr>
      </p:sp>
      <p:sp>
        <p:nvSpPr>
          <p:cNvPr id="10" name="Text 8"/>
          <p:cNvSpPr txBox="1"/>
          <p:nvPr/>
        </p:nvSpPr>
        <p:spPr>
          <a:xfrm>
            <a:off x="2926080" y="288036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SO</a:t>
            </a:r>
            <a:endParaRPr lang="en-US" sz="1200" dirty="0"/>
          </a:p>
        </p:txBody>
      </p:sp>
      <p:sp>
        <p:nvSpPr>
          <p:cNvPr id="11" name="Tahap Pilah stok"/>
          <p:cNvSpPr/>
          <p:nvPr/>
        </p:nvSpPr>
        <p:spPr>
          <a:xfrm>
            <a:off x="4352544"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2" name="Text 10"/>
          <p:cNvSpPr txBox="1"/>
          <p:nvPr/>
        </p:nvSpPr>
        <p:spPr>
          <a:xfrm>
            <a:off x="4462272"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Pilah stok</a:t>
            </a:r>
            <a:endParaRPr lang="en-US" sz="1500" dirty="0"/>
          </a:p>
          <a:p>
            <a:pPr algn="ctr" indent="0" marL="0">
              <a:buNone/>
            </a:pPr>
            <a:r>
              <a:rPr lang="en-US" sz="1200" dirty="0">
                <a:solidFill>
                  <a:srgbClr val="5B6B86"/>
                </a:solidFill>
              </a:rPr>
              <a:t>Admin DC</a:t>
            </a:r>
            <a:endParaRPr lang="en-US" sz="1500" dirty="0"/>
          </a:p>
        </p:txBody>
      </p:sp>
      <p:sp>
        <p:nvSpPr>
          <p:cNvPr id="13" name="Panah alur"/>
          <p:cNvSpPr/>
          <p:nvPr/>
        </p:nvSpPr>
        <p:spPr>
          <a:xfrm>
            <a:off x="6007608" y="2263140"/>
            <a:ext cx="173736" cy="0"/>
          </a:xfrm>
          <a:prstGeom prst="line">
            <a:avLst/>
          </a:prstGeom>
          <a:noFill/>
          <a:ln w="25400">
            <a:solidFill>
              <a:srgbClr val="3D6FC2"/>
            </a:solidFill>
            <a:prstDash val="solid"/>
            <a:tailEnd type="triangle"/>
          </a:ln>
        </p:spPr>
      </p:sp>
      <p:sp>
        <p:nvSpPr>
          <p:cNvPr id="14" name="Tahap Transfer ke dek"/>
          <p:cNvSpPr/>
          <p:nvPr/>
        </p:nvSpPr>
        <p:spPr>
          <a:xfrm>
            <a:off x="6208776"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5" name="Text 13"/>
          <p:cNvSpPr txBox="1"/>
          <p:nvPr/>
        </p:nvSpPr>
        <p:spPr>
          <a:xfrm>
            <a:off x="6318504"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Transfer ke dek</a:t>
            </a:r>
            <a:endParaRPr lang="en-US" sz="1500" dirty="0"/>
          </a:p>
          <a:p>
            <a:pPr algn="ctr" indent="0" marL="0">
              <a:buNone/>
            </a:pPr>
            <a:r>
              <a:rPr lang="en-US" sz="1200" dirty="0">
                <a:solidFill>
                  <a:srgbClr val="5B6B86"/>
                </a:solidFill>
              </a:rPr>
              <a:t>Admin DC</a:t>
            </a:r>
            <a:endParaRPr lang="en-US" sz="1500" dirty="0"/>
          </a:p>
        </p:txBody>
      </p:sp>
      <p:sp>
        <p:nvSpPr>
          <p:cNvPr id="16" name="Panah alur"/>
          <p:cNvSpPr/>
          <p:nvPr/>
        </p:nvSpPr>
        <p:spPr>
          <a:xfrm>
            <a:off x="7863840" y="2263140"/>
            <a:ext cx="173736" cy="0"/>
          </a:xfrm>
          <a:prstGeom prst="line">
            <a:avLst/>
          </a:prstGeom>
          <a:noFill/>
          <a:ln w="25400">
            <a:solidFill>
              <a:srgbClr val="3D6FC2"/>
            </a:solidFill>
            <a:prstDash val="solid"/>
            <a:tailEnd type="triangle"/>
          </a:ln>
        </p:spPr>
      </p:sp>
      <p:sp>
        <p:nvSpPr>
          <p:cNvPr id="17" name="Dokumen IT"/>
          <p:cNvSpPr/>
          <p:nvPr/>
        </p:nvSpPr>
        <p:spPr>
          <a:xfrm>
            <a:off x="6638544" y="2880360"/>
            <a:ext cx="768096" cy="329184"/>
          </a:xfrm>
          <a:prstGeom prst="roundRect">
            <a:avLst>
              <a:gd name="adj" fmla="val 22222"/>
            </a:avLst>
          </a:prstGeom>
          <a:solidFill>
            <a:srgbClr val="C45C8E"/>
          </a:solidFill>
          <a:ln w="12700">
            <a:solidFill>
              <a:srgbClr val="C45C8E"/>
            </a:solidFill>
            <a:prstDash val="solid"/>
          </a:ln>
        </p:spPr>
      </p:sp>
      <p:sp>
        <p:nvSpPr>
          <p:cNvPr id="18" name="Text 16"/>
          <p:cNvSpPr txBox="1"/>
          <p:nvPr/>
        </p:nvSpPr>
        <p:spPr>
          <a:xfrm>
            <a:off x="6638544" y="288036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IT</a:t>
            </a:r>
            <a:endParaRPr lang="en-US" sz="1200" dirty="0"/>
          </a:p>
        </p:txBody>
      </p:sp>
      <p:sp>
        <p:nvSpPr>
          <p:cNvPr id="19" name="Tahap Terima di dek"/>
          <p:cNvSpPr/>
          <p:nvPr/>
        </p:nvSpPr>
        <p:spPr>
          <a:xfrm>
            <a:off x="8065008"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20" name="Text 18"/>
          <p:cNvSpPr txBox="1"/>
          <p:nvPr/>
        </p:nvSpPr>
        <p:spPr>
          <a:xfrm>
            <a:off x="8174736"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Terima di dek</a:t>
            </a:r>
            <a:endParaRPr lang="en-US" sz="1500" dirty="0"/>
          </a:p>
          <a:p>
            <a:pPr algn="ctr" indent="0" marL="0">
              <a:buNone/>
            </a:pPr>
            <a:r>
              <a:rPr lang="en-US" sz="1200" dirty="0">
                <a:solidFill>
                  <a:srgbClr val="5B6B86"/>
                </a:solidFill>
              </a:rPr>
              <a:t>Kepala toko · P2</a:t>
            </a:r>
            <a:endParaRPr lang="en-US" sz="1500" dirty="0"/>
          </a:p>
        </p:txBody>
      </p:sp>
      <p:sp>
        <p:nvSpPr>
          <p:cNvPr id="21" name="Panah alur"/>
          <p:cNvSpPr/>
          <p:nvPr/>
        </p:nvSpPr>
        <p:spPr>
          <a:xfrm>
            <a:off x="9720072" y="2263140"/>
            <a:ext cx="173736" cy="0"/>
          </a:xfrm>
          <a:prstGeom prst="line">
            <a:avLst/>
          </a:prstGeom>
          <a:noFill/>
          <a:ln w="25400">
            <a:solidFill>
              <a:srgbClr val="3D6FC2"/>
            </a:solidFill>
            <a:prstDash val="solid"/>
            <a:tailEnd type="triangle"/>
          </a:ln>
        </p:spPr>
      </p:sp>
      <p:sp>
        <p:nvSpPr>
          <p:cNvPr id="22" name="Tahap Jual di kasir"/>
          <p:cNvSpPr/>
          <p:nvPr/>
        </p:nvSpPr>
        <p:spPr>
          <a:xfrm>
            <a:off x="9921240" y="1737360"/>
            <a:ext cx="1627632" cy="1051560"/>
          </a:xfrm>
          <a:prstGeom prst="roundRect">
            <a:avLst>
              <a:gd name="adj" fmla="val 12174"/>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23" name="Text 21"/>
          <p:cNvSpPr txBox="1"/>
          <p:nvPr/>
        </p:nvSpPr>
        <p:spPr>
          <a:xfrm>
            <a:off x="10030968" y="1847088"/>
            <a:ext cx="1408176" cy="822960"/>
          </a:xfrm>
          <a:prstGeom prst="rect">
            <a:avLst/>
          </a:prstGeom>
          <a:noFill/>
          <a:ln/>
        </p:spPr>
        <p:txBody>
          <a:bodyPr wrap="square" lIns="0" tIns="0" rIns="0" bIns="0" rtlCol="0" anchor="ctr"/>
          <a:lstStyle/>
          <a:p>
            <a:pPr algn="ctr" indent="0" marL="0">
              <a:buNone/>
            </a:pPr>
            <a:r>
              <a:rPr lang="en-US" sz="1500" b="1" dirty="0">
                <a:solidFill>
                  <a:srgbClr val="0B1A3A"/>
                </a:solidFill>
              </a:rPr>
              <a:t>Jual di kasir</a:t>
            </a:r>
            <a:endParaRPr lang="en-US" sz="1500" dirty="0"/>
          </a:p>
          <a:p>
            <a:pPr algn="ctr" indent="0" marL="0">
              <a:buNone/>
            </a:pPr>
            <a:r>
              <a:rPr lang="en-US" sz="1200" dirty="0">
                <a:solidFill>
                  <a:srgbClr val="5B6B86"/>
                </a:solidFill>
              </a:rPr>
              <a:t>Kasir</a:t>
            </a:r>
            <a:endParaRPr lang="en-US" sz="1500" dirty="0"/>
          </a:p>
        </p:txBody>
      </p:sp>
      <p:sp>
        <p:nvSpPr>
          <p:cNvPr id="24" name="Dokumen DO"/>
          <p:cNvSpPr/>
          <p:nvPr/>
        </p:nvSpPr>
        <p:spPr>
          <a:xfrm>
            <a:off x="10351008" y="2880360"/>
            <a:ext cx="768096" cy="329184"/>
          </a:xfrm>
          <a:prstGeom prst="roundRect">
            <a:avLst>
              <a:gd name="adj" fmla="val 22222"/>
            </a:avLst>
          </a:prstGeom>
          <a:solidFill>
            <a:srgbClr val="CF5140"/>
          </a:solidFill>
          <a:ln w="12700">
            <a:solidFill>
              <a:srgbClr val="CF5140"/>
            </a:solidFill>
            <a:prstDash val="solid"/>
          </a:ln>
        </p:spPr>
      </p:sp>
      <p:sp>
        <p:nvSpPr>
          <p:cNvPr id="25" name="Text 23"/>
          <p:cNvSpPr txBox="1"/>
          <p:nvPr/>
        </p:nvSpPr>
        <p:spPr>
          <a:xfrm>
            <a:off x="10351008" y="288036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DO</a:t>
            </a:r>
            <a:endParaRPr lang="en-US" sz="1200" dirty="0"/>
          </a:p>
        </p:txBody>
      </p:sp>
      <p:sp>
        <p:nvSpPr>
          <p:cNvPr id="26" name="Text 24"/>
          <p:cNvSpPr txBox="1"/>
          <p:nvPr/>
        </p:nvSpPr>
        <p:spPr>
          <a:xfrm>
            <a:off x="640080" y="3703320"/>
            <a:ext cx="3566160" cy="411480"/>
          </a:xfrm>
          <a:prstGeom prst="rect">
            <a:avLst/>
          </a:prstGeom>
          <a:noFill/>
          <a:ln/>
        </p:spPr>
        <p:txBody>
          <a:bodyPr wrap="square" lIns="0" tIns="0" rIns="0" bIns="0" rtlCol="0" anchor="ctr"/>
          <a:lstStyle/>
          <a:p>
            <a:pPr algn="r" indent="0" marL="0">
              <a:buNone/>
            </a:pPr>
            <a:r>
              <a:rPr lang="en-US" sz="1400" i="1" dirty="0">
                <a:solidFill>
                  <a:srgbClr val="5B6B86"/>
                </a:solidFill>
              </a:rPr>
              <a:t>Bila stok DC kurang:</a:t>
            </a:r>
            <a:endParaRPr lang="en-US" sz="1400" dirty="0"/>
          </a:p>
        </p:txBody>
      </p:sp>
      <p:sp>
        <p:nvSpPr>
          <p:cNvPr id="27" name="Cabang pembelian"/>
          <p:cNvSpPr/>
          <p:nvPr/>
        </p:nvSpPr>
        <p:spPr>
          <a:xfrm>
            <a:off x="5166360" y="2788920"/>
            <a:ext cx="0" cy="640080"/>
          </a:xfrm>
          <a:prstGeom prst="line">
            <a:avLst/>
          </a:prstGeom>
          <a:noFill/>
          <a:ln w="25400">
            <a:solidFill>
              <a:srgbClr val="3D6FC2"/>
            </a:solidFill>
            <a:prstDash val="dash"/>
            <a:tailEnd type="triangle"/>
          </a:ln>
        </p:spPr>
      </p:sp>
      <p:sp>
        <p:nvSpPr>
          <p:cNvPr id="28" name="Cabang Purchase Request"/>
          <p:cNvSpPr/>
          <p:nvPr/>
        </p:nvSpPr>
        <p:spPr>
          <a:xfrm>
            <a:off x="4352544" y="3429000"/>
            <a:ext cx="1627632" cy="1051560"/>
          </a:xfrm>
          <a:prstGeom prst="roundRect">
            <a:avLst>
              <a:gd name="adj" fmla="val 12174"/>
            </a:avLst>
          </a:prstGeom>
          <a:solidFill>
            <a:srgbClr val="F5F7FB"/>
          </a:solidFill>
          <a:ln w="12700">
            <a:solidFill>
              <a:srgbClr val="F5F7FB"/>
            </a:solidFill>
            <a:prstDash val="solid"/>
          </a:ln>
          <a:effectLst>
            <a:outerShdw sx="100000" sy="100000" kx="0" ky="0" algn="bl" rotWithShape="0" blurRad="127000" dist="38100" dir="5400000">
              <a:srgbClr val="0B1A3A">
                <a:alpha val="14000"/>
              </a:srgbClr>
            </a:outerShdw>
          </a:effectLst>
        </p:spPr>
      </p:sp>
      <p:sp>
        <p:nvSpPr>
          <p:cNvPr id="29" name="Text 27"/>
          <p:cNvSpPr txBox="1"/>
          <p:nvPr/>
        </p:nvSpPr>
        <p:spPr>
          <a:xfrm>
            <a:off x="4443984" y="3538728"/>
            <a:ext cx="1444752" cy="822960"/>
          </a:xfrm>
          <a:prstGeom prst="rect">
            <a:avLst/>
          </a:prstGeom>
          <a:noFill/>
          <a:ln/>
        </p:spPr>
        <p:txBody>
          <a:bodyPr wrap="square" lIns="0" tIns="0" rIns="0" bIns="0" rtlCol="0" anchor="ctr"/>
          <a:lstStyle/>
          <a:p>
            <a:pPr algn="ctr" indent="0" marL="0">
              <a:buNone/>
            </a:pPr>
            <a:r>
              <a:rPr lang="en-US" sz="1400" b="1" dirty="0">
                <a:solidFill>
                  <a:srgbClr val="0B1A3A"/>
                </a:solidFill>
              </a:rPr>
              <a:t>Purchase Request</a:t>
            </a:r>
            <a:endParaRPr lang="en-US" sz="1400" dirty="0"/>
          </a:p>
          <a:p>
            <a:pPr algn="ctr" indent="0" marL="0">
              <a:buNone/>
            </a:pPr>
            <a:r>
              <a:rPr lang="en-US" sz="1200" dirty="0">
                <a:solidFill>
                  <a:srgbClr val="5B6B86"/>
                </a:solidFill>
              </a:rPr>
              <a:t>Approve PUR</a:t>
            </a:r>
            <a:endParaRPr lang="en-US" sz="1400" dirty="0"/>
          </a:p>
        </p:txBody>
      </p:sp>
      <p:sp>
        <p:nvSpPr>
          <p:cNvPr id="30" name="Dokumen PR"/>
          <p:cNvSpPr/>
          <p:nvPr/>
        </p:nvSpPr>
        <p:spPr>
          <a:xfrm>
            <a:off x="4782312" y="4572000"/>
            <a:ext cx="768096" cy="329184"/>
          </a:xfrm>
          <a:prstGeom prst="roundRect">
            <a:avLst>
              <a:gd name="adj" fmla="val 22222"/>
            </a:avLst>
          </a:prstGeom>
          <a:solidFill>
            <a:srgbClr val="A87412"/>
          </a:solidFill>
          <a:ln w="12700">
            <a:solidFill>
              <a:srgbClr val="A87412"/>
            </a:solidFill>
            <a:prstDash val="solid"/>
          </a:ln>
        </p:spPr>
      </p:sp>
      <p:sp>
        <p:nvSpPr>
          <p:cNvPr id="31" name="Text 29"/>
          <p:cNvSpPr txBox="1"/>
          <p:nvPr/>
        </p:nvSpPr>
        <p:spPr>
          <a:xfrm>
            <a:off x="4782312" y="457200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32" name="Panah cabang"/>
          <p:cNvSpPr/>
          <p:nvPr/>
        </p:nvSpPr>
        <p:spPr>
          <a:xfrm>
            <a:off x="6007608" y="3954780"/>
            <a:ext cx="173736" cy="0"/>
          </a:xfrm>
          <a:prstGeom prst="line">
            <a:avLst/>
          </a:prstGeom>
          <a:noFill/>
          <a:ln w="25400">
            <a:solidFill>
              <a:srgbClr val="3D6FC2"/>
            </a:solidFill>
            <a:prstDash val="solid"/>
            <a:tailEnd type="triangle"/>
          </a:ln>
        </p:spPr>
      </p:sp>
      <p:sp>
        <p:nvSpPr>
          <p:cNvPr id="33" name="Cabang Purchase Order"/>
          <p:cNvSpPr/>
          <p:nvPr/>
        </p:nvSpPr>
        <p:spPr>
          <a:xfrm>
            <a:off x="6208776" y="3429000"/>
            <a:ext cx="1627632" cy="1051560"/>
          </a:xfrm>
          <a:prstGeom prst="roundRect">
            <a:avLst>
              <a:gd name="adj" fmla="val 12174"/>
            </a:avLst>
          </a:prstGeom>
          <a:solidFill>
            <a:srgbClr val="F5F7FB"/>
          </a:solidFill>
          <a:ln w="12700">
            <a:solidFill>
              <a:srgbClr val="F5F7FB"/>
            </a:solidFill>
            <a:prstDash val="solid"/>
          </a:ln>
          <a:effectLst>
            <a:outerShdw sx="100000" sy="100000" kx="0" ky="0" algn="bl" rotWithShape="0" blurRad="127000" dist="38100" dir="5400000">
              <a:srgbClr val="0B1A3A">
                <a:alpha val="14000"/>
              </a:srgbClr>
            </a:outerShdw>
          </a:effectLst>
        </p:spPr>
      </p:sp>
      <p:sp>
        <p:nvSpPr>
          <p:cNvPr id="34" name="Text 32"/>
          <p:cNvSpPr txBox="1"/>
          <p:nvPr/>
        </p:nvSpPr>
        <p:spPr>
          <a:xfrm>
            <a:off x="6300216" y="3538728"/>
            <a:ext cx="1444752" cy="822960"/>
          </a:xfrm>
          <a:prstGeom prst="rect">
            <a:avLst/>
          </a:prstGeom>
          <a:noFill/>
          <a:ln/>
        </p:spPr>
        <p:txBody>
          <a:bodyPr wrap="square" lIns="0" tIns="0" rIns="0" bIns="0" rtlCol="0" anchor="ctr"/>
          <a:lstStyle/>
          <a:p>
            <a:pPr algn="ctr" indent="0" marL="0">
              <a:buNone/>
            </a:pPr>
            <a:r>
              <a:rPr lang="en-US" sz="1400" b="1" dirty="0">
                <a:solidFill>
                  <a:srgbClr val="0B1A3A"/>
                </a:solidFill>
              </a:rPr>
              <a:t>Purchase Order</a:t>
            </a:r>
            <a:endParaRPr lang="en-US" sz="1400" dirty="0"/>
          </a:p>
          <a:p>
            <a:pPr algn="ctr" indent="0" marL="0">
              <a:buNone/>
            </a:pPr>
            <a:r>
              <a:rPr lang="en-US" sz="1200" dirty="0">
                <a:solidFill>
                  <a:srgbClr val="5B6B86"/>
                </a:solidFill>
              </a:rPr>
              <a:t>Purchasing</a:t>
            </a:r>
            <a:endParaRPr lang="en-US" sz="1400" dirty="0"/>
          </a:p>
        </p:txBody>
      </p:sp>
      <p:sp>
        <p:nvSpPr>
          <p:cNvPr id="35" name="Dokumen PO"/>
          <p:cNvSpPr/>
          <p:nvPr/>
        </p:nvSpPr>
        <p:spPr>
          <a:xfrm>
            <a:off x="6638544" y="4572000"/>
            <a:ext cx="768096" cy="329184"/>
          </a:xfrm>
          <a:prstGeom prst="roundRect">
            <a:avLst>
              <a:gd name="adj" fmla="val 22222"/>
            </a:avLst>
          </a:prstGeom>
          <a:solidFill>
            <a:srgbClr val="C85A1C"/>
          </a:solidFill>
          <a:ln w="12700">
            <a:solidFill>
              <a:srgbClr val="C85A1C"/>
            </a:solidFill>
            <a:prstDash val="solid"/>
          </a:ln>
        </p:spPr>
      </p:sp>
      <p:sp>
        <p:nvSpPr>
          <p:cNvPr id="36" name="Text 34"/>
          <p:cNvSpPr txBox="1"/>
          <p:nvPr/>
        </p:nvSpPr>
        <p:spPr>
          <a:xfrm>
            <a:off x="6638544" y="457200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PO</a:t>
            </a:r>
            <a:endParaRPr lang="en-US" sz="1200" dirty="0"/>
          </a:p>
        </p:txBody>
      </p:sp>
      <p:sp>
        <p:nvSpPr>
          <p:cNvPr id="37" name="Panah cabang"/>
          <p:cNvSpPr/>
          <p:nvPr/>
        </p:nvSpPr>
        <p:spPr>
          <a:xfrm>
            <a:off x="7863840" y="3954780"/>
            <a:ext cx="173736" cy="0"/>
          </a:xfrm>
          <a:prstGeom prst="line">
            <a:avLst/>
          </a:prstGeom>
          <a:noFill/>
          <a:ln w="25400">
            <a:solidFill>
              <a:srgbClr val="3D6FC2"/>
            </a:solidFill>
            <a:prstDash val="solid"/>
            <a:tailEnd type="triangle"/>
          </a:ln>
        </p:spPr>
      </p:sp>
      <p:sp>
        <p:nvSpPr>
          <p:cNvPr id="38" name="Cabang Barang vendor tiba"/>
          <p:cNvSpPr/>
          <p:nvPr/>
        </p:nvSpPr>
        <p:spPr>
          <a:xfrm>
            <a:off x="8065008" y="3429000"/>
            <a:ext cx="1627632" cy="1051560"/>
          </a:xfrm>
          <a:prstGeom prst="roundRect">
            <a:avLst>
              <a:gd name="adj" fmla="val 12174"/>
            </a:avLst>
          </a:prstGeom>
          <a:solidFill>
            <a:srgbClr val="F5F7FB"/>
          </a:solidFill>
          <a:ln w="12700">
            <a:solidFill>
              <a:srgbClr val="F5F7FB"/>
            </a:solidFill>
            <a:prstDash val="solid"/>
          </a:ln>
          <a:effectLst>
            <a:outerShdw sx="100000" sy="100000" kx="0" ky="0" algn="bl" rotWithShape="0" blurRad="127000" dist="38100" dir="5400000">
              <a:srgbClr val="0B1A3A">
                <a:alpha val="14000"/>
              </a:srgbClr>
            </a:outerShdw>
          </a:effectLst>
        </p:spPr>
      </p:sp>
      <p:sp>
        <p:nvSpPr>
          <p:cNvPr id="39" name="Text 37"/>
          <p:cNvSpPr txBox="1"/>
          <p:nvPr/>
        </p:nvSpPr>
        <p:spPr>
          <a:xfrm>
            <a:off x="8156448" y="3538728"/>
            <a:ext cx="1444752" cy="822960"/>
          </a:xfrm>
          <a:prstGeom prst="rect">
            <a:avLst/>
          </a:prstGeom>
          <a:noFill/>
          <a:ln/>
        </p:spPr>
        <p:txBody>
          <a:bodyPr wrap="square" lIns="0" tIns="0" rIns="0" bIns="0" rtlCol="0" anchor="ctr"/>
          <a:lstStyle/>
          <a:p>
            <a:pPr algn="ctr" indent="0" marL="0">
              <a:buNone/>
            </a:pPr>
            <a:r>
              <a:rPr lang="en-US" sz="1400" b="1" dirty="0">
                <a:solidFill>
                  <a:srgbClr val="0B1A3A"/>
                </a:solidFill>
              </a:rPr>
              <a:t>Barang vendor tiba</a:t>
            </a:r>
            <a:endParaRPr lang="en-US" sz="1400" dirty="0"/>
          </a:p>
          <a:p>
            <a:pPr algn="ctr" indent="0" marL="0">
              <a:buNone/>
            </a:pPr>
            <a:r>
              <a:rPr lang="en-US" sz="1200" dirty="0">
                <a:solidFill>
                  <a:srgbClr val="5B6B86"/>
                </a:solidFill>
              </a:rPr>
              <a:t>Admin DC</a:t>
            </a:r>
            <a:endParaRPr lang="en-US" sz="1400" dirty="0"/>
          </a:p>
        </p:txBody>
      </p:sp>
      <p:sp>
        <p:nvSpPr>
          <p:cNvPr id="40" name="Dokumen GRPO"/>
          <p:cNvSpPr/>
          <p:nvPr/>
        </p:nvSpPr>
        <p:spPr>
          <a:xfrm>
            <a:off x="8494776" y="4572000"/>
            <a:ext cx="768096" cy="329184"/>
          </a:xfrm>
          <a:prstGeom prst="roundRect">
            <a:avLst>
              <a:gd name="adj" fmla="val 22222"/>
            </a:avLst>
          </a:prstGeom>
          <a:solidFill>
            <a:srgbClr val="7C68B8"/>
          </a:solidFill>
          <a:ln w="12700">
            <a:solidFill>
              <a:srgbClr val="7C68B8"/>
            </a:solidFill>
            <a:prstDash val="solid"/>
          </a:ln>
        </p:spPr>
      </p:sp>
      <p:sp>
        <p:nvSpPr>
          <p:cNvPr id="41" name="Text 39"/>
          <p:cNvSpPr txBox="1"/>
          <p:nvPr/>
        </p:nvSpPr>
        <p:spPr>
          <a:xfrm>
            <a:off x="8494776" y="4572000"/>
            <a:ext cx="768096" cy="329184"/>
          </a:xfrm>
          <a:prstGeom prst="rect">
            <a:avLst/>
          </a:prstGeom>
          <a:noFill/>
          <a:ln/>
        </p:spPr>
        <p:txBody>
          <a:bodyPr wrap="square" lIns="0" tIns="0" rIns="0" bIns="0" rtlCol="0" anchor="ctr"/>
          <a:lstStyle/>
          <a:p>
            <a:pPr algn="ctr" indent="0" marL="0">
              <a:buNone/>
            </a:pPr>
            <a:r>
              <a:rPr lang="en-US" sz="1200" b="1" dirty="0">
                <a:solidFill>
                  <a:srgbClr val="FFFFFF"/>
                </a:solidFill>
              </a:rPr>
              <a:t>GRPO</a:t>
            </a:r>
            <a:endParaRPr lang="en-US" sz="1200" dirty="0"/>
          </a:p>
        </p:txBody>
      </p:sp>
      <p:sp>
        <p:nvSpPr>
          <p:cNvPr id="42" name="Kembali ke transfer"/>
          <p:cNvSpPr/>
          <p:nvPr/>
        </p:nvSpPr>
        <p:spPr>
          <a:xfrm>
            <a:off x="7022592" y="3273552"/>
            <a:ext cx="1856232" cy="155448"/>
          </a:xfrm>
          <a:prstGeom prst="line">
            <a:avLst/>
          </a:prstGeom>
          <a:noFill/>
          <a:ln w="25400">
            <a:solidFill>
              <a:srgbClr val="3D6FC2"/>
            </a:solidFill>
            <a:prstDash val="dash"/>
            <a:headEnd type="triangle"/>
          </a:ln>
        </p:spPr>
      </p:sp>
      <p:sp>
        <p:nvSpPr>
          <p:cNvPr id="43" name="Kesimpulan alur"/>
          <p:cNvSpPr/>
          <p:nvPr/>
        </p:nvSpPr>
        <p:spPr>
          <a:xfrm>
            <a:off x="640080" y="5257800"/>
            <a:ext cx="10835640" cy="822960"/>
          </a:xfrm>
          <a:prstGeom prst="roundRect">
            <a:avLst>
              <a:gd name="adj" fmla="val 15556"/>
            </a:avLst>
          </a:prstGeom>
          <a:solidFill>
            <a:srgbClr val="EEF3FB"/>
          </a:solidFill>
          <a:ln w="12700">
            <a:solidFill>
              <a:srgbClr val="EEF3FB"/>
            </a:solidFill>
            <a:prstDash val="solid"/>
          </a:ln>
          <a:effectLst>
            <a:outerShdw sx="100000" sy="100000" kx="0" ky="0" algn="bl" rotWithShape="0" blurRad="127000" dist="38100" dir="5400000">
              <a:srgbClr val="0B1A3A">
                <a:alpha val="14000"/>
              </a:srgbClr>
            </a:outerShdw>
          </a:effectLst>
        </p:spPr>
      </p:sp>
      <p:sp>
        <p:nvSpPr>
          <p:cNvPr id="44" name="Text 42"/>
          <p:cNvSpPr txBox="1"/>
          <p:nvPr/>
        </p:nvSpPr>
        <p:spPr>
          <a:xfrm>
            <a:off x="914400" y="5257800"/>
            <a:ext cx="10332720" cy="822960"/>
          </a:xfrm>
          <a:prstGeom prst="rect">
            <a:avLst/>
          </a:prstGeom>
          <a:noFill/>
          <a:ln/>
        </p:spPr>
        <p:txBody>
          <a:bodyPr wrap="square" lIns="0" tIns="0" rIns="0" bIns="0" rtlCol="0" anchor="ctr"/>
          <a:lstStyle/>
          <a:p>
            <a:pPr indent="0" marL="0">
              <a:buNone/>
            </a:pPr>
            <a:r>
              <a:rPr lang="en-US" sz="1600" b="1" dirty="0">
                <a:solidFill>
                  <a:srgbClr val="0B1A3A"/>
                </a:solidFill>
              </a:rPr>
              <a:t>6 jenis dokumen SAP dibuat otomatis: </a:t>
            </a:r>
            <a:pPr indent="0" marL="0">
              <a:buNone/>
            </a:pPr>
            <a:r>
              <a:rPr lang="en-US" sz="1600" dirty="0">
                <a:solidFill>
                  <a:srgbClr val="1B2437"/>
                </a:solidFill>
              </a:rPr>
              <a:t>SO, PR, PO, GRPO, IT (Inventory Transfer), dan DO (Delivery Order), tanpa input ulang.</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Tujuh peran, masing-masing melihat tugasnya sendiri</a:t>
            </a:r>
            <a:endParaRPr lang="en-US" sz="3400" dirty="0"/>
          </a:p>
        </p:txBody>
      </p:sp>
      <p:sp>
        <p:nvSpPr>
          <p:cNvPr id="3" name="Zona Kapal"/>
          <p:cNvSpPr/>
          <p:nvPr/>
        </p:nvSpPr>
        <p:spPr>
          <a:xfrm>
            <a:off x="640080" y="1554480"/>
            <a:ext cx="3383280" cy="2880360"/>
          </a:xfrm>
          <a:prstGeom prst="roundRect">
            <a:avLst>
              <a:gd name="adj" fmla="val 4444"/>
            </a:avLst>
          </a:prstGeom>
          <a:solidFill>
            <a:srgbClr val="EEF3FB"/>
          </a:solidFill>
          <a:ln w="12700">
            <a:solidFill>
              <a:srgbClr val="EEF3FB"/>
            </a:solidFill>
            <a:prstDash val="solid"/>
          </a:ln>
          <a:effectLst>
            <a:outerShdw sx="100000" sy="100000" kx="0" ky="0" algn="bl" rotWithShape="0" blurRad="127000" dist="38100" dir="5400000">
              <a:srgbClr val="0B1A3A">
                <a:alpha val="14000"/>
              </a:srgbClr>
            </a:outerShdw>
          </a:effectLst>
        </p:spPr>
      </p:sp>
      <p:sp>
        <p:nvSpPr>
          <p:cNvPr id="4" name="Ikon Kapal latar"/>
          <p:cNvSpPr/>
          <p:nvPr/>
        </p:nvSpPr>
        <p:spPr>
          <a:xfrm>
            <a:off x="914400" y="1737360"/>
            <a:ext cx="548640" cy="548640"/>
          </a:xfrm>
          <a:prstGeom prst="ellipse">
            <a:avLst/>
          </a:prstGeom>
          <a:solidFill>
            <a:srgbClr val="0B1A3A"/>
          </a:solidFill>
          <a:ln w="12700">
            <a:solidFill>
              <a:srgbClr val="0B1A3A"/>
            </a:solidFill>
            <a:prstDash val="solid"/>
          </a:ln>
        </p:spPr>
      </p:sp>
      <p:pic>
        <p:nvPicPr>
          <p:cNvPr id="5" name="Ikon Kapal" descr="Ikon Kapal">    </p:cNvPr>
          <p:cNvPicPr>
            <a:picLocks noChangeAspect="1"/>
          </p:cNvPicPr>
          <p:nvPr/>
        </p:nvPicPr>
        <p:blipFill>
          <a:blip r:embed="rId1"/>
          <a:stretch>
            <a:fillRect/>
          </a:stretch>
        </p:blipFill>
        <p:spPr>
          <a:xfrm>
            <a:off x="1046074" y="1869034"/>
            <a:ext cx="285293" cy="285293"/>
          </a:xfrm>
          <a:prstGeom prst="rect">
            <a:avLst/>
          </a:prstGeom>
        </p:spPr>
      </p:pic>
      <p:sp>
        <p:nvSpPr>
          <p:cNvPr id="6" name="Text 3"/>
          <p:cNvSpPr txBox="1"/>
          <p:nvPr/>
        </p:nvSpPr>
        <p:spPr>
          <a:xfrm>
            <a:off x="1600200" y="1737360"/>
            <a:ext cx="2194560" cy="548640"/>
          </a:xfrm>
          <a:prstGeom prst="rect">
            <a:avLst/>
          </a:prstGeom>
          <a:noFill/>
          <a:ln/>
        </p:spPr>
        <p:txBody>
          <a:bodyPr wrap="square" lIns="0" tIns="0" rIns="0" bIns="0" rtlCol="0" anchor="ctr"/>
          <a:lstStyle/>
          <a:p>
            <a:pPr indent="0" marL="0">
              <a:buNone/>
            </a:pPr>
            <a:r>
              <a:rPr lang="en-US" sz="2000" b="1" dirty="0">
                <a:solidFill>
                  <a:srgbClr val="0B1A3A"/>
                </a:solidFill>
              </a:rPr>
              <a:t>Kapal</a:t>
            </a:r>
            <a:endParaRPr lang="en-US" sz="2000" dirty="0"/>
          </a:p>
        </p:txBody>
      </p:sp>
      <p:sp>
        <p:nvSpPr>
          <p:cNvPr id="7" name="Peran Admin Kapal / Kepala Toko"/>
          <p:cNvSpPr/>
          <p:nvPr/>
        </p:nvSpPr>
        <p:spPr>
          <a:xfrm>
            <a:off x="868680" y="2514600"/>
            <a:ext cx="29260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8" name="Text 5"/>
          <p:cNvSpPr txBox="1"/>
          <p:nvPr/>
        </p:nvSpPr>
        <p:spPr>
          <a:xfrm>
            <a:off x="1051560" y="2514600"/>
            <a:ext cx="2560320" cy="731520"/>
          </a:xfrm>
          <a:prstGeom prst="rect">
            <a:avLst/>
          </a:prstGeom>
          <a:noFill/>
          <a:ln/>
        </p:spPr>
        <p:txBody>
          <a:bodyPr wrap="square" lIns="0" tIns="0" rIns="0" bIns="0" rtlCol="0" anchor="ctr"/>
          <a:lstStyle/>
          <a:p>
            <a:pPr indent="0" marL="0">
              <a:buNone/>
            </a:pPr>
            <a:r>
              <a:rPr lang="en-US" sz="1500" b="1" dirty="0">
                <a:solidFill>
                  <a:srgbClr val="0B1A3A"/>
                </a:solidFill>
              </a:rPr>
              <a:t>Admin Kapal / Kepala Toko</a:t>
            </a:r>
            <a:endParaRPr lang="en-US" sz="1500" dirty="0"/>
          </a:p>
          <a:p>
            <a:pPr indent="0" marL="0">
              <a:buNone/>
            </a:pPr>
            <a:r>
              <a:rPr lang="en-US" sz="1200" dirty="0">
                <a:solidFill>
                  <a:srgbClr val="5B6B86"/>
                </a:solidFill>
              </a:rPr>
              <a:t>Pesan ke DC, terima barang di dek</a:t>
            </a:r>
            <a:endParaRPr lang="en-US" sz="1500" dirty="0"/>
          </a:p>
        </p:txBody>
      </p:sp>
      <p:sp>
        <p:nvSpPr>
          <p:cNvPr id="9" name="Peran Kasir"/>
          <p:cNvSpPr/>
          <p:nvPr/>
        </p:nvSpPr>
        <p:spPr>
          <a:xfrm>
            <a:off x="868680" y="3383280"/>
            <a:ext cx="29260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0" name="Text 7"/>
          <p:cNvSpPr txBox="1"/>
          <p:nvPr/>
        </p:nvSpPr>
        <p:spPr>
          <a:xfrm>
            <a:off x="1051560" y="3383280"/>
            <a:ext cx="2560320" cy="731520"/>
          </a:xfrm>
          <a:prstGeom prst="rect">
            <a:avLst/>
          </a:prstGeom>
          <a:noFill/>
          <a:ln/>
        </p:spPr>
        <p:txBody>
          <a:bodyPr wrap="square" lIns="0" tIns="0" rIns="0" bIns="0" rtlCol="0" anchor="ctr"/>
          <a:lstStyle/>
          <a:p>
            <a:pPr indent="0" marL="0">
              <a:buNone/>
            </a:pPr>
            <a:r>
              <a:rPr lang="en-US" sz="1500" b="1" dirty="0">
                <a:solidFill>
                  <a:srgbClr val="0B1A3A"/>
                </a:solidFill>
              </a:rPr>
              <a:t>Kasir</a:t>
            </a:r>
            <a:endParaRPr lang="en-US" sz="1500" dirty="0"/>
          </a:p>
          <a:p>
            <a:pPr indent="0" marL="0">
              <a:buNone/>
            </a:pPr>
            <a:r>
              <a:rPr lang="en-US" sz="1200" dirty="0">
                <a:solidFill>
                  <a:srgbClr val="5B6B86"/>
                </a:solidFill>
              </a:rPr>
              <a:t>Jual, kirim DO harian ke SAP</a:t>
            </a:r>
            <a:endParaRPr lang="en-US" sz="1500" dirty="0"/>
          </a:p>
        </p:txBody>
      </p:sp>
      <p:sp>
        <p:nvSpPr>
          <p:cNvPr id="11" name="Zona Kantor pusat"/>
          <p:cNvSpPr/>
          <p:nvPr/>
        </p:nvSpPr>
        <p:spPr>
          <a:xfrm>
            <a:off x="4297680" y="1554480"/>
            <a:ext cx="4069080" cy="4617720"/>
          </a:xfrm>
          <a:prstGeom prst="roundRect">
            <a:avLst>
              <a:gd name="adj" fmla="val 3146"/>
            </a:avLst>
          </a:prstGeom>
          <a:solidFill>
            <a:srgbClr val="EEF3FB"/>
          </a:solidFill>
          <a:ln w="12700">
            <a:solidFill>
              <a:srgbClr val="EEF3FB"/>
            </a:solidFill>
            <a:prstDash val="solid"/>
          </a:ln>
          <a:effectLst>
            <a:outerShdw sx="100000" sy="100000" kx="0" ky="0" algn="bl" rotWithShape="0" blurRad="127000" dist="38100" dir="5400000">
              <a:srgbClr val="0B1A3A">
                <a:alpha val="14000"/>
              </a:srgbClr>
            </a:outerShdw>
          </a:effectLst>
        </p:spPr>
      </p:sp>
      <p:sp>
        <p:nvSpPr>
          <p:cNvPr id="12" name="Ikon Kantor pusat latar"/>
          <p:cNvSpPr/>
          <p:nvPr/>
        </p:nvSpPr>
        <p:spPr>
          <a:xfrm>
            <a:off x="4572000" y="1737360"/>
            <a:ext cx="548640" cy="548640"/>
          </a:xfrm>
          <a:prstGeom prst="ellipse">
            <a:avLst/>
          </a:prstGeom>
          <a:solidFill>
            <a:srgbClr val="0B1A3A"/>
          </a:solidFill>
          <a:ln w="12700">
            <a:solidFill>
              <a:srgbClr val="0B1A3A"/>
            </a:solidFill>
            <a:prstDash val="solid"/>
          </a:ln>
        </p:spPr>
      </p:sp>
      <p:pic>
        <p:nvPicPr>
          <p:cNvPr id="13" name="Ikon Kantor pusat" descr="Ikon Kantor pusat">    </p:cNvPr>
          <p:cNvPicPr>
            <a:picLocks noChangeAspect="1"/>
          </p:cNvPicPr>
          <p:nvPr/>
        </p:nvPicPr>
        <p:blipFill>
          <a:blip r:embed="rId2"/>
          <a:stretch>
            <a:fillRect/>
          </a:stretch>
        </p:blipFill>
        <p:spPr>
          <a:xfrm>
            <a:off x="4703674" y="1869034"/>
            <a:ext cx="285293" cy="285293"/>
          </a:xfrm>
          <a:prstGeom prst="rect">
            <a:avLst/>
          </a:prstGeom>
        </p:spPr>
      </p:pic>
      <p:sp>
        <p:nvSpPr>
          <p:cNvPr id="14" name="Text 10"/>
          <p:cNvSpPr txBox="1"/>
          <p:nvPr/>
        </p:nvSpPr>
        <p:spPr>
          <a:xfrm>
            <a:off x="5257800" y="1737360"/>
            <a:ext cx="2880360" cy="548640"/>
          </a:xfrm>
          <a:prstGeom prst="rect">
            <a:avLst/>
          </a:prstGeom>
          <a:noFill/>
          <a:ln/>
        </p:spPr>
        <p:txBody>
          <a:bodyPr wrap="square" lIns="0" tIns="0" rIns="0" bIns="0" rtlCol="0" anchor="ctr"/>
          <a:lstStyle/>
          <a:p>
            <a:pPr indent="0" marL="0">
              <a:buNone/>
            </a:pPr>
            <a:r>
              <a:rPr lang="en-US" sz="2000" b="1" dirty="0">
                <a:solidFill>
                  <a:srgbClr val="0B1A3A"/>
                </a:solidFill>
              </a:rPr>
              <a:t>Kantor pusat</a:t>
            </a:r>
            <a:endParaRPr lang="en-US" sz="2000" dirty="0"/>
          </a:p>
        </p:txBody>
      </p:sp>
      <p:sp>
        <p:nvSpPr>
          <p:cNvPr id="15" name="Peran Approve SO (P2)"/>
          <p:cNvSpPr/>
          <p:nvPr/>
        </p:nvSpPr>
        <p:spPr>
          <a:xfrm>
            <a:off x="4526280" y="2514600"/>
            <a:ext cx="36118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6" name="Text 12"/>
          <p:cNvSpPr txBox="1"/>
          <p:nvPr/>
        </p:nvSpPr>
        <p:spPr>
          <a:xfrm>
            <a:off x="4709160" y="2514600"/>
            <a:ext cx="3246120" cy="731520"/>
          </a:xfrm>
          <a:prstGeom prst="rect">
            <a:avLst/>
          </a:prstGeom>
          <a:noFill/>
          <a:ln/>
        </p:spPr>
        <p:txBody>
          <a:bodyPr wrap="square" lIns="0" tIns="0" rIns="0" bIns="0" rtlCol="0" anchor="ctr"/>
          <a:lstStyle/>
          <a:p>
            <a:pPr indent="0" marL="0">
              <a:buNone/>
            </a:pPr>
            <a:r>
              <a:rPr lang="en-US" sz="1500" b="1" dirty="0">
                <a:solidFill>
                  <a:srgbClr val="0B1A3A"/>
                </a:solidFill>
              </a:rPr>
              <a:t>Approve SO (P2)</a:t>
            </a:r>
            <a:endParaRPr lang="en-US" sz="1500" dirty="0"/>
          </a:p>
          <a:p>
            <a:pPr indent="0" marL="0">
              <a:buNone/>
            </a:pPr>
            <a:r>
              <a:rPr lang="en-US" sz="1200" dirty="0">
                <a:solidFill>
                  <a:srgbClr val="5B6B86"/>
                </a:solidFill>
              </a:rPr>
              <a:t>Setujui permintaan jadi Sales Order</a:t>
            </a:r>
            <a:endParaRPr lang="en-US" sz="1500" dirty="0"/>
          </a:p>
        </p:txBody>
      </p:sp>
      <p:sp>
        <p:nvSpPr>
          <p:cNvPr id="17" name="Peran Approve PUR"/>
          <p:cNvSpPr/>
          <p:nvPr/>
        </p:nvSpPr>
        <p:spPr>
          <a:xfrm>
            <a:off x="4526280" y="3383280"/>
            <a:ext cx="36118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8" name="Text 14"/>
          <p:cNvSpPr txBox="1"/>
          <p:nvPr/>
        </p:nvSpPr>
        <p:spPr>
          <a:xfrm>
            <a:off x="4709160" y="3383280"/>
            <a:ext cx="3246120" cy="731520"/>
          </a:xfrm>
          <a:prstGeom prst="rect">
            <a:avLst/>
          </a:prstGeom>
          <a:noFill/>
          <a:ln/>
        </p:spPr>
        <p:txBody>
          <a:bodyPr wrap="square" lIns="0" tIns="0" rIns="0" bIns="0" rtlCol="0" anchor="ctr"/>
          <a:lstStyle/>
          <a:p>
            <a:pPr indent="0" marL="0">
              <a:buNone/>
            </a:pPr>
            <a:r>
              <a:rPr lang="en-US" sz="1500" b="1" dirty="0">
                <a:solidFill>
                  <a:srgbClr val="0B1A3A"/>
                </a:solidFill>
              </a:rPr>
              <a:t>Approve PUR</a:t>
            </a:r>
            <a:endParaRPr lang="en-US" sz="1500" dirty="0"/>
          </a:p>
          <a:p>
            <a:pPr indent="0" marL="0">
              <a:buNone/>
            </a:pPr>
            <a:r>
              <a:rPr lang="en-US" sz="1200" dirty="0">
                <a:solidFill>
                  <a:srgbClr val="5B6B86"/>
                </a:solidFill>
              </a:rPr>
              <a:t>Setujui PR, GRPO, dan transfer</a:t>
            </a:r>
            <a:endParaRPr lang="en-US" sz="1500" dirty="0"/>
          </a:p>
        </p:txBody>
      </p:sp>
      <p:sp>
        <p:nvSpPr>
          <p:cNvPr id="19" name="Peran Admin Purchase"/>
          <p:cNvSpPr/>
          <p:nvPr/>
        </p:nvSpPr>
        <p:spPr>
          <a:xfrm>
            <a:off x="4526280" y="4251960"/>
            <a:ext cx="36118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20" name="Text 16"/>
          <p:cNvSpPr txBox="1"/>
          <p:nvPr/>
        </p:nvSpPr>
        <p:spPr>
          <a:xfrm>
            <a:off x="4709160" y="4251960"/>
            <a:ext cx="3246120" cy="731520"/>
          </a:xfrm>
          <a:prstGeom prst="rect">
            <a:avLst/>
          </a:prstGeom>
          <a:noFill/>
          <a:ln/>
        </p:spPr>
        <p:txBody>
          <a:bodyPr wrap="square" lIns="0" tIns="0" rIns="0" bIns="0" rtlCol="0" anchor="ctr"/>
          <a:lstStyle/>
          <a:p>
            <a:pPr indent="0" marL="0">
              <a:buNone/>
            </a:pPr>
            <a:r>
              <a:rPr lang="en-US" sz="1500" b="1" dirty="0">
                <a:solidFill>
                  <a:srgbClr val="0B1A3A"/>
                </a:solidFill>
              </a:rPr>
              <a:t>Admin Purchase</a:t>
            </a:r>
            <a:endParaRPr lang="en-US" sz="1500" dirty="0"/>
          </a:p>
          <a:p>
            <a:pPr indent="0" marL="0">
              <a:buNone/>
            </a:pPr>
            <a:r>
              <a:rPr lang="en-US" sz="1200" dirty="0">
                <a:solidFill>
                  <a:srgbClr val="5B6B86"/>
                </a:solidFill>
              </a:rPr>
              <a:t>Buat Purchase Order ke vendor</a:t>
            </a:r>
            <a:endParaRPr lang="en-US" sz="1500" dirty="0"/>
          </a:p>
        </p:txBody>
      </p:sp>
      <p:sp>
        <p:nvSpPr>
          <p:cNvPr id="21" name="Peran Approve PO"/>
          <p:cNvSpPr/>
          <p:nvPr/>
        </p:nvSpPr>
        <p:spPr>
          <a:xfrm>
            <a:off x="4526280" y="5120640"/>
            <a:ext cx="361188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22" name="Text 18"/>
          <p:cNvSpPr txBox="1"/>
          <p:nvPr/>
        </p:nvSpPr>
        <p:spPr>
          <a:xfrm>
            <a:off x="4709160" y="5120640"/>
            <a:ext cx="3246120" cy="731520"/>
          </a:xfrm>
          <a:prstGeom prst="rect">
            <a:avLst/>
          </a:prstGeom>
          <a:noFill/>
          <a:ln/>
        </p:spPr>
        <p:txBody>
          <a:bodyPr wrap="square" lIns="0" tIns="0" rIns="0" bIns="0" rtlCol="0" anchor="ctr"/>
          <a:lstStyle/>
          <a:p>
            <a:pPr indent="0" marL="0">
              <a:buNone/>
            </a:pPr>
            <a:r>
              <a:rPr lang="en-US" sz="1500" b="1" dirty="0">
                <a:solidFill>
                  <a:srgbClr val="0B1A3A"/>
                </a:solidFill>
              </a:rPr>
              <a:t>Approve PO</a:t>
            </a:r>
            <a:endParaRPr lang="en-US" sz="1500" dirty="0"/>
          </a:p>
          <a:p>
            <a:pPr indent="0" marL="0">
              <a:buNone/>
            </a:pPr>
            <a:r>
              <a:rPr lang="en-US" sz="1200" dirty="0">
                <a:solidFill>
                  <a:srgbClr val="5B6B86"/>
                </a:solidFill>
              </a:rPr>
              <a:t>Setujui Purchase Order</a:t>
            </a:r>
            <a:endParaRPr lang="en-US" sz="1500" dirty="0"/>
          </a:p>
        </p:txBody>
      </p:sp>
      <p:sp>
        <p:nvSpPr>
          <p:cNvPr id="23" name="Zona DC"/>
          <p:cNvSpPr/>
          <p:nvPr/>
        </p:nvSpPr>
        <p:spPr>
          <a:xfrm>
            <a:off x="8641080" y="1554480"/>
            <a:ext cx="2834640" cy="2011680"/>
          </a:xfrm>
          <a:prstGeom prst="roundRect">
            <a:avLst>
              <a:gd name="adj" fmla="val 6364"/>
            </a:avLst>
          </a:prstGeom>
          <a:solidFill>
            <a:srgbClr val="EEF3FB"/>
          </a:solidFill>
          <a:ln w="12700">
            <a:solidFill>
              <a:srgbClr val="EEF3FB"/>
            </a:solidFill>
            <a:prstDash val="solid"/>
          </a:ln>
          <a:effectLst>
            <a:outerShdw sx="100000" sy="100000" kx="0" ky="0" algn="bl" rotWithShape="0" blurRad="127000" dist="38100" dir="5400000">
              <a:srgbClr val="0B1A3A">
                <a:alpha val="14000"/>
              </a:srgbClr>
            </a:outerShdw>
          </a:effectLst>
        </p:spPr>
      </p:sp>
      <p:sp>
        <p:nvSpPr>
          <p:cNvPr id="24" name="Ikon DC latar"/>
          <p:cNvSpPr/>
          <p:nvPr/>
        </p:nvSpPr>
        <p:spPr>
          <a:xfrm>
            <a:off x="8915400" y="1737360"/>
            <a:ext cx="548640" cy="548640"/>
          </a:xfrm>
          <a:prstGeom prst="ellipse">
            <a:avLst/>
          </a:prstGeom>
          <a:solidFill>
            <a:srgbClr val="0B1A3A"/>
          </a:solidFill>
          <a:ln w="12700">
            <a:solidFill>
              <a:srgbClr val="0B1A3A"/>
            </a:solidFill>
            <a:prstDash val="solid"/>
          </a:ln>
        </p:spPr>
      </p:sp>
      <p:pic>
        <p:nvPicPr>
          <p:cNvPr id="25" name="Ikon DC" descr="Ikon DC">    </p:cNvPr>
          <p:cNvPicPr>
            <a:picLocks noChangeAspect="1"/>
          </p:cNvPicPr>
          <p:nvPr/>
        </p:nvPicPr>
        <p:blipFill>
          <a:blip r:embed="rId3"/>
          <a:stretch>
            <a:fillRect/>
          </a:stretch>
        </p:blipFill>
        <p:spPr>
          <a:xfrm>
            <a:off x="9047074" y="1869034"/>
            <a:ext cx="285293" cy="285293"/>
          </a:xfrm>
          <a:prstGeom prst="rect">
            <a:avLst/>
          </a:prstGeom>
        </p:spPr>
      </p:pic>
      <p:sp>
        <p:nvSpPr>
          <p:cNvPr id="26" name="Text 21"/>
          <p:cNvSpPr txBox="1"/>
          <p:nvPr/>
        </p:nvSpPr>
        <p:spPr>
          <a:xfrm>
            <a:off x="9601200" y="1737360"/>
            <a:ext cx="1645920" cy="548640"/>
          </a:xfrm>
          <a:prstGeom prst="rect">
            <a:avLst/>
          </a:prstGeom>
          <a:noFill/>
          <a:ln/>
        </p:spPr>
        <p:txBody>
          <a:bodyPr wrap="square" lIns="0" tIns="0" rIns="0" bIns="0" rtlCol="0" anchor="ctr"/>
          <a:lstStyle/>
          <a:p>
            <a:pPr indent="0" marL="0">
              <a:buNone/>
            </a:pPr>
            <a:r>
              <a:rPr lang="en-US" sz="2000" b="1" dirty="0">
                <a:solidFill>
                  <a:srgbClr val="0B1A3A"/>
                </a:solidFill>
              </a:rPr>
              <a:t>DC</a:t>
            </a:r>
            <a:endParaRPr lang="en-US" sz="2000" dirty="0"/>
          </a:p>
        </p:txBody>
      </p:sp>
      <p:sp>
        <p:nvSpPr>
          <p:cNvPr id="27" name="Peran Admin DC"/>
          <p:cNvSpPr/>
          <p:nvPr/>
        </p:nvSpPr>
        <p:spPr>
          <a:xfrm>
            <a:off x="8869680" y="2514600"/>
            <a:ext cx="2377440" cy="731520"/>
          </a:xfrm>
          <a:prstGeom prst="roundRect">
            <a:avLst>
              <a:gd name="adj" fmla="val 17500"/>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28" name="Text 23"/>
          <p:cNvSpPr txBox="1"/>
          <p:nvPr/>
        </p:nvSpPr>
        <p:spPr>
          <a:xfrm>
            <a:off x="9052560" y="2514600"/>
            <a:ext cx="2011680" cy="731520"/>
          </a:xfrm>
          <a:prstGeom prst="rect">
            <a:avLst/>
          </a:prstGeom>
          <a:noFill/>
          <a:ln/>
        </p:spPr>
        <p:txBody>
          <a:bodyPr wrap="square" lIns="0" tIns="0" rIns="0" bIns="0" rtlCol="0" anchor="ctr"/>
          <a:lstStyle/>
          <a:p>
            <a:pPr indent="0" marL="0">
              <a:buNone/>
            </a:pPr>
            <a:r>
              <a:rPr lang="en-US" sz="1500" b="1" dirty="0">
                <a:solidFill>
                  <a:srgbClr val="0B1A3A"/>
                </a:solidFill>
              </a:rPr>
              <a:t>Admin DC</a:t>
            </a:r>
            <a:endParaRPr lang="en-US" sz="1500" dirty="0"/>
          </a:p>
          <a:p>
            <a:pPr indent="0" marL="0">
              <a:buNone/>
            </a:pPr>
            <a:r>
              <a:rPr lang="en-US" sz="1200" dirty="0">
                <a:solidFill>
                  <a:srgbClr val="5B6B86"/>
                </a:solidFill>
              </a:rPr>
              <a:t>Pilah stok, ajukan GRPO dan transfer</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Fitur utama aplikasi web</a:t>
            </a:r>
            <a:endParaRPr lang="en-US" sz="3400" dirty="0"/>
          </a:p>
        </p:txBody>
      </p:sp>
      <p:sp>
        <p:nvSpPr>
          <p:cNvPr id="3" name="Fitur Pesan ke DC"/>
          <p:cNvSpPr/>
          <p:nvPr/>
        </p:nvSpPr>
        <p:spPr>
          <a:xfrm>
            <a:off x="640080" y="1508760"/>
            <a:ext cx="3429000" cy="452628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4" name="Pesan ke DC bingkai"/>
          <p:cNvSpPr/>
          <p:nvPr/>
        </p:nvSpPr>
        <p:spPr>
          <a:xfrm>
            <a:off x="795528" y="2169460"/>
            <a:ext cx="3118104" cy="1558961"/>
          </a:xfrm>
          <a:prstGeom prst="roundRect">
            <a:avLst>
              <a:gd name="adj" fmla="val 8212"/>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5" name="Pesan ke DC" descr="Layar PID POS: Pesan ke DC">    </p:cNvPr>
          <p:cNvPicPr>
            <a:picLocks noChangeAspect="1"/>
          </p:cNvPicPr>
          <p:nvPr/>
        </p:nvPicPr>
        <p:blipFill>
          <a:blip r:embed="rId1"/>
          <a:stretch>
            <a:fillRect/>
          </a:stretch>
        </p:blipFill>
        <p:spPr>
          <a:xfrm>
            <a:off x="868680" y="2242612"/>
            <a:ext cx="2971800" cy="1412657"/>
          </a:xfrm>
          <a:prstGeom prst="rect">
            <a:avLst/>
          </a:prstGeom>
        </p:spPr>
      </p:pic>
      <p:sp>
        <p:nvSpPr>
          <p:cNvPr id="6" name="Text 3"/>
          <p:cNvSpPr txBox="1"/>
          <p:nvPr/>
        </p:nvSpPr>
        <p:spPr>
          <a:xfrm>
            <a:off x="914400" y="4343400"/>
            <a:ext cx="2880360" cy="1554480"/>
          </a:xfrm>
          <a:prstGeom prst="rect">
            <a:avLst/>
          </a:prstGeom>
          <a:noFill/>
          <a:ln/>
        </p:spPr>
        <p:txBody>
          <a:bodyPr wrap="square" lIns="0" tIns="0" rIns="0" bIns="0" rtlCol="0" anchor="t"/>
          <a:lstStyle/>
          <a:p>
            <a:pPr indent="0" marL="0">
              <a:spcAft>
                <a:spcPts val="600"/>
              </a:spcAft>
              <a:buNone/>
            </a:pPr>
            <a:r>
              <a:rPr lang="en-US" sz="2000" b="1" dirty="0">
                <a:solidFill>
                  <a:srgbClr val="0B1A3A"/>
                </a:solidFill>
              </a:rPr>
              <a:t>Pesan ke DC</a:t>
            </a:r>
            <a:endParaRPr lang="en-US" sz="2000" dirty="0"/>
          </a:p>
          <a:p>
            <a:pPr indent="0" marL="0">
              <a:spcAft>
                <a:spcPts val="600"/>
              </a:spcAft>
              <a:buNone/>
            </a:pPr>
            <a:r>
              <a:rPr lang="en-US" sz="1400" dirty="0">
                <a:solidFill>
                  <a:srgbClr val="1B2437"/>
                </a:solidFill>
              </a:rPr>
              <a:t>Pilih barang dan dek tujuan, lalu kirim permintaan ke DC.</a:t>
            </a:r>
            <a:endParaRPr lang="en-US" sz="2000" dirty="0"/>
          </a:p>
        </p:txBody>
      </p:sp>
      <p:sp>
        <p:nvSpPr>
          <p:cNvPr id="7" name="Fitur Persetujuan berjenjang"/>
          <p:cNvSpPr/>
          <p:nvPr/>
        </p:nvSpPr>
        <p:spPr>
          <a:xfrm>
            <a:off x="4343400" y="1508760"/>
            <a:ext cx="3429000" cy="452628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8" name="Persetujuan berjenjang bingkai"/>
          <p:cNvSpPr/>
          <p:nvPr/>
        </p:nvSpPr>
        <p:spPr>
          <a:xfrm>
            <a:off x="4671768" y="1709928"/>
            <a:ext cx="2772265" cy="2478024"/>
          </a:xfrm>
          <a:prstGeom prst="roundRect">
            <a:avLst>
              <a:gd name="adj" fmla="val 5166"/>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9" name="Persetujuan berjenjang" descr="Layar PID POS: Persetujuan berjenjang">    </p:cNvPr>
          <p:cNvPicPr>
            <a:picLocks noChangeAspect="1"/>
          </p:cNvPicPr>
          <p:nvPr/>
        </p:nvPicPr>
        <p:blipFill>
          <a:blip r:embed="rId2"/>
          <a:stretch>
            <a:fillRect/>
          </a:stretch>
        </p:blipFill>
        <p:spPr>
          <a:xfrm>
            <a:off x="4744920" y="1783080"/>
            <a:ext cx="2625961" cy="2331720"/>
          </a:xfrm>
          <a:prstGeom prst="rect">
            <a:avLst/>
          </a:prstGeom>
        </p:spPr>
      </p:pic>
      <p:sp>
        <p:nvSpPr>
          <p:cNvPr id="10" name="Text 6"/>
          <p:cNvSpPr txBox="1"/>
          <p:nvPr/>
        </p:nvSpPr>
        <p:spPr>
          <a:xfrm>
            <a:off x="4617720" y="4343400"/>
            <a:ext cx="2880360" cy="1554480"/>
          </a:xfrm>
          <a:prstGeom prst="rect">
            <a:avLst/>
          </a:prstGeom>
          <a:noFill/>
          <a:ln/>
        </p:spPr>
        <p:txBody>
          <a:bodyPr wrap="square" lIns="0" tIns="0" rIns="0" bIns="0" rtlCol="0" anchor="t"/>
          <a:lstStyle/>
          <a:p>
            <a:pPr indent="0" marL="0">
              <a:spcAft>
                <a:spcPts val="600"/>
              </a:spcAft>
              <a:buNone/>
            </a:pPr>
            <a:r>
              <a:rPr lang="en-US" sz="2000" b="1" dirty="0">
                <a:solidFill>
                  <a:srgbClr val="0B1A3A"/>
                </a:solidFill>
              </a:rPr>
              <a:t>Persetujuan berjenjang</a:t>
            </a:r>
            <a:endParaRPr lang="en-US" sz="2000" dirty="0"/>
          </a:p>
          <a:p>
            <a:pPr indent="0" marL="0">
              <a:spcAft>
                <a:spcPts val="600"/>
              </a:spcAft>
              <a:buNone/>
            </a:pPr>
            <a:r>
              <a:rPr lang="en-US" sz="1400" dirty="0">
                <a:solidFill>
                  <a:srgbClr val="1B2437"/>
                </a:solidFill>
              </a:rPr>
              <a:t>Status tiap tahap terlihat; setelah disetujui jadi Sales Order di SAP.</a:t>
            </a:r>
            <a:endParaRPr lang="en-US" sz="2000" dirty="0"/>
          </a:p>
        </p:txBody>
      </p:sp>
      <p:sp>
        <p:nvSpPr>
          <p:cNvPr id="11" name="Fitur Posisi stok per dek"/>
          <p:cNvSpPr/>
          <p:nvPr/>
        </p:nvSpPr>
        <p:spPr>
          <a:xfrm>
            <a:off x="8046720" y="1508760"/>
            <a:ext cx="3429000" cy="452628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2" name="Posisi stok per dek bingkai"/>
          <p:cNvSpPr/>
          <p:nvPr/>
        </p:nvSpPr>
        <p:spPr>
          <a:xfrm>
            <a:off x="8202168" y="2447930"/>
            <a:ext cx="3118104" cy="1002020"/>
          </a:xfrm>
          <a:prstGeom prst="roundRect">
            <a:avLst>
              <a:gd name="adj" fmla="val 12776"/>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13" name="Posisi stok per dek" descr="Layar PID POS: Posisi stok per dek">    </p:cNvPr>
          <p:cNvPicPr>
            <a:picLocks noChangeAspect="1"/>
          </p:cNvPicPr>
          <p:nvPr/>
        </p:nvPicPr>
        <p:blipFill>
          <a:blip r:embed="rId3"/>
          <a:stretch>
            <a:fillRect/>
          </a:stretch>
        </p:blipFill>
        <p:spPr>
          <a:xfrm>
            <a:off x="8275320" y="2521082"/>
            <a:ext cx="2971800" cy="855716"/>
          </a:xfrm>
          <a:prstGeom prst="rect">
            <a:avLst/>
          </a:prstGeom>
        </p:spPr>
      </p:pic>
      <p:sp>
        <p:nvSpPr>
          <p:cNvPr id="14" name="Text 9"/>
          <p:cNvSpPr txBox="1"/>
          <p:nvPr/>
        </p:nvSpPr>
        <p:spPr>
          <a:xfrm>
            <a:off x="8321040" y="4343400"/>
            <a:ext cx="2880360" cy="1554480"/>
          </a:xfrm>
          <a:prstGeom prst="rect">
            <a:avLst/>
          </a:prstGeom>
          <a:noFill/>
          <a:ln/>
        </p:spPr>
        <p:txBody>
          <a:bodyPr wrap="square" lIns="0" tIns="0" rIns="0" bIns="0" rtlCol="0" anchor="t"/>
          <a:lstStyle/>
          <a:p>
            <a:pPr indent="0" marL="0">
              <a:spcAft>
                <a:spcPts val="600"/>
              </a:spcAft>
              <a:buNone/>
            </a:pPr>
            <a:r>
              <a:rPr lang="en-US" sz="2000" b="1" dirty="0">
                <a:solidFill>
                  <a:srgbClr val="0B1A3A"/>
                </a:solidFill>
              </a:rPr>
              <a:t>Posisi stok per dek</a:t>
            </a:r>
            <a:endParaRPr lang="en-US" sz="2000" dirty="0"/>
          </a:p>
          <a:p>
            <a:pPr indent="0" marL="0">
              <a:spcAft>
                <a:spcPts val="600"/>
              </a:spcAft>
              <a:buNone/>
            </a:pPr>
            <a:r>
              <a:rPr lang="en-US" sz="1400" dirty="0">
                <a:solidFill>
                  <a:srgbClr val="1B2437"/>
                </a:solidFill>
              </a:rPr>
              <a:t>Stok setiap dek, total, dan penjualan 7 hari dalam satu tabel.</a:t>
            </a:r>
            <a:endParaRPr lang="en-US" sz="2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Kasir di setiap dek</a:t>
            </a:r>
            <a:endParaRPr lang="en-US" sz="3400" dirty="0"/>
          </a:p>
        </p:txBody>
      </p:sp>
      <p:sp>
        <p:nvSpPr>
          <p:cNvPr id="3" name="Kasir: scan barang bingkai"/>
          <p:cNvSpPr/>
          <p:nvPr/>
        </p:nvSpPr>
        <p:spPr>
          <a:xfrm>
            <a:off x="566928" y="1563129"/>
            <a:ext cx="5175504" cy="3091663"/>
          </a:xfrm>
          <a:prstGeom prst="roundRect">
            <a:avLst>
              <a:gd name="adj" fmla="val 4141"/>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4" name="Kasir: scan barang" descr="Layar PID POS: Kasir: scan barang">    </p:cNvPr>
          <p:cNvPicPr>
            <a:picLocks noChangeAspect="1"/>
          </p:cNvPicPr>
          <p:nvPr/>
        </p:nvPicPr>
        <p:blipFill>
          <a:blip r:embed="rId1"/>
          <a:stretch>
            <a:fillRect/>
          </a:stretch>
        </p:blipFill>
        <p:spPr>
          <a:xfrm>
            <a:off x="640080" y="1636281"/>
            <a:ext cx="5029200" cy="2945359"/>
          </a:xfrm>
          <a:prstGeom prst="rect">
            <a:avLst/>
          </a:prstGeom>
        </p:spPr>
      </p:pic>
      <p:sp>
        <p:nvSpPr>
          <p:cNvPr id="5" name="Kasir: pembayaran bingkai"/>
          <p:cNvSpPr/>
          <p:nvPr/>
        </p:nvSpPr>
        <p:spPr>
          <a:xfrm>
            <a:off x="5824728" y="1814711"/>
            <a:ext cx="5175504" cy="2588497"/>
          </a:xfrm>
          <a:prstGeom prst="roundRect">
            <a:avLst>
              <a:gd name="adj" fmla="val 4946"/>
            </a:avLst>
          </a:prstGeom>
          <a:solidFill>
            <a:srgbClr val="E4EAF4"/>
          </a:solidFill>
          <a:ln w="12700">
            <a:solidFill>
              <a:srgbClr val="E4EAF4"/>
            </a:solidFill>
            <a:prstDash val="solid"/>
          </a:ln>
          <a:effectLst>
            <a:outerShdw sx="100000" sy="100000" kx="0" ky="0" algn="bl" rotWithShape="0" blurRad="127000" dist="38100" dir="5400000">
              <a:srgbClr val="0B1A3A">
                <a:alpha val="14000"/>
              </a:srgbClr>
            </a:outerShdw>
          </a:effectLst>
        </p:spPr>
      </p:sp>
      <p:pic>
        <p:nvPicPr>
          <p:cNvPr id="6" name="Kasir: pembayaran" descr="Layar PID POS: Kasir: pembayaran">    </p:cNvPr>
          <p:cNvPicPr>
            <a:picLocks noChangeAspect="1"/>
          </p:cNvPicPr>
          <p:nvPr/>
        </p:nvPicPr>
        <p:blipFill>
          <a:blip r:embed="rId2"/>
          <a:stretch>
            <a:fillRect/>
          </a:stretch>
        </p:blipFill>
        <p:spPr>
          <a:xfrm>
            <a:off x="5897880" y="1887863"/>
            <a:ext cx="5029200" cy="2442193"/>
          </a:xfrm>
          <a:prstGeom prst="rect">
            <a:avLst/>
          </a:prstGeom>
        </p:spPr>
      </p:pic>
      <p:sp>
        <p:nvSpPr>
          <p:cNvPr id="7" name="Langkah 1"/>
          <p:cNvSpPr/>
          <p:nvPr/>
        </p:nvSpPr>
        <p:spPr>
          <a:xfrm>
            <a:off x="640080" y="5120640"/>
            <a:ext cx="502920" cy="502920"/>
          </a:xfrm>
          <a:prstGeom prst="ellipse">
            <a:avLst/>
          </a:prstGeom>
          <a:solidFill>
            <a:srgbClr val="0B1A3A"/>
          </a:solidFill>
          <a:ln w="12700">
            <a:solidFill>
              <a:srgbClr val="0B1A3A"/>
            </a:solidFill>
            <a:prstDash val="solid"/>
          </a:ln>
        </p:spPr>
      </p:sp>
      <p:sp>
        <p:nvSpPr>
          <p:cNvPr id="8" name="Text 4"/>
          <p:cNvSpPr txBox="1"/>
          <p:nvPr/>
        </p:nvSpPr>
        <p:spPr>
          <a:xfrm>
            <a:off x="640080"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5"/>
          <p:cNvSpPr txBox="1"/>
          <p:nvPr/>
        </p:nvSpPr>
        <p:spPr>
          <a:xfrm>
            <a:off x="1280160" y="5029200"/>
            <a:ext cx="1965960" cy="777240"/>
          </a:xfrm>
          <a:prstGeom prst="rect">
            <a:avLst/>
          </a:prstGeom>
          <a:noFill/>
          <a:ln/>
        </p:spPr>
        <p:txBody>
          <a:bodyPr wrap="square" lIns="0" tIns="0" rIns="0" bIns="0" rtlCol="0" anchor="ctr"/>
          <a:lstStyle/>
          <a:p>
            <a:pPr indent="0" marL="0">
              <a:buNone/>
            </a:pPr>
            <a:r>
              <a:rPr lang="en-US" sz="1600" b="1" dirty="0">
                <a:solidFill>
                  <a:srgbClr val="0B1A3A"/>
                </a:solidFill>
              </a:rPr>
              <a:t>Scan barang</a:t>
            </a:r>
            <a:endParaRPr lang="en-US" sz="1600" dirty="0"/>
          </a:p>
          <a:p>
            <a:pPr indent="0" marL="0">
              <a:buNone/>
            </a:pPr>
            <a:r>
              <a:rPr lang="en-US" sz="1200" dirty="0">
                <a:solidFill>
                  <a:srgbClr val="5B6B86"/>
                </a:solidFill>
              </a:rPr>
              <a:t>barcode, atau ketik nama/kode</a:t>
            </a:r>
            <a:endParaRPr lang="en-US" sz="1600" dirty="0"/>
          </a:p>
        </p:txBody>
      </p:sp>
      <p:sp>
        <p:nvSpPr>
          <p:cNvPr id="10" name="Langkah 2"/>
          <p:cNvSpPr/>
          <p:nvPr/>
        </p:nvSpPr>
        <p:spPr>
          <a:xfrm>
            <a:off x="3355848" y="5120640"/>
            <a:ext cx="502920" cy="502920"/>
          </a:xfrm>
          <a:prstGeom prst="ellipse">
            <a:avLst/>
          </a:prstGeom>
          <a:solidFill>
            <a:srgbClr val="0B1A3A"/>
          </a:solidFill>
          <a:ln w="12700">
            <a:solidFill>
              <a:srgbClr val="0B1A3A"/>
            </a:solidFill>
            <a:prstDash val="solid"/>
          </a:ln>
        </p:spPr>
      </p:sp>
      <p:sp>
        <p:nvSpPr>
          <p:cNvPr id="11" name="Text 7"/>
          <p:cNvSpPr txBox="1"/>
          <p:nvPr/>
        </p:nvSpPr>
        <p:spPr>
          <a:xfrm>
            <a:off x="3355848"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8"/>
          <p:cNvSpPr txBox="1"/>
          <p:nvPr/>
        </p:nvSpPr>
        <p:spPr>
          <a:xfrm>
            <a:off x="3995928" y="5029200"/>
            <a:ext cx="1965960" cy="777240"/>
          </a:xfrm>
          <a:prstGeom prst="rect">
            <a:avLst/>
          </a:prstGeom>
          <a:noFill/>
          <a:ln/>
        </p:spPr>
        <p:txBody>
          <a:bodyPr wrap="square" lIns="0" tIns="0" rIns="0" bIns="0" rtlCol="0" anchor="ctr"/>
          <a:lstStyle/>
          <a:p>
            <a:pPr indent="0" marL="0">
              <a:buNone/>
            </a:pPr>
            <a:r>
              <a:rPr lang="en-US" sz="1600" b="1" dirty="0">
                <a:solidFill>
                  <a:srgbClr val="0B1A3A"/>
                </a:solidFill>
              </a:rPr>
              <a:t>Bayar</a:t>
            </a:r>
            <a:endParaRPr lang="en-US" sz="1600" dirty="0"/>
          </a:p>
          <a:p>
            <a:pPr indent="0" marL="0">
              <a:buNone/>
            </a:pPr>
            <a:r>
              <a:rPr lang="en-US" sz="1200" dirty="0">
                <a:solidFill>
                  <a:srgbClr val="5B6B86"/>
                </a:solidFill>
              </a:rPr>
              <a:t>tunai atau QRIS, kembalian otomatis</a:t>
            </a:r>
            <a:endParaRPr lang="en-US" sz="1600" dirty="0"/>
          </a:p>
        </p:txBody>
      </p:sp>
      <p:sp>
        <p:nvSpPr>
          <p:cNvPr id="13" name="Langkah 3"/>
          <p:cNvSpPr/>
          <p:nvPr/>
        </p:nvSpPr>
        <p:spPr>
          <a:xfrm>
            <a:off x="6071616" y="5120640"/>
            <a:ext cx="502920" cy="502920"/>
          </a:xfrm>
          <a:prstGeom prst="ellipse">
            <a:avLst/>
          </a:prstGeom>
          <a:solidFill>
            <a:srgbClr val="0B1A3A"/>
          </a:solidFill>
          <a:ln w="12700">
            <a:solidFill>
              <a:srgbClr val="0B1A3A"/>
            </a:solidFill>
            <a:prstDash val="solid"/>
          </a:ln>
        </p:spPr>
      </p:sp>
      <p:sp>
        <p:nvSpPr>
          <p:cNvPr id="14" name="Text 10"/>
          <p:cNvSpPr txBox="1"/>
          <p:nvPr/>
        </p:nvSpPr>
        <p:spPr>
          <a:xfrm>
            <a:off x="6071616"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1"/>
          <p:cNvSpPr txBox="1"/>
          <p:nvPr/>
        </p:nvSpPr>
        <p:spPr>
          <a:xfrm>
            <a:off x="6711696" y="5029200"/>
            <a:ext cx="1965960" cy="777240"/>
          </a:xfrm>
          <a:prstGeom prst="rect">
            <a:avLst/>
          </a:prstGeom>
          <a:noFill/>
          <a:ln/>
        </p:spPr>
        <p:txBody>
          <a:bodyPr wrap="square" lIns="0" tIns="0" rIns="0" bIns="0" rtlCol="0" anchor="ctr"/>
          <a:lstStyle/>
          <a:p>
            <a:pPr indent="0" marL="0">
              <a:buNone/>
            </a:pPr>
            <a:r>
              <a:rPr lang="en-US" sz="1600" b="1" dirty="0">
                <a:solidFill>
                  <a:srgbClr val="0B1A3A"/>
                </a:solidFill>
              </a:rPr>
              <a:t>Struk tercetak</a:t>
            </a:r>
            <a:endParaRPr lang="en-US" sz="1600" dirty="0"/>
          </a:p>
          <a:p>
            <a:pPr indent="0" marL="0">
              <a:buNone/>
            </a:pPr>
            <a:r>
              <a:rPr lang="en-US" sz="1200" dirty="0">
                <a:solidFill>
                  <a:srgbClr val="5B6B86"/>
                </a:solidFill>
              </a:rPr>
              <a:t>cetak ulang dari riwayat</a:t>
            </a:r>
            <a:endParaRPr lang="en-US" sz="1600" dirty="0"/>
          </a:p>
        </p:txBody>
      </p:sp>
      <p:sp>
        <p:nvSpPr>
          <p:cNvPr id="16" name="Langkah 4"/>
          <p:cNvSpPr/>
          <p:nvPr/>
        </p:nvSpPr>
        <p:spPr>
          <a:xfrm>
            <a:off x="8787384" y="5120640"/>
            <a:ext cx="502920" cy="502920"/>
          </a:xfrm>
          <a:prstGeom prst="ellipse">
            <a:avLst/>
          </a:prstGeom>
          <a:solidFill>
            <a:srgbClr val="FF6B1A"/>
          </a:solidFill>
          <a:ln w="12700">
            <a:solidFill>
              <a:srgbClr val="FF6B1A"/>
            </a:solidFill>
            <a:prstDash val="solid"/>
          </a:ln>
        </p:spPr>
      </p:sp>
      <p:sp>
        <p:nvSpPr>
          <p:cNvPr id="17" name="Text 13"/>
          <p:cNvSpPr txBox="1"/>
          <p:nvPr/>
        </p:nvSpPr>
        <p:spPr>
          <a:xfrm>
            <a:off x="8787384"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4"/>
          <p:cNvSpPr txBox="1"/>
          <p:nvPr/>
        </p:nvSpPr>
        <p:spPr>
          <a:xfrm>
            <a:off x="9427464" y="5029200"/>
            <a:ext cx="1965960" cy="777240"/>
          </a:xfrm>
          <a:prstGeom prst="rect">
            <a:avLst/>
          </a:prstGeom>
          <a:noFill/>
          <a:ln/>
        </p:spPr>
        <p:txBody>
          <a:bodyPr wrap="square" lIns="0" tIns="0" rIns="0" bIns="0" rtlCol="0" anchor="ctr"/>
          <a:lstStyle/>
          <a:p>
            <a:pPr indent="0" marL="0">
              <a:buNone/>
            </a:pPr>
            <a:r>
              <a:rPr lang="en-US" sz="1600" b="1" dirty="0">
                <a:solidFill>
                  <a:srgbClr val="0B1A3A"/>
                </a:solidFill>
              </a:rPr>
              <a:t>Kirim DO</a:t>
            </a:r>
            <a:endParaRPr lang="en-US" sz="1600" dirty="0"/>
          </a:p>
          <a:p>
            <a:pPr indent="0" marL="0">
              <a:buNone/>
            </a:pPr>
            <a:r>
              <a:rPr lang="en-US" sz="1200" dirty="0">
                <a:solidFill>
                  <a:srgbClr val="5B6B86"/>
                </a:solidFill>
              </a:rPr>
              <a:t>penjualan harian masuk SAP</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9692640" cy="731520"/>
          </a:xfrm>
          <a:prstGeom prst="rect">
            <a:avLst/>
          </a:prstGeom>
          <a:noFill/>
          <a:ln/>
        </p:spPr>
        <p:txBody>
          <a:bodyPr wrap="square" lIns="0" tIns="0" rIns="0" bIns="0" rtlCol="0" anchor="ctr"/>
          <a:lstStyle/>
          <a:p>
            <a:pPr algn="l" indent="0" marL="0">
              <a:buNone/>
            </a:pPr>
            <a:r>
              <a:rPr lang="en-US" sz="3400" b="1" dirty="0">
                <a:solidFill>
                  <a:schemeClr val="tx2"/>
                </a:solidFill>
              </a:rPr>
              <a:t>Keunggulan PID POS</a:t>
            </a:r>
            <a:endParaRPr lang="en-US" sz="3400" dirty="0"/>
          </a:p>
        </p:txBody>
      </p:sp>
      <p:sp>
        <p:nvSpPr>
          <p:cNvPr id="3" name="Nilai Transparan"/>
          <p:cNvSpPr/>
          <p:nvPr/>
        </p:nvSpPr>
        <p:spPr>
          <a:xfrm>
            <a:off x="640080" y="1600200"/>
            <a:ext cx="3429000" cy="356616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4" name="Ikon Transparan latar"/>
          <p:cNvSpPr/>
          <p:nvPr/>
        </p:nvSpPr>
        <p:spPr>
          <a:xfrm>
            <a:off x="960120" y="1920240"/>
            <a:ext cx="914400" cy="914400"/>
          </a:xfrm>
          <a:prstGeom prst="ellipse">
            <a:avLst/>
          </a:prstGeom>
          <a:solidFill>
            <a:srgbClr val="1F3B7A"/>
          </a:solidFill>
          <a:ln w="12700">
            <a:solidFill>
              <a:srgbClr val="1F3B7A"/>
            </a:solidFill>
            <a:prstDash val="solid"/>
          </a:ln>
        </p:spPr>
      </p:sp>
      <p:pic>
        <p:nvPicPr>
          <p:cNvPr id="5" name="Ikon Transparan" descr="Ikon Transparan">    </p:cNvPr>
          <p:cNvPicPr>
            <a:picLocks noChangeAspect="1"/>
          </p:cNvPicPr>
          <p:nvPr/>
        </p:nvPicPr>
        <p:blipFill>
          <a:blip r:embed="rId1"/>
          <a:stretch>
            <a:fillRect/>
          </a:stretch>
        </p:blipFill>
        <p:spPr>
          <a:xfrm>
            <a:off x="1179576" y="2139696"/>
            <a:ext cx="475488" cy="475488"/>
          </a:xfrm>
          <a:prstGeom prst="rect">
            <a:avLst/>
          </a:prstGeom>
        </p:spPr>
      </p:pic>
      <p:sp>
        <p:nvSpPr>
          <p:cNvPr id="6" name="Text 3"/>
          <p:cNvSpPr txBox="1"/>
          <p:nvPr/>
        </p:nvSpPr>
        <p:spPr>
          <a:xfrm>
            <a:off x="960120" y="3063240"/>
            <a:ext cx="2834640" cy="548640"/>
          </a:xfrm>
          <a:prstGeom prst="rect">
            <a:avLst/>
          </a:prstGeom>
          <a:noFill/>
          <a:ln/>
        </p:spPr>
        <p:txBody>
          <a:bodyPr wrap="square" lIns="0" tIns="0" rIns="0" bIns="0" rtlCol="0" anchor="ctr"/>
          <a:lstStyle/>
          <a:p>
            <a:pPr indent="0" marL="0">
              <a:buNone/>
            </a:pPr>
            <a:r>
              <a:rPr lang="en-US" sz="2600" b="1" dirty="0">
                <a:solidFill>
                  <a:srgbClr val="0B1A3A"/>
                </a:solidFill>
              </a:rPr>
              <a:t>Transparan</a:t>
            </a:r>
            <a:endParaRPr lang="en-US" sz="2600" dirty="0"/>
          </a:p>
        </p:txBody>
      </p:sp>
      <p:sp>
        <p:nvSpPr>
          <p:cNvPr id="7" name="Text 4"/>
          <p:cNvSpPr txBox="1"/>
          <p:nvPr/>
        </p:nvSpPr>
        <p:spPr>
          <a:xfrm>
            <a:off x="960120" y="3657600"/>
            <a:ext cx="2834640" cy="1828800"/>
          </a:xfrm>
          <a:prstGeom prst="rect">
            <a:avLst/>
          </a:prstGeom>
          <a:noFill/>
          <a:ln/>
        </p:spPr>
        <p:txBody>
          <a:bodyPr wrap="square" lIns="0" tIns="0" rIns="0" bIns="0" rtlCol="0" anchor="t"/>
          <a:lstStyle/>
          <a:p>
            <a:pPr indent="0" marL="0">
              <a:buNone/>
            </a:pPr>
            <a:r>
              <a:rPr lang="en-US" sz="1500" dirty="0">
                <a:solidFill>
                  <a:srgbClr val="1B2437"/>
                </a:solidFill>
              </a:rPr>
              <a:t>Stok setiap dek dan status setiap permintaan terpantau real-time, lengkap dengan riwayatnya.</a:t>
            </a:r>
            <a:endParaRPr lang="en-US" sz="1500" dirty="0"/>
          </a:p>
        </p:txBody>
      </p:sp>
      <p:sp>
        <p:nvSpPr>
          <p:cNvPr id="8" name="Nilai Terkendali"/>
          <p:cNvSpPr/>
          <p:nvPr/>
        </p:nvSpPr>
        <p:spPr>
          <a:xfrm>
            <a:off x="4343400" y="1600200"/>
            <a:ext cx="3429000" cy="356616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9" name="Ikon Terkendali latar"/>
          <p:cNvSpPr/>
          <p:nvPr/>
        </p:nvSpPr>
        <p:spPr>
          <a:xfrm>
            <a:off x="4663440" y="1920240"/>
            <a:ext cx="914400" cy="914400"/>
          </a:xfrm>
          <a:prstGeom prst="ellipse">
            <a:avLst/>
          </a:prstGeom>
          <a:solidFill>
            <a:srgbClr val="3D6FC2"/>
          </a:solidFill>
          <a:ln w="12700">
            <a:solidFill>
              <a:srgbClr val="3D6FC2"/>
            </a:solidFill>
            <a:prstDash val="solid"/>
          </a:ln>
        </p:spPr>
      </p:sp>
      <p:pic>
        <p:nvPicPr>
          <p:cNvPr id="10" name="Ikon Terkendali" descr="Ikon Terkendali">    </p:cNvPr>
          <p:cNvPicPr>
            <a:picLocks noChangeAspect="1"/>
          </p:cNvPicPr>
          <p:nvPr/>
        </p:nvPicPr>
        <p:blipFill>
          <a:blip r:embed="rId2"/>
          <a:stretch>
            <a:fillRect/>
          </a:stretch>
        </p:blipFill>
        <p:spPr>
          <a:xfrm>
            <a:off x="4882896" y="2139696"/>
            <a:ext cx="475488" cy="475488"/>
          </a:xfrm>
          <a:prstGeom prst="rect">
            <a:avLst/>
          </a:prstGeom>
        </p:spPr>
      </p:pic>
      <p:sp>
        <p:nvSpPr>
          <p:cNvPr id="11" name="Text 7"/>
          <p:cNvSpPr txBox="1"/>
          <p:nvPr/>
        </p:nvSpPr>
        <p:spPr>
          <a:xfrm>
            <a:off x="4663440" y="3063240"/>
            <a:ext cx="2834640" cy="548640"/>
          </a:xfrm>
          <a:prstGeom prst="rect">
            <a:avLst/>
          </a:prstGeom>
          <a:noFill/>
          <a:ln/>
        </p:spPr>
        <p:txBody>
          <a:bodyPr wrap="square" lIns="0" tIns="0" rIns="0" bIns="0" rtlCol="0" anchor="ctr"/>
          <a:lstStyle/>
          <a:p>
            <a:pPr indent="0" marL="0">
              <a:buNone/>
            </a:pPr>
            <a:r>
              <a:rPr lang="en-US" sz="2600" b="1" dirty="0">
                <a:solidFill>
                  <a:srgbClr val="0B1A3A"/>
                </a:solidFill>
              </a:rPr>
              <a:t>Terkendali</a:t>
            </a:r>
            <a:endParaRPr lang="en-US" sz="2600" dirty="0"/>
          </a:p>
        </p:txBody>
      </p:sp>
      <p:sp>
        <p:nvSpPr>
          <p:cNvPr id="12" name="Text 8"/>
          <p:cNvSpPr txBox="1"/>
          <p:nvPr/>
        </p:nvSpPr>
        <p:spPr>
          <a:xfrm>
            <a:off x="4663440" y="3657600"/>
            <a:ext cx="2834640" cy="1828800"/>
          </a:xfrm>
          <a:prstGeom prst="rect">
            <a:avLst/>
          </a:prstGeom>
          <a:noFill/>
          <a:ln/>
        </p:spPr>
        <p:txBody>
          <a:bodyPr wrap="square" lIns="0" tIns="0" rIns="0" bIns="0" rtlCol="0" anchor="t"/>
          <a:lstStyle/>
          <a:p>
            <a:pPr indent="0" marL="0">
              <a:buNone/>
            </a:pPr>
            <a:r>
              <a:rPr lang="en-US" sz="1500" dirty="0">
                <a:solidFill>
                  <a:srgbClr val="1B2437"/>
                </a:solidFill>
              </a:rPr>
              <a:t>Persetujuan berjenjang di setiap tahap; retur dan kas keluar besar memerlukan PIN kepala toko.</a:t>
            </a:r>
            <a:endParaRPr lang="en-US" sz="1500" dirty="0"/>
          </a:p>
        </p:txBody>
      </p:sp>
      <p:sp>
        <p:nvSpPr>
          <p:cNvPr id="13" name="Nilai Terintegrasi"/>
          <p:cNvSpPr/>
          <p:nvPr/>
        </p:nvSpPr>
        <p:spPr>
          <a:xfrm>
            <a:off x="8046720" y="1600200"/>
            <a:ext cx="3429000" cy="3566160"/>
          </a:xfrm>
          <a:prstGeom prst="roundRect">
            <a:avLst>
              <a:gd name="adj" fmla="val 3733"/>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sp>
        <p:nvSpPr>
          <p:cNvPr id="14" name="Ikon Terintegrasi latar"/>
          <p:cNvSpPr/>
          <p:nvPr/>
        </p:nvSpPr>
        <p:spPr>
          <a:xfrm>
            <a:off x="8366760" y="1920240"/>
            <a:ext cx="914400" cy="914400"/>
          </a:xfrm>
          <a:prstGeom prst="ellipse">
            <a:avLst/>
          </a:prstGeom>
          <a:solidFill>
            <a:srgbClr val="FF6B1A"/>
          </a:solidFill>
          <a:ln w="12700">
            <a:solidFill>
              <a:srgbClr val="FF6B1A"/>
            </a:solidFill>
            <a:prstDash val="solid"/>
          </a:ln>
        </p:spPr>
      </p:sp>
      <p:pic>
        <p:nvPicPr>
          <p:cNvPr id="15" name="Ikon Terintegrasi" descr="Ikon Terintegrasi">    </p:cNvPr>
          <p:cNvPicPr>
            <a:picLocks noChangeAspect="1"/>
          </p:cNvPicPr>
          <p:nvPr/>
        </p:nvPicPr>
        <p:blipFill>
          <a:blip r:embed="rId3"/>
          <a:stretch>
            <a:fillRect/>
          </a:stretch>
        </p:blipFill>
        <p:spPr>
          <a:xfrm>
            <a:off x="8586216" y="2139696"/>
            <a:ext cx="475488" cy="475488"/>
          </a:xfrm>
          <a:prstGeom prst="rect">
            <a:avLst/>
          </a:prstGeom>
        </p:spPr>
      </p:pic>
      <p:sp>
        <p:nvSpPr>
          <p:cNvPr id="16" name="Text 11"/>
          <p:cNvSpPr txBox="1"/>
          <p:nvPr/>
        </p:nvSpPr>
        <p:spPr>
          <a:xfrm>
            <a:off x="8366760" y="3063240"/>
            <a:ext cx="2834640" cy="548640"/>
          </a:xfrm>
          <a:prstGeom prst="rect">
            <a:avLst/>
          </a:prstGeom>
          <a:noFill/>
          <a:ln/>
        </p:spPr>
        <p:txBody>
          <a:bodyPr wrap="square" lIns="0" tIns="0" rIns="0" bIns="0" rtlCol="0" anchor="ctr"/>
          <a:lstStyle/>
          <a:p>
            <a:pPr indent="0" marL="0">
              <a:buNone/>
            </a:pPr>
            <a:r>
              <a:rPr lang="en-US" sz="2600" b="1" dirty="0">
                <a:solidFill>
                  <a:srgbClr val="0B1A3A"/>
                </a:solidFill>
              </a:rPr>
              <a:t>Terintegrasi</a:t>
            </a:r>
            <a:endParaRPr lang="en-US" sz="2600" dirty="0"/>
          </a:p>
        </p:txBody>
      </p:sp>
      <p:sp>
        <p:nvSpPr>
          <p:cNvPr id="17" name="Text 12"/>
          <p:cNvSpPr txBox="1"/>
          <p:nvPr/>
        </p:nvSpPr>
        <p:spPr>
          <a:xfrm>
            <a:off x="8366760" y="3657600"/>
            <a:ext cx="2834640" cy="1828800"/>
          </a:xfrm>
          <a:prstGeom prst="rect">
            <a:avLst/>
          </a:prstGeom>
          <a:noFill/>
          <a:ln/>
        </p:spPr>
        <p:txBody>
          <a:bodyPr wrap="square" lIns="0" tIns="0" rIns="0" bIns="0" rtlCol="0" anchor="t"/>
          <a:lstStyle/>
          <a:p>
            <a:pPr indent="0" marL="0">
              <a:buNone/>
            </a:pPr>
            <a:r>
              <a:rPr lang="en-US" sz="1500" dirty="0">
                <a:solidFill>
                  <a:srgbClr val="1B2437"/>
                </a:solidFill>
              </a:rPr>
              <a:t>Dokumen SAP Business One dibuat otomatis, dan penjualan harian setiap dek masuk SAP sebagai DO.</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artu logo"/>
          <p:cNvSpPr/>
          <p:nvPr/>
        </p:nvSpPr>
        <p:spPr>
          <a:xfrm>
            <a:off x="640080" y="548640"/>
            <a:ext cx="4206240" cy="841248"/>
          </a:xfrm>
          <a:prstGeom prst="roundRect">
            <a:avLst>
              <a:gd name="adj" fmla="val 15217"/>
            </a:avLst>
          </a:prstGeom>
          <a:solidFill>
            <a:srgbClr val="FFFFFF"/>
          </a:solidFill>
          <a:ln w="12700">
            <a:solidFill>
              <a:srgbClr val="FFFFFF"/>
            </a:solidFill>
            <a:prstDash val="solid"/>
          </a:ln>
          <a:effectLst>
            <a:outerShdw sx="100000" sy="100000" kx="0" ky="0" algn="bl" rotWithShape="0" blurRad="127000" dist="38100" dir="5400000">
              <a:srgbClr val="0B1A3A">
                <a:alpha val="14000"/>
              </a:srgbClr>
            </a:outerShdw>
          </a:effectLst>
        </p:spPr>
      </p:sp>
      <p:pic>
        <p:nvPicPr>
          <p:cNvPr id="3" name="Logo Danantara" descr="Logo Danantara Indonesia">    </p:cNvPr>
          <p:cNvPicPr>
            <a:picLocks noChangeAspect="1"/>
          </p:cNvPicPr>
          <p:nvPr/>
        </p:nvPicPr>
        <p:blipFill>
          <a:blip r:embed="rId1"/>
          <a:stretch>
            <a:fillRect/>
          </a:stretch>
        </p:blipFill>
        <p:spPr>
          <a:xfrm>
            <a:off x="850392" y="750540"/>
            <a:ext cx="1682496" cy="423892"/>
          </a:xfrm>
          <a:prstGeom prst="rect">
            <a:avLst/>
          </a:prstGeom>
        </p:spPr>
      </p:pic>
      <p:sp>
        <p:nvSpPr>
          <p:cNvPr id="4" name="Pemisah logo"/>
          <p:cNvSpPr/>
          <p:nvPr/>
        </p:nvSpPr>
        <p:spPr>
          <a:xfrm>
            <a:off x="2743200" y="716890"/>
            <a:ext cx="0" cy="504749"/>
          </a:xfrm>
          <a:prstGeom prst="line">
            <a:avLst/>
          </a:prstGeom>
          <a:noFill/>
          <a:ln w="19050">
            <a:solidFill>
              <a:srgbClr val="D5DEEC"/>
            </a:solidFill>
            <a:prstDash val="solid"/>
          </a:ln>
        </p:spPr>
      </p:sp>
      <p:pic>
        <p:nvPicPr>
          <p:cNvPr id="5" name="Logo PELNI Services" descr="Logo PELNI Services">    </p:cNvPr>
          <p:cNvPicPr>
            <a:picLocks noChangeAspect="1"/>
          </p:cNvPicPr>
          <p:nvPr/>
        </p:nvPicPr>
        <p:blipFill>
          <a:blip r:embed="rId2"/>
          <a:stretch>
            <a:fillRect/>
          </a:stretch>
        </p:blipFill>
        <p:spPr>
          <a:xfrm>
            <a:off x="2995574" y="683240"/>
            <a:ext cx="1598371" cy="735251"/>
          </a:xfrm>
          <a:prstGeom prst="rect">
            <a:avLst/>
          </a:prstGeom>
        </p:spPr>
      </p:pic>
      <p:sp>
        <p:nvSpPr>
          <p:cNvPr id="6" name="Text 0"/>
          <p:cNvSpPr/>
          <p:nvPr>
            <p:ph idx="100" type="title" hasCustomPrompt="1"/>
          </p:nvPr>
        </p:nvSpPr>
        <p:spPr>
          <a:xfrm>
            <a:off x="640080" y="2331720"/>
            <a:ext cx="6583680" cy="1188720"/>
          </a:xfrm>
          <a:prstGeom prst="rect">
            <a:avLst/>
          </a:prstGeom>
          <a:noFill/>
          <a:ln/>
        </p:spPr>
        <p:txBody>
          <a:bodyPr wrap="square" lIns="0" tIns="0" rIns="0" bIns="0" rtlCol="0" anchor="ctr"/>
          <a:lstStyle/>
          <a:p>
            <a:pPr algn="l" indent="0" marL="0">
              <a:buNone/>
            </a:pPr>
            <a:r>
              <a:rPr lang="en-US" sz="6600" b="1" dirty="0">
                <a:solidFill>
                  <a:schemeClr val="bg1"/>
                </a:solidFill>
              </a:rPr>
              <a:t>PID POS</a:t>
            </a:r>
            <a:endParaRPr lang="en-US" sz="6600" dirty="0"/>
          </a:p>
        </p:txBody>
      </p:sp>
      <p:sp>
        <p:nvSpPr>
          <p:cNvPr id="7" name="Text 3"/>
          <p:cNvSpPr txBox="1"/>
          <p:nvPr/>
        </p:nvSpPr>
        <p:spPr>
          <a:xfrm>
            <a:off x="640080" y="3611880"/>
            <a:ext cx="7315200" cy="548640"/>
          </a:xfrm>
          <a:prstGeom prst="rect">
            <a:avLst/>
          </a:prstGeom>
          <a:noFill/>
          <a:ln/>
        </p:spPr>
        <p:txBody>
          <a:bodyPr wrap="square" lIns="0" tIns="0" rIns="0" bIns="0" rtlCol="0" anchor="ctr"/>
          <a:lstStyle/>
          <a:p>
            <a:pPr indent="0" marL="0">
              <a:buNone/>
            </a:pPr>
            <a:r>
              <a:rPr lang="en-US" sz="2400" dirty="0">
                <a:solidFill>
                  <a:srgbClr val="CADCFC"/>
                </a:solidFill>
              </a:rPr>
              <a:t>Satu alur, dari kapal sampai kasir.</a:t>
            </a:r>
            <a:endParaRPr lang="en-US" sz="2400" dirty="0"/>
          </a:p>
        </p:txBody>
      </p:sp>
      <p:sp>
        <p:nvSpPr>
          <p:cNvPr id="8" name="Text 4"/>
          <p:cNvSpPr txBox="1"/>
          <p:nvPr/>
        </p:nvSpPr>
        <p:spPr>
          <a:xfrm>
            <a:off x="640080" y="5257800"/>
            <a:ext cx="10881360" cy="1051560"/>
          </a:xfrm>
          <a:prstGeom prst="rect">
            <a:avLst/>
          </a:prstGeom>
          <a:noFill/>
          <a:ln/>
        </p:spPr>
        <p:txBody>
          <a:bodyPr wrap="square" lIns="0" tIns="0" rIns="0" bIns="0" rtlCol="0" anchor="t"/>
          <a:lstStyle/>
          <a:p>
            <a:pPr indent="0" marL="0">
              <a:buNone/>
            </a:pPr>
            <a:r>
              <a:rPr lang="en-US" sz="3000" b="1" dirty="0">
                <a:solidFill>
                  <a:srgbClr val="FFFFFF"/>
                </a:solidFill>
              </a:rPr>
              <a:t>Terima kasih</a:t>
            </a:r>
            <a:endParaRPr lang="en-US" sz="3000" dirty="0"/>
          </a:p>
          <a:p>
            <a:pPr indent="0" marL="0">
              <a:buNone/>
            </a:pPr>
            <a:r>
              <a:rPr lang="en-US" sz="1600" dirty="0">
                <a:solidFill>
                  <a:srgbClr val="8FA6D8"/>
                </a:solidFill>
              </a:rPr>
              <a:t>Aplikasi toko kapal PELNI Services, terhubung SAP Business One.</a:t>
            </a:r>
            <a:endParaRPr lang="en-US" sz="3000" dirty="0"/>
          </a:p>
        </p:txBody>
      </p:sp>
    </p:spTree>
  </p:cSld>
  <p:clrMapOvr>
    <a:masterClrMapping/>
  </p:clrMapOvr>
</p:sld>
</file>

<file path=ppt/theme/theme1.xml><?xml version="1.0" encoding="utf-8"?>
<a:theme xmlns:a="http://schemas.openxmlformats.org/drawingml/2006/main" name="PID POS Direksi">
  <a:themeElements>
    <a:clrScheme name="PID POS Direksi">
      <a:dk1>
        <a:srgbClr val="1B2437"/>
      </a:dk1>
      <a:lt1>
        <a:srgbClr val="FFFFFF"/>
      </a:lt1>
      <a:dk2>
        <a:srgbClr val="0B1A3A"/>
      </a:dk2>
      <a:lt2>
        <a:srgbClr val="EEF3FB"/>
      </a:lt2>
      <a:accent1>
        <a:srgbClr val="FF6B1A"/>
      </a:accent1>
      <a:accent2>
        <a:srgbClr val="1F3B7A"/>
      </a:accent2>
      <a:accent3>
        <a:srgbClr val="3D6FC2"/>
      </a:accent3>
      <a:accent4>
        <a:srgbClr val="2E8B57"/>
      </a:accent4>
      <a:accent5>
        <a:srgbClr val="5B6B86"/>
      </a:accent5>
      <a:accent6>
        <a:srgbClr val="D5DEEC"/>
      </a:accent6>
      <a:hlink>
        <a:srgbClr val="1F3B7A"/>
      </a:hlink>
      <a:folHlink>
        <a:srgbClr val="5B6B86"/>
      </a:folHlink>
    </a:clrScheme>
    <a:fontScheme name="PID POS Direks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POS · Paparan Direksi</dc:title>
  <dc:subject>PptxGenJS Presentation</dc:subject>
  <dc:creator>PT Pelita Indonesia Djaya (PELNI Services)</dc:creator>
  <cp:lastModifiedBy>PT Pelita Indonesia Djaya (PELNI Services)</cp:lastModifiedBy>
  <cp:revision>1</cp:revision>
  <dcterms:created xsi:type="dcterms:W3CDTF">2026-10-26T07:42:21Z</dcterms:created>
  <dcterms:modified xsi:type="dcterms:W3CDTF">2026-10-26T07:42:21Z</dcterms:modified>
</cp:coreProperties>
</file>