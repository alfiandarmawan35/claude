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 POS adalah aplikasi untuk toko di kapal PELNI Services. Semua proses barang, dari kapal memesan ke DC, persetujuan, gudang, pembelian, sampai barang terjual di kasir, berjalan di satu aplikasi. Setiap dokumen langsung dibuat di SAP Business One setelah disetujui, jadi tidak ada input ulang. Ada tujuh peran, dan masing-masing hanya melihat tugasnya. Gambar atas: beranda admin kapal. Gambar bawah: layar kasir.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sembilan tahap. Jalur atas selalu dijalani. Jalur bawah, PUR, PO, dan GRPO, hanya dijalani bila stok DC tidak cukup. Label hijau menunjukkan dokumen SAP yang terbentuk setelah tahap itu disetujui. Bila semua barang ada di stok DC, tahap PUR, PO, dan GRPO dilewati. Bila sebagian harus dibeli, seperti contoh ini, semua tahap dijalani, dan Inventory Transfer menunggu GRPO lalu dikirim sekali, tetap satu dokumen per 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jejak dokumen SAP dari satu permintaan. Setiap dokumen baru dibuat setelah persetujuannya selesai di web. Selama statusnya masih Approval, belum ada apa pun di SAP. Tiga aturan yang perlu diingat: dokumen SAP baru dibuat setelah disetujui, menolak wajib dengan alasan, dan permintaan barang minimal lima hari sebelum dibutuhkan. Ringkasnya: satu permintaan mengalir melewati tujuh peran. Dokumen SAP dibuat setelah setiap persetujuan, dan semuanya berakhir di Delivery Order kasir. Untuk detail tiap peran, tonton video episode satu sampai tujuh atau buka Manual Book per peran.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pic>
        <p:nvPicPr>
          <p:cNvPr id="3" name="Image 0" descr="/home/user/claude/motion/public/brand/pelni_services.png">    </p:cNvPr>
          <p:cNvPicPr>
            <a:picLocks noChangeAspect="1"/>
          </p:cNvPicPr>
          <p:nvPr/>
        </p:nvPicPr>
        <p:blipFill>
          <a:blip r:embed="rId1"/>
          <a:stretch>
            <a:fillRect/>
          </a:stretch>
        </p:blipFill>
        <p:spPr>
          <a:xfrm>
            <a:off x="10469880" y="365760"/>
            <a:ext cx="1261872" cy="576072"/>
          </a:xfrm>
          <a:prstGeom prst="rect">
            <a:avLst/>
          </a:prstGeom>
        </p:spPr>
      </p:pic>
      <p:sp>
        <p:nvSpPr>
          <p:cNvPr id="4"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PID POS · Versi singkat · Contoh data uji SAP DB_TEST</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Apa itu PID POS?</a:t>
            </a:r>
            <a:endParaRPr lang="en-US" sz="3400" dirty="0"/>
          </a:p>
        </p:txBody>
      </p:sp>
      <p:sp>
        <p:nvSpPr>
          <p:cNvPr id="3" name="Definisi"/>
          <p:cNvSpPr txBox="1"/>
          <p:nvPr/>
        </p:nvSpPr>
        <p:spPr>
          <a:xfrm>
            <a:off x="457200" y="1188720"/>
            <a:ext cx="5669280" cy="1234440"/>
          </a:xfrm>
          <a:prstGeom prst="rect">
            <a:avLst/>
          </a:prstGeom>
          <a:noFill/>
          <a:ln/>
        </p:spPr>
        <p:txBody>
          <a:bodyPr wrap="square" lIns="0" tIns="0" rIns="0" bIns="0" rtlCol="0" anchor="t"/>
          <a:lstStyle/>
          <a:p>
            <a:pPr indent="0" marL="0">
              <a:buNone/>
            </a:pPr>
            <a:r>
              <a:rPr lang="en-US" sz="1800" b="1" dirty="0">
                <a:solidFill>
                  <a:srgbClr val="1F3B7A"/>
                </a:solidFill>
              </a:rPr>
              <a:t>PID POS</a:t>
            </a:r>
            <a:pPr indent="0" marL="0">
              <a:buNone/>
            </a:pPr>
            <a:r>
              <a:rPr lang="en-US" sz="1800" dirty="0">
                <a:solidFill>
                  <a:srgbClr val="1B2437"/>
                </a:solidFill>
              </a:rPr>
              <a:t> adalah aplikasi toko kapal PELNI Services. Permintaan barang, persetujuan, gudang DC, sampai penjualan di kasir tercatat di satu aplikasi dan terhubung langsung ke SAP Business One.</a:t>
            </a:r>
            <a:endParaRPr lang="en-US" sz="1800" dirty="0"/>
          </a:p>
        </p:txBody>
      </p:sp>
      <p:sp>
        <p:nvSpPr>
          <p:cNvPr id="4" name="Ikon Satu alur, 7 peran"/>
          <p:cNvSpPr/>
          <p:nvPr/>
        </p:nvSpPr>
        <p:spPr>
          <a:xfrm>
            <a:off x="457200" y="2606040"/>
            <a:ext cx="566928" cy="566928"/>
          </a:xfrm>
          <a:prstGeom prst="ellipse">
            <a:avLst/>
          </a:prstGeom>
          <a:solidFill>
            <a:srgbClr val="0F766E"/>
          </a:solidFill>
          <a:ln w="12700">
            <a:solidFill>
              <a:srgbClr val="0F766E"/>
            </a:solidFill>
            <a:prstDash val="solid"/>
          </a:ln>
        </p:spPr>
      </p:sp>
      <p:sp>
        <p:nvSpPr>
          <p:cNvPr id="5" name="Text 3"/>
          <p:cNvSpPr txBox="1"/>
          <p:nvPr/>
        </p:nvSpPr>
        <p:spPr>
          <a:xfrm>
            <a:off x="457200" y="26060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Satu alur, 7 peran"/>
          <p:cNvSpPr txBox="1"/>
          <p:nvPr/>
        </p:nvSpPr>
        <p:spPr>
          <a:xfrm>
            <a:off x="1188720" y="2532888"/>
            <a:ext cx="4937760" cy="777240"/>
          </a:xfrm>
          <a:prstGeom prst="rect">
            <a:avLst/>
          </a:prstGeom>
          <a:noFill/>
          <a:ln/>
        </p:spPr>
        <p:txBody>
          <a:bodyPr wrap="square" lIns="0" tIns="0" rIns="0" bIns="0" rtlCol="0" anchor="t"/>
          <a:lstStyle/>
          <a:p>
            <a:pPr indent="0" marL="0">
              <a:buNone/>
            </a:pPr>
            <a:r>
              <a:rPr lang="en-US" sz="1600" b="1" dirty="0">
                <a:solidFill>
                  <a:srgbClr val="1B2437"/>
                </a:solidFill>
              </a:rPr>
              <a:t>Satu alur, 7 peran</a:t>
            </a:r>
            <a:endParaRPr lang="en-US" sz="1600" dirty="0"/>
          </a:p>
          <a:p>
            <a:pPr indent="0" marL="0">
              <a:buNone/>
            </a:pPr>
            <a:r>
              <a:rPr lang="en-US" sz="1400" dirty="0">
                <a:solidFill>
                  <a:srgbClr val="5B6B86"/>
                </a:solidFill>
              </a:rPr>
              <a:t>Dari admin kapal sampai kasir. Tiap peran hanya melihat tugasnya; lonceng menunjukkan yang menunggu.</a:t>
            </a:r>
            <a:endParaRPr lang="en-US" sz="1600" dirty="0"/>
          </a:p>
        </p:txBody>
      </p:sp>
      <p:sp>
        <p:nvSpPr>
          <p:cNvPr id="7" name="Ikon Langsung ke SAP"/>
          <p:cNvSpPr/>
          <p:nvPr/>
        </p:nvSpPr>
        <p:spPr>
          <a:xfrm>
            <a:off x="457200" y="3520440"/>
            <a:ext cx="566928" cy="566928"/>
          </a:xfrm>
          <a:prstGeom prst="ellipse">
            <a:avLst/>
          </a:prstGeom>
          <a:solidFill>
            <a:srgbClr val="3A7D3A"/>
          </a:solidFill>
          <a:ln w="12700">
            <a:solidFill>
              <a:srgbClr val="3A7D3A"/>
            </a:solidFill>
            <a:prstDash val="solid"/>
          </a:ln>
        </p:spPr>
      </p:sp>
      <p:sp>
        <p:nvSpPr>
          <p:cNvPr id="8" name="Text 6"/>
          <p:cNvSpPr txBox="1"/>
          <p:nvPr/>
        </p:nvSpPr>
        <p:spPr>
          <a:xfrm>
            <a:off x="457200" y="35204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Langsung ke SAP"/>
          <p:cNvSpPr txBox="1"/>
          <p:nvPr/>
        </p:nvSpPr>
        <p:spPr>
          <a:xfrm>
            <a:off x="1188720" y="3447288"/>
            <a:ext cx="4937760" cy="777240"/>
          </a:xfrm>
          <a:prstGeom prst="rect">
            <a:avLst/>
          </a:prstGeom>
          <a:noFill/>
          <a:ln/>
        </p:spPr>
        <p:txBody>
          <a:bodyPr wrap="square" lIns="0" tIns="0" rIns="0" bIns="0" rtlCol="0" anchor="t"/>
          <a:lstStyle/>
          <a:p>
            <a:pPr indent="0" marL="0">
              <a:buNone/>
            </a:pPr>
            <a:r>
              <a:rPr lang="en-US" sz="1600" b="1" dirty="0">
                <a:solidFill>
                  <a:srgbClr val="1B2437"/>
                </a:solidFill>
              </a:rPr>
              <a:t>Langsung ke SAP</a:t>
            </a:r>
            <a:endParaRPr lang="en-US" sz="1600" dirty="0"/>
          </a:p>
          <a:p>
            <a:pPr indent="0" marL="0">
              <a:buNone/>
            </a:pPr>
            <a:r>
              <a:rPr lang="en-US" sz="1400" dirty="0">
                <a:solidFill>
                  <a:srgbClr val="5B6B86"/>
                </a:solidFill>
              </a:rPr>
              <a:t>Sales Order, PUR, PO, GRPO, Inventory Transfer, dan DO dibuat otomatis setelah disetujui.</a:t>
            </a:r>
            <a:endParaRPr lang="en-US" sz="1600" dirty="0"/>
          </a:p>
        </p:txBody>
      </p:sp>
      <p:sp>
        <p:nvSpPr>
          <p:cNvPr id="10" name="Ikon Bisa dipantau"/>
          <p:cNvSpPr/>
          <p:nvPr/>
        </p:nvSpPr>
        <p:spPr>
          <a:xfrm>
            <a:off x="457200" y="4434840"/>
            <a:ext cx="566928" cy="566928"/>
          </a:xfrm>
          <a:prstGeom prst="ellipse">
            <a:avLst/>
          </a:prstGeom>
          <a:solidFill>
            <a:srgbClr val="2563EB"/>
          </a:solidFill>
          <a:ln w="12700">
            <a:solidFill>
              <a:srgbClr val="2563EB"/>
            </a:solidFill>
            <a:prstDash val="solid"/>
          </a:ln>
        </p:spPr>
      </p:sp>
      <p:sp>
        <p:nvSpPr>
          <p:cNvPr id="11" name="Text 9"/>
          <p:cNvSpPr txBox="1"/>
          <p:nvPr/>
        </p:nvSpPr>
        <p:spPr>
          <a:xfrm>
            <a:off x="457200" y="44348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2" name="Bisa dipantau"/>
          <p:cNvSpPr txBox="1"/>
          <p:nvPr/>
        </p:nvSpPr>
        <p:spPr>
          <a:xfrm>
            <a:off x="1188720" y="4361688"/>
            <a:ext cx="4937760" cy="777240"/>
          </a:xfrm>
          <a:prstGeom prst="rect">
            <a:avLst/>
          </a:prstGeom>
          <a:noFill/>
          <a:ln/>
        </p:spPr>
        <p:txBody>
          <a:bodyPr wrap="square" lIns="0" tIns="0" rIns="0" bIns="0" rtlCol="0" anchor="t"/>
          <a:lstStyle/>
          <a:p>
            <a:pPr indent="0" marL="0">
              <a:buNone/>
            </a:pPr>
            <a:r>
              <a:rPr lang="en-US" sz="1600" b="1" dirty="0">
                <a:solidFill>
                  <a:srgbClr val="1B2437"/>
                </a:solidFill>
              </a:rPr>
              <a:t>Bisa dipantau</a:t>
            </a:r>
            <a:endParaRPr lang="en-US" sz="1600" dirty="0"/>
          </a:p>
          <a:p>
            <a:pPr indent="0" marL="0">
              <a:buNone/>
            </a:pPr>
            <a:r>
              <a:rPr lang="en-US" sz="1400" dirty="0">
                <a:solidFill>
                  <a:srgbClr val="5B6B86"/>
                </a:solidFill>
              </a:rPr>
              <a:t>Status setiap permintaan terlihat per tahap, lengkap dengan riwayat persetujuannya.</a:t>
            </a:r>
            <a:endParaRPr lang="en-US" sz="1600" dirty="0"/>
          </a:p>
        </p:txBody>
      </p:sp>
      <p:sp>
        <p:nvSpPr>
          <p:cNvPr id="13" name="Ikon Kasir di web dan HP"/>
          <p:cNvSpPr/>
          <p:nvPr/>
        </p:nvSpPr>
        <p:spPr>
          <a:xfrm>
            <a:off x="457200" y="5349240"/>
            <a:ext cx="566928" cy="566928"/>
          </a:xfrm>
          <a:prstGeom prst="ellipse">
            <a:avLst/>
          </a:prstGeom>
          <a:solidFill>
            <a:srgbClr val="FF6B1A"/>
          </a:solidFill>
          <a:ln w="12700">
            <a:solidFill>
              <a:srgbClr val="FF6B1A"/>
            </a:solidFill>
            <a:prstDash val="solid"/>
          </a:ln>
        </p:spPr>
      </p:sp>
      <p:sp>
        <p:nvSpPr>
          <p:cNvPr id="14" name="Text 12"/>
          <p:cNvSpPr txBox="1"/>
          <p:nvPr/>
        </p:nvSpPr>
        <p:spPr>
          <a:xfrm>
            <a:off x="457200" y="53492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5" name="Kasir di web dan HP"/>
          <p:cNvSpPr txBox="1"/>
          <p:nvPr/>
        </p:nvSpPr>
        <p:spPr>
          <a:xfrm>
            <a:off x="1188720" y="5276088"/>
            <a:ext cx="4937760" cy="777240"/>
          </a:xfrm>
          <a:prstGeom prst="rect">
            <a:avLst/>
          </a:prstGeom>
          <a:noFill/>
          <a:ln/>
        </p:spPr>
        <p:txBody>
          <a:bodyPr wrap="square" lIns="0" tIns="0" rIns="0" bIns="0" rtlCol="0" anchor="t"/>
          <a:lstStyle/>
          <a:p>
            <a:pPr indent="0" marL="0">
              <a:buNone/>
            </a:pPr>
            <a:r>
              <a:rPr lang="en-US" sz="1600" b="1" dirty="0">
                <a:solidFill>
                  <a:srgbClr val="1B2437"/>
                </a:solidFill>
              </a:rPr>
              <a:t>Kasir di web dan HP</a:t>
            </a:r>
            <a:endParaRPr lang="en-US" sz="1600" dirty="0"/>
          </a:p>
          <a:p>
            <a:pPr indent="0" marL="0">
              <a:buNone/>
            </a:pPr>
            <a:r>
              <a:rPr lang="en-US" sz="1400" dirty="0">
                <a:solidFill>
                  <a:srgbClr val="5B6B86"/>
                </a:solidFill>
              </a:rPr>
              <a:t>Scan barang, bayar tunai atau QRIS, cetak struk, dan Kirim DO hari ini dari dek.</a:t>
            </a:r>
            <a:endParaRPr lang="en-US" sz="1600" dirty="0"/>
          </a:p>
        </p:txBody>
      </p:sp>
      <p:sp>
        <p:nvSpPr>
          <p:cNvPr id="16" name="Beranda admin kapal bingkai"/>
          <p:cNvSpPr/>
          <p:nvPr/>
        </p:nvSpPr>
        <p:spPr>
          <a:xfrm>
            <a:off x="6345936" y="1266531"/>
            <a:ext cx="5047488" cy="2953338"/>
          </a:xfrm>
          <a:prstGeom prst="roundRect">
            <a:avLst>
              <a:gd name="adj" fmla="val 2477"/>
            </a:avLst>
          </a:prstGeom>
          <a:solidFill>
            <a:srgbClr val="FFFFFF"/>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7" name="Beranda admin kapal" descr="Gambar layar PID POS (Beranda admin kapal)">    </p:cNvPr>
          <p:cNvPicPr>
            <a:picLocks noChangeAspect="1"/>
          </p:cNvPicPr>
          <p:nvPr/>
        </p:nvPicPr>
        <p:blipFill>
          <a:blip r:embed="rId1"/>
          <a:stretch>
            <a:fillRect/>
          </a:stretch>
        </p:blipFill>
        <p:spPr>
          <a:xfrm>
            <a:off x="6400800" y="1321395"/>
            <a:ext cx="4937760" cy="2843610"/>
          </a:xfrm>
          <a:prstGeom prst="rect">
            <a:avLst/>
          </a:prstGeom>
        </p:spPr>
      </p:pic>
      <p:sp>
        <p:nvSpPr>
          <p:cNvPr id="18" name="Layar kasir bingkai"/>
          <p:cNvSpPr/>
          <p:nvPr/>
        </p:nvSpPr>
        <p:spPr>
          <a:xfrm>
            <a:off x="7946136" y="3630416"/>
            <a:ext cx="3840480" cy="2294649"/>
          </a:xfrm>
          <a:prstGeom prst="roundRect">
            <a:avLst>
              <a:gd name="adj" fmla="val 3188"/>
            </a:avLst>
          </a:prstGeom>
          <a:solidFill>
            <a:srgbClr val="FFFFFF"/>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9" name="Layar kasir" descr="Gambar layar PID POS (Layar kasir)">    </p:cNvPr>
          <p:cNvPicPr>
            <a:picLocks noChangeAspect="1"/>
          </p:cNvPicPr>
          <p:nvPr/>
        </p:nvPicPr>
        <p:blipFill>
          <a:blip r:embed="rId2"/>
          <a:stretch>
            <a:fillRect/>
          </a:stretch>
        </p:blipFill>
        <p:spPr>
          <a:xfrm>
            <a:off x="8001000" y="3685280"/>
            <a:ext cx="3730752" cy="2184921"/>
          </a:xfrm>
          <a:prstGeom prst="rect">
            <a:avLst/>
          </a:prstGeom>
        </p:spPr>
      </p:pic>
      <p:sp>
        <p:nvSpPr>
          <p:cNvPr id="20" name="Text 16"/>
          <p:cNvSpPr txBox="1"/>
          <p:nvPr/>
        </p:nvSpPr>
        <p:spPr>
          <a:xfrm>
            <a:off x="6400800" y="4279392"/>
            <a:ext cx="1508760" cy="457200"/>
          </a:xfrm>
          <a:prstGeom prst="rect">
            <a:avLst/>
          </a:prstGeom>
          <a:noFill/>
          <a:ln/>
        </p:spPr>
        <p:txBody>
          <a:bodyPr wrap="square" lIns="0" tIns="0" rIns="0" bIns="0" rtlCol="0" anchor="ctr"/>
          <a:lstStyle/>
          <a:p>
            <a:pPr indent="0" marL="0">
              <a:buNone/>
            </a:pPr>
            <a:r>
              <a:rPr lang="en-US" sz="1100" dirty="0">
                <a:solidFill>
                  <a:schemeClr val="accent5"/>
                </a:solidFill>
              </a:rPr>
              <a:t>Beranda admin kapal</a:t>
            </a:r>
            <a:endParaRPr lang="en-US" sz="1100" dirty="0"/>
          </a:p>
        </p:txBody>
      </p:sp>
      <p:sp>
        <p:nvSpPr>
          <p:cNvPr id="21" name="Text 17"/>
          <p:cNvSpPr txBox="1"/>
          <p:nvPr/>
        </p:nvSpPr>
        <p:spPr>
          <a:xfrm>
            <a:off x="8001000" y="5989320"/>
            <a:ext cx="3730752" cy="274320"/>
          </a:xfrm>
          <a:prstGeom prst="rect">
            <a:avLst/>
          </a:prstGeom>
          <a:noFill/>
          <a:ln/>
        </p:spPr>
        <p:txBody>
          <a:bodyPr wrap="square" lIns="0" tIns="0" rIns="0" bIns="0" rtlCol="0" anchor="ctr"/>
          <a:lstStyle/>
          <a:p>
            <a:pPr algn="r" indent="0" marL="0">
              <a:buNone/>
            </a:pPr>
            <a:r>
              <a:rPr lang="en-US" sz="1100" dirty="0">
                <a:solidFill>
                  <a:schemeClr val="accent5"/>
                </a:solidFill>
              </a:rPr>
              <a:t>Layar kasir</a:t>
            </a:r>
            <a:endParaRPr lang="en-US" sz="11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Alur besar: 9 tahap dari pesan sampai DO</a:t>
            </a:r>
            <a:endParaRPr lang="en-US" sz="3400" dirty="0"/>
          </a:p>
        </p:txBody>
      </p:sp>
      <p:sp>
        <p:nvSpPr>
          <p:cNvPr id="3" name="Text 1"/>
          <p:cNvSpPr txBox="1"/>
          <p:nvPr/>
        </p:nvSpPr>
        <p:spPr>
          <a:xfrm>
            <a:off x="457200" y="1097280"/>
            <a:ext cx="11247120" cy="365760"/>
          </a:xfrm>
          <a:prstGeom prst="rect">
            <a:avLst/>
          </a:prstGeom>
          <a:noFill/>
          <a:ln/>
        </p:spPr>
        <p:txBody>
          <a:bodyPr wrap="square" lIns="0" tIns="0" rIns="0" bIns="0" rtlCol="0" anchor="ctr"/>
          <a:lstStyle/>
          <a:p>
            <a:pPr indent="0" marL="0">
              <a:buNone/>
            </a:pPr>
            <a:r>
              <a:rPr lang="en-US" sz="1500" dirty="0">
                <a:solidFill>
                  <a:schemeClr val="accent5"/>
                </a:solidFill>
              </a:rPr>
              <a:t>Jalur atas selalu dijalani. Jalur bawah hanya bila stok DC kurang. Label hijau = dokumen SAP yang terbentuk.</a:t>
            </a:r>
            <a:endParaRPr lang="en-US" sz="1500" dirty="0"/>
          </a:p>
        </p:txBody>
      </p:sp>
      <p:sp>
        <p:nvSpPr>
          <p:cNvPr id="4" name="Panah 1"/>
          <p:cNvSpPr/>
          <p:nvPr/>
        </p:nvSpPr>
        <p:spPr>
          <a:xfrm>
            <a:off x="2011680" y="2423160"/>
            <a:ext cx="320040" cy="914"/>
          </a:xfrm>
          <a:prstGeom prst="line">
            <a:avLst/>
          </a:prstGeom>
          <a:noFill/>
          <a:ln w="25400">
            <a:solidFill>
              <a:srgbClr val="1F3B7A"/>
            </a:solidFill>
            <a:prstDash val="solid"/>
            <a:tailEnd type="triangle"/>
          </a:ln>
        </p:spPr>
      </p:sp>
      <p:sp>
        <p:nvSpPr>
          <p:cNvPr id="5" name="Panah 2"/>
          <p:cNvSpPr/>
          <p:nvPr/>
        </p:nvSpPr>
        <p:spPr>
          <a:xfrm>
            <a:off x="3886200" y="2423160"/>
            <a:ext cx="320040" cy="914"/>
          </a:xfrm>
          <a:prstGeom prst="line">
            <a:avLst/>
          </a:prstGeom>
          <a:noFill/>
          <a:ln w="25400">
            <a:solidFill>
              <a:srgbClr val="1F3B7A"/>
            </a:solidFill>
            <a:prstDash val="solid"/>
            <a:tailEnd type="triangle"/>
          </a:ln>
        </p:spPr>
      </p:sp>
      <p:sp>
        <p:nvSpPr>
          <p:cNvPr id="6" name="Panah 3"/>
          <p:cNvSpPr/>
          <p:nvPr/>
        </p:nvSpPr>
        <p:spPr>
          <a:xfrm>
            <a:off x="5760720" y="2423160"/>
            <a:ext cx="960120" cy="914"/>
          </a:xfrm>
          <a:prstGeom prst="line">
            <a:avLst/>
          </a:prstGeom>
          <a:noFill/>
          <a:ln w="25400">
            <a:solidFill>
              <a:srgbClr val="1F3B7A"/>
            </a:solidFill>
            <a:prstDash val="solid"/>
            <a:tailEnd type="triangle"/>
          </a:ln>
        </p:spPr>
      </p:sp>
      <p:sp>
        <p:nvSpPr>
          <p:cNvPr id="7" name="Panah 4"/>
          <p:cNvSpPr/>
          <p:nvPr/>
        </p:nvSpPr>
        <p:spPr>
          <a:xfrm>
            <a:off x="8275320" y="2423160"/>
            <a:ext cx="320040" cy="914"/>
          </a:xfrm>
          <a:prstGeom prst="line">
            <a:avLst/>
          </a:prstGeom>
          <a:noFill/>
          <a:ln w="25400">
            <a:solidFill>
              <a:srgbClr val="1F3B7A"/>
            </a:solidFill>
            <a:prstDash val="solid"/>
            <a:tailEnd type="triangle"/>
          </a:ln>
        </p:spPr>
      </p:sp>
      <p:sp>
        <p:nvSpPr>
          <p:cNvPr id="8" name="Panah 5"/>
          <p:cNvSpPr/>
          <p:nvPr/>
        </p:nvSpPr>
        <p:spPr>
          <a:xfrm>
            <a:off x="10149840" y="2423160"/>
            <a:ext cx="320040" cy="914"/>
          </a:xfrm>
          <a:prstGeom prst="line">
            <a:avLst/>
          </a:prstGeom>
          <a:noFill/>
          <a:ln w="25400">
            <a:solidFill>
              <a:srgbClr val="1F3B7A"/>
            </a:solidFill>
            <a:prstDash val="solid"/>
            <a:tailEnd type="triangle"/>
          </a:ln>
        </p:spPr>
      </p:sp>
      <p:sp>
        <p:nvSpPr>
          <p:cNvPr id="9" name="Panah 6"/>
          <p:cNvSpPr/>
          <p:nvPr/>
        </p:nvSpPr>
        <p:spPr>
          <a:xfrm>
            <a:off x="4983480" y="3017520"/>
            <a:ext cx="914" cy="960120"/>
          </a:xfrm>
          <a:prstGeom prst="line">
            <a:avLst/>
          </a:prstGeom>
          <a:noFill/>
          <a:ln w="25400">
            <a:solidFill>
              <a:srgbClr val="1F3B7A"/>
            </a:solidFill>
            <a:prstDash val="solid"/>
            <a:tailEnd type="triangle"/>
          </a:ln>
        </p:spPr>
      </p:sp>
      <p:sp>
        <p:nvSpPr>
          <p:cNvPr id="10" name="Panah 7"/>
          <p:cNvSpPr/>
          <p:nvPr/>
        </p:nvSpPr>
        <p:spPr>
          <a:xfrm>
            <a:off x="5760720" y="4572000"/>
            <a:ext cx="137160" cy="914"/>
          </a:xfrm>
          <a:prstGeom prst="line">
            <a:avLst/>
          </a:prstGeom>
          <a:noFill/>
          <a:ln w="25400">
            <a:solidFill>
              <a:srgbClr val="1F3B7A"/>
            </a:solidFill>
            <a:prstDash val="solid"/>
            <a:tailEnd type="triangle"/>
          </a:ln>
        </p:spPr>
      </p:sp>
      <p:sp>
        <p:nvSpPr>
          <p:cNvPr id="11" name="Panah 8"/>
          <p:cNvSpPr/>
          <p:nvPr/>
        </p:nvSpPr>
        <p:spPr>
          <a:xfrm>
            <a:off x="7452360" y="4572000"/>
            <a:ext cx="137160" cy="914"/>
          </a:xfrm>
          <a:prstGeom prst="line">
            <a:avLst/>
          </a:prstGeom>
          <a:noFill/>
          <a:ln w="25400">
            <a:solidFill>
              <a:srgbClr val="1F3B7A"/>
            </a:solidFill>
            <a:prstDash val="solid"/>
            <a:tailEnd type="triangle"/>
          </a:ln>
        </p:spPr>
      </p:sp>
      <p:sp>
        <p:nvSpPr>
          <p:cNvPr id="12" name="Panah 9"/>
          <p:cNvSpPr/>
          <p:nvPr/>
        </p:nvSpPr>
        <p:spPr>
          <a:xfrm flipV="1">
            <a:off x="7498080" y="3017520"/>
            <a:ext cx="868680" cy="960120"/>
          </a:xfrm>
          <a:prstGeom prst="line">
            <a:avLst/>
          </a:prstGeom>
          <a:noFill/>
          <a:ln w="25400">
            <a:solidFill>
              <a:srgbClr val="1F3B7A"/>
            </a:solidFill>
            <a:prstDash val="solid"/>
            <a:tailEnd type="triangle"/>
          </a:ln>
        </p:spPr>
      </p:sp>
      <p:sp>
        <p:nvSpPr>
          <p:cNvPr id="13" name="Text 11"/>
          <p:cNvSpPr txBox="1"/>
          <p:nvPr/>
        </p:nvSpPr>
        <p:spPr>
          <a:xfrm>
            <a:off x="5760720" y="2103120"/>
            <a:ext cx="960120" cy="274320"/>
          </a:xfrm>
          <a:prstGeom prst="rect">
            <a:avLst/>
          </a:prstGeom>
          <a:noFill/>
          <a:ln/>
        </p:spPr>
        <p:txBody>
          <a:bodyPr wrap="square" lIns="0" tIns="0" rIns="0" bIns="0" rtlCol="0" anchor="ctr"/>
          <a:lstStyle/>
          <a:p>
            <a:pPr algn="ctr" indent="0" marL="0">
              <a:buNone/>
            </a:pPr>
            <a:r>
              <a:rPr lang="en-US" sz="1100" dirty="0">
                <a:solidFill>
                  <a:schemeClr val="accent5"/>
                </a:solidFill>
              </a:rPr>
              <a:t>stok DC ada</a:t>
            </a:r>
            <a:endParaRPr lang="en-US" sz="1100" dirty="0"/>
          </a:p>
        </p:txBody>
      </p:sp>
      <p:sp>
        <p:nvSpPr>
          <p:cNvPr id="14" name="Text 12"/>
          <p:cNvSpPr txBox="1"/>
          <p:nvPr/>
        </p:nvSpPr>
        <p:spPr>
          <a:xfrm>
            <a:off x="2971800" y="3291840"/>
            <a:ext cx="1920240" cy="274320"/>
          </a:xfrm>
          <a:prstGeom prst="rect">
            <a:avLst/>
          </a:prstGeom>
          <a:noFill/>
          <a:ln/>
        </p:spPr>
        <p:txBody>
          <a:bodyPr wrap="square" lIns="0" tIns="0" rIns="0" bIns="0" rtlCol="0" anchor="ctr"/>
          <a:lstStyle/>
          <a:p>
            <a:pPr algn="r" indent="0" marL="0">
              <a:buNone/>
            </a:pPr>
            <a:r>
              <a:rPr lang="en-US" sz="1100" dirty="0">
                <a:solidFill>
                  <a:schemeClr val="accent5"/>
                </a:solidFill>
              </a:rPr>
              <a:t>stok DC kurang</a:t>
            </a:r>
            <a:endParaRPr lang="en-US" sz="1100" dirty="0"/>
          </a:p>
        </p:txBody>
      </p:sp>
      <p:sp>
        <p:nvSpPr>
          <p:cNvPr id="15" name="Tahap Pesan barang"/>
          <p:cNvSpPr/>
          <p:nvPr/>
        </p:nvSpPr>
        <p:spPr>
          <a:xfrm>
            <a:off x="457200" y="182880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16" name="Text 14"/>
          <p:cNvSpPr txBox="1"/>
          <p:nvPr/>
        </p:nvSpPr>
        <p:spPr>
          <a:xfrm>
            <a:off x="566928" y="190195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1</a:t>
            </a:r>
            <a:endParaRPr lang="en-US" sz="1100" dirty="0"/>
          </a:p>
          <a:p>
            <a:pPr indent="0" marL="0">
              <a:buNone/>
            </a:pPr>
            <a:r>
              <a:rPr lang="en-US" sz="1500" b="1" dirty="0">
                <a:solidFill>
                  <a:srgbClr val="1B2437"/>
                </a:solidFill>
              </a:rPr>
              <a:t>Pesan barang</a:t>
            </a:r>
            <a:endParaRPr lang="en-US" sz="1100" dirty="0"/>
          </a:p>
          <a:p>
            <a:pPr indent="0" marL="0">
              <a:buNone/>
            </a:pPr>
            <a:r>
              <a:rPr lang="en-US" sz="1050" dirty="0">
                <a:solidFill>
                  <a:srgbClr val="5B6B86"/>
                </a:solidFill>
              </a:rPr>
              <a:t>Admin kapal</a:t>
            </a:r>
            <a:endParaRPr lang="en-US" sz="1100" dirty="0"/>
          </a:p>
        </p:txBody>
      </p:sp>
      <p:sp>
        <p:nvSpPr>
          <p:cNvPr id="17" name="Tahap Approval SO"/>
          <p:cNvSpPr/>
          <p:nvPr/>
        </p:nvSpPr>
        <p:spPr>
          <a:xfrm>
            <a:off x="2331720" y="1828800"/>
            <a:ext cx="1554480" cy="1188720"/>
          </a:xfrm>
          <a:prstGeom prst="roundRect">
            <a:avLst>
              <a:gd name="adj" fmla="val 7692"/>
            </a:avLst>
          </a:prstGeom>
          <a:solidFill>
            <a:srgbClr val="FFFFFF"/>
          </a:solidFill>
          <a:ln w="28575">
            <a:solidFill>
              <a:srgbClr val="6D28D9"/>
            </a:solidFill>
            <a:prstDash val="solid"/>
          </a:ln>
          <a:effectLst>
            <a:outerShdw sx="100000" sy="100000" kx="0" ky="0" algn="bl" rotWithShape="0" blurRad="76200" dist="25400" dir="5400000">
              <a:srgbClr val="1F3B7A">
                <a:alpha val="15000"/>
              </a:srgbClr>
            </a:outerShdw>
          </a:effectLst>
        </p:spPr>
      </p:sp>
      <p:sp>
        <p:nvSpPr>
          <p:cNvPr id="18" name="Text 16"/>
          <p:cNvSpPr txBox="1"/>
          <p:nvPr/>
        </p:nvSpPr>
        <p:spPr>
          <a:xfrm>
            <a:off x="2441448" y="1901952"/>
            <a:ext cx="1335024" cy="1042416"/>
          </a:xfrm>
          <a:prstGeom prst="rect">
            <a:avLst/>
          </a:prstGeom>
          <a:noFill/>
          <a:ln/>
        </p:spPr>
        <p:txBody>
          <a:bodyPr wrap="square" lIns="0" tIns="0" rIns="0" bIns="0" rtlCol="0" anchor="t"/>
          <a:lstStyle/>
          <a:p>
            <a:pPr indent="0" marL="0">
              <a:buNone/>
            </a:pPr>
            <a:r>
              <a:rPr lang="en-US" sz="1100" b="1" dirty="0">
                <a:solidFill>
                  <a:srgbClr val="6D28D9"/>
                </a:solidFill>
              </a:rPr>
              <a:t>Tahap 2</a:t>
            </a:r>
            <a:endParaRPr lang="en-US" sz="1100" dirty="0"/>
          </a:p>
          <a:p>
            <a:pPr indent="0" marL="0">
              <a:buNone/>
            </a:pPr>
            <a:r>
              <a:rPr lang="en-US" sz="1500" b="1" dirty="0">
                <a:solidFill>
                  <a:srgbClr val="1B2437"/>
                </a:solidFill>
              </a:rPr>
              <a:t>Approval SO</a:t>
            </a:r>
            <a:endParaRPr lang="en-US" sz="1100" dirty="0"/>
          </a:p>
          <a:p>
            <a:pPr indent="0" marL="0">
              <a:buNone/>
            </a:pPr>
            <a:r>
              <a:rPr lang="en-US" sz="1050" dirty="0">
                <a:solidFill>
                  <a:srgbClr val="5B6B86"/>
                </a:solidFill>
              </a:rPr>
              <a:t>Approve SO</a:t>
            </a:r>
            <a:endParaRPr lang="en-US" sz="1100" dirty="0"/>
          </a:p>
        </p:txBody>
      </p:sp>
      <p:sp>
        <p:nvSpPr>
          <p:cNvPr id="19" name="Text 17"/>
          <p:cNvSpPr txBox="1"/>
          <p:nvPr/>
        </p:nvSpPr>
        <p:spPr>
          <a:xfrm>
            <a:off x="228600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Sales Order</a:t>
            </a:r>
            <a:endParaRPr lang="en-US" sz="1050" dirty="0"/>
          </a:p>
        </p:txBody>
      </p:sp>
      <p:sp>
        <p:nvSpPr>
          <p:cNvPr id="20" name="Tahap Pilah stok DC"/>
          <p:cNvSpPr/>
          <p:nvPr/>
        </p:nvSpPr>
        <p:spPr>
          <a:xfrm>
            <a:off x="4206240" y="182880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1" name="Text 19"/>
          <p:cNvSpPr txBox="1"/>
          <p:nvPr/>
        </p:nvSpPr>
        <p:spPr>
          <a:xfrm>
            <a:off x="4315968" y="190195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3</a:t>
            </a:r>
            <a:endParaRPr lang="en-US" sz="1100" dirty="0"/>
          </a:p>
          <a:p>
            <a:pPr indent="0" marL="0">
              <a:buNone/>
            </a:pPr>
            <a:r>
              <a:rPr lang="en-US" sz="1500" b="1" dirty="0">
                <a:solidFill>
                  <a:srgbClr val="1B2437"/>
                </a:solidFill>
              </a:rPr>
              <a:t>Pilah stok DC</a:t>
            </a:r>
            <a:endParaRPr lang="en-US" sz="1100" dirty="0"/>
          </a:p>
          <a:p>
            <a:pPr indent="0" marL="0">
              <a:buNone/>
            </a:pPr>
            <a:r>
              <a:rPr lang="en-US" sz="1050" dirty="0">
                <a:solidFill>
                  <a:srgbClr val="5B6B86"/>
                </a:solidFill>
              </a:rPr>
              <a:t>Admin DC</a:t>
            </a:r>
            <a:endParaRPr lang="en-US" sz="1100" dirty="0"/>
          </a:p>
        </p:txBody>
      </p:sp>
      <p:sp>
        <p:nvSpPr>
          <p:cNvPr id="22" name="Tahap PUR"/>
          <p:cNvSpPr/>
          <p:nvPr/>
        </p:nvSpPr>
        <p:spPr>
          <a:xfrm>
            <a:off x="4206240" y="3977640"/>
            <a:ext cx="1554480" cy="1188720"/>
          </a:xfrm>
          <a:prstGeom prst="roundRect">
            <a:avLst>
              <a:gd name="adj" fmla="val 7692"/>
            </a:avLst>
          </a:prstGeom>
          <a:solidFill>
            <a:srgbClr val="FFFFFF"/>
          </a:solidFill>
          <a:ln w="28575">
            <a:solidFill>
              <a:srgbClr val="BE185D"/>
            </a:solidFill>
            <a:prstDash val="solid"/>
          </a:ln>
          <a:effectLst>
            <a:outerShdw sx="100000" sy="100000" kx="0" ky="0" algn="bl" rotWithShape="0" blurRad="76200" dist="25400" dir="5400000">
              <a:srgbClr val="1F3B7A">
                <a:alpha val="15000"/>
              </a:srgbClr>
            </a:outerShdw>
          </a:effectLst>
        </p:spPr>
      </p:sp>
      <p:sp>
        <p:nvSpPr>
          <p:cNvPr id="23" name="Text 21"/>
          <p:cNvSpPr txBox="1"/>
          <p:nvPr/>
        </p:nvSpPr>
        <p:spPr>
          <a:xfrm>
            <a:off x="4315968" y="4050792"/>
            <a:ext cx="1335024" cy="1042416"/>
          </a:xfrm>
          <a:prstGeom prst="rect">
            <a:avLst/>
          </a:prstGeom>
          <a:noFill/>
          <a:ln/>
        </p:spPr>
        <p:txBody>
          <a:bodyPr wrap="square" lIns="0" tIns="0" rIns="0" bIns="0" rtlCol="0" anchor="t"/>
          <a:lstStyle/>
          <a:p>
            <a:pPr indent="0" marL="0">
              <a:buNone/>
            </a:pPr>
            <a:r>
              <a:rPr lang="en-US" sz="1100" b="1" dirty="0">
                <a:solidFill>
                  <a:srgbClr val="BE185D"/>
                </a:solidFill>
              </a:rPr>
              <a:t>Tahap 4</a:t>
            </a:r>
            <a:endParaRPr lang="en-US" sz="1100" dirty="0"/>
          </a:p>
          <a:p>
            <a:pPr indent="0" marL="0">
              <a:buNone/>
            </a:pPr>
            <a:r>
              <a:rPr lang="en-US" sz="1500" b="1" dirty="0">
                <a:solidFill>
                  <a:srgbClr val="1B2437"/>
                </a:solidFill>
              </a:rPr>
              <a:t>PUR</a:t>
            </a:r>
            <a:endParaRPr lang="en-US" sz="1100" dirty="0"/>
          </a:p>
          <a:p>
            <a:pPr indent="0" marL="0">
              <a:buNone/>
            </a:pPr>
            <a:r>
              <a:rPr lang="en-US" sz="1050" dirty="0">
                <a:solidFill>
                  <a:srgbClr val="5B6B86"/>
                </a:solidFill>
              </a:rPr>
              <a:t>Approve PUR</a:t>
            </a:r>
            <a:endParaRPr lang="en-US" sz="1100" dirty="0"/>
          </a:p>
        </p:txBody>
      </p:sp>
      <p:sp>
        <p:nvSpPr>
          <p:cNvPr id="24" name="Text 22"/>
          <p:cNvSpPr txBox="1"/>
          <p:nvPr/>
        </p:nvSpPr>
        <p:spPr>
          <a:xfrm>
            <a:off x="416052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Request</a:t>
            </a:r>
            <a:endParaRPr lang="en-US" sz="1050" dirty="0"/>
          </a:p>
        </p:txBody>
      </p:sp>
      <p:sp>
        <p:nvSpPr>
          <p:cNvPr id="25" name="Tahap PO"/>
          <p:cNvSpPr/>
          <p:nvPr/>
        </p:nvSpPr>
        <p:spPr>
          <a:xfrm>
            <a:off x="5897880" y="3977640"/>
            <a:ext cx="1554480" cy="1188720"/>
          </a:xfrm>
          <a:prstGeom prst="roundRect">
            <a:avLst>
              <a:gd name="adj" fmla="val 7692"/>
            </a:avLst>
          </a:prstGeom>
          <a:solidFill>
            <a:srgbClr val="FFFFFF"/>
          </a:solidFill>
          <a:ln w="28575">
            <a:solidFill>
              <a:srgbClr val="2563EB"/>
            </a:solidFill>
            <a:prstDash val="solid"/>
          </a:ln>
          <a:effectLst>
            <a:outerShdw sx="100000" sy="100000" kx="0" ky="0" algn="bl" rotWithShape="0" blurRad="76200" dist="25400" dir="5400000">
              <a:srgbClr val="1F3B7A">
                <a:alpha val="15000"/>
              </a:srgbClr>
            </a:outerShdw>
          </a:effectLst>
        </p:spPr>
      </p:sp>
      <p:sp>
        <p:nvSpPr>
          <p:cNvPr id="26" name="Text 24"/>
          <p:cNvSpPr txBox="1"/>
          <p:nvPr/>
        </p:nvSpPr>
        <p:spPr>
          <a:xfrm>
            <a:off x="6007608" y="4050792"/>
            <a:ext cx="1335024" cy="1042416"/>
          </a:xfrm>
          <a:prstGeom prst="rect">
            <a:avLst/>
          </a:prstGeom>
          <a:noFill/>
          <a:ln/>
        </p:spPr>
        <p:txBody>
          <a:bodyPr wrap="square" lIns="0" tIns="0" rIns="0" bIns="0" rtlCol="0" anchor="t"/>
          <a:lstStyle/>
          <a:p>
            <a:pPr indent="0" marL="0">
              <a:buNone/>
            </a:pPr>
            <a:r>
              <a:rPr lang="en-US" sz="1100" b="1" dirty="0">
                <a:solidFill>
                  <a:srgbClr val="2563EB"/>
                </a:solidFill>
              </a:rPr>
              <a:t>Tahap 5</a:t>
            </a:r>
            <a:endParaRPr lang="en-US" sz="1100" dirty="0"/>
          </a:p>
          <a:p>
            <a:pPr indent="0" marL="0">
              <a:buNone/>
            </a:pPr>
            <a:r>
              <a:rPr lang="en-US" sz="1500" b="1" dirty="0">
                <a:solidFill>
                  <a:srgbClr val="1B2437"/>
                </a:solidFill>
              </a:rPr>
              <a:t>PO</a:t>
            </a:r>
            <a:endParaRPr lang="en-US" sz="1100" dirty="0"/>
          </a:p>
          <a:p>
            <a:pPr indent="0" marL="0">
              <a:buNone/>
            </a:pPr>
            <a:r>
              <a:rPr lang="en-US" sz="1050" dirty="0">
                <a:solidFill>
                  <a:srgbClr val="5B6B86"/>
                </a:solidFill>
              </a:rPr>
              <a:t>Admin purchase · Approve PO</a:t>
            </a:r>
            <a:endParaRPr lang="en-US" sz="1100" dirty="0"/>
          </a:p>
        </p:txBody>
      </p:sp>
      <p:sp>
        <p:nvSpPr>
          <p:cNvPr id="27" name="Text 25"/>
          <p:cNvSpPr txBox="1"/>
          <p:nvPr/>
        </p:nvSpPr>
        <p:spPr>
          <a:xfrm>
            <a:off x="585216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Order</a:t>
            </a:r>
            <a:endParaRPr lang="en-US" sz="1050" dirty="0"/>
          </a:p>
        </p:txBody>
      </p:sp>
      <p:sp>
        <p:nvSpPr>
          <p:cNvPr id="28" name="Tahap GRPO"/>
          <p:cNvSpPr/>
          <p:nvPr/>
        </p:nvSpPr>
        <p:spPr>
          <a:xfrm>
            <a:off x="7589520" y="397764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9" name="Text 27"/>
          <p:cNvSpPr txBox="1"/>
          <p:nvPr/>
        </p:nvSpPr>
        <p:spPr>
          <a:xfrm>
            <a:off x="7699248" y="405079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6</a:t>
            </a:r>
            <a:endParaRPr lang="en-US" sz="1100" dirty="0"/>
          </a:p>
          <a:p>
            <a:pPr indent="0" marL="0">
              <a:buNone/>
            </a:pPr>
            <a:r>
              <a:rPr lang="en-US" sz="1500" b="1" dirty="0">
                <a:solidFill>
                  <a:srgbClr val="1B2437"/>
                </a:solidFill>
              </a:rPr>
              <a:t>GRPO</a:t>
            </a:r>
            <a:endParaRPr lang="en-US" sz="1100" dirty="0"/>
          </a:p>
          <a:p>
            <a:pPr indent="0" marL="0">
              <a:buNone/>
            </a:pPr>
            <a:r>
              <a:rPr lang="en-US" sz="1050" dirty="0">
                <a:solidFill>
                  <a:srgbClr val="5B6B86"/>
                </a:solidFill>
              </a:rPr>
              <a:t>Admin DC · Approve PUR</a:t>
            </a:r>
            <a:endParaRPr lang="en-US" sz="1100" dirty="0"/>
          </a:p>
        </p:txBody>
      </p:sp>
      <p:sp>
        <p:nvSpPr>
          <p:cNvPr id="30" name="Text 28"/>
          <p:cNvSpPr txBox="1"/>
          <p:nvPr/>
        </p:nvSpPr>
        <p:spPr>
          <a:xfrm>
            <a:off x="7543800" y="52578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GRPO</a:t>
            </a:r>
            <a:endParaRPr lang="en-US" sz="1050" dirty="0"/>
          </a:p>
        </p:txBody>
      </p:sp>
      <p:sp>
        <p:nvSpPr>
          <p:cNvPr id="31" name="Tahap Transfer ke dek"/>
          <p:cNvSpPr/>
          <p:nvPr/>
        </p:nvSpPr>
        <p:spPr>
          <a:xfrm>
            <a:off x="6720840" y="182880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32" name="Text 30"/>
          <p:cNvSpPr txBox="1"/>
          <p:nvPr/>
        </p:nvSpPr>
        <p:spPr>
          <a:xfrm>
            <a:off x="6830568" y="190195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7</a:t>
            </a:r>
            <a:endParaRPr lang="en-US" sz="1100" dirty="0"/>
          </a:p>
          <a:p>
            <a:pPr indent="0" marL="0">
              <a:buNone/>
            </a:pPr>
            <a:r>
              <a:rPr lang="en-US" sz="1500" b="1" dirty="0">
                <a:solidFill>
                  <a:srgbClr val="1B2437"/>
                </a:solidFill>
              </a:rPr>
              <a:t>Transfer ke dek</a:t>
            </a:r>
            <a:endParaRPr lang="en-US" sz="1100" dirty="0"/>
          </a:p>
          <a:p>
            <a:pPr indent="0" marL="0">
              <a:buNone/>
            </a:pPr>
            <a:r>
              <a:rPr lang="en-US" sz="1050" dirty="0">
                <a:solidFill>
                  <a:srgbClr val="5B6B86"/>
                </a:solidFill>
              </a:rPr>
              <a:t>Admin DC · Approve PUR</a:t>
            </a:r>
            <a:endParaRPr lang="en-US" sz="1100" dirty="0"/>
          </a:p>
        </p:txBody>
      </p:sp>
      <p:sp>
        <p:nvSpPr>
          <p:cNvPr id="33" name="Text 31"/>
          <p:cNvSpPr txBox="1"/>
          <p:nvPr/>
        </p:nvSpPr>
        <p:spPr>
          <a:xfrm>
            <a:off x="667512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Inventory Transfer</a:t>
            </a:r>
            <a:endParaRPr lang="en-US" sz="1050" dirty="0"/>
          </a:p>
        </p:txBody>
      </p:sp>
      <p:sp>
        <p:nvSpPr>
          <p:cNvPr id="34" name="Tahap Terima di dek"/>
          <p:cNvSpPr/>
          <p:nvPr/>
        </p:nvSpPr>
        <p:spPr>
          <a:xfrm>
            <a:off x="8595360" y="182880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35" name="Text 33"/>
          <p:cNvSpPr txBox="1"/>
          <p:nvPr/>
        </p:nvSpPr>
        <p:spPr>
          <a:xfrm>
            <a:off x="8705088" y="190195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8</a:t>
            </a:r>
            <a:endParaRPr lang="en-US" sz="1100" dirty="0"/>
          </a:p>
          <a:p>
            <a:pPr indent="0" marL="0">
              <a:buNone/>
            </a:pPr>
            <a:r>
              <a:rPr lang="en-US" sz="1500" b="1" dirty="0">
                <a:solidFill>
                  <a:srgbClr val="1B2437"/>
                </a:solidFill>
              </a:rPr>
              <a:t>Terima di dek</a:t>
            </a:r>
            <a:endParaRPr lang="en-US" sz="1100" dirty="0"/>
          </a:p>
          <a:p>
            <a:pPr indent="0" marL="0">
              <a:buNone/>
            </a:pPr>
            <a:r>
              <a:rPr lang="en-US" sz="1050" dirty="0">
                <a:solidFill>
                  <a:srgbClr val="5B6B86"/>
                </a:solidFill>
              </a:rPr>
              <a:t>Admin kapal · Approve SO</a:t>
            </a:r>
            <a:endParaRPr lang="en-US" sz="1100" dirty="0"/>
          </a:p>
        </p:txBody>
      </p:sp>
      <p:sp>
        <p:nvSpPr>
          <p:cNvPr id="36" name="Text 34"/>
          <p:cNvSpPr txBox="1"/>
          <p:nvPr/>
        </p:nvSpPr>
        <p:spPr>
          <a:xfrm>
            <a:off x="854964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SO ditutup</a:t>
            </a:r>
            <a:endParaRPr lang="en-US" sz="1050" dirty="0"/>
          </a:p>
        </p:txBody>
      </p:sp>
      <p:sp>
        <p:nvSpPr>
          <p:cNvPr id="37" name="Tahap Jual &amp; DO"/>
          <p:cNvSpPr/>
          <p:nvPr/>
        </p:nvSpPr>
        <p:spPr>
          <a:xfrm>
            <a:off x="10469880" y="1828800"/>
            <a:ext cx="1554480" cy="1188720"/>
          </a:xfrm>
          <a:prstGeom prst="roundRect">
            <a:avLst>
              <a:gd name="adj" fmla="val 7692"/>
            </a:avLst>
          </a:prstGeom>
          <a:solidFill>
            <a:srgbClr val="FFFFFF"/>
          </a:solidFill>
          <a:ln w="28575">
            <a:solidFill>
              <a:srgbClr val="15803D"/>
            </a:solidFill>
            <a:prstDash val="solid"/>
          </a:ln>
          <a:effectLst>
            <a:outerShdw sx="100000" sy="100000" kx="0" ky="0" algn="bl" rotWithShape="0" blurRad="76200" dist="25400" dir="5400000">
              <a:srgbClr val="1F3B7A">
                <a:alpha val="15000"/>
              </a:srgbClr>
            </a:outerShdw>
          </a:effectLst>
        </p:spPr>
      </p:sp>
      <p:sp>
        <p:nvSpPr>
          <p:cNvPr id="38" name="Text 36"/>
          <p:cNvSpPr txBox="1"/>
          <p:nvPr/>
        </p:nvSpPr>
        <p:spPr>
          <a:xfrm>
            <a:off x="10579608" y="1901952"/>
            <a:ext cx="1335024" cy="1042416"/>
          </a:xfrm>
          <a:prstGeom prst="rect">
            <a:avLst/>
          </a:prstGeom>
          <a:noFill/>
          <a:ln/>
        </p:spPr>
        <p:txBody>
          <a:bodyPr wrap="square" lIns="0" tIns="0" rIns="0" bIns="0" rtlCol="0" anchor="t"/>
          <a:lstStyle/>
          <a:p>
            <a:pPr indent="0" marL="0">
              <a:buNone/>
            </a:pPr>
            <a:r>
              <a:rPr lang="en-US" sz="1100" b="1" dirty="0">
                <a:solidFill>
                  <a:srgbClr val="15803D"/>
                </a:solidFill>
              </a:rPr>
              <a:t>Tahap 9</a:t>
            </a:r>
            <a:endParaRPr lang="en-US" sz="1100" dirty="0"/>
          </a:p>
          <a:p>
            <a:pPr indent="0" marL="0">
              <a:buNone/>
            </a:pPr>
            <a:r>
              <a:rPr lang="en-US" sz="1500" b="1" dirty="0">
                <a:solidFill>
                  <a:srgbClr val="1B2437"/>
                </a:solidFill>
              </a:rPr>
              <a:t>Jual &amp; DO</a:t>
            </a:r>
            <a:endParaRPr lang="en-US" sz="1100" dirty="0"/>
          </a:p>
          <a:p>
            <a:pPr indent="0" marL="0">
              <a:buNone/>
            </a:pPr>
            <a:r>
              <a:rPr lang="en-US" sz="1050" dirty="0">
                <a:solidFill>
                  <a:srgbClr val="5B6B86"/>
                </a:solidFill>
              </a:rPr>
              <a:t>Kasir</a:t>
            </a:r>
            <a:endParaRPr lang="en-US" sz="1100" dirty="0"/>
          </a:p>
        </p:txBody>
      </p:sp>
      <p:sp>
        <p:nvSpPr>
          <p:cNvPr id="39" name="Text 37"/>
          <p:cNvSpPr txBox="1"/>
          <p:nvPr/>
        </p:nvSpPr>
        <p:spPr>
          <a:xfrm>
            <a:off x="10424160" y="310896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Delivery (DO)</a:t>
            </a:r>
            <a:endParaRPr lang="en-US" sz="1050" dirty="0"/>
          </a:p>
        </p:txBody>
      </p:sp>
      <p:sp>
        <p:nvSpPr>
          <p:cNvPr id="40" name="Contoh"/>
          <p:cNvSpPr/>
          <p:nvPr/>
        </p:nvSpPr>
        <p:spPr>
          <a:xfrm>
            <a:off x="457200" y="5760720"/>
            <a:ext cx="11274552" cy="502920"/>
          </a:xfrm>
          <a:prstGeom prst="roundRect">
            <a:avLst>
              <a:gd name="adj" fmla="val 18182"/>
            </a:avLst>
          </a:prstGeom>
          <a:solidFill>
            <a:srgbClr val="EEF3FB"/>
          </a:solidFill>
          <a:ln w="12700">
            <a:solidFill>
              <a:srgbClr val="EEF3FB"/>
            </a:solidFill>
            <a:prstDash val="solid"/>
          </a:ln>
        </p:spPr>
      </p:sp>
      <p:sp>
        <p:nvSpPr>
          <p:cNvPr id="41" name="Text 39"/>
          <p:cNvSpPr txBox="1"/>
          <p:nvPr/>
        </p:nvSpPr>
        <p:spPr>
          <a:xfrm>
            <a:off x="685800" y="5760720"/>
            <a:ext cx="10881360" cy="502920"/>
          </a:xfrm>
          <a:prstGeom prst="rect">
            <a:avLst/>
          </a:prstGeom>
          <a:noFill/>
          <a:ln/>
        </p:spPr>
        <p:txBody>
          <a:bodyPr wrap="square" lIns="0" tIns="0" rIns="0" bIns="0" rtlCol="0" anchor="ctr"/>
          <a:lstStyle/>
          <a:p>
            <a:pPr indent="0" marL="0">
              <a:buNone/>
            </a:pPr>
            <a:r>
              <a:rPr lang="en-US" sz="1400" b="1" dirty="0">
                <a:solidFill>
                  <a:srgbClr val="FF6B1A"/>
                </a:solidFill>
              </a:rPr>
              <a:t>Contoh: </a:t>
            </a:r>
            <a:pPr indent="0" marL="0">
              <a:buNone/>
            </a:pPr>
            <a:r>
              <a:rPr lang="en-US" sz="1400" dirty="0">
                <a:solidFill>
                  <a:srgbClr val="1B2437"/>
                </a:solidFill>
              </a:rPr>
              <a:t>PERMINTAAN-AWU/2610/0008 · KM Awu · AQUA 6 pcs ke Dek 3 dari stok DC · Teh Pucuk 24 pcs ke Dek 7 dibeli lewat PUR dan PO</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85800"/>
          </a:xfrm>
          <a:prstGeom prst="rect">
            <a:avLst/>
          </a:prstGeom>
          <a:noFill/>
          <a:ln/>
        </p:spPr>
        <p:txBody>
          <a:bodyPr wrap="square" lIns="0" tIns="0" rIns="0" bIns="0" rtlCol="0" anchor="ctr"/>
          <a:lstStyle/>
          <a:p>
            <a:pPr algn="l" indent="0" marL="0">
              <a:buNone/>
            </a:pPr>
            <a:r>
              <a:rPr lang="en-US" sz="3400" b="1" dirty="0">
                <a:solidFill>
                  <a:schemeClr val="tx2"/>
                </a:solidFill>
              </a:rPr>
              <a:t>Hasilnya: jejak dokumen SAP yang lengkap</a:t>
            </a:r>
            <a:endParaRPr lang="en-US" sz="3400" dirty="0"/>
          </a:p>
        </p:txBody>
      </p:sp>
      <p:graphicFrame>
        <p:nvGraphicFramePr>
          <p:cNvPr id="4" name="Tabel dokumen SAP"/>
          <p:cNvGraphicFramePr>
            <a:graphicFrameLocks noGrp="1"/>
          </p:cNvGraphicFramePr>
          <p:nvPr>
            <p:extLst>
              <p:ext uri="{D42A27DB-BD31-4B8C-83A1-F6EECF244321}">
                <p14:modId xmlns:p14="http://schemas.microsoft.com/office/powerpoint/2010/main" val="1579011935"/>
              </p:ext>
            </p:extLst>
          </p:nvPr>
        </p:nvGraphicFramePr>
        <p:xfrm>
          <a:off x="457200" y="1234440"/>
          <a:ext cx="7223760" cy="914400"/>
        </p:xfrm>
        <a:graphic>
          <a:graphicData uri="http://schemas.openxmlformats.org/drawingml/2006/table">
            <a:tbl>
              <a:tblPr/>
              <a:tblGrid>
                <a:gridCol w="2011680"/>
                <a:gridCol w="2880360"/>
                <a:gridCol w="2331720"/>
              </a:tblGrid>
              <a:tr h="475488">
                <a:tc>
                  <a:txBody>
                    <a:bodyPr/>
                    <a:lstStyle/>
                    <a:p>
                      <a:pPr indent="0" marL="0">
                        <a:buNone/>
                      </a:pPr>
                      <a:r>
                        <a:rPr lang="en-US" sz="1300" b="1" dirty="0">
                          <a:solidFill>
                            <a:srgbClr val="FFFFFF"/>
                          </a:solidFill>
                        </a:rPr>
                        <a:t>Tahap</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c>
                  <a:txBody>
                    <a:bodyPr/>
                    <a:lstStyle/>
                    <a:p>
                      <a:pPr indent="0" marL="0">
                        <a:buNone/>
                      </a:pPr>
                      <a:r>
                        <a:rPr lang="en-US" sz="1300" b="1" dirty="0">
                          <a:solidFill>
                            <a:srgbClr val="FFFFFF"/>
                          </a:solidFill>
                        </a:rPr>
                        <a:t>Dokumen SAP</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c>
                  <a:txBody>
                    <a:bodyPr/>
                    <a:lstStyle/>
                    <a:p>
                      <a:pPr indent="0" marL="0">
                        <a:buNone/>
                      </a:pPr>
                      <a:r>
                        <a:rPr lang="en-US" sz="1300" b="1" dirty="0">
                          <a:solidFill>
                            <a:srgbClr val="FFFFFF"/>
                          </a:solidFill>
                        </a:rPr>
                        <a:t>Nomor (uji coba)</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r>
              <a:tr h="475488">
                <a:tc>
                  <a:txBody>
                    <a:bodyPr/>
                    <a:lstStyle/>
                    <a:p>
                      <a:pPr indent="0" marL="0">
                        <a:buNone/>
                      </a:pPr>
                      <a:r>
                        <a:rPr lang="en-US" sz="1300" dirty="0">
                          <a:solidFill>
                            <a:srgbClr val="1B2437"/>
                          </a:solidFill>
                        </a:rPr>
                        <a:t>2 · Approval SO</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Sales Order Dek 3 / Dek 7</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266000699 / 266000700</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75488">
                <a:tc>
                  <a:txBody>
                    <a:bodyPr/>
                    <a:lstStyle/>
                    <a:p>
                      <a:pPr indent="0" marL="0">
                        <a:buNone/>
                      </a:pPr>
                      <a:r>
                        <a:rPr lang="en-US" sz="1300" dirty="0">
                          <a:solidFill>
                            <a:srgbClr val="1B2437"/>
                          </a:solidFill>
                        </a:rPr>
                        <a:t>4 · PUR</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Purchase Request Dek 7</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262000460</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437"/>
                          </a:solidFill>
                        </a:rPr>
                        <a:t>5 · PO</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Purchase Order (BERKAH COD)</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262002060</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75488">
                <a:tc>
                  <a:txBody>
                    <a:bodyPr/>
                    <a:lstStyle/>
                    <a:p>
                      <a:pPr indent="0" marL="0">
                        <a:buNone/>
                      </a:pPr>
                      <a:r>
                        <a:rPr lang="en-US" sz="1300" dirty="0">
                          <a:solidFill>
                            <a:srgbClr val="1B2437"/>
                          </a:solidFill>
                        </a:rPr>
                        <a:t>6 · GRPO</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GRPO</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262001908</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437"/>
                          </a:solidFill>
                        </a:rPr>
                        <a:t>7 · Transfer ke dek</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Inventory Transfer Dek 3 / Dek 7</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262000146 / 262000147</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75488">
                <a:tc>
                  <a:txBody>
                    <a:bodyPr/>
                    <a:lstStyle/>
                    <a:p>
                      <a:pPr indent="0" marL="0">
                        <a:buNone/>
                      </a:pPr>
                      <a:r>
                        <a:rPr lang="en-US" sz="1300" dirty="0">
                          <a:solidFill>
                            <a:srgbClr val="1B2437"/>
                          </a:solidFill>
                        </a:rPr>
                        <a:t>8 · Terima di dek</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Sales Order ditutup</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1B2437"/>
                          </a:solidFill>
                        </a:rPr>
                        <a:t>266000699 / 266000700</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437"/>
                          </a:solidFill>
                        </a:rPr>
                        <a:t>9 · Jual &amp; DO</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Delivery KM Awu Dek 3</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300" dirty="0">
                          <a:solidFill>
                            <a:srgbClr val="1B2437"/>
                          </a:solidFill>
                        </a:rPr>
                        <a:t>266000512</a:t>
                      </a:r>
                      <a:endParaRPr lang="en-US" sz="1300" dirty="0"/>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bl>
          </a:graphicData>
        </a:graphic>
      </p:graphicFrame>
      <p:sp>
        <p:nvSpPr>
          <p:cNvPr id="4" name="SAP dibuat setelah disetujui"/>
          <p:cNvSpPr/>
          <p:nvPr/>
        </p:nvSpPr>
        <p:spPr>
          <a:xfrm>
            <a:off x="8001000" y="1234440"/>
            <a:ext cx="3730752" cy="1298448"/>
          </a:xfrm>
          <a:prstGeom prst="roundRect">
            <a:avLst>
              <a:gd name="adj" fmla="val 8451"/>
            </a:avLst>
          </a:prstGeom>
          <a:solidFill>
            <a:srgbClr val="1F3B7A"/>
          </a:solidFill>
          <a:ln w="12700">
            <a:solidFill>
              <a:srgbClr val="1F3B7A"/>
            </a:solidFill>
            <a:prstDash val="solid"/>
          </a:ln>
        </p:spPr>
      </p:sp>
      <p:sp>
        <p:nvSpPr>
          <p:cNvPr id="5" name="Text 2"/>
          <p:cNvSpPr txBox="1"/>
          <p:nvPr/>
        </p:nvSpPr>
        <p:spPr>
          <a:xfrm>
            <a:off x="8183880" y="1399032"/>
            <a:ext cx="502920" cy="548640"/>
          </a:xfrm>
          <a:prstGeom prst="rect">
            <a:avLst/>
          </a:prstGeom>
          <a:noFill/>
          <a:ln/>
        </p:spPr>
        <p:txBody>
          <a:bodyPr wrap="square" lIns="0" tIns="0" rIns="0" bIns="0" rtlCol="0" anchor="ctr"/>
          <a:lstStyle/>
          <a:p>
            <a:pPr indent="0" marL="0">
              <a:buNone/>
            </a:pPr>
            <a:r>
              <a:rPr lang="en-US" sz="3000" b="1" dirty="0">
                <a:solidFill>
                  <a:srgbClr val="FF6B1A"/>
                </a:solidFill>
              </a:rPr>
              <a:t>1</a:t>
            </a:r>
            <a:endParaRPr lang="en-US" sz="3000" dirty="0"/>
          </a:p>
        </p:txBody>
      </p:sp>
      <p:sp>
        <p:nvSpPr>
          <p:cNvPr id="6" name="Text 3"/>
          <p:cNvSpPr txBox="1"/>
          <p:nvPr/>
        </p:nvSpPr>
        <p:spPr>
          <a:xfrm>
            <a:off x="8732520" y="1371600"/>
            <a:ext cx="2834640" cy="105156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rPr>
              <a:t>SAP dibuat setelah disetujui</a:t>
            </a:r>
            <a:endParaRPr lang="en-US" sz="1600" dirty="0"/>
          </a:p>
          <a:p>
            <a:pPr indent="0" marL="0">
              <a:spcAft>
                <a:spcPts val="300"/>
              </a:spcAft>
              <a:buNone/>
            </a:pPr>
            <a:r>
              <a:rPr lang="en-US" sz="1300" dirty="0">
                <a:solidFill>
                  <a:srgbClr val="CADCFC"/>
                </a:solidFill>
              </a:rPr>
              <a:t>Selama status masih "Approval", belum ada dokumen di SAP.</a:t>
            </a:r>
            <a:endParaRPr lang="en-US" sz="1600" dirty="0"/>
          </a:p>
        </p:txBody>
      </p:sp>
      <p:sp>
        <p:nvSpPr>
          <p:cNvPr id="7" name="Tolak selalu dengan alasan"/>
          <p:cNvSpPr/>
          <p:nvPr/>
        </p:nvSpPr>
        <p:spPr>
          <a:xfrm>
            <a:off x="8001000" y="2715768"/>
            <a:ext cx="3730752" cy="1298448"/>
          </a:xfrm>
          <a:prstGeom prst="roundRect">
            <a:avLst>
              <a:gd name="adj" fmla="val 8451"/>
            </a:avLst>
          </a:prstGeom>
          <a:solidFill>
            <a:srgbClr val="1F3B7A"/>
          </a:solidFill>
          <a:ln w="12700">
            <a:solidFill>
              <a:srgbClr val="1F3B7A"/>
            </a:solidFill>
            <a:prstDash val="solid"/>
          </a:ln>
        </p:spPr>
      </p:sp>
      <p:sp>
        <p:nvSpPr>
          <p:cNvPr id="8" name="Text 5"/>
          <p:cNvSpPr txBox="1"/>
          <p:nvPr/>
        </p:nvSpPr>
        <p:spPr>
          <a:xfrm>
            <a:off x="8183880" y="2880360"/>
            <a:ext cx="502920" cy="548640"/>
          </a:xfrm>
          <a:prstGeom prst="rect">
            <a:avLst/>
          </a:prstGeom>
          <a:noFill/>
          <a:ln/>
        </p:spPr>
        <p:txBody>
          <a:bodyPr wrap="square" lIns="0" tIns="0" rIns="0" bIns="0" rtlCol="0" anchor="ctr"/>
          <a:lstStyle/>
          <a:p>
            <a:pPr indent="0" marL="0">
              <a:buNone/>
            </a:pPr>
            <a:r>
              <a:rPr lang="en-US" sz="3000" b="1" dirty="0">
                <a:solidFill>
                  <a:srgbClr val="FF6B1A"/>
                </a:solidFill>
              </a:rPr>
              <a:t>2</a:t>
            </a:r>
            <a:endParaRPr lang="en-US" sz="3000" dirty="0"/>
          </a:p>
        </p:txBody>
      </p:sp>
      <p:sp>
        <p:nvSpPr>
          <p:cNvPr id="9" name="Text 6"/>
          <p:cNvSpPr txBox="1"/>
          <p:nvPr/>
        </p:nvSpPr>
        <p:spPr>
          <a:xfrm>
            <a:off x="8732520" y="2852928"/>
            <a:ext cx="2834640" cy="105156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rPr>
              <a:t>Tolak selalu dengan alasan</a:t>
            </a:r>
            <a:endParaRPr lang="en-US" sz="1600" dirty="0"/>
          </a:p>
          <a:p>
            <a:pPr indent="0" marL="0">
              <a:spcAft>
                <a:spcPts val="300"/>
              </a:spcAft>
              <a:buNone/>
            </a:pPr>
            <a:r>
              <a:rPr lang="en-US" sz="1300" dirty="0">
                <a:solidFill>
                  <a:srgbClr val="CADCFC"/>
                </a:solidFill>
              </a:rPr>
              <a:t>Dokumen kembali ke pembuatnya untuk diperbaiki dan diajukan ulang.</a:t>
            </a:r>
            <a:endParaRPr lang="en-US" sz="1600" dirty="0"/>
          </a:p>
        </p:txBody>
      </p:sp>
      <p:sp>
        <p:nvSpPr>
          <p:cNvPr id="10" name="Pesan minimal H-5"/>
          <p:cNvSpPr/>
          <p:nvPr/>
        </p:nvSpPr>
        <p:spPr>
          <a:xfrm>
            <a:off x="8001000" y="4197096"/>
            <a:ext cx="3730752" cy="1298448"/>
          </a:xfrm>
          <a:prstGeom prst="roundRect">
            <a:avLst>
              <a:gd name="adj" fmla="val 8451"/>
            </a:avLst>
          </a:prstGeom>
          <a:solidFill>
            <a:srgbClr val="1F3B7A"/>
          </a:solidFill>
          <a:ln w="12700">
            <a:solidFill>
              <a:srgbClr val="1F3B7A"/>
            </a:solidFill>
            <a:prstDash val="solid"/>
          </a:ln>
        </p:spPr>
      </p:sp>
      <p:sp>
        <p:nvSpPr>
          <p:cNvPr id="11" name="Text 8"/>
          <p:cNvSpPr txBox="1"/>
          <p:nvPr/>
        </p:nvSpPr>
        <p:spPr>
          <a:xfrm>
            <a:off x="8183880" y="4361688"/>
            <a:ext cx="502920" cy="548640"/>
          </a:xfrm>
          <a:prstGeom prst="rect">
            <a:avLst/>
          </a:prstGeom>
          <a:noFill/>
          <a:ln/>
        </p:spPr>
        <p:txBody>
          <a:bodyPr wrap="square" lIns="0" tIns="0" rIns="0" bIns="0" rtlCol="0" anchor="ctr"/>
          <a:lstStyle/>
          <a:p>
            <a:pPr indent="0" marL="0">
              <a:buNone/>
            </a:pPr>
            <a:r>
              <a:rPr lang="en-US" sz="3000" b="1" dirty="0">
                <a:solidFill>
                  <a:srgbClr val="FF6B1A"/>
                </a:solidFill>
              </a:rPr>
              <a:t>3</a:t>
            </a:r>
            <a:endParaRPr lang="en-US" sz="3000" dirty="0"/>
          </a:p>
        </p:txBody>
      </p:sp>
      <p:sp>
        <p:nvSpPr>
          <p:cNvPr id="12" name="Text 9"/>
          <p:cNvSpPr txBox="1"/>
          <p:nvPr/>
        </p:nvSpPr>
        <p:spPr>
          <a:xfrm>
            <a:off x="8732520" y="4334256"/>
            <a:ext cx="2834640" cy="105156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rPr>
              <a:t>Pesan minimal H-5</a:t>
            </a:r>
            <a:endParaRPr lang="en-US" sz="1600" dirty="0"/>
          </a:p>
          <a:p>
            <a:pPr indent="0" marL="0">
              <a:spcAft>
                <a:spcPts val="300"/>
              </a:spcAft>
              <a:buNone/>
            </a:pPr>
            <a:r>
              <a:rPr lang="en-US" sz="1300" dirty="0">
                <a:solidFill>
                  <a:srgbClr val="CADCFC"/>
                </a:solidFill>
              </a:rPr>
              <a:t>Permintaan barang paling lambat 5 hari sebelum dibutuhkan.</a:t>
            </a:r>
            <a:endParaRPr lang="en-US" sz="1600" dirty="0"/>
          </a:p>
        </p:txBody>
      </p:sp>
      <p:sp>
        <p:nvSpPr>
          <p:cNvPr id="13" name="Text 10"/>
          <p:cNvSpPr txBox="1"/>
          <p:nvPr/>
        </p:nvSpPr>
        <p:spPr>
          <a:xfrm>
            <a:off x="457200" y="5760720"/>
            <a:ext cx="11274552" cy="411480"/>
          </a:xfrm>
          <a:prstGeom prst="rect">
            <a:avLst/>
          </a:prstGeom>
          <a:noFill/>
          <a:ln/>
        </p:spPr>
        <p:txBody>
          <a:bodyPr wrap="square" lIns="0" tIns="0" rIns="0" bIns="0" rtlCol="0" anchor="ctr"/>
          <a:lstStyle/>
          <a:p>
            <a:pPr indent="0" marL="0">
              <a:buNone/>
            </a:pPr>
            <a:r>
              <a:rPr lang="en-US" sz="1400" b="1" dirty="0">
                <a:solidFill>
                  <a:srgbClr val="FF6B1A"/>
                </a:solidFill>
              </a:rPr>
              <a:t>Materi lanjutan: </a:t>
            </a:r>
            <a:pPr indent="0" marL="0">
              <a:buNone/>
            </a:pPr>
            <a:r>
              <a:rPr lang="en-US" sz="1400" dirty="0">
                <a:solidFill>
                  <a:srgbClr val="1B2437"/>
                </a:solidFill>
              </a:rPr>
              <a:t>video Alur Lengkap (4 menit) · video per peran 01–07 · Manual Book PID POS per Peran · deck Alur Lengkap 15 slide</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PID POS">
  <a:themeElements>
    <a:clrScheme name="PID POS">
      <a:dk1>
        <a:srgbClr val="1B2437"/>
      </a:dk1>
      <a:lt1>
        <a:srgbClr val="FFFFFF"/>
      </a:lt1>
      <a:dk2>
        <a:srgbClr val="1F3B7A"/>
      </a:dk2>
      <a:lt2>
        <a:srgbClr val="EEF3FB"/>
      </a:lt2>
      <a:accent1>
        <a:srgbClr val="FF6B1A"/>
      </a:accent1>
      <a:accent2>
        <a:srgbClr val="3A7D3A"/>
      </a:accent2>
      <a:accent3>
        <a:srgbClr val="3D8BFF"/>
      </a:accent3>
      <a:accent4>
        <a:srgbClr val="C0392B"/>
      </a:accent4>
      <a:accent5>
        <a:srgbClr val="5B6B86"/>
      </a:accent5>
      <a:accent6>
        <a:srgbClr val="D5DEEC"/>
      </a:accent6>
      <a:hlink>
        <a:srgbClr val="1F3B7A"/>
      </a:hlink>
      <a:folHlink>
        <a:srgbClr val="5B6B86"/>
      </a:folHlink>
    </a:clrScheme>
    <a:fontScheme name="PID P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PT Pelita Indonesia Djaya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POS: versi singkat</dc:title>
  <dc:subject>Pengenalan dan alur besar PID POS</dc:subject>
  <dc:creator>PID POS</dc:creator>
  <cp:lastModifiedBy>PID POS</cp:lastModifiedBy>
  <cp:revision>1</cp:revision>
  <dcterms:created xsi:type="dcterms:W3CDTF">2026-10-23T08:28:14Z</dcterms:created>
  <dcterms:modified xsi:type="dcterms:W3CDTF">2026-10-23T08:28:14Z</dcterms:modified>
</cp:coreProperties>
</file>