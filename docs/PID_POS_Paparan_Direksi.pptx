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adalah aplikasi untuk toko di kapal PELNI Services. Seluruh alur barang, dari kapal memesan ke DC, persetujuan, gudang, pembelian, sampai barang terjual di kasir, berjalan di satu aplikasi, dan dokumennya dibuat otomatis di SAP Business One setelah disetujui. Nilainya bagi perusahaan ada tiga: kontrol atas barang yang keluar masuk, transparansi status setiap permintaan, dan data penjualan harian dari setiap dek yang masuk ke SAP. Gambar di kanan adalah beranda admin kapal.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sembilan tahap. Jalur atas selalu dijalani. Jalur bawah, PUR, PO, dan GRPO, hanya dijalani bila stok DC tidak cukup. Label hijau menunjukkan dokumen SAP yang terbentuk setelah tahap itu disetujui. Bila semua barang ada di stok DC, tahap PUR, PO, dan GRPO dilewati. Bila sebagian harus dibeli, seperti contoh ini, semua tahap dijalani, dan Inventory Transfer menunggu GRPO lalu dikirim sekali, tetap satu dokumen per 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coba menyeluruh dilakukan pada 22 Oktober 2026 di server dev dengan SAP DB_TEST. Satu permintaan dari KM Awu dijalankan lengkap melewati sembilan tahap oleh tujuh peran, dan semua dokumen terbentuk di SAP: Sales Order, Purchase Request, Purchase Order, GRPO, Inventory Transfer, dan Delivery Order. Satu temuan hak akses sudah diperbaiki; satu masih terbuka, yaitu kode customer per dek di SAP. Materi sosialisasi sudah siap: manual book per peran, sembilan video tutorial, dan empat video pendek. Usulan langkah berikutnya: lengkapi kode customer per dek, pilot di satu kapal dengan SAP produksi, lalu sosialisasi ke seluruh peran.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pic>
        <p:nvPicPr>
          <p:cNvPr id="3" name="Image 0" descr="/home/user/claude/motion/public/brand/pelni_services.png">    </p:cNvPr>
          <p:cNvPicPr>
            <a:picLocks noChangeAspect="1"/>
          </p:cNvPicPr>
          <p:nvPr/>
        </p:nvPicPr>
        <p:blipFill>
          <a:blip r:embed="rId1"/>
          <a:stretch>
            <a:fillRect/>
          </a:stretch>
        </p:blipFill>
        <p:spPr>
          <a:xfrm>
            <a:off x="10469880" y="365760"/>
            <a:ext cx="1261872" cy="576072"/>
          </a:xfrm>
          <a:prstGeom prst="rect">
            <a:avLst/>
          </a:prstGeom>
        </p:spPr>
      </p:pic>
      <p:sp>
        <p:nvSpPr>
          <p:cNvPr id="4"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PID POS · Paparan direksi · Data uji coba 22-10-2026 (SAP DB_TEST)</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PID POS: satu aplikasi, langsung ke SAP</a:t>
            </a:r>
            <a:endParaRPr lang="en-US" sz="3400" dirty="0"/>
          </a:p>
        </p:txBody>
      </p:sp>
      <p:sp>
        <p:nvSpPr>
          <p:cNvPr id="3" name="Definisi"/>
          <p:cNvSpPr txBox="1"/>
          <p:nvPr/>
        </p:nvSpPr>
        <p:spPr>
          <a:xfrm>
            <a:off x="457200" y="1143000"/>
            <a:ext cx="11247120" cy="685800"/>
          </a:xfrm>
          <a:prstGeom prst="rect">
            <a:avLst/>
          </a:prstGeom>
          <a:noFill/>
          <a:ln/>
        </p:spPr>
        <p:txBody>
          <a:bodyPr wrap="square" lIns="0" tIns="0" rIns="0" bIns="0" rtlCol="0" anchor="t"/>
          <a:lstStyle/>
          <a:p>
            <a:pPr indent="0" marL="0">
              <a:buNone/>
            </a:pPr>
            <a:r>
              <a:rPr lang="en-US" sz="1700" dirty="0">
                <a:solidFill>
                  <a:srgbClr val="1B2437"/>
                </a:solidFill>
              </a:rPr>
              <a:t>Permintaan barang dari kapal, persetujuan, gudang DC, pembelian, sampai penjualan di kasir berjalan di satu aplikasi web. Setiap dokumen dibuat otomatis di SAP Business One setelah disetujui.</a:t>
            </a:r>
            <a:endParaRPr lang="en-US" sz="1700" dirty="0"/>
          </a:p>
        </p:txBody>
      </p:sp>
      <p:sp>
        <p:nvSpPr>
          <p:cNvPr id="4" name="Angka tahap alur"/>
          <p:cNvSpPr/>
          <p:nvPr/>
        </p:nvSpPr>
        <p:spPr>
          <a:xfrm>
            <a:off x="457200" y="2011680"/>
            <a:ext cx="2057400" cy="1828800"/>
          </a:xfrm>
          <a:prstGeom prst="roundRect">
            <a:avLst>
              <a:gd name="adj" fmla="val 6000"/>
            </a:avLst>
          </a:prstGeom>
          <a:solidFill>
            <a:srgbClr val="EEF3FB"/>
          </a:solidFill>
          <a:ln w="12700">
            <a:solidFill>
              <a:srgbClr val="EEF3FB"/>
            </a:solidFill>
            <a:prstDash val="solid"/>
          </a:ln>
        </p:spPr>
      </p:sp>
      <p:sp>
        <p:nvSpPr>
          <p:cNvPr id="5" name="Text 3"/>
          <p:cNvSpPr txBox="1"/>
          <p:nvPr/>
        </p:nvSpPr>
        <p:spPr>
          <a:xfrm>
            <a:off x="640080" y="2103120"/>
            <a:ext cx="1737360" cy="868680"/>
          </a:xfrm>
          <a:prstGeom prst="rect">
            <a:avLst/>
          </a:prstGeom>
          <a:noFill/>
          <a:ln/>
        </p:spPr>
        <p:txBody>
          <a:bodyPr wrap="square" lIns="0" tIns="0" rIns="0" bIns="0" rtlCol="0" anchor="ctr"/>
          <a:lstStyle/>
          <a:p>
            <a:pPr indent="0" marL="0">
              <a:buNone/>
            </a:pPr>
            <a:r>
              <a:rPr lang="en-US" sz="6000" b="1" dirty="0">
                <a:solidFill>
                  <a:srgbClr val="1F3B7A"/>
                </a:solidFill>
              </a:rPr>
              <a:t>9</a:t>
            </a:r>
            <a:endParaRPr lang="en-US" sz="6000" dirty="0"/>
          </a:p>
        </p:txBody>
      </p:sp>
      <p:sp>
        <p:nvSpPr>
          <p:cNvPr id="6" name="Text 4"/>
          <p:cNvSpPr txBox="1"/>
          <p:nvPr/>
        </p:nvSpPr>
        <p:spPr>
          <a:xfrm>
            <a:off x="640080" y="2971800"/>
            <a:ext cx="1737360" cy="822960"/>
          </a:xfrm>
          <a:prstGeom prst="rect">
            <a:avLst/>
          </a:prstGeom>
          <a:noFill/>
          <a:ln/>
        </p:spPr>
        <p:txBody>
          <a:bodyPr wrap="square" lIns="0" tIns="0" rIns="0" bIns="0" rtlCol="0" anchor="t"/>
          <a:lstStyle/>
          <a:p>
            <a:pPr indent="0" marL="0">
              <a:buNone/>
            </a:pPr>
            <a:r>
              <a:rPr lang="en-US" sz="1600" b="1" dirty="0">
                <a:solidFill>
                  <a:srgbClr val="1B2437"/>
                </a:solidFill>
              </a:rPr>
              <a:t>tahap alur</a:t>
            </a:r>
            <a:endParaRPr lang="en-US" sz="1600" dirty="0"/>
          </a:p>
          <a:p>
            <a:pPr indent="0" marL="0">
              <a:buNone/>
            </a:pPr>
            <a:r>
              <a:rPr lang="en-US" sz="1200" dirty="0">
                <a:solidFill>
                  <a:srgbClr val="5B6B86"/>
                </a:solidFill>
              </a:rPr>
              <a:t>dari pesan ke DC sampai Delivery Order</a:t>
            </a:r>
            <a:endParaRPr lang="en-US" sz="1600" dirty="0"/>
          </a:p>
        </p:txBody>
      </p:sp>
      <p:sp>
        <p:nvSpPr>
          <p:cNvPr id="7" name="Angka peran"/>
          <p:cNvSpPr/>
          <p:nvPr/>
        </p:nvSpPr>
        <p:spPr>
          <a:xfrm>
            <a:off x="2697480" y="2011680"/>
            <a:ext cx="2057400" cy="1828800"/>
          </a:xfrm>
          <a:prstGeom prst="roundRect">
            <a:avLst>
              <a:gd name="adj" fmla="val 6000"/>
            </a:avLst>
          </a:prstGeom>
          <a:solidFill>
            <a:srgbClr val="EEF3FB"/>
          </a:solidFill>
          <a:ln w="12700">
            <a:solidFill>
              <a:srgbClr val="EEF3FB"/>
            </a:solidFill>
            <a:prstDash val="solid"/>
          </a:ln>
        </p:spPr>
      </p:sp>
      <p:sp>
        <p:nvSpPr>
          <p:cNvPr id="8" name="Text 6"/>
          <p:cNvSpPr txBox="1"/>
          <p:nvPr/>
        </p:nvSpPr>
        <p:spPr>
          <a:xfrm>
            <a:off x="2880360" y="2103120"/>
            <a:ext cx="1737360" cy="868680"/>
          </a:xfrm>
          <a:prstGeom prst="rect">
            <a:avLst/>
          </a:prstGeom>
          <a:noFill/>
          <a:ln/>
        </p:spPr>
        <p:txBody>
          <a:bodyPr wrap="square" lIns="0" tIns="0" rIns="0" bIns="0" rtlCol="0" anchor="ctr"/>
          <a:lstStyle/>
          <a:p>
            <a:pPr indent="0" marL="0">
              <a:buNone/>
            </a:pPr>
            <a:r>
              <a:rPr lang="en-US" sz="6000" b="1" dirty="0">
                <a:solidFill>
                  <a:srgbClr val="1F3B7A"/>
                </a:solidFill>
              </a:rPr>
              <a:t>7</a:t>
            </a:r>
            <a:endParaRPr lang="en-US" sz="6000" dirty="0"/>
          </a:p>
        </p:txBody>
      </p:sp>
      <p:sp>
        <p:nvSpPr>
          <p:cNvPr id="9" name="Text 7"/>
          <p:cNvSpPr txBox="1"/>
          <p:nvPr/>
        </p:nvSpPr>
        <p:spPr>
          <a:xfrm>
            <a:off x="2880360" y="2971800"/>
            <a:ext cx="1737360" cy="822960"/>
          </a:xfrm>
          <a:prstGeom prst="rect">
            <a:avLst/>
          </a:prstGeom>
          <a:noFill/>
          <a:ln/>
        </p:spPr>
        <p:txBody>
          <a:bodyPr wrap="square" lIns="0" tIns="0" rIns="0" bIns="0" rtlCol="0" anchor="t"/>
          <a:lstStyle/>
          <a:p>
            <a:pPr indent="0" marL="0">
              <a:buNone/>
            </a:pPr>
            <a:r>
              <a:rPr lang="en-US" sz="1600" b="1" dirty="0">
                <a:solidFill>
                  <a:srgbClr val="1B2437"/>
                </a:solidFill>
              </a:rPr>
              <a:t>peran</a:t>
            </a:r>
            <a:endParaRPr lang="en-US" sz="1600" dirty="0"/>
          </a:p>
          <a:p>
            <a:pPr indent="0" marL="0">
              <a:buNone/>
            </a:pPr>
            <a:r>
              <a:rPr lang="en-US" sz="1200" dirty="0">
                <a:solidFill>
                  <a:srgbClr val="5B6B86"/>
                </a:solidFill>
              </a:rPr>
              <a:t>masing-masing hanya melihat tugasnya</a:t>
            </a:r>
            <a:endParaRPr lang="en-US" sz="1600" dirty="0"/>
          </a:p>
        </p:txBody>
      </p:sp>
      <p:sp>
        <p:nvSpPr>
          <p:cNvPr id="10" name="Angka jenis dokumen SAP"/>
          <p:cNvSpPr/>
          <p:nvPr/>
        </p:nvSpPr>
        <p:spPr>
          <a:xfrm>
            <a:off x="4937760" y="2011680"/>
            <a:ext cx="2057400" cy="1828800"/>
          </a:xfrm>
          <a:prstGeom prst="roundRect">
            <a:avLst>
              <a:gd name="adj" fmla="val 6000"/>
            </a:avLst>
          </a:prstGeom>
          <a:solidFill>
            <a:srgbClr val="EEF3FB"/>
          </a:solidFill>
          <a:ln w="12700">
            <a:solidFill>
              <a:srgbClr val="EEF3FB"/>
            </a:solidFill>
            <a:prstDash val="solid"/>
          </a:ln>
        </p:spPr>
      </p:sp>
      <p:sp>
        <p:nvSpPr>
          <p:cNvPr id="11" name="Text 9"/>
          <p:cNvSpPr txBox="1"/>
          <p:nvPr/>
        </p:nvSpPr>
        <p:spPr>
          <a:xfrm>
            <a:off x="5120640" y="2103120"/>
            <a:ext cx="1737360" cy="868680"/>
          </a:xfrm>
          <a:prstGeom prst="rect">
            <a:avLst/>
          </a:prstGeom>
          <a:noFill/>
          <a:ln/>
        </p:spPr>
        <p:txBody>
          <a:bodyPr wrap="square" lIns="0" tIns="0" rIns="0" bIns="0" rtlCol="0" anchor="ctr"/>
          <a:lstStyle/>
          <a:p>
            <a:pPr indent="0" marL="0">
              <a:buNone/>
            </a:pPr>
            <a:r>
              <a:rPr lang="en-US" sz="6000" b="1" dirty="0">
                <a:solidFill>
                  <a:srgbClr val="1F3B7A"/>
                </a:solidFill>
              </a:rPr>
              <a:t>6</a:t>
            </a:r>
            <a:endParaRPr lang="en-US" sz="6000" dirty="0"/>
          </a:p>
        </p:txBody>
      </p:sp>
      <p:sp>
        <p:nvSpPr>
          <p:cNvPr id="12" name="Text 10"/>
          <p:cNvSpPr txBox="1"/>
          <p:nvPr/>
        </p:nvSpPr>
        <p:spPr>
          <a:xfrm>
            <a:off x="5120640" y="2971800"/>
            <a:ext cx="1737360" cy="822960"/>
          </a:xfrm>
          <a:prstGeom prst="rect">
            <a:avLst/>
          </a:prstGeom>
          <a:noFill/>
          <a:ln/>
        </p:spPr>
        <p:txBody>
          <a:bodyPr wrap="square" lIns="0" tIns="0" rIns="0" bIns="0" rtlCol="0" anchor="t"/>
          <a:lstStyle/>
          <a:p>
            <a:pPr indent="0" marL="0">
              <a:buNone/>
            </a:pPr>
            <a:r>
              <a:rPr lang="en-US" sz="1600" b="1" dirty="0">
                <a:solidFill>
                  <a:srgbClr val="1B2437"/>
                </a:solidFill>
              </a:rPr>
              <a:t>jenis dokumen SAP</a:t>
            </a:r>
            <a:endParaRPr lang="en-US" sz="1600" dirty="0"/>
          </a:p>
          <a:p>
            <a:pPr indent="0" marL="0">
              <a:buNone/>
            </a:pPr>
            <a:r>
              <a:rPr lang="en-US" sz="1200" dirty="0">
                <a:solidFill>
                  <a:srgbClr val="5B6B86"/>
                </a:solidFill>
              </a:rPr>
              <a:t>SO, PUR, PO, GRPO, Transfer, DO</a:t>
            </a:r>
            <a:endParaRPr lang="en-US" sz="1600" dirty="0"/>
          </a:p>
        </p:txBody>
      </p:sp>
      <p:sp>
        <p:nvSpPr>
          <p:cNvPr id="13" name="Text 11"/>
          <p:cNvSpPr txBox="1"/>
          <p:nvPr/>
        </p:nvSpPr>
        <p:spPr>
          <a:xfrm>
            <a:off x="457200" y="4069080"/>
            <a:ext cx="6583680" cy="365760"/>
          </a:xfrm>
          <a:prstGeom prst="rect">
            <a:avLst/>
          </a:prstGeom>
          <a:noFill/>
          <a:ln/>
        </p:spPr>
        <p:txBody>
          <a:bodyPr wrap="square" lIns="0" tIns="0" rIns="0" bIns="0" rtlCol="0" anchor="ctr"/>
          <a:lstStyle/>
          <a:p>
            <a:pPr indent="0" marL="0">
              <a:buNone/>
            </a:pPr>
            <a:r>
              <a:rPr lang="en-US" sz="1800" b="1" dirty="0">
                <a:solidFill>
                  <a:srgbClr val="1F3B7A"/>
                </a:solidFill>
              </a:rPr>
              <a:t>Nilai bagi perusahaan</a:t>
            </a:r>
            <a:endParaRPr lang="en-US" sz="1800" dirty="0"/>
          </a:p>
        </p:txBody>
      </p:sp>
      <p:sp>
        <p:nvSpPr>
          <p:cNvPr id="14" name="Ikon Kontrol"/>
          <p:cNvSpPr/>
          <p:nvPr/>
        </p:nvSpPr>
        <p:spPr>
          <a:xfrm>
            <a:off x="457200" y="4617720"/>
            <a:ext cx="329184" cy="329184"/>
          </a:xfrm>
          <a:prstGeom prst="ellipse">
            <a:avLst/>
          </a:prstGeom>
          <a:solidFill>
            <a:srgbClr val="0F766E"/>
          </a:solidFill>
          <a:ln w="12700">
            <a:solidFill>
              <a:srgbClr val="0F766E"/>
            </a:solidFill>
            <a:prstDash val="solid"/>
          </a:ln>
        </p:spPr>
      </p:sp>
      <p:sp>
        <p:nvSpPr>
          <p:cNvPr id="15" name="Kontrol"/>
          <p:cNvSpPr txBox="1"/>
          <p:nvPr/>
        </p:nvSpPr>
        <p:spPr>
          <a:xfrm>
            <a:off x="960120" y="4572000"/>
            <a:ext cx="6080760" cy="457200"/>
          </a:xfrm>
          <a:prstGeom prst="rect">
            <a:avLst/>
          </a:prstGeom>
          <a:noFill/>
          <a:ln/>
        </p:spPr>
        <p:txBody>
          <a:bodyPr wrap="square" lIns="0" tIns="0" rIns="0" bIns="0" rtlCol="0" anchor="ctr"/>
          <a:lstStyle/>
          <a:p>
            <a:pPr indent="0" marL="0">
              <a:buNone/>
            </a:pPr>
            <a:r>
              <a:rPr lang="en-US" sz="1400" b="1" dirty="0">
                <a:solidFill>
                  <a:srgbClr val="1B2437"/>
                </a:solidFill>
              </a:rPr>
              <a:t>Kontrol  </a:t>
            </a:r>
            <a:pPr indent="0" marL="0">
              <a:buNone/>
            </a:pPr>
            <a:r>
              <a:rPr lang="en-US" sz="1400" dirty="0">
                <a:solidFill>
                  <a:srgbClr val="5B6B86"/>
                </a:solidFill>
              </a:rPr>
              <a:t>Barang masuk dan keluar tercatat dan disetujui berjenjang, dari SO sampai PO.</a:t>
            </a:r>
            <a:endParaRPr lang="en-US" sz="1400" dirty="0"/>
          </a:p>
        </p:txBody>
      </p:sp>
      <p:sp>
        <p:nvSpPr>
          <p:cNvPr id="16" name="Ikon Transparansi"/>
          <p:cNvSpPr/>
          <p:nvPr/>
        </p:nvSpPr>
        <p:spPr>
          <a:xfrm>
            <a:off x="457200" y="5184648"/>
            <a:ext cx="329184" cy="329184"/>
          </a:xfrm>
          <a:prstGeom prst="ellipse">
            <a:avLst/>
          </a:prstGeom>
          <a:solidFill>
            <a:srgbClr val="2563EB"/>
          </a:solidFill>
          <a:ln w="12700">
            <a:solidFill>
              <a:srgbClr val="2563EB"/>
            </a:solidFill>
            <a:prstDash val="solid"/>
          </a:ln>
        </p:spPr>
      </p:sp>
      <p:sp>
        <p:nvSpPr>
          <p:cNvPr id="17" name="Transparansi"/>
          <p:cNvSpPr txBox="1"/>
          <p:nvPr/>
        </p:nvSpPr>
        <p:spPr>
          <a:xfrm>
            <a:off x="960120" y="5138928"/>
            <a:ext cx="6080760" cy="457200"/>
          </a:xfrm>
          <a:prstGeom prst="rect">
            <a:avLst/>
          </a:prstGeom>
          <a:noFill/>
          <a:ln/>
        </p:spPr>
        <p:txBody>
          <a:bodyPr wrap="square" lIns="0" tIns="0" rIns="0" bIns="0" rtlCol="0" anchor="ctr"/>
          <a:lstStyle/>
          <a:p>
            <a:pPr indent="0" marL="0">
              <a:buNone/>
            </a:pPr>
            <a:r>
              <a:rPr lang="en-US" sz="1400" b="1" dirty="0">
                <a:solidFill>
                  <a:srgbClr val="1B2437"/>
                </a:solidFill>
              </a:rPr>
              <a:t>Transparansi  </a:t>
            </a:r>
            <a:pPr indent="0" marL="0">
              <a:buNone/>
            </a:pPr>
            <a:r>
              <a:rPr lang="en-US" sz="1400" dirty="0">
                <a:solidFill>
                  <a:srgbClr val="5B6B86"/>
                </a:solidFill>
              </a:rPr>
              <a:t>Status setiap permintaan terpantau per tahap, lengkap dengan riwayat persetujuan.</a:t>
            </a:r>
            <a:endParaRPr lang="en-US" sz="1400" dirty="0"/>
          </a:p>
        </p:txBody>
      </p:sp>
      <p:sp>
        <p:nvSpPr>
          <p:cNvPr id="18" name="Ikon Data penjualan"/>
          <p:cNvSpPr/>
          <p:nvPr/>
        </p:nvSpPr>
        <p:spPr>
          <a:xfrm>
            <a:off x="457200" y="5751576"/>
            <a:ext cx="329184" cy="329184"/>
          </a:xfrm>
          <a:prstGeom prst="ellipse">
            <a:avLst/>
          </a:prstGeom>
          <a:solidFill>
            <a:srgbClr val="FF6B1A"/>
          </a:solidFill>
          <a:ln w="12700">
            <a:solidFill>
              <a:srgbClr val="FF6B1A"/>
            </a:solidFill>
            <a:prstDash val="solid"/>
          </a:ln>
        </p:spPr>
      </p:sp>
      <p:sp>
        <p:nvSpPr>
          <p:cNvPr id="19" name="Data penjualan"/>
          <p:cNvSpPr txBox="1"/>
          <p:nvPr/>
        </p:nvSpPr>
        <p:spPr>
          <a:xfrm>
            <a:off x="960120" y="5705856"/>
            <a:ext cx="6080760" cy="457200"/>
          </a:xfrm>
          <a:prstGeom prst="rect">
            <a:avLst/>
          </a:prstGeom>
          <a:noFill/>
          <a:ln/>
        </p:spPr>
        <p:txBody>
          <a:bodyPr wrap="square" lIns="0" tIns="0" rIns="0" bIns="0" rtlCol="0" anchor="ctr"/>
          <a:lstStyle/>
          <a:p>
            <a:pPr indent="0" marL="0">
              <a:buNone/>
            </a:pPr>
            <a:r>
              <a:rPr lang="en-US" sz="1400" b="1" dirty="0">
                <a:solidFill>
                  <a:srgbClr val="1B2437"/>
                </a:solidFill>
              </a:rPr>
              <a:t>Data penjualan  </a:t>
            </a:r>
            <a:pPr indent="0" marL="0">
              <a:buNone/>
            </a:pPr>
            <a:r>
              <a:rPr lang="en-US" sz="1400" dirty="0">
                <a:solidFill>
                  <a:srgbClr val="5B6B86"/>
                </a:solidFill>
              </a:rPr>
              <a:t>Penjualan kasir di setiap dek masuk SAP setiap hari sebagai Delivery Order.</a:t>
            </a:r>
            <a:endParaRPr lang="en-US" sz="1400" dirty="0"/>
          </a:p>
        </p:txBody>
      </p:sp>
      <p:sp>
        <p:nvSpPr>
          <p:cNvPr id="20" name="Beranda admin kapal bingkai"/>
          <p:cNvSpPr/>
          <p:nvPr/>
        </p:nvSpPr>
        <p:spPr>
          <a:xfrm>
            <a:off x="7260336" y="2742490"/>
            <a:ext cx="4526280" cy="2653179"/>
          </a:xfrm>
          <a:prstGeom prst="roundRect">
            <a:avLst>
              <a:gd name="adj" fmla="val 2757"/>
            </a:avLst>
          </a:prstGeom>
          <a:solidFill>
            <a:srgbClr val="FFFFFF"/>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21" name="Beranda admin kapal" descr="Gambar layar PID POS (Beranda admin kapal)">    </p:cNvPr>
          <p:cNvPicPr>
            <a:picLocks noChangeAspect="1"/>
          </p:cNvPicPr>
          <p:nvPr/>
        </p:nvPicPr>
        <p:blipFill>
          <a:blip r:embed="rId1"/>
          <a:stretch>
            <a:fillRect/>
          </a:stretch>
        </p:blipFill>
        <p:spPr>
          <a:xfrm>
            <a:off x="7315200" y="2797354"/>
            <a:ext cx="4416552" cy="2543451"/>
          </a:xfrm>
          <a:prstGeom prst="rect">
            <a:avLst/>
          </a:prstGeom>
        </p:spPr>
      </p:pic>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Setiap permintaan terlacak sampai penjualan</a:t>
            </a:r>
            <a:endParaRPr lang="en-US" sz="3400" dirty="0"/>
          </a:p>
        </p:txBody>
      </p:sp>
      <p:sp>
        <p:nvSpPr>
          <p:cNvPr id="3" name="Text 1"/>
          <p:cNvSpPr txBox="1"/>
          <p:nvPr/>
        </p:nvSpPr>
        <p:spPr>
          <a:xfrm>
            <a:off x="457200" y="1097280"/>
            <a:ext cx="11247120" cy="365760"/>
          </a:xfrm>
          <a:prstGeom prst="rect">
            <a:avLst/>
          </a:prstGeom>
          <a:noFill/>
          <a:ln/>
        </p:spPr>
        <p:txBody>
          <a:bodyPr wrap="square" lIns="0" tIns="0" rIns="0" bIns="0" rtlCol="0" anchor="ctr"/>
          <a:lstStyle/>
          <a:p>
            <a:pPr indent="0" marL="0">
              <a:buNone/>
            </a:pPr>
            <a:r>
              <a:rPr lang="en-US" sz="1500" dirty="0">
                <a:solidFill>
                  <a:schemeClr val="accent5"/>
                </a:solidFill>
              </a:rPr>
              <a:t>Jalur atas selalu dijalani. Jalur bawah hanya bila stok DC kurang. Label hijau = dokumen SAP yang terbentuk.</a:t>
            </a:r>
            <a:endParaRPr lang="en-US" sz="1500" dirty="0"/>
          </a:p>
        </p:txBody>
      </p:sp>
      <p:sp>
        <p:nvSpPr>
          <p:cNvPr id="4" name="Panah 1"/>
          <p:cNvSpPr/>
          <p:nvPr/>
        </p:nvSpPr>
        <p:spPr>
          <a:xfrm>
            <a:off x="2011680" y="2423160"/>
            <a:ext cx="320040" cy="914"/>
          </a:xfrm>
          <a:prstGeom prst="line">
            <a:avLst/>
          </a:prstGeom>
          <a:noFill/>
          <a:ln w="25400">
            <a:solidFill>
              <a:srgbClr val="1F3B7A"/>
            </a:solidFill>
            <a:prstDash val="solid"/>
            <a:tailEnd type="triangle"/>
          </a:ln>
        </p:spPr>
      </p:sp>
      <p:sp>
        <p:nvSpPr>
          <p:cNvPr id="5" name="Panah 2"/>
          <p:cNvSpPr/>
          <p:nvPr/>
        </p:nvSpPr>
        <p:spPr>
          <a:xfrm>
            <a:off x="3886200" y="2423160"/>
            <a:ext cx="320040" cy="914"/>
          </a:xfrm>
          <a:prstGeom prst="line">
            <a:avLst/>
          </a:prstGeom>
          <a:noFill/>
          <a:ln w="25400">
            <a:solidFill>
              <a:srgbClr val="1F3B7A"/>
            </a:solidFill>
            <a:prstDash val="solid"/>
            <a:tailEnd type="triangle"/>
          </a:ln>
        </p:spPr>
      </p:sp>
      <p:sp>
        <p:nvSpPr>
          <p:cNvPr id="6" name="Panah 3"/>
          <p:cNvSpPr/>
          <p:nvPr/>
        </p:nvSpPr>
        <p:spPr>
          <a:xfrm>
            <a:off x="5760720" y="2423160"/>
            <a:ext cx="960120" cy="914"/>
          </a:xfrm>
          <a:prstGeom prst="line">
            <a:avLst/>
          </a:prstGeom>
          <a:noFill/>
          <a:ln w="25400">
            <a:solidFill>
              <a:srgbClr val="1F3B7A"/>
            </a:solidFill>
            <a:prstDash val="solid"/>
            <a:tailEnd type="triangle"/>
          </a:ln>
        </p:spPr>
      </p:sp>
      <p:sp>
        <p:nvSpPr>
          <p:cNvPr id="7" name="Panah 4"/>
          <p:cNvSpPr/>
          <p:nvPr/>
        </p:nvSpPr>
        <p:spPr>
          <a:xfrm>
            <a:off x="8275320" y="2423160"/>
            <a:ext cx="320040" cy="914"/>
          </a:xfrm>
          <a:prstGeom prst="line">
            <a:avLst/>
          </a:prstGeom>
          <a:noFill/>
          <a:ln w="25400">
            <a:solidFill>
              <a:srgbClr val="1F3B7A"/>
            </a:solidFill>
            <a:prstDash val="solid"/>
            <a:tailEnd type="triangle"/>
          </a:ln>
        </p:spPr>
      </p:sp>
      <p:sp>
        <p:nvSpPr>
          <p:cNvPr id="8" name="Panah 5"/>
          <p:cNvSpPr/>
          <p:nvPr/>
        </p:nvSpPr>
        <p:spPr>
          <a:xfrm>
            <a:off x="10149840" y="2423160"/>
            <a:ext cx="320040" cy="914"/>
          </a:xfrm>
          <a:prstGeom prst="line">
            <a:avLst/>
          </a:prstGeom>
          <a:noFill/>
          <a:ln w="25400">
            <a:solidFill>
              <a:srgbClr val="1F3B7A"/>
            </a:solidFill>
            <a:prstDash val="solid"/>
            <a:tailEnd type="triangle"/>
          </a:ln>
        </p:spPr>
      </p:sp>
      <p:sp>
        <p:nvSpPr>
          <p:cNvPr id="9" name="Panah 6"/>
          <p:cNvSpPr/>
          <p:nvPr/>
        </p:nvSpPr>
        <p:spPr>
          <a:xfrm>
            <a:off x="4983480" y="3017520"/>
            <a:ext cx="914" cy="960120"/>
          </a:xfrm>
          <a:prstGeom prst="line">
            <a:avLst/>
          </a:prstGeom>
          <a:noFill/>
          <a:ln w="25400">
            <a:solidFill>
              <a:srgbClr val="1F3B7A"/>
            </a:solidFill>
            <a:prstDash val="solid"/>
            <a:tailEnd type="triangle"/>
          </a:ln>
        </p:spPr>
      </p:sp>
      <p:sp>
        <p:nvSpPr>
          <p:cNvPr id="10" name="Panah 7"/>
          <p:cNvSpPr/>
          <p:nvPr/>
        </p:nvSpPr>
        <p:spPr>
          <a:xfrm>
            <a:off x="5760720" y="4572000"/>
            <a:ext cx="137160" cy="914"/>
          </a:xfrm>
          <a:prstGeom prst="line">
            <a:avLst/>
          </a:prstGeom>
          <a:noFill/>
          <a:ln w="25400">
            <a:solidFill>
              <a:srgbClr val="1F3B7A"/>
            </a:solidFill>
            <a:prstDash val="solid"/>
            <a:tailEnd type="triangle"/>
          </a:ln>
        </p:spPr>
      </p:sp>
      <p:sp>
        <p:nvSpPr>
          <p:cNvPr id="11" name="Panah 8"/>
          <p:cNvSpPr/>
          <p:nvPr/>
        </p:nvSpPr>
        <p:spPr>
          <a:xfrm>
            <a:off x="7452360" y="4572000"/>
            <a:ext cx="137160" cy="914"/>
          </a:xfrm>
          <a:prstGeom prst="line">
            <a:avLst/>
          </a:prstGeom>
          <a:noFill/>
          <a:ln w="25400">
            <a:solidFill>
              <a:srgbClr val="1F3B7A"/>
            </a:solidFill>
            <a:prstDash val="solid"/>
            <a:tailEnd type="triangle"/>
          </a:ln>
        </p:spPr>
      </p:sp>
      <p:sp>
        <p:nvSpPr>
          <p:cNvPr id="12" name="Panah 9"/>
          <p:cNvSpPr/>
          <p:nvPr/>
        </p:nvSpPr>
        <p:spPr>
          <a:xfrm flipV="1">
            <a:off x="7498080" y="3017520"/>
            <a:ext cx="868680" cy="960120"/>
          </a:xfrm>
          <a:prstGeom prst="line">
            <a:avLst/>
          </a:prstGeom>
          <a:noFill/>
          <a:ln w="25400">
            <a:solidFill>
              <a:srgbClr val="1F3B7A"/>
            </a:solidFill>
            <a:prstDash val="solid"/>
            <a:tailEnd type="triangle"/>
          </a:ln>
        </p:spPr>
      </p:sp>
      <p:sp>
        <p:nvSpPr>
          <p:cNvPr id="13" name="Text 11"/>
          <p:cNvSpPr txBox="1"/>
          <p:nvPr/>
        </p:nvSpPr>
        <p:spPr>
          <a:xfrm>
            <a:off x="5760720" y="2103120"/>
            <a:ext cx="960120" cy="274320"/>
          </a:xfrm>
          <a:prstGeom prst="rect">
            <a:avLst/>
          </a:prstGeom>
          <a:noFill/>
          <a:ln/>
        </p:spPr>
        <p:txBody>
          <a:bodyPr wrap="square" lIns="0" tIns="0" rIns="0" bIns="0" rtlCol="0" anchor="ctr"/>
          <a:lstStyle/>
          <a:p>
            <a:pPr algn="ctr" indent="0" marL="0">
              <a:buNone/>
            </a:pPr>
            <a:r>
              <a:rPr lang="en-US" sz="1100" dirty="0">
                <a:solidFill>
                  <a:schemeClr val="accent5"/>
                </a:solidFill>
              </a:rPr>
              <a:t>stok DC ada</a:t>
            </a:r>
            <a:endParaRPr lang="en-US" sz="1100" dirty="0"/>
          </a:p>
        </p:txBody>
      </p:sp>
      <p:sp>
        <p:nvSpPr>
          <p:cNvPr id="14" name="Text 12"/>
          <p:cNvSpPr txBox="1"/>
          <p:nvPr/>
        </p:nvSpPr>
        <p:spPr>
          <a:xfrm>
            <a:off x="2971800" y="3291840"/>
            <a:ext cx="1920240" cy="274320"/>
          </a:xfrm>
          <a:prstGeom prst="rect">
            <a:avLst/>
          </a:prstGeom>
          <a:noFill/>
          <a:ln/>
        </p:spPr>
        <p:txBody>
          <a:bodyPr wrap="square" lIns="0" tIns="0" rIns="0" bIns="0" rtlCol="0" anchor="ctr"/>
          <a:lstStyle/>
          <a:p>
            <a:pPr algn="r" indent="0" marL="0">
              <a:buNone/>
            </a:pPr>
            <a:r>
              <a:rPr lang="en-US" sz="1100" dirty="0">
                <a:solidFill>
                  <a:schemeClr val="accent5"/>
                </a:solidFill>
              </a:rPr>
              <a:t>stok DC kurang</a:t>
            </a:r>
            <a:endParaRPr lang="en-US" sz="1100" dirty="0"/>
          </a:p>
        </p:txBody>
      </p:sp>
      <p:sp>
        <p:nvSpPr>
          <p:cNvPr id="15" name="Tahap Pesan barang"/>
          <p:cNvSpPr/>
          <p:nvPr/>
        </p:nvSpPr>
        <p:spPr>
          <a:xfrm>
            <a:off x="457200" y="182880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16" name="Text 14"/>
          <p:cNvSpPr txBox="1"/>
          <p:nvPr/>
        </p:nvSpPr>
        <p:spPr>
          <a:xfrm>
            <a:off x="566928" y="190195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1</a:t>
            </a:r>
            <a:endParaRPr lang="en-US" sz="1100" dirty="0"/>
          </a:p>
          <a:p>
            <a:pPr indent="0" marL="0">
              <a:buNone/>
            </a:pPr>
            <a:r>
              <a:rPr lang="en-US" sz="1500" b="1" dirty="0">
                <a:solidFill>
                  <a:srgbClr val="1B2437"/>
                </a:solidFill>
              </a:rPr>
              <a:t>Pesan barang</a:t>
            </a:r>
            <a:endParaRPr lang="en-US" sz="1100" dirty="0"/>
          </a:p>
          <a:p>
            <a:pPr indent="0" marL="0">
              <a:buNone/>
            </a:pPr>
            <a:r>
              <a:rPr lang="en-US" sz="1050" dirty="0">
                <a:solidFill>
                  <a:srgbClr val="5B6B86"/>
                </a:solidFill>
              </a:rPr>
              <a:t>Admin kapal</a:t>
            </a:r>
            <a:endParaRPr lang="en-US" sz="1100" dirty="0"/>
          </a:p>
        </p:txBody>
      </p:sp>
      <p:sp>
        <p:nvSpPr>
          <p:cNvPr id="17" name="Tahap Approval SO"/>
          <p:cNvSpPr/>
          <p:nvPr/>
        </p:nvSpPr>
        <p:spPr>
          <a:xfrm>
            <a:off x="2331720" y="1828800"/>
            <a:ext cx="1554480" cy="1188720"/>
          </a:xfrm>
          <a:prstGeom prst="roundRect">
            <a:avLst>
              <a:gd name="adj" fmla="val 7692"/>
            </a:avLst>
          </a:prstGeom>
          <a:solidFill>
            <a:srgbClr val="FFFFFF"/>
          </a:solidFill>
          <a:ln w="28575">
            <a:solidFill>
              <a:srgbClr val="6D28D9"/>
            </a:solidFill>
            <a:prstDash val="solid"/>
          </a:ln>
          <a:effectLst>
            <a:outerShdw sx="100000" sy="100000" kx="0" ky="0" algn="bl" rotWithShape="0" blurRad="76200" dist="25400" dir="5400000">
              <a:srgbClr val="1F3B7A">
                <a:alpha val="15000"/>
              </a:srgbClr>
            </a:outerShdw>
          </a:effectLst>
        </p:spPr>
      </p:sp>
      <p:sp>
        <p:nvSpPr>
          <p:cNvPr id="18" name="Text 16"/>
          <p:cNvSpPr txBox="1"/>
          <p:nvPr/>
        </p:nvSpPr>
        <p:spPr>
          <a:xfrm>
            <a:off x="2441448" y="1901952"/>
            <a:ext cx="1335024" cy="1042416"/>
          </a:xfrm>
          <a:prstGeom prst="rect">
            <a:avLst/>
          </a:prstGeom>
          <a:noFill/>
          <a:ln/>
        </p:spPr>
        <p:txBody>
          <a:bodyPr wrap="square" lIns="0" tIns="0" rIns="0" bIns="0" rtlCol="0" anchor="t"/>
          <a:lstStyle/>
          <a:p>
            <a:pPr indent="0" marL="0">
              <a:buNone/>
            </a:pPr>
            <a:r>
              <a:rPr lang="en-US" sz="1100" b="1" dirty="0">
                <a:solidFill>
                  <a:srgbClr val="6D28D9"/>
                </a:solidFill>
              </a:rPr>
              <a:t>Tahap 2</a:t>
            </a:r>
            <a:endParaRPr lang="en-US" sz="1100" dirty="0"/>
          </a:p>
          <a:p>
            <a:pPr indent="0" marL="0">
              <a:buNone/>
            </a:pPr>
            <a:r>
              <a:rPr lang="en-US" sz="1500" b="1" dirty="0">
                <a:solidFill>
                  <a:srgbClr val="1B2437"/>
                </a:solidFill>
              </a:rPr>
              <a:t>Approval SO</a:t>
            </a:r>
            <a:endParaRPr lang="en-US" sz="1100" dirty="0"/>
          </a:p>
          <a:p>
            <a:pPr indent="0" marL="0">
              <a:buNone/>
            </a:pPr>
            <a:r>
              <a:rPr lang="en-US" sz="1050" dirty="0">
                <a:solidFill>
                  <a:srgbClr val="5B6B86"/>
                </a:solidFill>
              </a:rPr>
              <a:t>Approve SO</a:t>
            </a:r>
            <a:endParaRPr lang="en-US" sz="1100" dirty="0"/>
          </a:p>
        </p:txBody>
      </p:sp>
      <p:sp>
        <p:nvSpPr>
          <p:cNvPr id="19" name="Text 17"/>
          <p:cNvSpPr txBox="1"/>
          <p:nvPr/>
        </p:nvSpPr>
        <p:spPr>
          <a:xfrm>
            <a:off x="228600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Sales Order</a:t>
            </a:r>
            <a:endParaRPr lang="en-US" sz="1050" dirty="0"/>
          </a:p>
        </p:txBody>
      </p:sp>
      <p:sp>
        <p:nvSpPr>
          <p:cNvPr id="20" name="Tahap Pilah stok DC"/>
          <p:cNvSpPr/>
          <p:nvPr/>
        </p:nvSpPr>
        <p:spPr>
          <a:xfrm>
            <a:off x="4206240" y="182880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1" name="Text 19"/>
          <p:cNvSpPr txBox="1"/>
          <p:nvPr/>
        </p:nvSpPr>
        <p:spPr>
          <a:xfrm>
            <a:off x="4315968" y="190195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3</a:t>
            </a:r>
            <a:endParaRPr lang="en-US" sz="1100" dirty="0"/>
          </a:p>
          <a:p>
            <a:pPr indent="0" marL="0">
              <a:buNone/>
            </a:pPr>
            <a:r>
              <a:rPr lang="en-US" sz="1500" b="1" dirty="0">
                <a:solidFill>
                  <a:srgbClr val="1B2437"/>
                </a:solidFill>
              </a:rPr>
              <a:t>Pilah stok DC</a:t>
            </a:r>
            <a:endParaRPr lang="en-US" sz="1100" dirty="0"/>
          </a:p>
          <a:p>
            <a:pPr indent="0" marL="0">
              <a:buNone/>
            </a:pPr>
            <a:r>
              <a:rPr lang="en-US" sz="1050" dirty="0">
                <a:solidFill>
                  <a:srgbClr val="5B6B86"/>
                </a:solidFill>
              </a:rPr>
              <a:t>Admin DC</a:t>
            </a:r>
            <a:endParaRPr lang="en-US" sz="1100" dirty="0"/>
          </a:p>
        </p:txBody>
      </p:sp>
      <p:sp>
        <p:nvSpPr>
          <p:cNvPr id="22" name="Tahap PUR"/>
          <p:cNvSpPr/>
          <p:nvPr/>
        </p:nvSpPr>
        <p:spPr>
          <a:xfrm>
            <a:off x="4206240" y="3977640"/>
            <a:ext cx="1554480" cy="1188720"/>
          </a:xfrm>
          <a:prstGeom prst="roundRect">
            <a:avLst>
              <a:gd name="adj" fmla="val 7692"/>
            </a:avLst>
          </a:prstGeom>
          <a:solidFill>
            <a:srgbClr val="FFFFFF"/>
          </a:solidFill>
          <a:ln w="28575">
            <a:solidFill>
              <a:srgbClr val="BE185D"/>
            </a:solidFill>
            <a:prstDash val="solid"/>
          </a:ln>
          <a:effectLst>
            <a:outerShdw sx="100000" sy="100000" kx="0" ky="0" algn="bl" rotWithShape="0" blurRad="76200" dist="25400" dir="5400000">
              <a:srgbClr val="1F3B7A">
                <a:alpha val="15000"/>
              </a:srgbClr>
            </a:outerShdw>
          </a:effectLst>
        </p:spPr>
      </p:sp>
      <p:sp>
        <p:nvSpPr>
          <p:cNvPr id="23" name="Text 21"/>
          <p:cNvSpPr txBox="1"/>
          <p:nvPr/>
        </p:nvSpPr>
        <p:spPr>
          <a:xfrm>
            <a:off x="4315968" y="4050792"/>
            <a:ext cx="1335024" cy="1042416"/>
          </a:xfrm>
          <a:prstGeom prst="rect">
            <a:avLst/>
          </a:prstGeom>
          <a:noFill/>
          <a:ln/>
        </p:spPr>
        <p:txBody>
          <a:bodyPr wrap="square" lIns="0" tIns="0" rIns="0" bIns="0" rtlCol="0" anchor="t"/>
          <a:lstStyle/>
          <a:p>
            <a:pPr indent="0" marL="0">
              <a:buNone/>
            </a:pPr>
            <a:r>
              <a:rPr lang="en-US" sz="1100" b="1" dirty="0">
                <a:solidFill>
                  <a:srgbClr val="BE185D"/>
                </a:solidFill>
              </a:rPr>
              <a:t>Tahap 4</a:t>
            </a:r>
            <a:endParaRPr lang="en-US" sz="1100" dirty="0"/>
          </a:p>
          <a:p>
            <a:pPr indent="0" marL="0">
              <a:buNone/>
            </a:pPr>
            <a:r>
              <a:rPr lang="en-US" sz="1500" b="1" dirty="0">
                <a:solidFill>
                  <a:srgbClr val="1B2437"/>
                </a:solidFill>
              </a:rPr>
              <a:t>PUR</a:t>
            </a:r>
            <a:endParaRPr lang="en-US" sz="1100" dirty="0"/>
          </a:p>
          <a:p>
            <a:pPr indent="0" marL="0">
              <a:buNone/>
            </a:pPr>
            <a:r>
              <a:rPr lang="en-US" sz="1050" dirty="0">
                <a:solidFill>
                  <a:srgbClr val="5B6B86"/>
                </a:solidFill>
              </a:rPr>
              <a:t>Approve PUR</a:t>
            </a:r>
            <a:endParaRPr lang="en-US" sz="1100" dirty="0"/>
          </a:p>
        </p:txBody>
      </p:sp>
      <p:sp>
        <p:nvSpPr>
          <p:cNvPr id="24" name="Text 22"/>
          <p:cNvSpPr txBox="1"/>
          <p:nvPr/>
        </p:nvSpPr>
        <p:spPr>
          <a:xfrm>
            <a:off x="416052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Request</a:t>
            </a:r>
            <a:endParaRPr lang="en-US" sz="1050" dirty="0"/>
          </a:p>
        </p:txBody>
      </p:sp>
      <p:sp>
        <p:nvSpPr>
          <p:cNvPr id="25" name="Tahap PO"/>
          <p:cNvSpPr/>
          <p:nvPr/>
        </p:nvSpPr>
        <p:spPr>
          <a:xfrm>
            <a:off x="5897880" y="3977640"/>
            <a:ext cx="1554480" cy="1188720"/>
          </a:xfrm>
          <a:prstGeom prst="roundRect">
            <a:avLst>
              <a:gd name="adj" fmla="val 7692"/>
            </a:avLst>
          </a:prstGeom>
          <a:solidFill>
            <a:srgbClr val="FFFFFF"/>
          </a:solidFill>
          <a:ln w="28575">
            <a:solidFill>
              <a:srgbClr val="2563EB"/>
            </a:solidFill>
            <a:prstDash val="solid"/>
          </a:ln>
          <a:effectLst>
            <a:outerShdw sx="100000" sy="100000" kx="0" ky="0" algn="bl" rotWithShape="0" blurRad="76200" dist="25400" dir="5400000">
              <a:srgbClr val="1F3B7A">
                <a:alpha val="15000"/>
              </a:srgbClr>
            </a:outerShdw>
          </a:effectLst>
        </p:spPr>
      </p:sp>
      <p:sp>
        <p:nvSpPr>
          <p:cNvPr id="26" name="Text 24"/>
          <p:cNvSpPr txBox="1"/>
          <p:nvPr/>
        </p:nvSpPr>
        <p:spPr>
          <a:xfrm>
            <a:off x="6007608" y="4050792"/>
            <a:ext cx="1335024" cy="1042416"/>
          </a:xfrm>
          <a:prstGeom prst="rect">
            <a:avLst/>
          </a:prstGeom>
          <a:noFill/>
          <a:ln/>
        </p:spPr>
        <p:txBody>
          <a:bodyPr wrap="square" lIns="0" tIns="0" rIns="0" bIns="0" rtlCol="0" anchor="t"/>
          <a:lstStyle/>
          <a:p>
            <a:pPr indent="0" marL="0">
              <a:buNone/>
            </a:pPr>
            <a:r>
              <a:rPr lang="en-US" sz="1100" b="1" dirty="0">
                <a:solidFill>
                  <a:srgbClr val="2563EB"/>
                </a:solidFill>
              </a:rPr>
              <a:t>Tahap 5</a:t>
            </a:r>
            <a:endParaRPr lang="en-US" sz="1100" dirty="0"/>
          </a:p>
          <a:p>
            <a:pPr indent="0" marL="0">
              <a:buNone/>
            </a:pPr>
            <a:r>
              <a:rPr lang="en-US" sz="1500" b="1" dirty="0">
                <a:solidFill>
                  <a:srgbClr val="1B2437"/>
                </a:solidFill>
              </a:rPr>
              <a:t>PO</a:t>
            </a:r>
            <a:endParaRPr lang="en-US" sz="1100" dirty="0"/>
          </a:p>
          <a:p>
            <a:pPr indent="0" marL="0">
              <a:buNone/>
            </a:pPr>
            <a:r>
              <a:rPr lang="en-US" sz="1050" dirty="0">
                <a:solidFill>
                  <a:srgbClr val="5B6B86"/>
                </a:solidFill>
              </a:rPr>
              <a:t>Admin purchase · Approve PO</a:t>
            </a:r>
            <a:endParaRPr lang="en-US" sz="1100" dirty="0"/>
          </a:p>
        </p:txBody>
      </p:sp>
      <p:sp>
        <p:nvSpPr>
          <p:cNvPr id="27" name="Text 25"/>
          <p:cNvSpPr txBox="1"/>
          <p:nvPr/>
        </p:nvSpPr>
        <p:spPr>
          <a:xfrm>
            <a:off x="585216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Order</a:t>
            </a:r>
            <a:endParaRPr lang="en-US" sz="1050" dirty="0"/>
          </a:p>
        </p:txBody>
      </p:sp>
      <p:sp>
        <p:nvSpPr>
          <p:cNvPr id="28" name="Tahap GRPO"/>
          <p:cNvSpPr/>
          <p:nvPr/>
        </p:nvSpPr>
        <p:spPr>
          <a:xfrm>
            <a:off x="7589520" y="397764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9" name="Text 27"/>
          <p:cNvSpPr txBox="1"/>
          <p:nvPr/>
        </p:nvSpPr>
        <p:spPr>
          <a:xfrm>
            <a:off x="7699248" y="405079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6</a:t>
            </a:r>
            <a:endParaRPr lang="en-US" sz="1100" dirty="0"/>
          </a:p>
          <a:p>
            <a:pPr indent="0" marL="0">
              <a:buNone/>
            </a:pPr>
            <a:r>
              <a:rPr lang="en-US" sz="1500" b="1" dirty="0">
                <a:solidFill>
                  <a:srgbClr val="1B2437"/>
                </a:solidFill>
              </a:rPr>
              <a:t>GRPO</a:t>
            </a:r>
            <a:endParaRPr lang="en-US" sz="1100" dirty="0"/>
          </a:p>
          <a:p>
            <a:pPr indent="0" marL="0">
              <a:buNone/>
            </a:pPr>
            <a:r>
              <a:rPr lang="en-US" sz="1050" dirty="0">
                <a:solidFill>
                  <a:srgbClr val="5B6B86"/>
                </a:solidFill>
              </a:rPr>
              <a:t>Admin DC · Approve PUR</a:t>
            </a:r>
            <a:endParaRPr lang="en-US" sz="1100" dirty="0"/>
          </a:p>
        </p:txBody>
      </p:sp>
      <p:sp>
        <p:nvSpPr>
          <p:cNvPr id="30" name="Text 28"/>
          <p:cNvSpPr txBox="1"/>
          <p:nvPr/>
        </p:nvSpPr>
        <p:spPr>
          <a:xfrm>
            <a:off x="754380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GRPO</a:t>
            </a:r>
            <a:endParaRPr lang="en-US" sz="1050" dirty="0"/>
          </a:p>
        </p:txBody>
      </p:sp>
      <p:sp>
        <p:nvSpPr>
          <p:cNvPr id="31" name="Tahap Transfer ke dek"/>
          <p:cNvSpPr/>
          <p:nvPr/>
        </p:nvSpPr>
        <p:spPr>
          <a:xfrm>
            <a:off x="6720840" y="182880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32" name="Text 30"/>
          <p:cNvSpPr txBox="1"/>
          <p:nvPr/>
        </p:nvSpPr>
        <p:spPr>
          <a:xfrm>
            <a:off x="6830568" y="190195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7</a:t>
            </a:r>
            <a:endParaRPr lang="en-US" sz="1100" dirty="0"/>
          </a:p>
          <a:p>
            <a:pPr indent="0" marL="0">
              <a:buNone/>
            </a:pPr>
            <a:r>
              <a:rPr lang="en-US" sz="1500" b="1" dirty="0">
                <a:solidFill>
                  <a:srgbClr val="1B2437"/>
                </a:solidFill>
              </a:rPr>
              <a:t>Transfer ke dek</a:t>
            </a:r>
            <a:endParaRPr lang="en-US" sz="1100" dirty="0"/>
          </a:p>
          <a:p>
            <a:pPr indent="0" marL="0">
              <a:buNone/>
            </a:pPr>
            <a:r>
              <a:rPr lang="en-US" sz="1050" dirty="0">
                <a:solidFill>
                  <a:srgbClr val="5B6B86"/>
                </a:solidFill>
              </a:rPr>
              <a:t>Admin DC · Approve PUR</a:t>
            </a:r>
            <a:endParaRPr lang="en-US" sz="1100" dirty="0"/>
          </a:p>
        </p:txBody>
      </p:sp>
      <p:sp>
        <p:nvSpPr>
          <p:cNvPr id="33" name="Text 31"/>
          <p:cNvSpPr txBox="1"/>
          <p:nvPr/>
        </p:nvSpPr>
        <p:spPr>
          <a:xfrm>
            <a:off x="667512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Inventory Transfer</a:t>
            </a:r>
            <a:endParaRPr lang="en-US" sz="1050" dirty="0"/>
          </a:p>
        </p:txBody>
      </p:sp>
      <p:sp>
        <p:nvSpPr>
          <p:cNvPr id="34" name="Tahap Terima di dek"/>
          <p:cNvSpPr/>
          <p:nvPr/>
        </p:nvSpPr>
        <p:spPr>
          <a:xfrm>
            <a:off x="8595360" y="182880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35" name="Text 33"/>
          <p:cNvSpPr txBox="1"/>
          <p:nvPr/>
        </p:nvSpPr>
        <p:spPr>
          <a:xfrm>
            <a:off x="8705088" y="190195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8</a:t>
            </a:r>
            <a:endParaRPr lang="en-US" sz="1100" dirty="0"/>
          </a:p>
          <a:p>
            <a:pPr indent="0" marL="0">
              <a:buNone/>
            </a:pPr>
            <a:r>
              <a:rPr lang="en-US" sz="1500" b="1" dirty="0">
                <a:solidFill>
                  <a:srgbClr val="1B2437"/>
                </a:solidFill>
              </a:rPr>
              <a:t>Terima di dek</a:t>
            </a:r>
            <a:endParaRPr lang="en-US" sz="1100" dirty="0"/>
          </a:p>
          <a:p>
            <a:pPr indent="0" marL="0">
              <a:buNone/>
            </a:pPr>
            <a:r>
              <a:rPr lang="en-US" sz="1050" dirty="0">
                <a:solidFill>
                  <a:srgbClr val="5B6B86"/>
                </a:solidFill>
              </a:rPr>
              <a:t>Admin kapal · Approve SO</a:t>
            </a:r>
            <a:endParaRPr lang="en-US" sz="1100" dirty="0"/>
          </a:p>
        </p:txBody>
      </p:sp>
      <p:sp>
        <p:nvSpPr>
          <p:cNvPr id="36" name="Text 34"/>
          <p:cNvSpPr txBox="1"/>
          <p:nvPr/>
        </p:nvSpPr>
        <p:spPr>
          <a:xfrm>
            <a:off x="854964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SO ditutup</a:t>
            </a:r>
            <a:endParaRPr lang="en-US" sz="1050" dirty="0"/>
          </a:p>
        </p:txBody>
      </p:sp>
      <p:sp>
        <p:nvSpPr>
          <p:cNvPr id="37" name="Tahap Jual &amp; DO"/>
          <p:cNvSpPr/>
          <p:nvPr/>
        </p:nvSpPr>
        <p:spPr>
          <a:xfrm>
            <a:off x="10469880" y="1828800"/>
            <a:ext cx="1554480" cy="1188720"/>
          </a:xfrm>
          <a:prstGeom prst="roundRect">
            <a:avLst>
              <a:gd name="adj" fmla="val 7692"/>
            </a:avLst>
          </a:prstGeom>
          <a:solidFill>
            <a:srgbClr val="FFFFFF"/>
          </a:solidFill>
          <a:ln w="28575">
            <a:solidFill>
              <a:srgbClr val="15803D"/>
            </a:solidFill>
            <a:prstDash val="solid"/>
          </a:ln>
          <a:effectLst>
            <a:outerShdw sx="100000" sy="100000" kx="0" ky="0" algn="bl" rotWithShape="0" blurRad="76200" dist="25400" dir="5400000">
              <a:srgbClr val="1F3B7A">
                <a:alpha val="15000"/>
              </a:srgbClr>
            </a:outerShdw>
          </a:effectLst>
        </p:spPr>
      </p:sp>
      <p:sp>
        <p:nvSpPr>
          <p:cNvPr id="38" name="Text 36"/>
          <p:cNvSpPr txBox="1"/>
          <p:nvPr/>
        </p:nvSpPr>
        <p:spPr>
          <a:xfrm>
            <a:off x="10579608" y="1901952"/>
            <a:ext cx="1335024" cy="1042416"/>
          </a:xfrm>
          <a:prstGeom prst="rect">
            <a:avLst/>
          </a:prstGeom>
          <a:noFill/>
          <a:ln/>
        </p:spPr>
        <p:txBody>
          <a:bodyPr wrap="square" lIns="0" tIns="0" rIns="0" bIns="0" rtlCol="0" anchor="t"/>
          <a:lstStyle/>
          <a:p>
            <a:pPr indent="0" marL="0">
              <a:buNone/>
            </a:pPr>
            <a:r>
              <a:rPr lang="en-US" sz="1100" b="1" dirty="0">
                <a:solidFill>
                  <a:srgbClr val="15803D"/>
                </a:solidFill>
              </a:rPr>
              <a:t>Tahap 9</a:t>
            </a:r>
            <a:endParaRPr lang="en-US" sz="1100" dirty="0"/>
          </a:p>
          <a:p>
            <a:pPr indent="0" marL="0">
              <a:buNone/>
            </a:pPr>
            <a:r>
              <a:rPr lang="en-US" sz="1500" b="1" dirty="0">
                <a:solidFill>
                  <a:srgbClr val="1B2437"/>
                </a:solidFill>
              </a:rPr>
              <a:t>Jual &amp; DO</a:t>
            </a:r>
            <a:endParaRPr lang="en-US" sz="1100" dirty="0"/>
          </a:p>
          <a:p>
            <a:pPr indent="0" marL="0">
              <a:buNone/>
            </a:pPr>
            <a:r>
              <a:rPr lang="en-US" sz="1050" dirty="0">
                <a:solidFill>
                  <a:srgbClr val="5B6B86"/>
                </a:solidFill>
              </a:rPr>
              <a:t>Kasir</a:t>
            </a:r>
            <a:endParaRPr lang="en-US" sz="1100" dirty="0"/>
          </a:p>
        </p:txBody>
      </p:sp>
      <p:sp>
        <p:nvSpPr>
          <p:cNvPr id="39" name="Text 37"/>
          <p:cNvSpPr txBox="1"/>
          <p:nvPr/>
        </p:nvSpPr>
        <p:spPr>
          <a:xfrm>
            <a:off x="1042416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Delivery (DO)</a:t>
            </a:r>
            <a:endParaRPr lang="en-US" sz="1050" dirty="0"/>
          </a:p>
        </p:txBody>
      </p:sp>
      <p:sp>
        <p:nvSpPr>
          <p:cNvPr id="40" name="Contoh"/>
          <p:cNvSpPr/>
          <p:nvPr/>
        </p:nvSpPr>
        <p:spPr>
          <a:xfrm>
            <a:off x="457200" y="5760720"/>
            <a:ext cx="11274552" cy="502920"/>
          </a:xfrm>
          <a:prstGeom prst="roundRect">
            <a:avLst>
              <a:gd name="adj" fmla="val 18182"/>
            </a:avLst>
          </a:prstGeom>
          <a:solidFill>
            <a:srgbClr val="EEF3FB"/>
          </a:solidFill>
          <a:ln w="12700">
            <a:solidFill>
              <a:srgbClr val="EEF3FB"/>
            </a:solidFill>
            <a:prstDash val="solid"/>
          </a:ln>
        </p:spPr>
      </p:sp>
      <p:sp>
        <p:nvSpPr>
          <p:cNvPr id="41" name="Text 39"/>
          <p:cNvSpPr txBox="1"/>
          <p:nvPr/>
        </p:nvSpPr>
        <p:spPr>
          <a:xfrm>
            <a:off x="685800" y="5760720"/>
            <a:ext cx="10881360" cy="502920"/>
          </a:xfrm>
          <a:prstGeom prst="rect">
            <a:avLst/>
          </a:prstGeom>
          <a:noFill/>
          <a:ln/>
        </p:spPr>
        <p:txBody>
          <a:bodyPr wrap="square" lIns="0" tIns="0" rIns="0" bIns="0" rtlCol="0" anchor="ctr"/>
          <a:lstStyle/>
          <a:p>
            <a:pPr indent="0" marL="0">
              <a:buNone/>
            </a:pPr>
            <a:r>
              <a:rPr lang="en-US" sz="1400" b="1" dirty="0">
                <a:solidFill>
                  <a:srgbClr val="FF6B1A"/>
                </a:solidFill>
              </a:rPr>
              <a:t>Contoh: </a:t>
            </a:r>
            <a:pPr indent="0" marL="0">
              <a:buNone/>
            </a:pPr>
            <a:r>
              <a:rPr lang="en-US" sz="1400" dirty="0">
                <a:solidFill>
                  <a:srgbClr val="1B2437"/>
                </a:solidFill>
              </a:rPr>
              <a:t>PERMINTAAN-AWU/2610/0008 · KM Awu · AQUA 6 pcs ke Dek 3 dari stok DC · Teh Pucuk 24 pcs ke Dek 7 dibeli lewat PUR dan PO</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Uji coba berhasil, siap ke tahap berikutnya</a:t>
            </a:r>
            <a:endParaRPr lang="en-US" sz="3400" dirty="0"/>
          </a:p>
        </p:txBody>
      </p:sp>
      <p:sp>
        <p:nvSpPr>
          <p:cNvPr id="3" name="Hasil uji coba"/>
          <p:cNvSpPr/>
          <p:nvPr/>
        </p:nvSpPr>
        <p:spPr>
          <a:xfrm>
            <a:off x="457200" y="1188720"/>
            <a:ext cx="5486400" cy="3246120"/>
          </a:xfrm>
          <a:prstGeom prst="roundRect">
            <a:avLst>
              <a:gd name="adj" fmla="val 3380"/>
            </a:avLst>
          </a:prstGeom>
          <a:solidFill>
            <a:srgbClr val="EEF3FB"/>
          </a:solidFill>
          <a:ln w="12700">
            <a:solidFill>
              <a:srgbClr val="EEF3FB"/>
            </a:solidFill>
            <a:prstDash val="solid"/>
          </a:ln>
        </p:spPr>
      </p:sp>
      <p:sp>
        <p:nvSpPr>
          <p:cNvPr id="4" name="Text 2"/>
          <p:cNvSpPr txBox="1"/>
          <p:nvPr/>
        </p:nvSpPr>
        <p:spPr>
          <a:xfrm>
            <a:off x="685800" y="1325880"/>
            <a:ext cx="5029200" cy="365760"/>
          </a:xfrm>
          <a:prstGeom prst="rect">
            <a:avLst/>
          </a:prstGeom>
          <a:noFill/>
          <a:ln/>
        </p:spPr>
        <p:txBody>
          <a:bodyPr wrap="square" lIns="0" tIns="0" rIns="0" bIns="0" rtlCol="0" anchor="ctr"/>
          <a:lstStyle/>
          <a:p>
            <a:pPr indent="0" marL="0">
              <a:buNone/>
            </a:pPr>
            <a:r>
              <a:rPr lang="en-US" sz="1800" b="1" dirty="0">
                <a:solidFill>
                  <a:srgbClr val="1F3B7A"/>
                </a:solidFill>
              </a:rPr>
              <a:t>Hasil uji coba 22-10-2026</a:t>
            </a:r>
            <a:endParaRPr lang="en-US" sz="1800" dirty="0"/>
          </a:p>
        </p:txBody>
      </p:sp>
      <p:sp>
        <p:nvSpPr>
          <p:cNvPr id="5" name="Text 3"/>
          <p:cNvSpPr txBox="1"/>
          <p:nvPr/>
        </p:nvSpPr>
        <p:spPr>
          <a:xfrm>
            <a:off x="685800" y="1828800"/>
            <a:ext cx="384048" cy="384048"/>
          </a:xfrm>
          <a:prstGeom prst="ellipse">
            <a:avLst/>
          </a:prstGeom>
          <a:solidFill>
            <a:srgbClr val="3A7D3A"/>
          </a:solidFill>
          <a:ln>
            <a:solidFill>
              <a:srgbClr val="3A7D3A"/>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6" name="Text 4"/>
          <p:cNvSpPr txBox="1"/>
          <p:nvPr/>
        </p:nvSpPr>
        <p:spPr>
          <a:xfrm>
            <a:off x="1234440" y="1773936"/>
            <a:ext cx="4526280" cy="512064"/>
          </a:xfrm>
          <a:prstGeom prst="rect">
            <a:avLst/>
          </a:prstGeom>
          <a:noFill/>
          <a:ln/>
        </p:spPr>
        <p:txBody>
          <a:bodyPr wrap="square" lIns="0" tIns="0" rIns="0" bIns="0" rtlCol="0" anchor="ctr"/>
          <a:lstStyle/>
          <a:p>
            <a:pPr indent="0" marL="0">
              <a:buNone/>
            </a:pPr>
            <a:r>
              <a:rPr lang="en-US" sz="1400" dirty="0">
                <a:solidFill>
                  <a:srgbClr val="1B2437"/>
                </a:solidFill>
              </a:rPr>
              <a:t>Satu permintaan dijalankan penuh, 9 tahap, oleh 7 peran</a:t>
            </a:r>
            <a:endParaRPr lang="en-US" sz="1400" dirty="0"/>
          </a:p>
        </p:txBody>
      </p:sp>
      <p:sp>
        <p:nvSpPr>
          <p:cNvPr id="7" name="Text 5"/>
          <p:cNvSpPr txBox="1"/>
          <p:nvPr/>
        </p:nvSpPr>
        <p:spPr>
          <a:xfrm>
            <a:off x="685800" y="2450592"/>
            <a:ext cx="384048" cy="384048"/>
          </a:xfrm>
          <a:prstGeom prst="ellipse">
            <a:avLst/>
          </a:prstGeom>
          <a:solidFill>
            <a:srgbClr val="3A7D3A"/>
          </a:solidFill>
          <a:ln>
            <a:solidFill>
              <a:srgbClr val="3A7D3A"/>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6"/>
          <p:cNvSpPr txBox="1"/>
          <p:nvPr/>
        </p:nvSpPr>
        <p:spPr>
          <a:xfrm>
            <a:off x="1234440" y="2395728"/>
            <a:ext cx="4526280" cy="512064"/>
          </a:xfrm>
          <a:prstGeom prst="rect">
            <a:avLst/>
          </a:prstGeom>
          <a:noFill/>
          <a:ln/>
        </p:spPr>
        <p:txBody>
          <a:bodyPr wrap="square" lIns="0" tIns="0" rIns="0" bIns="0" rtlCol="0" anchor="ctr"/>
          <a:lstStyle/>
          <a:p>
            <a:pPr indent="0" marL="0">
              <a:buNone/>
            </a:pPr>
            <a:r>
              <a:rPr lang="en-US" sz="1400" dirty="0">
                <a:solidFill>
                  <a:srgbClr val="1B2437"/>
                </a:solidFill>
              </a:rPr>
              <a:t>Semua dokumen terbentuk di SAP: SO, PUR, PO, GRPO, Inventory Transfer, DO</a:t>
            </a:r>
            <a:endParaRPr lang="en-US" sz="1400" dirty="0"/>
          </a:p>
        </p:txBody>
      </p:sp>
      <p:sp>
        <p:nvSpPr>
          <p:cNvPr id="9" name="Text 7"/>
          <p:cNvSpPr txBox="1"/>
          <p:nvPr/>
        </p:nvSpPr>
        <p:spPr>
          <a:xfrm>
            <a:off x="685800" y="3072384"/>
            <a:ext cx="384048" cy="384048"/>
          </a:xfrm>
          <a:prstGeom prst="ellipse">
            <a:avLst/>
          </a:prstGeom>
          <a:solidFill>
            <a:srgbClr val="3A7D3A"/>
          </a:solidFill>
          <a:ln>
            <a:solidFill>
              <a:srgbClr val="3A7D3A"/>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8"/>
          <p:cNvSpPr txBox="1"/>
          <p:nvPr/>
        </p:nvSpPr>
        <p:spPr>
          <a:xfrm>
            <a:off x="1234440" y="3017520"/>
            <a:ext cx="4526280" cy="512064"/>
          </a:xfrm>
          <a:prstGeom prst="rect">
            <a:avLst/>
          </a:prstGeom>
          <a:noFill/>
          <a:ln/>
        </p:spPr>
        <p:txBody>
          <a:bodyPr wrap="square" lIns="0" tIns="0" rIns="0" bIns="0" rtlCol="0" anchor="ctr"/>
          <a:lstStyle/>
          <a:p>
            <a:pPr indent="0" marL="0">
              <a:buNone/>
            </a:pPr>
            <a:r>
              <a:rPr lang="en-US" sz="1400" dirty="0">
                <a:solidFill>
                  <a:srgbClr val="1B2437"/>
                </a:solidFill>
              </a:rPr>
              <a:t>Temuan hak akses penyetuju sudah diperbaiki (rilis 20261022_2202)</a:t>
            </a:r>
            <a:endParaRPr lang="en-US" sz="1400" dirty="0"/>
          </a:p>
        </p:txBody>
      </p:sp>
      <p:sp>
        <p:nvSpPr>
          <p:cNvPr id="11" name="Text 9"/>
          <p:cNvSpPr txBox="1"/>
          <p:nvPr/>
        </p:nvSpPr>
        <p:spPr>
          <a:xfrm>
            <a:off x="685800" y="3694176"/>
            <a:ext cx="384048" cy="384048"/>
          </a:xfrm>
          <a:prstGeom prst="ellipse">
            <a:avLst/>
          </a:prstGeom>
          <a:solidFill>
            <a:srgbClr val="FF6B1A"/>
          </a:solidFill>
          <a:ln>
            <a:solidFill>
              <a:srgbClr val="FF6B1A"/>
            </a:solid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2" name="Text 10"/>
          <p:cNvSpPr txBox="1"/>
          <p:nvPr/>
        </p:nvSpPr>
        <p:spPr>
          <a:xfrm>
            <a:off x="1234440" y="3639312"/>
            <a:ext cx="4526280" cy="512064"/>
          </a:xfrm>
          <a:prstGeom prst="rect">
            <a:avLst/>
          </a:prstGeom>
          <a:noFill/>
          <a:ln/>
        </p:spPr>
        <p:txBody>
          <a:bodyPr wrap="square" lIns="0" tIns="0" rIns="0" bIns="0" rtlCol="0" anchor="ctr"/>
          <a:lstStyle/>
          <a:p>
            <a:pPr indent="0" marL="0">
              <a:buNone/>
            </a:pPr>
            <a:r>
              <a:rPr lang="en-US" sz="1400" dirty="0">
                <a:solidFill>
                  <a:srgbClr val="1B2437"/>
                </a:solidFill>
              </a:rPr>
              <a:t>Terbuka: Sales Order masih memakai customer umum; kode customer per dek perlu diisi</a:t>
            </a:r>
            <a:endParaRPr lang="en-US" sz="1400" dirty="0"/>
          </a:p>
        </p:txBody>
      </p:sp>
      <p:sp>
        <p:nvSpPr>
          <p:cNvPr id="13" name="Materi sosialisasi"/>
          <p:cNvSpPr/>
          <p:nvPr/>
        </p:nvSpPr>
        <p:spPr>
          <a:xfrm>
            <a:off x="6245352" y="1188720"/>
            <a:ext cx="5486400" cy="3246120"/>
          </a:xfrm>
          <a:prstGeom prst="roundRect">
            <a:avLst>
              <a:gd name="adj" fmla="val 3380"/>
            </a:avLst>
          </a:prstGeom>
          <a:solidFill>
            <a:srgbClr val="EEF3FB"/>
          </a:solidFill>
          <a:ln w="12700">
            <a:solidFill>
              <a:srgbClr val="EEF3FB"/>
            </a:solidFill>
            <a:prstDash val="solid"/>
          </a:ln>
        </p:spPr>
      </p:sp>
      <p:sp>
        <p:nvSpPr>
          <p:cNvPr id="14" name="Text 12"/>
          <p:cNvSpPr txBox="1"/>
          <p:nvPr/>
        </p:nvSpPr>
        <p:spPr>
          <a:xfrm>
            <a:off x="6473952" y="1325880"/>
            <a:ext cx="5029200" cy="365760"/>
          </a:xfrm>
          <a:prstGeom prst="rect">
            <a:avLst/>
          </a:prstGeom>
          <a:noFill/>
          <a:ln/>
        </p:spPr>
        <p:txBody>
          <a:bodyPr wrap="square" lIns="0" tIns="0" rIns="0" bIns="0" rtlCol="0" anchor="ctr"/>
          <a:lstStyle/>
          <a:p>
            <a:pPr indent="0" marL="0">
              <a:buNone/>
            </a:pPr>
            <a:r>
              <a:rPr lang="en-US" sz="1800" b="1" dirty="0">
                <a:solidFill>
                  <a:srgbClr val="1F3B7A"/>
                </a:solidFill>
              </a:rPr>
              <a:t>Materi sosialisasi siap</a:t>
            </a:r>
            <a:endParaRPr lang="en-US" sz="1800" dirty="0"/>
          </a:p>
        </p:txBody>
      </p:sp>
      <p:sp>
        <p:nvSpPr>
          <p:cNvPr id="15" name="Text 13"/>
          <p:cNvSpPr txBox="1"/>
          <p:nvPr/>
        </p:nvSpPr>
        <p:spPr>
          <a:xfrm>
            <a:off x="6473952" y="1874520"/>
            <a:ext cx="1554480" cy="914400"/>
          </a:xfrm>
          <a:prstGeom prst="rect">
            <a:avLst/>
          </a:prstGeom>
          <a:noFill/>
          <a:ln/>
        </p:spPr>
        <p:txBody>
          <a:bodyPr wrap="square" lIns="0" tIns="0" rIns="0" bIns="0" rtlCol="0" anchor="ctr"/>
          <a:lstStyle/>
          <a:p>
            <a:pPr indent="0" marL="0">
              <a:buNone/>
            </a:pPr>
            <a:r>
              <a:rPr lang="en-US" sz="5400" b="1" dirty="0">
                <a:solidFill>
                  <a:srgbClr val="1F3B7A"/>
                </a:solidFill>
              </a:rPr>
              <a:t>1</a:t>
            </a:r>
            <a:endParaRPr lang="en-US" sz="5400" dirty="0"/>
          </a:p>
        </p:txBody>
      </p:sp>
      <p:sp>
        <p:nvSpPr>
          <p:cNvPr id="16" name="Text 14"/>
          <p:cNvSpPr txBox="1"/>
          <p:nvPr/>
        </p:nvSpPr>
        <p:spPr>
          <a:xfrm>
            <a:off x="6473952" y="2834640"/>
            <a:ext cx="1600200" cy="914400"/>
          </a:xfrm>
          <a:prstGeom prst="rect">
            <a:avLst/>
          </a:prstGeom>
          <a:noFill/>
          <a:ln/>
        </p:spPr>
        <p:txBody>
          <a:bodyPr wrap="square" lIns="0" tIns="0" rIns="0" bIns="0" rtlCol="0" anchor="t"/>
          <a:lstStyle/>
          <a:p>
            <a:pPr indent="0" marL="0">
              <a:buNone/>
            </a:pPr>
            <a:r>
              <a:rPr lang="en-US" sz="1500" b="1" dirty="0">
                <a:solidFill>
                  <a:srgbClr val="1B2437"/>
                </a:solidFill>
              </a:rPr>
              <a:t>Manual book</a:t>
            </a:r>
            <a:endParaRPr lang="en-US" sz="1500" dirty="0"/>
          </a:p>
          <a:p>
            <a:pPr indent="0" marL="0">
              <a:buNone/>
            </a:pPr>
            <a:r>
              <a:rPr lang="en-US" sz="1200" dirty="0">
                <a:solidFill>
                  <a:srgbClr val="5B6B86"/>
                </a:solidFill>
              </a:rPr>
              <a:t>per peran, 44 halaman</a:t>
            </a:r>
            <a:endParaRPr lang="en-US" sz="1500" dirty="0"/>
          </a:p>
        </p:txBody>
      </p:sp>
      <p:sp>
        <p:nvSpPr>
          <p:cNvPr id="17" name="Text 15"/>
          <p:cNvSpPr txBox="1"/>
          <p:nvPr/>
        </p:nvSpPr>
        <p:spPr>
          <a:xfrm>
            <a:off x="8193024" y="1874520"/>
            <a:ext cx="1554480" cy="914400"/>
          </a:xfrm>
          <a:prstGeom prst="rect">
            <a:avLst/>
          </a:prstGeom>
          <a:noFill/>
          <a:ln/>
        </p:spPr>
        <p:txBody>
          <a:bodyPr wrap="square" lIns="0" tIns="0" rIns="0" bIns="0" rtlCol="0" anchor="ctr"/>
          <a:lstStyle/>
          <a:p>
            <a:pPr indent="0" marL="0">
              <a:buNone/>
            </a:pPr>
            <a:r>
              <a:rPr lang="en-US" sz="5400" b="1" dirty="0">
                <a:solidFill>
                  <a:srgbClr val="1F3B7A"/>
                </a:solidFill>
              </a:rPr>
              <a:t>9</a:t>
            </a:r>
            <a:endParaRPr lang="en-US" sz="5400" dirty="0"/>
          </a:p>
        </p:txBody>
      </p:sp>
      <p:sp>
        <p:nvSpPr>
          <p:cNvPr id="18" name="Text 16"/>
          <p:cNvSpPr txBox="1"/>
          <p:nvPr/>
        </p:nvSpPr>
        <p:spPr>
          <a:xfrm>
            <a:off x="8193024" y="2834640"/>
            <a:ext cx="1600200" cy="914400"/>
          </a:xfrm>
          <a:prstGeom prst="rect">
            <a:avLst/>
          </a:prstGeom>
          <a:noFill/>
          <a:ln/>
        </p:spPr>
        <p:txBody>
          <a:bodyPr wrap="square" lIns="0" tIns="0" rIns="0" bIns="0" rtlCol="0" anchor="t"/>
          <a:lstStyle/>
          <a:p>
            <a:pPr indent="0" marL="0">
              <a:buNone/>
            </a:pPr>
            <a:r>
              <a:rPr lang="en-US" sz="1500" b="1" dirty="0">
                <a:solidFill>
                  <a:srgbClr val="1B2437"/>
                </a:solidFill>
              </a:rPr>
              <a:t>video tutorial</a:t>
            </a:r>
            <a:endParaRPr lang="en-US" sz="1500" dirty="0"/>
          </a:p>
          <a:p>
            <a:pPr indent="0" marL="0">
              <a:buNone/>
            </a:pPr>
            <a:r>
              <a:rPr lang="en-US" sz="1200" dirty="0">
                <a:solidFill>
                  <a:srgbClr val="5B6B86"/>
                </a:solidFill>
              </a:rPr>
              <a:t>alur lengkap + per peran</a:t>
            </a:r>
            <a:endParaRPr lang="en-US" sz="1500" dirty="0"/>
          </a:p>
        </p:txBody>
      </p:sp>
      <p:sp>
        <p:nvSpPr>
          <p:cNvPr id="19" name="Text 17"/>
          <p:cNvSpPr txBox="1"/>
          <p:nvPr/>
        </p:nvSpPr>
        <p:spPr>
          <a:xfrm>
            <a:off x="9912096" y="1874520"/>
            <a:ext cx="1554480" cy="914400"/>
          </a:xfrm>
          <a:prstGeom prst="rect">
            <a:avLst/>
          </a:prstGeom>
          <a:noFill/>
          <a:ln/>
        </p:spPr>
        <p:txBody>
          <a:bodyPr wrap="square" lIns="0" tIns="0" rIns="0" bIns="0" rtlCol="0" anchor="ctr"/>
          <a:lstStyle/>
          <a:p>
            <a:pPr indent="0" marL="0">
              <a:buNone/>
            </a:pPr>
            <a:r>
              <a:rPr lang="en-US" sz="5400" b="1" dirty="0">
                <a:solidFill>
                  <a:srgbClr val="1F3B7A"/>
                </a:solidFill>
              </a:rPr>
              <a:t>4</a:t>
            </a:r>
            <a:endParaRPr lang="en-US" sz="5400" dirty="0"/>
          </a:p>
        </p:txBody>
      </p:sp>
      <p:sp>
        <p:nvSpPr>
          <p:cNvPr id="20" name="Text 18"/>
          <p:cNvSpPr txBox="1"/>
          <p:nvPr/>
        </p:nvSpPr>
        <p:spPr>
          <a:xfrm>
            <a:off x="9912096" y="2834640"/>
            <a:ext cx="1600200" cy="914400"/>
          </a:xfrm>
          <a:prstGeom prst="rect">
            <a:avLst/>
          </a:prstGeom>
          <a:noFill/>
          <a:ln/>
        </p:spPr>
        <p:txBody>
          <a:bodyPr wrap="square" lIns="0" tIns="0" rIns="0" bIns="0" rtlCol="0" anchor="t"/>
          <a:lstStyle/>
          <a:p>
            <a:pPr indent="0" marL="0">
              <a:buNone/>
            </a:pPr>
            <a:r>
              <a:rPr lang="en-US" sz="1500" b="1" dirty="0">
                <a:solidFill>
                  <a:srgbClr val="1B2437"/>
                </a:solidFill>
              </a:rPr>
              <a:t>video pendek</a:t>
            </a:r>
            <a:endParaRPr lang="en-US" sz="1500" dirty="0"/>
          </a:p>
          <a:p>
            <a:pPr indent="0" marL="0">
              <a:buNone/>
            </a:pPr>
            <a:r>
              <a:rPr lang="en-US" sz="1200" dirty="0">
                <a:solidFill>
                  <a:srgbClr val="5B6B86"/>
                </a:solidFill>
              </a:rPr>
              <a:t>format media sosial</a:t>
            </a:r>
            <a:endParaRPr lang="en-US" sz="1500" dirty="0"/>
          </a:p>
        </p:txBody>
      </p:sp>
      <p:sp>
        <p:nvSpPr>
          <p:cNvPr id="21" name="Text 19"/>
          <p:cNvSpPr txBox="1"/>
          <p:nvPr/>
        </p:nvSpPr>
        <p:spPr>
          <a:xfrm>
            <a:off x="457200" y="4663440"/>
            <a:ext cx="7315200" cy="365760"/>
          </a:xfrm>
          <a:prstGeom prst="rect">
            <a:avLst/>
          </a:prstGeom>
          <a:noFill/>
          <a:ln/>
        </p:spPr>
        <p:txBody>
          <a:bodyPr wrap="square" lIns="0" tIns="0" rIns="0" bIns="0" rtlCol="0" anchor="ctr"/>
          <a:lstStyle/>
          <a:p>
            <a:pPr indent="0" marL="0">
              <a:buNone/>
            </a:pPr>
            <a:r>
              <a:rPr lang="en-US" sz="1800" b="1" dirty="0">
                <a:solidFill>
                  <a:srgbClr val="1F3B7A"/>
                </a:solidFill>
              </a:rPr>
              <a:t>Usulan langkah berikutnya</a:t>
            </a:r>
            <a:endParaRPr lang="en-US" sz="1800" dirty="0"/>
          </a:p>
        </p:txBody>
      </p:sp>
      <p:sp>
        <p:nvSpPr>
          <p:cNvPr id="22" name="Lengkapi kode customer per dek di SAP"/>
          <p:cNvSpPr/>
          <p:nvPr/>
        </p:nvSpPr>
        <p:spPr>
          <a:xfrm>
            <a:off x="457200" y="5120640"/>
            <a:ext cx="3611880" cy="1051560"/>
          </a:xfrm>
          <a:prstGeom prst="roundRect">
            <a:avLst>
              <a:gd name="adj" fmla="val 10435"/>
            </a:avLst>
          </a:prstGeom>
          <a:solidFill>
            <a:srgbClr val="1F3B7A"/>
          </a:solidFill>
          <a:ln w="12700">
            <a:solidFill>
              <a:srgbClr val="1F3B7A"/>
            </a:solidFill>
            <a:prstDash val="solid"/>
          </a:ln>
        </p:spPr>
      </p:sp>
      <p:sp>
        <p:nvSpPr>
          <p:cNvPr id="23" name="Text 21"/>
          <p:cNvSpPr txBox="1"/>
          <p:nvPr/>
        </p:nvSpPr>
        <p:spPr>
          <a:xfrm>
            <a:off x="640080" y="5193792"/>
            <a:ext cx="457200" cy="868680"/>
          </a:xfrm>
          <a:prstGeom prst="rect">
            <a:avLst/>
          </a:prstGeom>
          <a:noFill/>
          <a:ln/>
        </p:spPr>
        <p:txBody>
          <a:bodyPr wrap="square" lIns="0" tIns="0" rIns="0" bIns="0" rtlCol="0" anchor="ctr"/>
          <a:lstStyle/>
          <a:p>
            <a:pPr indent="0" marL="0">
              <a:buNone/>
            </a:pPr>
            <a:r>
              <a:rPr lang="en-US" sz="3200" b="1" dirty="0">
                <a:solidFill>
                  <a:srgbClr val="FF6B1A"/>
                </a:solidFill>
              </a:rPr>
              <a:t>1</a:t>
            </a:r>
            <a:endParaRPr lang="en-US" sz="3200" dirty="0"/>
          </a:p>
        </p:txBody>
      </p:sp>
      <p:sp>
        <p:nvSpPr>
          <p:cNvPr id="24" name="Text 22"/>
          <p:cNvSpPr txBox="1"/>
          <p:nvPr/>
        </p:nvSpPr>
        <p:spPr>
          <a:xfrm>
            <a:off x="1143000" y="5193792"/>
            <a:ext cx="2788920" cy="868680"/>
          </a:xfrm>
          <a:prstGeom prst="rect">
            <a:avLst/>
          </a:prstGeom>
          <a:noFill/>
          <a:ln/>
        </p:spPr>
        <p:txBody>
          <a:bodyPr wrap="square" lIns="0" tIns="0" rIns="0" bIns="0" rtlCol="0" anchor="ctr"/>
          <a:lstStyle/>
          <a:p>
            <a:pPr indent="0" marL="0">
              <a:buNone/>
            </a:pPr>
            <a:r>
              <a:rPr lang="en-US" sz="1500" b="1" dirty="0">
                <a:solidFill>
                  <a:srgbClr val="FFFFFF"/>
                </a:solidFill>
              </a:rPr>
              <a:t>Lengkapi kode customer per dek di SAP</a:t>
            </a:r>
            <a:endParaRPr lang="en-US" sz="1500" dirty="0"/>
          </a:p>
          <a:p>
            <a:pPr indent="0" marL="0">
              <a:buNone/>
            </a:pPr>
            <a:r>
              <a:rPr lang="en-US" sz="1200" dirty="0">
                <a:solidFill>
                  <a:srgbClr val="CADCFC"/>
                </a:solidFill>
              </a:rPr>
              <a:t>menutup temuan terbuka</a:t>
            </a:r>
            <a:endParaRPr lang="en-US" sz="1500" dirty="0"/>
          </a:p>
        </p:txBody>
      </p:sp>
      <p:sp>
        <p:nvSpPr>
          <p:cNvPr id="25" name="Pilot di satu kapal (KM Awu)"/>
          <p:cNvSpPr/>
          <p:nvPr/>
        </p:nvSpPr>
        <p:spPr>
          <a:xfrm>
            <a:off x="4251960" y="5120640"/>
            <a:ext cx="3611880" cy="1051560"/>
          </a:xfrm>
          <a:prstGeom prst="roundRect">
            <a:avLst>
              <a:gd name="adj" fmla="val 10435"/>
            </a:avLst>
          </a:prstGeom>
          <a:solidFill>
            <a:srgbClr val="1F3B7A"/>
          </a:solidFill>
          <a:ln w="12700">
            <a:solidFill>
              <a:srgbClr val="1F3B7A"/>
            </a:solidFill>
            <a:prstDash val="solid"/>
          </a:ln>
        </p:spPr>
      </p:sp>
      <p:sp>
        <p:nvSpPr>
          <p:cNvPr id="26" name="Text 24"/>
          <p:cNvSpPr txBox="1"/>
          <p:nvPr/>
        </p:nvSpPr>
        <p:spPr>
          <a:xfrm>
            <a:off x="4434840" y="5193792"/>
            <a:ext cx="457200" cy="868680"/>
          </a:xfrm>
          <a:prstGeom prst="rect">
            <a:avLst/>
          </a:prstGeom>
          <a:noFill/>
          <a:ln/>
        </p:spPr>
        <p:txBody>
          <a:bodyPr wrap="square" lIns="0" tIns="0" rIns="0" bIns="0" rtlCol="0" anchor="ctr"/>
          <a:lstStyle/>
          <a:p>
            <a:pPr indent="0" marL="0">
              <a:buNone/>
            </a:pPr>
            <a:r>
              <a:rPr lang="en-US" sz="3200" b="1" dirty="0">
                <a:solidFill>
                  <a:srgbClr val="FF6B1A"/>
                </a:solidFill>
              </a:rPr>
              <a:t>2</a:t>
            </a:r>
            <a:endParaRPr lang="en-US" sz="3200" dirty="0"/>
          </a:p>
        </p:txBody>
      </p:sp>
      <p:sp>
        <p:nvSpPr>
          <p:cNvPr id="27" name="Text 25"/>
          <p:cNvSpPr txBox="1"/>
          <p:nvPr/>
        </p:nvSpPr>
        <p:spPr>
          <a:xfrm>
            <a:off x="4937760" y="5193792"/>
            <a:ext cx="2788920" cy="868680"/>
          </a:xfrm>
          <a:prstGeom prst="rect">
            <a:avLst/>
          </a:prstGeom>
          <a:noFill/>
          <a:ln/>
        </p:spPr>
        <p:txBody>
          <a:bodyPr wrap="square" lIns="0" tIns="0" rIns="0" bIns="0" rtlCol="0" anchor="ctr"/>
          <a:lstStyle/>
          <a:p>
            <a:pPr indent="0" marL="0">
              <a:buNone/>
            </a:pPr>
            <a:r>
              <a:rPr lang="en-US" sz="1500" b="1" dirty="0">
                <a:solidFill>
                  <a:srgbClr val="FFFFFF"/>
                </a:solidFill>
              </a:rPr>
              <a:t>Pilot di satu kapal (KM Awu)</a:t>
            </a:r>
            <a:endParaRPr lang="en-US" sz="1500" dirty="0"/>
          </a:p>
          <a:p>
            <a:pPr indent="0" marL="0">
              <a:buNone/>
            </a:pPr>
            <a:r>
              <a:rPr lang="en-US" sz="1200" dirty="0">
                <a:solidFill>
                  <a:srgbClr val="CADCFC"/>
                </a:solidFill>
              </a:rPr>
              <a:t>dengan SAP produksi</a:t>
            </a:r>
            <a:endParaRPr lang="en-US" sz="1500" dirty="0"/>
          </a:p>
        </p:txBody>
      </p:sp>
      <p:sp>
        <p:nvSpPr>
          <p:cNvPr id="28" name="Sosialisasi ke seluruh peran"/>
          <p:cNvSpPr/>
          <p:nvPr/>
        </p:nvSpPr>
        <p:spPr>
          <a:xfrm>
            <a:off x="8046720" y="5120640"/>
            <a:ext cx="3611880" cy="1051560"/>
          </a:xfrm>
          <a:prstGeom prst="roundRect">
            <a:avLst>
              <a:gd name="adj" fmla="val 10435"/>
            </a:avLst>
          </a:prstGeom>
          <a:solidFill>
            <a:srgbClr val="1F3B7A"/>
          </a:solidFill>
          <a:ln w="12700">
            <a:solidFill>
              <a:srgbClr val="1F3B7A"/>
            </a:solidFill>
            <a:prstDash val="solid"/>
          </a:ln>
        </p:spPr>
      </p:sp>
      <p:sp>
        <p:nvSpPr>
          <p:cNvPr id="29" name="Text 27"/>
          <p:cNvSpPr txBox="1"/>
          <p:nvPr/>
        </p:nvSpPr>
        <p:spPr>
          <a:xfrm>
            <a:off x="8229600" y="5193792"/>
            <a:ext cx="457200" cy="868680"/>
          </a:xfrm>
          <a:prstGeom prst="rect">
            <a:avLst/>
          </a:prstGeom>
          <a:noFill/>
          <a:ln/>
        </p:spPr>
        <p:txBody>
          <a:bodyPr wrap="square" lIns="0" tIns="0" rIns="0" bIns="0" rtlCol="0" anchor="ctr"/>
          <a:lstStyle/>
          <a:p>
            <a:pPr indent="0" marL="0">
              <a:buNone/>
            </a:pPr>
            <a:r>
              <a:rPr lang="en-US" sz="3200" b="1" dirty="0">
                <a:solidFill>
                  <a:srgbClr val="FF6B1A"/>
                </a:solidFill>
              </a:rPr>
              <a:t>3</a:t>
            </a:r>
            <a:endParaRPr lang="en-US" sz="3200" dirty="0"/>
          </a:p>
        </p:txBody>
      </p:sp>
      <p:sp>
        <p:nvSpPr>
          <p:cNvPr id="30" name="Text 28"/>
          <p:cNvSpPr txBox="1"/>
          <p:nvPr/>
        </p:nvSpPr>
        <p:spPr>
          <a:xfrm>
            <a:off x="8732520" y="5193792"/>
            <a:ext cx="2788920" cy="868680"/>
          </a:xfrm>
          <a:prstGeom prst="rect">
            <a:avLst/>
          </a:prstGeom>
          <a:noFill/>
          <a:ln/>
        </p:spPr>
        <p:txBody>
          <a:bodyPr wrap="square" lIns="0" tIns="0" rIns="0" bIns="0" rtlCol="0" anchor="ctr"/>
          <a:lstStyle/>
          <a:p>
            <a:pPr indent="0" marL="0">
              <a:buNone/>
            </a:pPr>
            <a:r>
              <a:rPr lang="en-US" sz="1500" b="1" dirty="0">
                <a:solidFill>
                  <a:srgbClr val="FFFFFF"/>
                </a:solidFill>
              </a:rPr>
              <a:t>Sosialisasi ke seluruh peran</a:t>
            </a:r>
            <a:endParaRPr lang="en-US" sz="1500" dirty="0"/>
          </a:p>
          <a:p>
            <a:pPr indent="0" marL="0">
              <a:buNone/>
            </a:pPr>
            <a:r>
              <a:rPr lang="en-US" sz="1200" dirty="0">
                <a:solidFill>
                  <a:srgbClr val="CADCFC"/>
                </a:solidFill>
              </a:rPr>
              <a:t>memakai manual dan video</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PID POS">
  <a:themeElements>
    <a:clrScheme name="PID POS">
      <a:dk1>
        <a:srgbClr val="1B2437"/>
      </a:dk1>
      <a:lt1>
        <a:srgbClr val="FFFFFF"/>
      </a:lt1>
      <a:dk2>
        <a:srgbClr val="1F3B7A"/>
      </a:dk2>
      <a:lt2>
        <a:srgbClr val="EEF3FB"/>
      </a:lt2>
      <a:accent1>
        <a:srgbClr val="FF6B1A"/>
      </a:accent1>
      <a:accent2>
        <a:srgbClr val="3A7D3A"/>
      </a:accent2>
      <a:accent3>
        <a:srgbClr val="3D8BFF"/>
      </a:accent3>
      <a:accent4>
        <a:srgbClr val="C0392B"/>
      </a:accent4>
      <a:accent5>
        <a:srgbClr val="5B6B86"/>
      </a:accent5>
      <a:accent6>
        <a:srgbClr val="D5DEEC"/>
      </a:accent6>
      <a:hlink>
        <a:srgbClr val="1F3B7A"/>
      </a:hlink>
      <a:folHlink>
        <a:srgbClr val="5B6B86"/>
      </a:folHlink>
    </a:clrScheme>
    <a:fontScheme name="PID P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PT Pelita Indonesia Djaya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POS: paparan direksi</dc:title>
  <dc:subject>Pengenalan dan alur besar PID POS</dc:subject>
  <dc:creator>PID POS</dc:creator>
  <cp:lastModifiedBy>PID POS</cp:lastModifiedBy>
  <cp:revision>1</cp:revision>
  <dcterms:created xsi:type="dcterms:W3CDTF">2026-10-23T08:49:16Z</dcterms:created>
  <dcterms:modified xsi:type="dcterms:W3CDTF">2026-10-23T08:49:16Z</dcterms:modified>
</cp:coreProperties>
</file>