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PID POS adalah aplikasi untuk toko di kapal PELNI Services. Seluruh alur barang, dari kapal memesan ke DC, persetujuan, gudang, pembelian, sampai barang terjual di kasir, berjalan di satu aplikasi, dan dokumennya dibuat otomatis di SAP Business One setelah disetujui. Nilainya bagi perusahaan ada tiga: kontrol atas barang yang keluar masuk, transparansi status setiap permintaan, dan data penjualan harian dari setiap dek yang masuk ke SAP. Gambar di kanan adalah beranda admin kapal.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Satu permintaan dari kapal bisa dilacak sampai barangnya terjual. Jalur atas selalu dijalani: kapal memesan, Sales Order disetujui, DC memilah stok, barang dikirim ke dek, diterima, lalu dijual di kasir dan masuk SAP sebagai Delivery Order. Jalur bawah, PUR, PO, dan GRPO, hanya dijalani bila stok DC tidak cukup. Label hijau menunjukkan dokumen SAP yang dibuat otomatis setelah tiap tahap disetujui.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penutup, ada tiga hal yang perlu diingat. Pertama, PID POS menyatukan seluruh alur barang toko kapal, dari permintaan sampai penjualan, dalam satu aplikasi. Kedua, setiap dokumen dibuat otomatis di SAP setelah disetujui, tanpa input ulang. Ketiga, setiap permintaan dan persetujuan terlacak. Untuk itu kami memohon dukungan Direksi: persetujuan penerapan PID POS, serta arahan kepada unit terkait untuk menjalankan prosesnya melalui PID POS.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pic>
        <p:nvPicPr>
          <p:cNvPr id="3" name="Image 0" descr="/home/user/claude/motion/public/brand/pelni_services.png">    </p:cNvPr>
          <p:cNvPicPr>
            <a:picLocks noChangeAspect="1"/>
          </p:cNvPicPr>
          <p:nvPr/>
        </p:nvPicPr>
        <p:blipFill>
          <a:blip r:embed="rId1"/>
          <a:stretch>
            <a:fillRect/>
          </a:stretch>
        </p:blipFill>
        <p:spPr>
          <a:xfrm>
            <a:off x="10469880" y="365760"/>
            <a:ext cx="1261872" cy="576072"/>
          </a:xfrm>
          <a:prstGeom prst="rect">
            <a:avLst/>
          </a:prstGeom>
        </p:spPr>
      </p:pic>
      <p:sp>
        <p:nvSpPr>
          <p:cNvPr id="4" name="Text 0"/>
          <p:cNvSpPr/>
          <p:nvPr/>
        </p:nvSpPr>
        <p:spPr>
          <a:xfrm>
            <a:off x="457200" y="6400800"/>
            <a:ext cx="7315200" cy="274320"/>
          </a:xfrm>
          <a:prstGeom prst="rect">
            <a:avLst/>
          </a:prstGeom>
          <a:noFill/>
          <a:ln/>
        </p:spPr>
        <p:txBody>
          <a:bodyPr wrap="square" lIns="0" tIns="0" rIns="0" bIns="0" rtlCol="0" anchor="ctr"/>
          <a:lstStyle/>
          <a:p>
            <a:pPr indent="0" marL="0">
              <a:buNone/>
            </a:pPr>
            <a:r>
              <a:rPr lang="en-US" sz="1000" dirty="0">
                <a:solidFill>
                  <a:schemeClr val="accent5"/>
                </a:solidFill>
              </a:rPr>
              <a:t>PID POS · Paparan direksi</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ENUTUP">
    <p:bg>
      <p:bgPr>
        <a:solidFill>
          <a:srgbClr val="1F3B7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11274552" cy="73152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nvSpPr>
        <p:spPr>
          <a:xfrm>
            <a:off x="457200" y="6400800"/>
            <a:ext cx="7315200" cy="274320"/>
          </a:xfrm>
          <a:prstGeom prst="rect">
            <a:avLst/>
          </a:prstGeom>
          <a:noFill/>
          <a:ln/>
        </p:spPr>
        <p:txBody>
          <a:bodyPr wrap="square" lIns="0" tIns="0" rIns="0" bIns="0" rtlCol="0" anchor="ctr"/>
          <a:lstStyle/>
          <a:p>
            <a:pPr indent="0" marL="0">
              <a:buNone/>
            </a:pPr>
            <a:r>
              <a:rPr lang="en-US" sz="1000" dirty="0">
                <a:solidFill>
                  <a:schemeClr val="bg2"/>
                </a:solidFill>
              </a:rPr>
              <a:t>PID POS · Paparan direksi</a:t>
            </a:r>
            <a:endParaRPr lang="en-US" sz="1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lIns="0" tIns="0" rIns="0" bIns="0" rtlCol="0" anchor="ctr"/>
          <a:lstStyle/>
          <a:p>
            <a:pPr algn="l" indent="0" marL="0">
              <a:buNone/>
            </a:pPr>
            <a:r>
              <a:rPr lang="en-US" sz="3400" b="1" dirty="0">
                <a:solidFill>
                  <a:schemeClr val="tx2"/>
                </a:solidFill>
              </a:rPr>
              <a:t>PID POS: satu aplikasi, langsung ke SAP</a:t>
            </a:r>
            <a:endParaRPr lang="en-US" sz="3400" dirty="0"/>
          </a:p>
        </p:txBody>
      </p:sp>
      <p:sp>
        <p:nvSpPr>
          <p:cNvPr id="3" name="Definisi"/>
          <p:cNvSpPr txBox="1"/>
          <p:nvPr/>
        </p:nvSpPr>
        <p:spPr>
          <a:xfrm>
            <a:off x="457200" y="1143000"/>
            <a:ext cx="11247120" cy="685800"/>
          </a:xfrm>
          <a:prstGeom prst="rect">
            <a:avLst/>
          </a:prstGeom>
          <a:noFill/>
          <a:ln/>
        </p:spPr>
        <p:txBody>
          <a:bodyPr wrap="square" lIns="0" tIns="0" rIns="0" bIns="0" rtlCol="0" anchor="t"/>
          <a:lstStyle/>
          <a:p>
            <a:pPr indent="0" marL="0">
              <a:buNone/>
            </a:pPr>
            <a:r>
              <a:rPr lang="en-US" sz="1700" dirty="0">
                <a:solidFill>
                  <a:srgbClr val="1B2437"/>
                </a:solidFill>
              </a:rPr>
              <a:t>Permintaan barang dari kapal, persetujuan, gudang DC, pembelian, sampai penjualan di kasir berjalan di satu aplikasi web. Setiap dokumen dibuat otomatis di SAP Business One setelah disetujui.</a:t>
            </a:r>
            <a:endParaRPr lang="en-US" sz="1700" dirty="0"/>
          </a:p>
        </p:txBody>
      </p:sp>
      <p:sp>
        <p:nvSpPr>
          <p:cNvPr id="4" name="Angka tahap alur"/>
          <p:cNvSpPr/>
          <p:nvPr/>
        </p:nvSpPr>
        <p:spPr>
          <a:xfrm>
            <a:off x="457200" y="2011680"/>
            <a:ext cx="2057400" cy="1828800"/>
          </a:xfrm>
          <a:prstGeom prst="roundRect">
            <a:avLst>
              <a:gd name="adj" fmla="val 6000"/>
            </a:avLst>
          </a:prstGeom>
          <a:solidFill>
            <a:srgbClr val="EEF3FB"/>
          </a:solidFill>
          <a:ln w="12700">
            <a:solidFill>
              <a:srgbClr val="EEF3FB"/>
            </a:solidFill>
            <a:prstDash val="solid"/>
          </a:ln>
        </p:spPr>
      </p:sp>
      <p:sp>
        <p:nvSpPr>
          <p:cNvPr id="5" name="Text 3"/>
          <p:cNvSpPr txBox="1"/>
          <p:nvPr/>
        </p:nvSpPr>
        <p:spPr>
          <a:xfrm>
            <a:off x="64008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9</a:t>
            </a:r>
            <a:endParaRPr lang="en-US" sz="6000" dirty="0"/>
          </a:p>
        </p:txBody>
      </p:sp>
      <p:sp>
        <p:nvSpPr>
          <p:cNvPr id="6" name="Text 4"/>
          <p:cNvSpPr txBox="1"/>
          <p:nvPr/>
        </p:nvSpPr>
        <p:spPr>
          <a:xfrm>
            <a:off x="64008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tahap alur</a:t>
            </a:r>
            <a:endParaRPr lang="en-US" sz="1600" dirty="0"/>
          </a:p>
          <a:p>
            <a:pPr indent="0" marL="0">
              <a:buNone/>
            </a:pPr>
            <a:r>
              <a:rPr lang="en-US" sz="1200" dirty="0">
                <a:solidFill>
                  <a:srgbClr val="5B6B86"/>
                </a:solidFill>
              </a:rPr>
              <a:t>dari pesan ke DC sampai Delivery Order</a:t>
            </a:r>
            <a:endParaRPr lang="en-US" sz="1600" dirty="0"/>
          </a:p>
        </p:txBody>
      </p:sp>
      <p:sp>
        <p:nvSpPr>
          <p:cNvPr id="7" name="Angka peran"/>
          <p:cNvSpPr/>
          <p:nvPr/>
        </p:nvSpPr>
        <p:spPr>
          <a:xfrm>
            <a:off x="2697480" y="2011680"/>
            <a:ext cx="2057400" cy="1828800"/>
          </a:xfrm>
          <a:prstGeom prst="roundRect">
            <a:avLst>
              <a:gd name="adj" fmla="val 6000"/>
            </a:avLst>
          </a:prstGeom>
          <a:solidFill>
            <a:srgbClr val="EEF3FB"/>
          </a:solidFill>
          <a:ln w="12700">
            <a:solidFill>
              <a:srgbClr val="EEF3FB"/>
            </a:solidFill>
            <a:prstDash val="solid"/>
          </a:ln>
        </p:spPr>
      </p:sp>
      <p:sp>
        <p:nvSpPr>
          <p:cNvPr id="8" name="Text 6"/>
          <p:cNvSpPr txBox="1"/>
          <p:nvPr/>
        </p:nvSpPr>
        <p:spPr>
          <a:xfrm>
            <a:off x="288036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7</a:t>
            </a:r>
            <a:endParaRPr lang="en-US" sz="6000" dirty="0"/>
          </a:p>
        </p:txBody>
      </p:sp>
      <p:sp>
        <p:nvSpPr>
          <p:cNvPr id="9" name="Text 7"/>
          <p:cNvSpPr txBox="1"/>
          <p:nvPr/>
        </p:nvSpPr>
        <p:spPr>
          <a:xfrm>
            <a:off x="288036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peran</a:t>
            </a:r>
            <a:endParaRPr lang="en-US" sz="1600" dirty="0"/>
          </a:p>
          <a:p>
            <a:pPr indent="0" marL="0">
              <a:buNone/>
            </a:pPr>
            <a:r>
              <a:rPr lang="en-US" sz="1200" dirty="0">
                <a:solidFill>
                  <a:srgbClr val="5B6B86"/>
                </a:solidFill>
              </a:rPr>
              <a:t>masing-masing hanya melihat tugasnya</a:t>
            </a:r>
            <a:endParaRPr lang="en-US" sz="1600" dirty="0"/>
          </a:p>
        </p:txBody>
      </p:sp>
      <p:sp>
        <p:nvSpPr>
          <p:cNvPr id="10" name="Angka jenis dokumen SAP"/>
          <p:cNvSpPr/>
          <p:nvPr/>
        </p:nvSpPr>
        <p:spPr>
          <a:xfrm>
            <a:off x="4937760" y="2011680"/>
            <a:ext cx="2057400" cy="1828800"/>
          </a:xfrm>
          <a:prstGeom prst="roundRect">
            <a:avLst>
              <a:gd name="adj" fmla="val 6000"/>
            </a:avLst>
          </a:prstGeom>
          <a:solidFill>
            <a:srgbClr val="EEF3FB"/>
          </a:solidFill>
          <a:ln w="12700">
            <a:solidFill>
              <a:srgbClr val="EEF3FB"/>
            </a:solidFill>
            <a:prstDash val="solid"/>
          </a:ln>
        </p:spPr>
      </p:sp>
      <p:sp>
        <p:nvSpPr>
          <p:cNvPr id="11" name="Text 9"/>
          <p:cNvSpPr txBox="1"/>
          <p:nvPr/>
        </p:nvSpPr>
        <p:spPr>
          <a:xfrm>
            <a:off x="5120640" y="2103120"/>
            <a:ext cx="1737360" cy="868680"/>
          </a:xfrm>
          <a:prstGeom prst="rect">
            <a:avLst/>
          </a:prstGeom>
          <a:noFill/>
          <a:ln/>
        </p:spPr>
        <p:txBody>
          <a:bodyPr wrap="square" lIns="0" tIns="0" rIns="0" bIns="0" rtlCol="0" anchor="ctr"/>
          <a:lstStyle/>
          <a:p>
            <a:pPr indent="0" marL="0">
              <a:buNone/>
            </a:pPr>
            <a:r>
              <a:rPr lang="en-US" sz="6000" b="1" dirty="0">
                <a:solidFill>
                  <a:srgbClr val="1F3B7A"/>
                </a:solidFill>
              </a:rPr>
              <a:t>6</a:t>
            </a:r>
            <a:endParaRPr lang="en-US" sz="6000" dirty="0"/>
          </a:p>
        </p:txBody>
      </p:sp>
      <p:sp>
        <p:nvSpPr>
          <p:cNvPr id="12" name="Text 10"/>
          <p:cNvSpPr txBox="1"/>
          <p:nvPr/>
        </p:nvSpPr>
        <p:spPr>
          <a:xfrm>
            <a:off x="5120640" y="2971800"/>
            <a:ext cx="1737360" cy="822960"/>
          </a:xfrm>
          <a:prstGeom prst="rect">
            <a:avLst/>
          </a:prstGeom>
          <a:noFill/>
          <a:ln/>
        </p:spPr>
        <p:txBody>
          <a:bodyPr wrap="square" lIns="0" tIns="0" rIns="0" bIns="0" rtlCol="0" anchor="t"/>
          <a:lstStyle/>
          <a:p>
            <a:pPr indent="0" marL="0">
              <a:buNone/>
            </a:pPr>
            <a:r>
              <a:rPr lang="en-US" sz="1600" b="1" dirty="0">
                <a:solidFill>
                  <a:srgbClr val="1B2437"/>
                </a:solidFill>
              </a:rPr>
              <a:t>jenis dokumen SAP</a:t>
            </a:r>
            <a:endParaRPr lang="en-US" sz="1600" dirty="0"/>
          </a:p>
          <a:p>
            <a:pPr indent="0" marL="0">
              <a:buNone/>
            </a:pPr>
            <a:r>
              <a:rPr lang="en-US" sz="1200" dirty="0">
                <a:solidFill>
                  <a:srgbClr val="5B6B86"/>
                </a:solidFill>
              </a:rPr>
              <a:t>SO, PUR, PO, GRPO, Transfer, DO</a:t>
            </a:r>
            <a:endParaRPr lang="en-US" sz="1600" dirty="0"/>
          </a:p>
        </p:txBody>
      </p:sp>
      <p:sp>
        <p:nvSpPr>
          <p:cNvPr id="13" name="Text 11"/>
          <p:cNvSpPr txBox="1"/>
          <p:nvPr/>
        </p:nvSpPr>
        <p:spPr>
          <a:xfrm>
            <a:off x="457200" y="4069080"/>
            <a:ext cx="6583680" cy="365760"/>
          </a:xfrm>
          <a:prstGeom prst="rect">
            <a:avLst/>
          </a:prstGeom>
          <a:noFill/>
          <a:ln/>
        </p:spPr>
        <p:txBody>
          <a:bodyPr wrap="square" lIns="0" tIns="0" rIns="0" bIns="0" rtlCol="0" anchor="ctr"/>
          <a:lstStyle/>
          <a:p>
            <a:pPr indent="0" marL="0">
              <a:buNone/>
            </a:pPr>
            <a:r>
              <a:rPr lang="en-US" sz="1800" b="1" dirty="0">
                <a:solidFill>
                  <a:srgbClr val="1F3B7A"/>
                </a:solidFill>
              </a:rPr>
              <a:t>Nilai bagi perusahaan</a:t>
            </a:r>
            <a:endParaRPr lang="en-US" sz="1800" dirty="0"/>
          </a:p>
        </p:txBody>
      </p:sp>
      <p:sp>
        <p:nvSpPr>
          <p:cNvPr id="14" name="Ikon Kontrol"/>
          <p:cNvSpPr/>
          <p:nvPr/>
        </p:nvSpPr>
        <p:spPr>
          <a:xfrm>
            <a:off x="457200" y="4617720"/>
            <a:ext cx="329184" cy="329184"/>
          </a:xfrm>
          <a:prstGeom prst="ellipse">
            <a:avLst/>
          </a:prstGeom>
          <a:solidFill>
            <a:srgbClr val="0F766E"/>
          </a:solidFill>
          <a:ln w="12700">
            <a:solidFill>
              <a:srgbClr val="0F766E"/>
            </a:solidFill>
            <a:prstDash val="solid"/>
          </a:ln>
        </p:spPr>
      </p:sp>
      <p:sp>
        <p:nvSpPr>
          <p:cNvPr id="15" name="Kontrol"/>
          <p:cNvSpPr txBox="1"/>
          <p:nvPr/>
        </p:nvSpPr>
        <p:spPr>
          <a:xfrm>
            <a:off x="960120" y="4572000"/>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Kontrol  </a:t>
            </a:r>
            <a:pPr indent="0" marL="0">
              <a:buNone/>
            </a:pPr>
            <a:r>
              <a:rPr lang="en-US" sz="1400" dirty="0">
                <a:solidFill>
                  <a:srgbClr val="5B6B86"/>
                </a:solidFill>
              </a:rPr>
              <a:t>Barang masuk dan keluar tercatat dan disetujui berjenjang, dari SO sampai PO.</a:t>
            </a:r>
            <a:endParaRPr lang="en-US" sz="1400" dirty="0"/>
          </a:p>
        </p:txBody>
      </p:sp>
      <p:sp>
        <p:nvSpPr>
          <p:cNvPr id="16" name="Ikon Transparansi"/>
          <p:cNvSpPr/>
          <p:nvPr/>
        </p:nvSpPr>
        <p:spPr>
          <a:xfrm>
            <a:off x="457200" y="5184648"/>
            <a:ext cx="329184" cy="329184"/>
          </a:xfrm>
          <a:prstGeom prst="ellipse">
            <a:avLst/>
          </a:prstGeom>
          <a:solidFill>
            <a:srgbClr val="2563EB"/>
          </a:solidFill>
          <a:ln w="12700">
            <a:solidFill>
              <a:srgbClr val="2563EB"/>
            </a:solidFill>
            <a:prstDash val="solid"/>
          </a:ln>
        </p:spPr>
      </p:sp>
      <p:sp>
        <p:nvSpPr>
          <p:cNvPr id="17" name="Transparansi"/>
          <p:cNvSpPr txBox="1"/>
          <p:nvPr/>
        </p:nvSpPr>
        <p:spPr>
          <a:xfrm>
            <a:off x="960120" y="5138928"/>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Transparansi  </a:t>
            </a:r>
            <a:pPr indent="0" marL="0">
              <a:buNone/>
            </a:pPr>
            <a:r>
              <a:rPr lang="en-US" sz="1400" dirty="0">
                <a:solidFill>
                  <a:srgbClr val="5B6B86"/>
                </a:solidFill>
              </a:rPr>
              <a:t>Status setiap permintaan terpantau per tahap, lengkap dengan riwayat persetujuan.</a:t>
            </a:r>
            <a:endParaRPr lang="en-US" sz="1400" dirty="0"/>
          </a:p>
        </p:txBody>
      </p:sp>
      <p:sp>
        <p:nvSpPr>
          <p:cNvPr id="18" name="Ikon Data penjualan"/>
          <p:cNvSpPr/>
          <p:nvPr/>
        </p:nvSpPr>
        <p:spPr>
          <a:xfrm>
            <a:off x="457200" y="5751576"/>
            <a:ext cx="329184" cy="329184"/>
          </a:xfrm>
          <a:prstGeom prst="ellipse">
            <a:avLst/>
          </a:prstGeom>
          <a:solidFill>
            <a:srgbClr val="FF6B1A"/>
          </a:solidFill>
          <a:ln w="12700">
            <a:solidFill>
              <a:srgbClr val="FF6B1A"/>
            </a:solidFill>
            <a:prstDash val="solid"/>
          </a:ln>
        </p:spPr>
      </p:sp>
      <p:sp>
        <p:nvSpPr>
          <p:cNvPr id="19" name="Data penjualan"/>
          <p:cNvSpPr txBox="1"/>
          <p:nvPr/>
        </p:nvSpPr>
        <p:spPr>
          <a:xfrm>
            <a:off x="960120" y="5705856"/>
            <a:ext cx="6080760" cy="457200"/>
          </a:xfrm>
          <a:prstGeom prst="rect">
            <a:avLst/>
          </a:prstGeom>
          <a:noFill/>
          <a:ln/>
        </p:spPr>
        <p:txBody>
          <a:bodyPr wrap="square" lIns="0" tIns="0" rIns="0" bIns="0" rtlCol="0" anchor="ctr"/>
          <a:lstStyle/>
          <a:p>
            <a:pPr indent="0" marL="0">
              <a:buNone/>
            </a:pPr>
            <a:r>
              <a:rPr lang="en-US" sz="1400" b="1" dirty="0">
                <a:solidFill>
                  <a:srgbClr val="1B2437"/>
                </a:solidFill>
              </a:rPr>
              <a:t>Data penjualan  </a:t>
            </a:r>
            <a:pPr indent="0" marL="0">
              <a:buNone/>
            </a:pPr>
            <a:r>
              <a:rPr lang="en-US" sz="1400" dirty="0">
                <a:solidFill>
                  <a:srgbClr val="5B6B86"/>
                </a:solidFill>
              </a:rPr>
              <a:t>Penjualan kasir di setiap dek masuk SAP setiap hari sebagai Delivery Order.</a:t>
            </a:r>
            <a:endParaRPr lang="en-US" sz="1400" dirty="0"/>
          </a:p>
        </p:txBody>
      </p:sp>
      <p:sp>
        <p:nvSpPr>
          <p:cNvPr id="20" name="Beranda admin kapal bingkai"/>
          <p:cNvSpPr/>
          <p:nvPr/>
        </p:nvSpPr>
        <p:spPr>
          <a:xfrm>
            <a:off x="7260336" y="2742490"/>
            <a:ext cx="4526280" cy="2653179"/>
          </a:xfrm>
          <a:prstGeom prst="roundRect">
            <a:avLst>
              <a:gd name="adj" fmla="val 2757"/>
            </a:avLst>
          </a:prstGeom>
          <a:solidFill>
            <a:srgbClr val="FFFFFF"/>
          </a:solidFill>
          <a:ln w="12700">
            <a:solidFill>
              <a:srgbClr val="D5DEEC"/>
            </a:solidFill>
            <a:prstDash val="solid"/>
          </a:ln>
          <a:effectLst>
            <a:outerShdw sx="100000" sy="100000" kx="0" ky="0" algn="bl" rotWithShape="0" blurRad="101600" dist="38100" dir="5400000">
              <a:srgbClr val="1F3B7A">
                <a:alpha val="18000"/>
              </a:srgbClr>
            </a:outerShdw>
          </a:effectLst>
        </p:spPr>
      </p:sp>
      <p:pic>
        <p:nvPicPr>
          <p:cNvPr id="21" name="Beranda admin kapal" descr="Gambar layar PID POS (Beranda admin kapal)">    </p:cNvPr>
          <p:cNvPicPr>
            <a:picLocks noChangeAspect="1"/>
          </p:cNvPicPr>
          <p:nvPr/>
        </p:nvPicPr>
        <p:blipFill>
          <a:blip r:embed="rId1"/>
          <a:stretch>
            <a:fillRect/>
          </a:stretch>
        </p:blipFill>
        <p:spPr>
          <a:xfrm>
            <a:off x="7315200" y="2797354"/>
            <a:ext cx="4416552" cy="2543451"/>
          </a:xfrm>
          <a:prstGeom prst="rect">
            <a:avLst/>
          </a:prstGeom>
        </p:spPr>
      </p:pic>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9509760" cy="685800"/>
          </a:xfrm>
          <a:prstGeom prst="rect">
            <a:avLst/>
          </a:prstGeom>
          <a:noFill/>
          <a:ln/>
        </p:spPr>
        <p:txBody>
          <a:bodyPr wrap="square" lIns="0" tIns="0" rIns="0" bIns="0" rtlCol="0" anchor="ctr"/>
          <a:lstStyle/>
          <a:p>
            <a:pPr algn="l" indent="0" marL="0">
              <a:buNone/>
            </a:pPr>
            <a:r>
              <a:rPr lang="en-US" sz="3400" b="1" dirty="0">
                <a:solidFill>
                  <a:schemeClr val="tx2"/>
                </a:solidFill>
              </a:rPr>
              <a:t>Setiap permintaan terlacak sampai penjualan</a:t>
            </a:r>
            <a:endParaRPr lang="en-US" sz="3400" dirty="0"/>
          </a:p>
        </p:txBody>
      </p:sp>
      <p:sp>
        <p:nvSpPr>
          <p:cNvPr id="3" name="Text 1"/>
          <p:cNvSpPr txBox="1"/>
          <p:nvPr/>
        </p:nvSpPr>
        <p:spPr>
          <a:xfrm>
            <a:off x="457200" y="1097280"/>
            <a:ext cx="11247120" cy="365760"/>
          </a:xfrm>
          <a:prstGeom prst="rect">
            <a:avLst/>
          </a:prstGeom>
          <a:noFill/>
          <a:ln/>
        </p:spPr>
        <p:txBody>
          <a:bodyPr wrap="square" lIns="0" tIns="0" rIns="0" bIns="0" rtlCol="0" anchor="ctr"/>
          <a:lstStyle/>
          <a:p>
            <a:pPr indent="0" marL="0">
              <a:buNone/>
            </a:pPr>
            <a:r>
              <a:rPr lang="en-US" sz="1500" dirty="0">
                <a:solidFill>
                  <a:schemeClr val="accent5"/>
                </a:solidFill>
              </a:rPr>
              <a:t>Jalur atas selalu dijalani. Jalur bawah hanya bila stok DC kurang. Label hijau = dokumen SAP yang terbentuk.</a:t>
            </a:r>
            <a:endParaRPr lang="en-US" sz="1500" dirty="0"/>
          </a:p>
        </p:txBody>
      </p:sp>
      <p:sp>
        <p:nvSpPr>
          <p:cNvPr id="4" name="Panah 1"/>
          <p:cNvSpPr/>
          <p:nvPr/>
        </p:nvSpPr>
        <p:spPr>
          <a:xfrm>
            <a:off x="2011680" y="2423160"/>
            <a:ext cx="320040" cy="914"/>
          </a:xfrm>
          <a:prstGeom prst="line">
            <a:avLst/>
          </a:prstGeom>
          <a:noFill/>
          <a:ln w="25400">
            <a:solidFill>
              <a:srgbClr val="1F3B7A"/>
            </a:solidFill>
            <a:prstDash val="solid"/>
            <a:tailEnd type="triangle"/>
          </a:ln>
        </p:spPr>
      </p:sp>
      <p:sp>
        <p:nvSpPr>
          <p:cNvPr id="5" name="Panah 2"/>
          <p:cNvSpPr/>
          <p:nvPr/>
        </p:nvSpPr>
        <p:spPr>
          <a:xfrm>
            <a:off x="3886200" y="2423160"/>
            <a:ext cx="320040" cy="914"/>
          </a:xfrm>
          <a:prstGeom prst="line">
            <a:avLst/>
          </a:prstGeom>
          <a:noFill/>
          <a:ln w="25400">
            <a:solidFill>
              <a:srgbClr val="1F3B7A"/>
            </a:solidFill>
            <a:prstDash val="solid"/>
            <a:tailEnd type="triangle"/>
          </a:ln>
        </p:spPr>
      </p:sp>
      <p:sp>
        <p:nvSpPr>
          <p:cNvPr id="6" name="Panah 3"/>
          <p:cNvSpPr/>
          <p:nvPr/>
        </p:nvSpPr>
        <p:spPr>
          <a:xfrm>
            <a:off x="5760720" y="2423160"/>
            <a:ext cx="960120" cy="914"/>
          </a:xfrm>
          <a:prstGeom prst="line">
            <a:avLst/>
          </a:prstGeom>
          <a:noFill/>
          <a:ln w="25400">
            <a:solidFill>
              <a:srgbClr val="1F3B7A"/>
            </a:solidFill>
            <a:prstDash val="solid"/>
            <a:tailEnd type="triangle"/>
          </a:ln>
        </p:spPr>
      </p:sp>
      <p:sp>
        <p:nvSpPr>
          <p:cNvPr id="7" name="Panah 4"/>
          <p:cNvSpPr/>
          <p:nvPr/>
        </p:nvSpPr>
        <p:spPr>
          <a:xfrm>
            <a:off x="8275320" y="2423160"/>
            <a:ext cx="320040" cy="914"/>
          </a:xfrm>
          <a:prstGeom prst="line">
            <a:avLst/>
          </a:prstGeom>
          <a:noFill/>
          <a:ln w="25400">
            <a:solidFill>
              <a:srgbClr val="1F3B7A"/>
            </a:solidFill>
            <a:prstDash val="solid"/>
            <a:tailEnd type="triangle"/>
          </a:ln>
        </p:spPr>
      </p:sp>
      <p:sp>
        <p:nvSpPr>
          <p:cNvPr id="8" name="Panah 5"/>
          <p:cNvSpPr/>
          <p:nvPr/>
        </p:nvSpPr>
        <p:spPr>
          <a:xfrm>
            <a:off x="10149840" y="2423160"/>
            <a:ext cx="320040" cy="914"/>
          </a:xfrm>
          <a:prstGeom prst="line">
            <a:avLst/>
          </a:prstGeom>
          <a:noFill/>
          <a:ln w="25400">
            <a:solidFill>
              <a:srgbClr val="1F3B7A"/>
            </a:solidFill>
            <a:prstDash val="solid"/>
            <a:tailEnd type="triangle"/>
          </a:ln>
        </p:spPr>
      </p:sp>
      <p:sp>
        <p:nvSpPr>
          <p:cNvPr id="9" name="Panah 6"/>
          <p:cNvSpPr/>
          <p:nvPr/>
        </p:nvSpPr>
        <p:spPr>
          <a:xfrm>
            <a:off x="4983480" y="3017520"/>
            <a:ext cx="914" cy="960120"/>
          </a:xfrm>
          <a:prstGeom prst="line">
            <a:avLst/>
          </a:prstGeom>
          <a:noFill/>
          <a:ln w="25400">
            <a:solidFill>
              <a:srgbClr val="1F3B7A"/>
            </a:solidFill>
            <a:prstDash val="solid"/>
            <a:tailEnd type="triangle"/>
          </a:ln>
        </p:spPr>
      </p:sp>
      <p:sp>
        <p:nvSpPr>
          <p:cNvPr id="10" name="Panah 7"/>
          <p:cNvSpPr/>
          <p:nvPr/>
        </p:nvSpPr>
        <p:spPr>
          <a:xfrm>
            <a:off x="5760720" y="4572000"/>
            <a:ext cx="137160" cy="914"/>
          </a:xfrm>
          <a:prstGeom prst="line">
            <a:avLst/>
          </a:prstGeom>
          <a:noFill/>
          <a:ln w="25400">
            <a:solidFill>
              <a:srgbClr val="1F3B7A"/>
            </a:solidFill>
            <a:prstDash val="solid"/>
            <a:tailEnd type="triangle"/>
          </a:ln>
        </p:spPr>
      </p:sp>
      <p:sp>
        <p:nvSpPr>
          <p:cNvPr id="11" name="Panah 8"/>
          <p:cNvSpPr/>
          <p:nvPr/>
        </p:nvSpPr>
        <p:spPr>
          <a:xfrm>
            <a:off x="7452360" y="4572000"/>
            <a:ext cx="137160" cy="914"/>
          </a:xfrm>
          <a:prstGeom prst="line">
            <a:avLst/>
          </a:prstGeom>
          <a:noFill/>
          <a:ln w="25400">
            <a:solidFill>
              <a:srgbClr val="1F3B7A"/>
            </a:solidFill>
            <a:prstDash val="solid"/>
            <a:tailEnd type="triangle"/>
          </a:ln>
        </p:spPr>
      </p:sp>
      <p:sp>
        <p:nvSpPr>
          <p:cNvPr id="12" name="Panah 9"/>
          <p:cNvSpPr/>
          <p:nvPr/>
        </p:nvSpPr>
        <p:spPr>
          <a:xfrm flipV="1">
            <a:off x="7498080" y="3017520"/>
            <a:ext cx="868680" cy="960120"/>
          </a:xfrm>
          <a:prstGeom prst="line">
            <a:avLst/>
          </a:prstGeom>
          <a:noFill/>
          <a:ln w="25400">
            <a:solidFill>
              <a:srgbClr val="1F3B7A"/>
            </a:solidFill>
            <a:prstDash val="solid"/>
            <a:tailEnd type="triangle"/>
          </a:ln>
        </p:spPr>
      </p:sp>
      <p:sp>
        <p:nvSpPr>
          <p:cNvPr id="13" name="Text 11"/>
          <p:cNvSpPr txBox="1"/>
          <p:nvPr/>
        </p:nvSpPr>
        <p:spPr>
          <a:xfrm>
            <a:off x="5760720" y="2103120"/>
            <a:ext cx="960120" cy="274320"/>
          </a:xfrm>
          <a:prstGeom prst="rect">
            <a:avLst/>
          </a:prstGeom>
          <a:noFill/>
          <a:ln/>
        </p:spPr>
        <p:txBody>
          <a:bodyPr wrap="square" lIns="0" tIns="0" rIns="0" bIns="0" rtlCol="0" anchor="ctr"/>
          <a:lstStyle/>
          <a:p>
            <a:pPr algn="ctr" indent="0" marL="0">
              <a:buNone/>
            </a:pPr>
            <a:r>
              <a:rPr lang="en-US" sz="1100" dirty="0">
                <a:solidFill>
                  <a:schemeClr val="accent5"/>
                </a:solidFill>
              </a:rPr>
              <a:t>stok DC ada</a:t>
            </a:r>
            <a:endParaRPr lang="en-US" sz="1100" dirty="0"/>
          </a:p>
        </p:txBody>
      </p:sp>
      <p:sp>
        <p:nvSpPr>
          <p:cNvPr id="14" name="Text 12"/>
          <p:cNvSpPr txBox="1"/>
          <p:nvPr/>
        </p:nvSpPr>
        <p:spPr>
          <a:xfrm>
            <a:off x="2971800" y="3291840"/>
            <a:ext cx="1920240" cy="274320"/>
          </a:xfrm>
          <a:prstGeom prst="rect">
            <a:avLst/>
          </a:prstGeom>
          <a:noFill/>
          <a:ln/>
        </p:spPr>
        <p:txBody>
          <a:bodyPr wrap="square" lIns="0" tIns="0" rIns="0" bIns="0" rtlCol="0" anchor="ctr"/>
          <a:lstStyle/>
          <a:p>
            <a:pPr algn="r" indent="0" marL="0">
              <a:buNone/>
            </a:pPr>
            <a:r>
              <a:rPr lang="en-US" sz="1100" dirty="0">
                <a:solidFill>
                  <a:schemeClr val="accent5"/>
                </a:solidFill>
              </a:rPr>
              <a:t>stok DC kurang</a:t>
            </a:r>
            <a:endParaRPr lang="en-US" sz="1100" dirty="0"/>
          </a:p>
        </p:txBody>
      </p:sp>
      <p:sp>
        <p:nvSpPr>
          <p:cNvPr id="15" name="Tahap Pesan barang"/>
          <p:cNvSpPr/>
          <p:nvPr/>
        </p:nvSpPr>
        <p:spPr>
          <a:xfrm>
            <a:off x="457200" y="1828800"/>
            <a:ext cx="1554480" cy="1188720"/>
          </a:xfrm>
          <a:prstGeom prst="roundRect">
            <a:avLst>
              <a:gd name="adj" fmla="val 7692"/>
            </a:avLst>
          </a:prstGeom>
          <a:solidFill>
            <a:srgbClr val="FFFFFF"/>
          </a:solidFill>
          <a:ln w="28575">
            <a:solidFill>
              <a:srgbClr val="0F766E"/>
            </a:solidFill>
            <a:prstDash val="solid"/>
          </a:ln>
          <a:effectLst>
            <a:outerShdw sx="100000" sy="100000" kx="0" ky="0" algn="bl" rotWithShape="0" blurRad="76200" dist="25400" dir="5400000">
              <a:srgbClr val="1F3B7A">
                <a:alpha val="15000"/>
              </a:srgbClr>
            </a:outerShdw>
          </a:effectLst>
        </p:spPr>
      </p:sp>
      <p:sp>
        <p:nvSpPr>
          <p:cNvPr id="16" name="Text 14"/>
          <p:cNvSpPr txBox="1"/>
          <p:nvPr/>
        </p:nvSpPr>
        <p:spPr>
          <a:xfrm>
            <a:off x="566928" y="1901952"/>
            <a:ext cx="1335024" cy="1042416"/>
          </a:xfrm>
          <a:prstGeom prst="rect">
            <a:avLst/>
          </a:prstGeom>
          <a:noFill/>
          <a:ln/>
        </p:spPr>
        <p:txBody>
          <a:bodyPr wrap="square" lIns="0" tIns="0" rIns="0" bIns="0" rtlCol="0" anchor="t"/>
          <a:lstStyle/>
          <a:p>
            <a:pPr indent="0" marL="0">
              <a:buNone/>
            </a:pPr>
            <a:r>
              <a:rPr lang="en-US" sz="1100" b="1" dirty="0">
                <a:solidFill>
                  <a:srgbClr val="0F766E"/>
                </a:solidFill>
              </a:rPr>
              <a:t>Tahap 1</a:t>
            </a:r>
            <a:endParaRPr lang="en-US" sz="1100" dirty="0"/>
          </a:p>
          <a:p>
            <a:pPr indent="0" marL="0">
              <a:buNone/>
            </a:pPr>
            <a:r>
              <a:rPr lang="en-US" sz="1500" b="1" dirty="0">
                <a:solidFill>
                  <a:srgbClr val="1B2437"/>
                </a:solidFill>
              </a:rPr>
              <a:t>Pesan barang</a:t>
            </a:r>
            <a:endParaRPr lang="en-US" sz="1100" dirty="0"/>
          </a:p>
          <a:p>
            <a:pPr indent="0" marL="0">
              <a:buNone/>
            </a:pPr>
            <a:r>
              <a:rPr lang="en-US" sz="1050" dirty="0">
                <a:solidFill>
                  <a:srgbClr val="5B6B86"/>
                </a:solidFill>
              </a:rPr>
              <a:t>Admin kapal</a:t>
            </a:r>
            <a:endParaRPr lang="en-US" sz="1100" dirty="0"/>
          </a:p>
        </p:txBody>
      </p:sp>
      <p:sp>
        <p:nvSpPr>
          <p:cNvPr id="17" name="Tahap Approval SO"/>
          <p:cNvSpPr/>
          <p:nvPr/>
        </p:nvSpPr>
        <p:spPr>
          <a:xfrm>
            <a:off x="2331720" y="1828800"/>
            <a:ext cx="1554480" cy="1188720"/>
          </a:xfrm>
          <a:prstGeom prst="roundRect">
            <a:avLst>
              <a:gd name="adj" fmla="val 7692"/>
            </a:avLst>
          </a:prstGeom>
          <a:solidFill>
            <a:srgbClr val="FFFFFF"/>
          </a:solidFill>
          <a:ln w="28575">
            <a:solidFill>
              <a:srgbClr val="6D28D9"/>
            </a:solidFill>
            <a:prstDash val="solid"/>
          </a:ln>
          <a:effectLst>
            <a:outerShdw sx="100000" sy="100000" kx="0" ky="0" algn="bl" rotWithShape="0" blurRad="76200" dist="25400" dir="5400000">
              <a:srgbClr val="1F3B7A">
                <a:alpha val="15000"/>
              </a:srgbClr>
            </a:outerShdw>
          </a:effectLst>
        </p:spPr>
      </p:sp>
      <p:sp>
        <p:nvSpPr>
          <p:cNvPr id="18" name="Text 16"/>
          <p:cNvSpPr txBox="1"/>
          <p:nvPr/>
        </p:nvSpPr>
        <p:spPr>
          <a:xfrm>
            <a:off x="2441448" y="1901952"/>
            <a:ext cx="1335024" cy="1042416"/>
          </a:xfrm>
          <a:prstGeom prst="rect">
            <a:avLst/>
          </a:prstGeom>
          <a:noFill/>
          <a:ln/>
        </p:spPr>
        <p:txBody>
          <a:bodyPr wrap="square" lIns="0" tIns="0" rIns="0" bIns="0" rtlCol="0" anchor="t"/>
          <a:lstStyle/>
          <a:p>
            <a:pPr indent="0" marL="0">
              <a:buNone/>
            </a:pPr>
            <a:r>
              <a:rPr lang="en-US" sz="1100" b="1" dirty="0">
                <a:solidFill>
                  <a:srgbClr val="6D28D9"/>
                </a:solidFill>
              </a:rPr>
              <a:t>Tahap 2</a:t>
            </a:r>
            <a:endParaRPr lang="en-US" sz="1100" dirty="0"/>
          </a:p>
          <a:p>
            <a:pPr indent="0" marL="0">
              <a:buNone/>
            </a:pPr>
            <a:r>
              <a:rPr lang="en-US" sz="1500" b="1" dirty="0">
                <a:solidFill>
                  <a:srgbClr val="1B2437"/>
                </a:solidFill>
              </a:rPr>
              <a:t>Approval SO</a:t>
            </a:r>
            <a:endParaRPr lang="en-US" sz="1100" dirty="0"/>
          </a:p>
          <a:p>
            <a:pPr indent="0" marL="0">
              <a:buNone/>
            </a:pPr>
            <a:r>
              <a:rPr lang="en-US" sz="1050" dirty="0">
                <a:solidFill>
                  <a:srgbClr val="5B6B86"/>
                </a:solidFill>
              </a:rPr>
              <a:t>Approve SO</a:t>
            </a:r>
            <a:endParaRPr lang="en-US" sz="1100" dirty="0"/>
          </a:p>
        </p:txBody>
      </p:sp>
      <p:sp>
        <p:nvSpPr>
          <p:cNvPr id="19" name="Text 17"/>
          <p:cNvSpPr txBox="1"/>
          <p:nvPr/>
        </p:nvSpPr>
        <p:spPr>
          <a:xfrm>
            <a:off x="228600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Sales Order</a:t>
            </a:r>
            <a:endParaRPr lang="en-US" sz="1050" dirty="0"/>
          </a:p>
        </p:txBody>
      </p:sp>
      <p:sp>
        <p:nvSpPr>
          <p:cNvPr id="20" name="Tahap Pilah stok DC"/>
          <p:cNvSpPr/>
          <p:nvPr/>
        </p:nvSpPr>
        <p:spPr>
          <a:xfrm>
            <a:off x="4206240" y="182880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21" name="Text 19"/>
          <p:cNvSpPr txBox="1"/>
          <p:nvPr/>
        </p:nvSpPr>
        <p:spPr>
          <a:xfrm>
            <a:off x="4315968" y="190195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3</a:t>
            </a:r>
            <a:endParaRPr lang="en-US" sz="1100" dirty="0"/>
          </a:p>
          <a:p>
            <a:pPr indent="0" marL="0">
              <a:buNone/>
            </a:pPr>
            <a:r>
              <a:rPr lang="en-US" sz="1500" b="1" dirty="0">
                <a:solidFill>
                  <a:srgbClr val="1B2437"/>
                </a:solidFill>
              </a:rPr>
              <a:t>Pilah stok DC</a:t>
            </a:r>
            <a:endParaRPr lang="en-US" sz="1100" dirty="0"/>
          </a:p>
          <a:p>
            <a:pPr indent="0" marL="0">
              <a:buNone/>
            </a:pPr>
            <a:r>
              <a:rPr lang="en-US" sz="1050" dirty="0">
                <a:solidFill>
                  <a:srgbClr val="5B6B86"/>
                </a:solidFill>
              </a:rPr>
              <a:t>Admin DC</a:t>
            </a:r>
            <a:endParaRPr lang="en-US" sz="1100" dirty="0"/>
          </a:p>
        </p:txBody>
      </p:sp>
      <p:sp>
        <p:nvSpPr>
          <p:cNvPr id="22" name="Tahap PUR"/>
          <p:cNvSpPr/>
          <p:nvPr/>
        </p:nvSpPr>
        <p:spPr>
          <a:xfrm>
            <a:off x="4206240" y="3977640"/>
            <a:ext cx="1554480" cy="1188720"/>
          </a:xfrm>
          <a:prstGeom prst="roundRect">
            <a:avLst>
              <a:gd name="adj" fmla="val 7692"/>
            </a:avLst>
          </a:prstGeom>
          <a:solidFill>
            <a:srgbClr val="FFFFFF"/>
          </a:solidFill>
          <a:ln w="28575">
            <a:solidFill>
              <a:srgbClr val="BE185D"/>
            </a:solidFill>
            <a:prstDash val="solid"/>
          </a:ln>
          <a:effectLst>
            <a:outerShdw sx="100000" sy="100000" kx="0" ky="0" algn="bl" rotWithShape="0" blurRad="76200" dist="25400" dir="5400000">
              <a:srgbClr val="1F3B7A">
                <a:alpha val="15000"/>
              </a:srgbClr>
            </a:outerShdw>
          </a:effectLst>
        </p:spPr>
      </p:sp>
      <p:sp>
        <p:nvSpPr>
          <p:cNvPr id="23" name="Text 21"/>
          <p:cNvSpPr txBox="1"/>
          <p:nvPr/>
        </p:nvSpPr>
        <p:spPr>
          <a:xfrm>
            <a:off x="4315968" y="4050792"/>
            <a:ext cx="1335024" cy="1042416"/>
          </a:xfrm>
          <a:prstGeom prst="rect">
            <a:avLst/>
          </a:prstGeom>
          <a:noFill/>
          <a:ln/>
        </p:spPr>
        <p:txBody>
          <a:bodyPr wrap="square" lIns="0" tIns="0" rIns="0" bIns="0" rtlCol="0" anchor="t"/>
          <a:lstStyle/>
          <a:p>
            <a:pPr indent="0" marL="0">
              <a:buNone/>
            </a:pPr>
            <a:r>
              <a:rPr lang="en-US" sz="1100" b="1" dirty="0">
                <a:solidFill>
                  <a:srgbClr val="BE185D"/>
                </a:solidFill>
              </a:rPr>
              <a:t>Tahap 4</a:t>
            </a:r>
            <a:endParaRPr lang="en-US" sz="1100" dirty="0"/>
          </a:p>
          <a:p>
            <a:pPr indent="0" marL="0">
              <a:buNone/>
            </a:pPr>
            <a:r>
              <a:rPr lang="en-US" sz="1500" b="1" dirty="0">
                <a:solidFill>
                  <a:srgbClr val="1B2437"/>
                </a:solidFill>
              </a:rPr>
              <a:t>PUR</a:t>
            </a:r>
            <a:endParaRPr lang="en-US" sz="1100" dirty="0"/>
          </a:p>
          <a:p>
            <a:pPr indent="0" marL="0">
              <a:buNone/>
            </a:pPr>
            <a:r>
              <a:rPr lang="en-US" sz="1050" dirty="0">
                <a:solidFill>
                  <a:srgbClr val="5B6B86"/>
                </a:solidFill>
              </a:rPr>
              <a:t>Approve PUR</a:t>
            </a:r>
            <a:endParaRPr lang="en-US" sz="1100" dirty="0"/>
          </a:p>
        </p:txBody>
      </p:sp>
      <p:sp>
        <p:nvSpPr>
          <p:cNvPr id="24" name="Text 22"/>
          <p:cNvSpPr txBox="1"/>
          <p:nvPr/>
        </p:nvSpPr>
        <p:spPr>
          <a:xfrm>
            <a:off x="416052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Purchase Request</a:t>
            </a:r>
            <a:endParaRPr lang="en-US" sz="1050" dirty="0"/>
          </a:p>
        </p:txBody>
      </p:sp>
      <p:sp>
        <p:nvSpPr>
          <p:cNvPr id="25" name="Tahap PO"/>
          <p:cNvSpPr/>
          <p:nvPr/>
        </p:nvSpPr>
        <p:spPr>
          <a:xfrm>
            <a:off x="5897880" y="3977640"/>
            <a:ext cx="1554480" cy="1188720"/>
          </a:xfrm>
          <a:prstGeom prst="roundRect">
            <a:avLst>
              <a:gd name="adj" fmla="val 7692"/>
            </a:avLst>
          </a:prstGeom>
          <a:solidFill>
            <a:srgbClr val="FFFFFF"/>
          </a:solidFill>
          <a:ln w="28575">
            <a:solidFill>
              <a:srgbClr val="2563EB"/>
            </a:solidFill>
            <a:prstDash val="solid"/>
          </a:ln>
          <a:effectLst>
            <a:outerShdw sx="100000" sy="100000" kx="0" ky="0" algn="bl" rotWithShape="0" blurRad="76200" dist="25400" dir="5400000">
              <a:srgbClr val="1F3B7A">
                <a:alpha val="15000"/>
              </a:srgbClr>
            </a:outerShdw>
          </a:effectLst>
        </p:spPr>
      </p:sp>
      <p:sp>
        <p:nvSpPr>
          <p:cNvPr id="26" name="Text 24"/>
          <p:cNvSpPr txBox="1"/>
          <p:nvPr/>
        </p:nvSpPr>
        <p:spPr>
          <a:xfrm>
            <a:off x="6007608" y="4050792"/>
            <a:ext cx="1335024" cy="1042416"/>
          </a:xfrm>
          <a:prstGeom prst="rect">
            <a:avLst/>
          </a:prstGeom>
          <a:noFill/>
          <a:ln/>
        </p:spPr>
        <p:txBody>
          <a:bodyPr wrap="square" lIns="0" tIns="0" rIns="0" bIns="0" rtlCol="0" anchor="t"/>
          <a:lstStyle/>
          <a:p>
            <a:pPr indent="0" marL="0">
              <a:buNone/>
            </a:pPr>
            <a:r>
              <a:rPr lang="en-US" sz="1100" b="1" dirty="0">
                <a:solidFill>
                  <a:srgbClr val="2563EB"/>
                </a:solidFill>
              </a:rPr>
              <a:t>Tahap 5</a:t>
            </a:r>
            <a:endParaRPr lang="en-US" sz="1100" dirty="0"/>
          </a:p>
          <a:p>
            <a:pPr indent="0" marL="0">
              <a:buNone/>
            </a:pPr>
            <a:r>
              <a:rPr lang="en-US" sz="1500" b="1" dirty="0">
                <a:solidFill>
                  <a:srgbClr val="1B2437"/>
                </a:solidFill>
              </a:rPr>
              <a:t>PO</a:t>
            </a:r>
            <a:endParaRPr lang="en-US" sz="1100" dirty="0"/>
          </a:p>
          <a:p>
            <a:pPr indent="0" marL="0">
              <a:buNone/>
            </a:pPr>
            <a:r>
              <a:rPr lang="en-US" sz="1050" dirty="0">
                <a:solidFill>
                  <a:srgbClr val="5B6B86"/>
                </a:solidFill>
              </a:rPr>
              <a:t>Admin purchase · Approve PO</a:t>
            </a:r>
            <a:endParaRPr lang="en-US" sz="1100" dirty="0"/>
          </a:p>
        </p:txBody>
      </p:sp>
      <p:sp>
        <p:nvSpPr>
          <p:cNvPr id="27" name="Text 25"/>
          <p:cNvSpPr txBox="1"/>
          <p:nvPr/>
        </p:nvSpPr>
        <p:spPr>
          <a:xfrm>
            <a:off x="585216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Purchase Order</a:t>
            </a:r>
            <a:endParaRPr lang="en-US" sz="1050" dirty="0"/>
          </a:p>
        </p:txBody>
      </p:sp>
      <p:sp>
        <p:nvSpPr>
          <p:cNvPr id="28" name="Tahap GRPO"/>
          <p:cNvSpPr/>
          <p:nvPr/>
        </p:nvSpPr>
        <p:spPr>
          <a:xfrm>
            <a:off x="7589520" y="397764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29" name="Text 27"/>
          <p:cNvSpPr txBox="1"/>
          <p:nvPr/>
        </p:nvSpPr>
        <p:spPr>
          <a:xfrm>
            <a:off x="7699248" y="405079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6</a:t>
            </a:r>
            <a:endParaRPr lang="en-US" sz="1100" dirty="0"/>
          </a:p>
          <a:p>
            <a:pPr indent="0" marL="0">
              <a:buNone/>
            </a:pPr>
            <a:r>
              <a:rPr lang="en-US" sz="1500" b="1" dirty="0">
                <a:solidFill>
                  <a:srgbClr val="1B2437"/>
                </a:solidFill>
              </a:rPr>
              <a:t>GRPO</a:t>
            </a:r>
            <a:endParaRPr lang="en-US" sz="1100" dirty="0"/>
          </a:p>
          <a:p>
            <a:pPr indent="0" marL="0">
              <a:buNone/>
            </a:pPr>
            <a:r>
              <a:rPr lang="en-US" sz="1050" dirty="0">
                <a:solidFill>
                  <a:srgbClr val="5B6B86"/>
                </a:solidFill>
              </a:rPr>
              <a:t>Admin DC · Approve PUR</a:t>
            </a:r>
            <a:endParaRPr lang="en-US" sz="1100" dirty="0"/>
          </a:p>
        </p:txBody>
      </p:sp>
      <p:sp>
        <p:nvSpPr>
          <p:cNvPr id="30" name="Text 28"/>
          <p:cNvSpPr txBox="1"/>
          <p:nvPr/>
        </p:nvSpPr>
        <p:spPr>
          <a:xfrm>
            <a:off x="7543800" y="525780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GRPO</a:t>
            </a:r>
            <a:endParaRPr lang="en-US" sz="1050" dirty="0"/>
          </a:p>
        </p:txBody>
      </p:sp>
      <p:sp>
        <p:nvSpPr>
          <p:cNvPr id="31" name="Tahap Transfer ke dek"/>
          <p:cNvSpPr/>
          <p:nvPr/>
        </p:nvSpPr>
        <p:spPr>
          <a:xfrm>
            <a:off x="6720840" y="1828800"/>
            <a:ext cx="1554480" cy="1188720"/>
          </a:xfrm>
          <a:prstGeom prst="roundRect">
            <a:avLst>
              <a:gd name="adj" fmla="val 7692"/>
            </a:avLst>
          </a:prstGeom>
          <a:solidFill>
            <a:srgbClr val="FFFFFF"/>
          </a:solidFill>
          <a:ln w="28575">
            <a:solidFill>
              <a:srgbClr val="EA580C"/>
            </a:solidFill>
            <a:prstDash val="solid"/>
          </a:ln>
          <a:effectLst>
            <a:outerShdw sx="100000" sy="100000" kx="0" ky="0" algn="bl" rotWithShape="0" blurRad="76200" dist="25400" dir="5400000">
              <a:srgbClr val="1F3B7A">
                <a:alpha val="15000"/>
              </a:srgbClr>
            </a:outerShdw>
          </a:effectLst>
        </p:spPr>
      </p:sp>
      <p:sp>
        <p:nvSpPr>
          <p:cNvPr id="32" name="Text 30"/>
          <p:cNvSpPr txBox="1"/>
          <p:nvPr/>
        </p:nvSpPr>
        <p:spPr>
          <a:xfrm>
            <a:off x="6830568" y="1901952"/>
            <a:ext cx="1335024" cy="1042416"/>
          </a:xfrm>
          <a:prstGeom prst="rect">
            <a:avLst/>
          </a:prstGeom>
          <a:noFill/>
          <a:ln/>
        </p:spPr>
        <p:txBody>
          <a:bodyPr wrap="square" lIns="0" tIns="0" rIns="0" bIns="0" rtlCol="0" anchor="t"/>
          <a:lstStyle/>
          <a:p>
            <a:pPr indent="0" marL="0">
              <a:buNone/>
            </a:pPr>
            <a:r>
              <a:rPr lang="en-US" sz="1100" b="1" dirty="0">
                <a:solidFill>
                  <a:srgbClr val="EA580C"/>
                </a:solidFill>
              </a:rPr>
              <a:t>Tahap 7</a:t>
            </a:r>
            <a:endParaRPr lang="en-US" sz="1100" dirty="0"/>
          </a:p>
          <a:p>
            <a:pPr indent="0" marL="0">
              <a:buNone/>
            </a:pPr>
            <a:r>
              <a:rPr lang="en-US" sz="1500" b="1" dirty="0">
                <a:solidFill>
                  <a:srgbClr val="1B2437"/>
                </a:solidFill>
              </a:rPr>
              <a:t>Transfer ke dek</a:t>
            </a:r>
            <a:endParaRPr lang="en-US" sz="1100" dirty="0"/>
          </a:p>
          <a:p>
            <a:pPr indent="0" marL="0">
              <a:buNone/>
            </a:pPr>
            <a:r>
              <a:rPr lang="en-US" sz="1050" dirty="0">
                <a:solidFill>
                  <a:srgbClr val="5B6B86"/>
                </a:solidFill>
              </a:rPr>
              <a:t>Admin DC · Approve PUR</a:t>
            </a:r>
            <a:endParaRPr lang="en-US" sz="1100" dirty="0"/>
          </a:p>
        </p:txBody>
      </p:sp>
      <p:sp>
        <p:nvSpPr>
          <p:cNvPr id="33" name="Text 31"/>
          <p:cNvSpPr txBox="1"/>
          <p:nvPr/>
        </p:nvSpPr>
        <p:spPr>
          <a:xfrm>
            <a:off x="667512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Inventory Transfer</a:t>
            </a:r>
            <a:endParaRPr lang="en-US" sz="1050" dirty="0"/>
          </a:p>
        </p:txBody>
      </p:sp>
      <p:sp>
        <p:nvSpPr>
          <p:cNvPr id="34" name="Tahap Terima di dek"/>
          <p:cNvSpPr/>
          <p:nvPr/>
        </p:nvSpPr>
        <p:spPr>
          <a:xfrm>
            <a:off x="8595360" y="1828800"/>
            <a:ext cx="1554480" cy="1188720"/>
          </a:xfrm>
          <a:prstGeom prst="roundRect">
            <a:avLst>
              <a:gd name="adj" fmla="val 7692"/>
            </a:avLst>
          </a:prstGeom>
          <a:solidFill>
            <a:srgbClr val="FFFFFF"/>
          </a:solidFill>
          <a:ln w="28575">
            <a:solidFill>
              <a:srgbClr val="0F766E"/>
            </a:solidFill>
            <a:prstDash val="solid"/>
          </a:ln>
          <a:effectLst>
            <a:outerShdw sx="100000" sy="100000" kx="0" ky="0" algn="bl" rotWithShape="0" blurRad="76200" dist="25400" dir="5400000">
              <a:srgbClr val="1F3B7A">
                <a:alpha val="15000"/>
              </a:srgbClr>
            </a:outerShdw>
          </a:effectLst>
        </p:spPr>
      </p:sp>
      <p:sp>
        <p:nvSpPr>
          <p:cNvPr id="35" name="Text 33"/>
          <p:cNvSpPr txBox="1"/>
          <p:nvPr/>
        </p:nvSpPr>
        <p:spPr>
          <a:xfrm>
            <a:off x="8705088" y="1901952"/>
            <a:ext cx="1335024" cy="1042416"/>
          </a:xfrm>
          <a:prstGeom prst="rect">
            <a:avLst/>
          </a:prstGeom>
          <a:noFill/>
          <a:ln/>
        </p:spPr>
        <p:txBody>
          <a:bodyPr wrap="square" lIns="0" tIns="0" rIns="0" bIns="0" rtlCol="0" anchor="t"/>
          <a:lstStyle/>
          <a:p>
            <a:pPr indent="0" marL="0">
              <a:buNone/>
            </a:pPr>
            <a:r>
              <a:rPr lang="en-US" sz="1100" b="1" dirty="0">
                <a:solidFill>
                  <a:srgbClr val="0F766E"/>
                </a:solidFill>
              </a:rPr>
              <a:t>Tahap 8</a:t>
            </a:r>
            <a:endParaRPr lang="en-US" sz="1100" dirty="0"/>
          </a:p>
          <a:p>
            <a:pPr indent="0" marL="0">
              <a:buNone/>
            </a:pPr>
            <a:r>
              <a:rPr lang="en-US" sz="1500" b="1" dirty="0">
                <a:solidFill>
                  <a:srgbClr val="1B2437"/>
                </a:solidFill>
              </a:rPr>
              <a:t>Terima di dek</a:t>
            </a:r>
            <a:endParaRPr lang="en-US" sz="1100" dirty="0"/>
          </a:p>
          <a:p>
            <a:pPr indent="0" marL="0">
              <a:buNone/>
            </a:pPr>
            <a:r>
              <a:rPr lang="en-US" sz="1050" dirty="0">
                <a:solidFill>
                  <a:srgbClr val="5B6B86"/>
                </a:solidFill>
              </a:rPr>
              <a:t>Admin kapal · Approve SO</a:t>
            </a:r>
            <a:endParaRPr lang="en-US" sz="1100" dirty="0"/>
          </a:p>
        </p:txBody>
      </p:sp>
      <p:sp>
        <p:nvSpPr>
          <p:cNvPr id="36" name="Text 34"/>
          <p:cNvSpPr txBox="1"/>
          <p:nvPr/>
        </p:nvSpPr>
        <p:spPr>
          <a:xfrm>
            <a:off x="854964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SO ditutup</a:t>
            </a:r>
            <a:endParaRPr lang="en-US" sz="1050" dirty="0"/>
          </a:p>
        </p:txBody>
      </p:sp>
      <p:sp>
        <p:nvSpPr>
          <p:cNvPr id="37" name="Tahap Jual &amp; DO"/>
          <p:cNvSpPr/>
          <p:nvPr/>
        </p:nvSpPr>
        <p:spPr>
          <a:xfrm>
            <a:off x="10469880" y="1828800"/>
            <a:ext cx="1554480" cy="1188720"/>
          </a:xfrm>
          <a:prstGeom prst="roundRect">
            <a:avLst>
              <a:gd name="adj" fmla="val 7692"/>
            </a:avLst>
          </a:prstGeom>
          <a:solidFill>
            <a:srgbClr val="FFFFFF"/>
          </a:solidFill>
          <a:ln w="28575">
            <a:solidFill>
              <a:srgbClr val="15803D"/>
            </a:solidFill>
            <a:prstDash val="solid"/>
          </a:ln>
          <a:effectLst>
            <a:outerShdw sx="100000" sy="100000" kx="0" ky="0" algn="bl" rotWithShape="0" blurRad="76200" dist="25400" dir="5400000">
              <a:srgbClr val="1F3B7A">
                <a:alpha val="15000"/>
              </a:srgbClr>
            </a:outerShdw>
          </a:effectLst>
        </p:spPr>
      </p:sp>
      <p:sp>
        <p:nvSpPr>
          <p:cNvPr id="38" name="Text 36"/>
          <p:cNvSpPr txBox="1"/>
          <p:nvPr/>
        </p:nvSpPr>
        <p:spPr>
          <a:xfrm>
            <a:off x="10579608" y="1901952"/>
            <a:ext cx="1335024" cy="1042416"/>
          </a:xfrm>
          <a:prstGeom prst="rect">
            <a:avLst/>
          </a:prstGeom>
          <a:noFill/>
          <a:ln/>
        </p:spPr>
        <p:txBody>
          <a:bodyPr wrap="square" lIns="0" tIns="0" rIns="0" bIns="0" rtlCol="0" anchor="t"/>
          <a:lstStyle/>
          <a:p>
            <a:pPr indent="0" marL="0">
              <a:buNone/>
            </a:pPr>
            <a:r>
              <a:rPr lang="en-US" sz="1100" b="1" dirty="0">
                <a:solidFill>
                  <a:srgbClr val="15803D"/>
                </a:solidFill>
              </a:rPr>
              <a:t>Tahap 9</a:t>
            </a:r>
            <a:endParaRPr lang="en-US" sz="1100" dirty="0"/>
          </a:p>
          <a:p>
            <a:pPr indent="0" marL="0">
              <a:buNone/>
            </a:pPr>
            <a:r>
              <a:rPr lang="en-US" sz="1500" b="1" dirty="0">
                <a:solidFill>
                  <a:srgbClr val="1B2437"/>
                </a:solidFill>
              </a:rPr>
              <a:t>Jual &amp; DO</a:t>
            </a:r>
            <a:endParaRPr lang="en-US" sz="1100" dirty="0"/>
          </a:p>
          <a:p>
            <a:pPr indent="0" marL="0">
              <a:buNone/>
            </a:pPr>
            <a:r>
              <a:rPr lang="en-US" sz="1050" dirty="0">
                <a:solidFill>
                  <a:srgbClr val="5B6B86"/>
                </a:solidFill>
              </a:rPr>
              <a:t>Kasir</a:t>
            </a:r>
            <a:endParaRPr lang="en-US" sz="1100" dirty="0"/>
          </a:p>
        </p:txBody>
      </p:sp>
      <p:sp>
        <p:nvSpPr>
          <p:cNvPr id="39" name="Text 37"/>
          <p:cNvSpPr txBox="1"/>
          <p:nvPr/>
        </p:nvSpPr>
        <p:spPr>
          <a:xfrm>
            <a:off x="10424160" y="3108960"/>
            <a:ext cx="1645920" cy="292608"/>
          </a:xfrm>
          <a:prstGeom prst="roundRect">
            <a:avLst>
              <a:gd name="adj" fmla="val 31250"/>
            </a:avLst>
          </a:prstGeom>
          <a:solidFill>
            <a:srgbClr val="E5F4E4"/>
          </a:solidFill>
          <a:ln>
            <a:solidFill>
              <a:srgbClr val="E5F4E4"/>
            </a:solidFill>
          </a:ln>
        </p:spPr>
        <p:txBody>
          <a:bodyPr wrap="square" lIns="0" tIns="0" rIns="0" bIns="0" rtlCol="0" anchor="ctr"/>
          <a:lstStyle/>
          <a:p>
            <a:pPr algn="ctr" indent="0" marL="0">
              <a:buNone/>
            </a:pPr>
            <a:r>
              <a:rPr lang="en-US" sz="1050" b="1" dirty="0">
                <a:solidFill>
                  <a:srgbClr val="3A7D3A"/>
                </a:solidFill>
              </a:rPr>
              <a:t>SAP · Delivery (DO)</a:t>
            </a:r>
            <a:endParaRPr lang="en-US" sz="1050" dirty="0"/>
          </a:p>
        </p:txBody>
      </p:sp>
      <p:sp>
        <p:nvSpPr>
          <p:cNvPr id="40" name="Contoh"/>
          <p:cNvSpPr/>
          <p:nvPr/>
        </p:nvSpPr>
        <p:spPr>
          <a:xfrm>
            <a:off x="457200" y="5760720"/>
            <a:ext cx="11274552" cy="502920"/>
          </a:xfrm>
          <a:prstGeom prst="roundRect">
            <a:avLst>
              <a:gd name="adj" fmla="val 18182"/>
            </a:avLst>
          </a:prstGeom>
          <a:solidFill>
            <a:srgbClr val="EEF3FB"/>
          </a:solidFill>
          <a:ln w="12700">
            <a:solidFill>
              <a:srgbClr val="EEF3FB"/>
            </a:solidFill>
            <a:prstDash val="solid"/>
          </a:ln>
        </p:spPr>
      </p:sp>
      <p:sp>
        <p:nvSpPr>
          <p:cNvPr id="41" name="Text 39"/>
          <p:cNvSpPr txBox="1"/>
          <p:nvPr/>
        </p:nvSpPr>
        <p:spPr>
          <a:xfrm>
            <a:off x="685800" y="5760720"/>
            <a:ext cx="10881360" cy="502920"/>
          </a:xfrm>
          <a:prstGeom prst="rect">
            <a:avLst/>
          </a:prstGeom>
          <a:noFill/>
          <a:ln/>
        </p:spPr>
        <p:txBody>
          <a:bodyPr wrap="square" lIns="0" tIns="0" rIns="0" bIns="0" rtlCol="0" anchor="ctr"/>
          <a:lstStyle/>
          <a:p>
            <a:pPr indent="0" marL="0">
              <a:buNone/>
            </a:pPr>
            <a:r>
              <a:rPr lang="en-US" sz="1400" b="1" dirty="0">
                <a:solidFill>
                  <a:srgbClr val="FF6B1A"/>
                </a:solidFill>
              </a:rPr>
              <a:t>Contohnya: </a:t>
            </a:r>
            <a:pPr indent="0" marL="0">
              <a:buNone/>
            </a:pPr>
            <a:r>
              <a:rPr lang="en-US" sz="1400" dirty="0">
                <a:solidFill>
                  <a:srgbClr val="1B2437"/>
                </a:solidFill>
              </a:rPr>
              <a:t>barang yang ada di gudang langsung dikirim ke dek; yang kurang dibeli dulu lewat PUR dan PO, lalu dikirim bersama.</a:t>
            </a:r>
            <a:endParaRPr lang="en-US" sz="14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8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65760"/>
            <a:ext cx="11274552" cy="731520"/>
          </a:xfrm>
          <a:prstGeom prst="rect">
            <a:avLst/>
          </a:prstGeom>
          <a:noFill/>
          <a:ln/>
        </p:spPr>
        <p:txBody>
          <a:bodyPr wrap="square" lIns="0" tIns="0" rIns="0" bIns="0" rtlCol="0" anchor="ctr"/>
          <a:lstStyle/>
          <a:p>
            <a:pPr algn="l" indent="0" marL="0">
              <a:buNone/>
            </a:pPr>
            <a:r>
              <a:rPr lang="en-US" sz="3400" b="1" dirty="0">
                <a:solidFill>
                  <a:schemeClr val="bg1"/>
                </a:solidFill>
              </a:rPr>
              <a:t>Ringkasan: tiga hal yang perlu diingat</a:t>
            </a:r>
            <a:endParaRPr lang="en-US" sz="3400" dirty="0"/>
          </a:p>
        </p:txBody>
      </p:sp>
      <p:sp>
        <p:nvSpPr>
          <p:cNvPr id="3" name="Satu alur terintegrasi"/>
          <p:cNvSpPr/>
          <p:nvPr/>
        </p:nvSpPr>
        <p:spPr>
          <a:xfrm>
            <a:off x="457200" y="1325880"/>
            <a:ext cx="3611880" cy="2514600"/>
          </a:xfrm>
          <a:prstGeom prst="roundRect">
            <a:avLst>
              <a:gd name="adj" fmla="val 4364"/>
            </a:avLst>
          </a:prstGeom>
          <a:solidFill>
            <a:srgbClr val="2A4A8F"/>
          </a:solidFill>
          <a:ln w="12700">
            <a:solidFill>
              <a:srgbClr val="2A4A8F"/>
            </a:solidFill>
            <a:prstDash val="solid"/>
          </a:ln>
        </p:spPr>
      </p:sp>
      <p:sp>
        <p:nvSpPr>
          <p:cNvPr id="4" name="Text 2"/>
          <p:cNvSpPr txBox="1"/>
          <p:nvPr/>
        </p:nvSpPr>
        <p:spPr>
          <a:xfrm>
            <a:off x="731520" y="1463040"/>
            <a:ext cx="822960" cy="822960"/>
          </a:xfrm>
          <a:prstGeom prst="rect">
            <a:avLst/>
          </a:prstGeom>
          <a:noFill/>
          <a:ln/>
        </p:spPr>
        <p:txBody>
          <a:bodyPr wrap="square" lIns="0" tIns="0" rIns="0" bIns="0" rtlCol="0" anchor="ctr"/>
          <a:lstStyle/>
          <a:p>
            <a:pPr indent="0" marL="0">
              <a:buNone/>
            </a:pPr>
            <a:r>
              <a:rPr lang="en-US" sz="4800" b="1" dirty="0">
                <a:solidFill>
                  <a:srgbClr val="FF6B1A"/>
                </a:solidFill>
              </a:rPr>
              <a:t>1</a:t>
            </a:r>
            <a:endParaRPr lang="en-US" sz="4800" dirty="0"/>
          </a:p>
        </p:txBody>
      </p:sp>
      <p:sp>
        <p:nvSpPr>
          <p:cNvPr id="5" name="Text 3"/>
          <p:cNvSpPr txBox="1"/>
          <p:nvPr/>
        </p:nvSpPr>
        <p:spPr>
          <a:xfrm>
            <a:off x="731520" y="233172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FFFFFF"/>
                </a:solidFill>
              </a:rPr>
              <a:t>Satu alur terintegrasi</a:t>
            </a:r>
            <a:endParaRPr lang="en-US" sz="2000" dirty="0"/>
          </a:p>
          <a:p>
            <a:pPr indent="0" marL="0">
              <a:spcAft>
                <a:spcPts val="600"/>
              </a:spcAft>
              <a:buNone/>
            </a:pPr>
            <a:r>
              <a:rPr lang="en-US" sz="1400" dirty="0">
                <a:solidFill>
                  <a:srgbClr val="CADCFC"/>
                </a:solidFill>
              </a:rPr>
              <a:t>Dari permintaan kapal sampai penjualan di kasir: 9 tahap, 7 peran, dalam satu aplikasi.</a:t>
            </a:r>
            <a:endParaRPr lang="en-US" sz="2000" dirty="0"/>
          </a:p>
        </p:txBody>
      </p:sp>
      <p:sp>
        <p:nvSpPr>
          <p:cNvPr id="6" name="Otomatis ke SAP"/>
          <p:cNvSpPr/>
          <p:nvPr/>
        </p:nvSpPr>
        <p:spPr>
          <a:xfrm>
            <a:off x="4251960" y="1325880"/>
            <a:ext cx="3611880" cy="2514600"/>
          </a:xfrm>
          <a:prstGeom prst="roundRect">
            <a:avLst>
              <a:gd name="adj" fmla="val 4364"/>
            </a:avLst>
          </a:prstGeom>
          <a:solidFill>
            <a:srgbClr val="2A4A8F"/>
          </a:solidFill>
          <a:ln w="12700">
            <a:solidFill>
              <a:srgbClr val="2A4A8F"/>
            </a:solidFill>
            <a:prstDash val="solid"/>
          </a:ln>
        </p:spPr>
      </p:sp>
      <p:sp>
        <p:nvSpPr>
          <p:cNvPr id="7" name="Text 5"/>
          <p:cNvSpPr txBox="1"/>
          <p:nvPr/>
        </p:nvSpPr>
        <p:spPr>
          <a:xfrm>
            <a:off x="4526280" y="1463040"/>
            <a:ext cx="822960" cy="822960"/>
          </a:xfrm>
          <a:prstGeom prst="rect">
            <a:avLst/>
          </a:prstGeom>
          <a:noFill/>
          <a:ln/>
        </p:spPr>
        <p:txBody>
          <a:bodyPr wrap="square" lIns="0" tIns="0" rIns="0" bIns="0" rtlCol="0" anchor="ctr"/>
          <a:lstStyle/>
          <a:p>
            <a:pPr indent="0" marL="0">
              <a:buNone/>
            </a:pPr>
            <a:r>
              <a:rPr lang="en-US" sz="4800" b="1" dirty="0">
                <a:solidFill>
                  <a:srgbClr val="FF6B1A"/>
                </a:solidFill>
              </a:rPr>
              <a:t>2</a:t>
            </a:r>
            <a:endParaRPr lang="en-US" sz="4800" dirty="0"/>
          </a:p>
        </p:txBody>
      </p:sp>
      <p:sp>
        <p:nvSpPr>
          <p:cNvPr id="8" name="Text 6"/>
          <p:cNvSpPr txBox="1"/>
          <p:nvPr/>
        </p:nvSpPr>
        <p:spPr>
          <a:xfrm>
            <a:off x="4526280" y="233172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FFFFFF"/>
                </a:solidFill>
              </a:rPr>
              <a:t>Otomatis ke SAP</a:t>
            </a:r>
            <a:endParaRPr lang="en-US" sz="2000" dirty="0"/>
          </a:p>
          <a:p>
            <a:pPr indent="0" marL="0">
              <a:spcAft>
                <a:spcPts val="600"/>
              </a:spcAft>
              <a:buNone/>
            </a:pPr>
            <a:r>
              <a:rPr lang="en-US" sz="1400" dirty="0">
                <a:solidFill>
                  <a:srgbClr val="CADCFC"/>
                </a:solidFill>
              </a:rPr>
              <a:t>Sales Order, PUR, PO, GRPO, Inventory Transfer, dan DO dibuat setelah disetujui, tanpa input ulang.</a:t>
            </a:r>
            <a:endParaRPr lang="en-US" sz="2000" dirty="0"/>
          </a:p>
        </p:txBody>
      </p:sp>
      <p:sp>
        <p:nvSpPr>
          <p:cNvPr id="9" name="Terlacak dan terkendali"/>
          <p:cNvSpPr/>
          <p:nvPr/>
        </p:nvSpPr>
        <p:spPr>
          <a:xfrm>
            <a:off x="8046720" y="1325880"/>
            <a:ext cx="3611880" cy="2514600"/>
          </a:xfrm>
          <a:prstGeom prst="roundRect">
            <a:avLst>
              <a:gd name="adj" fmla="val 4364"/>
            </a:avLst>
          </a:prstGeom>
          <a:solidFill>
            <a:srgbClr val="2A4A8F"/>
          </a:solidFill>
          <a:ln w="12700">
            <a:solidFill>
              <a:srgbClr val="2A4A8F"/>
            </a:solidFill>
            <a:prstDash val="solid"/>
          </a:ln>
        </p:spPr>
      </p:sp>
      <p:sp>
        <p:nvSpPr>
          <p:cNvPr id="10" name="Text 8"/>
          <p:cNvSpPr txBox="1"/>
          <p:nvPr/>
        </p:nvSpPr>
        <p:spPr>
          <a:xfrm>
            <a:off x="8321040" y="1463040"/>
            <a:ext cx="822960" cy="822960"/>
          </a:xfrm>
          <a:prstGeom prst="rect">
            <a:avLst/>
          </a:prstGeom>
          <a:noFill/>
          <a:ln/>
        </p:spPr>
        <p:txBody>
          <a:bodyPr wrap="square" lIns="0" tIns="0" rIns="0" bIns="0" rtlCol="0" anchor="ctr"/>
          <a:lstStyle/>
          <a:p>
            <a:pPr indent="0" marL="0">
              <a:buNone/>
            </a:pPr>
            <a:r>
              <a:rPr lang="en-US" sz="4800" b="1" dirty="0">
                <a:solidFill>
                  <a:srgbClr val="FF6B1A"/>
                </a:solidFill>
              </a:rPr>
              <a:t>3</a:t>
            </a:r>
            <a:endParaRPr lang="en-US" sz="4800" dirty="0"/>
          </a:p>
        </p:txBody>
      </p:sp>
      <p:sp>
        <p:nvSpPr>
          <p:cNvPr id="11" name="Text 9"/>
          <p:cNvSpPr txBox="1"/>
          <p:nvPr/>
        </p:nvSpPr>
        <p:spPr>
          <a:xfrm>
            <a:off x="8321040" y="2331720"/>
            <a:ext cx="3108960" cy="1417320"/>
          </a:xfrm>
          <a:prstGeom prst="rect">
            <a:avLst/>
          </a:prstGeom>
          <a:noFill/>
          <a:ln/>
        </p:spPr>
        <p:txBody>
          <a:bodyPr wrap="square" lIns="0" tIns="0" rIns="0" bIns="0" rtlCol="0" anchor="t"/>
          <a:lstStyle/>
          <a:p>
            <a:pPr indent="0" marL="0">
              <a:spcAft>
                <a:spcPts val="600"/>
              </a:spcAft>
              <a:buNone/>
            </a:pPr>
            <a:r>
              <a:rPr lang="en-US" sz="2000" b="1" dirty="0">
                <a:solidFill>
                  <a:srgbClr val="FFFFFF"/>
                </a:solidFill>
              </a:rPr>
              <a:t>Terlacak dan terkendali</a:t>
            </a:r>
            <a:endParaRPr lang="en-US" sz="2000" dirty="0"/>
          </a:p>
          <a:p>
            <a:pPr indent="0" marL="0">
              <a:spcAft>
                <a:spcPts val="600"/>
              </a:spcAft>
              <a:buNone/>
            </a:pPr>
            <a:r>
              <a:rPr lang="en-US" sz="1400" dirty="0">
                <a:solidFill>
                  <a:srgbClr val="CADCFC"/>
                </a:solidFill>
              </a:rPr>
              <a:t>Setiap permintaan terpantau per tahap, dan setiap persetujuan tercatat berjenjang.</a:t>
            </a:r>
            <a:endParaRPr lang="en-US" sz="2000" dirty="0"/>
          </a:p>
        </p:txBody>
      </p:sp>
      <p:sp>
        <p:nvSpPr>
          <p:cNvPr id="12" name="Dukungan direksi"/>
          <p:cNvSpPr/>
          <p:nvPr/>
        </p:nvSpPr>
        <p:spPr>
          <a:xfrm>
            <a:off x="457200" y="4114800"/>
            <a:ext cx="7863840" cy="2011680"/>
          </a:xfrm>
          <a:prstGeom prst="roundRect">
            <a:avLst>
              <a:gd name="adj" fmla="val 5455"/>
            </a:avLst>
          </a:prstGeom>
          <a:solidFill>
            <a:srgbClr val="FFFFFF"/>
          </a:solidFill>
          <a:ln w="12700">
            <a:solidFill>
              <a:srgbClr val="FFFFFF"/>
            </a:solidFill>
            <a:prstDash val="solid"/>
          </a:ln>
        </p:spPr>
      </p:sp>
      <p:sp>
        <p:nvSpPr>
          <p:cNvPr id="13" name="Text 11"/>
          <p:cNvSpPr txBox="1"/>
          <p:nvPr/>
        </p:nvSpPr>
        <p:spPr>
          <a:xfrm>
            <a:off x="731520" y="4251960"/>
            <a:ext cx="7315200" cy="411480"/>
          </a:xfrm>
          <a:prstGeom prst="rect">
            <a:avLst/>
          </a:prstGeom>
          <a:noFill/>
          <a:ln/>
        </p:spPr>
        <p:txBody>
          <a:bodyPr wrap="square" lIns="0" tIns="0" rIns="0" bIns="0" rtlCol="0" anchor="ctr"/>
          <a:lstStyle/>
          <a:p>
            <a:pPr indent="0" marL="0">
              <a:buNone/>
            </a:pPr>
            <a:r>
              <a:rPr lang="en-US" sz="1800" b="1" dirty="0">
                <a:solidFill>
                  <a:srgbClr val="1F3B7A"/>
                </a:solidFill>
              </a:rPr>
              <a:t>Dukungan yang dimohonkan dari Direksi</a:t>
            </a:r>
            <a:endParaRPr lang="en-US" sz="1800" dirty="0"/>
          </a:p>
        </p:txBody>
      </p:sp>
      <p:sp>
        <p:nvSpPr>
          <p:cNvPr id="14" name="Text 12"/>
          <p:cNvSpPr txBox="1"/>
          <p:nvPr/>
        </p:nvSpPr>
        <p:spPr>
          <a:xfrm>
            <a:off x="731520" y="4754880"/>
            <a:ext cx="7315200" cy="123444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500" dirty="0">
                <a:solidFill>
                  <a:srgbClr val="1B2437"/>
                </a:solidFill>
              </a:rPr>
              <a:t>Persetujuan penerapan PID POS di toko kapal, DC, dan kantor pusat.</a:t>
            </a:r>
            <a:endParaRPr lang="en-US" sz="1500" dirty="0"/>
          </a:p>
          <a:p>
            <a:pPr marL="342900" indent="-342900">
              <a:spcAft>
                <a:spcPts val="800"/>
              </a:spcAft>
              <a:buSzPct val="100000"/>
              <a:buFont typeface="+mj-lt"/>
              <a:buAutoNum type="arabicPeriod" startAt="1"/>
            </a:pPr>
            <a:r>
              <a:rPr lang="en-US" sz="1500" dirty="0">
                <a:solidFill>
                  <a:srgbClr val="1B2437"/>
                </a:solidFill>
              </a:rPr>
              <a:t>Arahan kepada unit terkait untuk menjalankan permintaan barang dan penjualan melalui PID POS.</a:t>
            </a:r>
            <a:endParaRPr lang="en-US" sz="1500" dirty="0"/>
          </a:p>
        </p:txBody>
      </p:sp>
      <p:sp>
        <p:nvSpPr>
          <p:cNvPr id="15" name="Kartu logo"/>
          <p:cNvSpPr/>
          <p:nvPr/>
        </p:nvSpPr>
        <p:spPr>
          <a:xfrm>
            <a:off x="8595360" y="4114800"/>
            <a:ext cx="3136392" cy="2011680"/>
          </a:xfrm>
          <a:prstGeom prst="roundRect">
            <a:avLst>
              <a:gd name="adj" fmla="val 5455"/>
            </a:avLst>
          </a:prstGeom>
          <a:solidFill>
            <a:srgbClr val="FFFFFF"/>
          </a:solidFill>
          <a:ln w="12700">
            <a:solidFill>
              <a:srgbClr val="FFFFFF"/>
            </a:solidFill>
            <a:prstDash val="solid"/>
          </a:ln>
        </p:spPr>
      </p:sp>
      <p:pic>
        <p:nvPicPr>
          <p:cNvPr id="16" name="Logo" descr="Logo PELNI Services">    </p:cNvPr>
          <p:cNvPicPr>
            <a:picLocks noChangeAspect="1"/>
          </p:cNvPicPr>
          <p:nvPr/>
        </p:nvPicPr>
        <p:blipFill>
          <a:blip r:embed="rId1"/>
          <a:stretch>
            <a:fillRect/>
          </a:stretch>
        </p:blipFill>
        <p:spPr>
          <a:xfrm>
            <a:off x="8915400" y="4297680"/>
            <a:ext cx="2496312" cy="1143000"/>
          </a:xfrm>
          <a:prstGeom prst="rect">
            <a:avLst/>
          </a:prstGeom>
        </p:spPr>
      </p:pic>
      <p:sp>
        <p:nvSpPr>
          <p:cNvPr id="17" name="Text 14"/>
          <p:cNvSpPr txBox="1"/>
          <p:nvPr/>
        </p:nvSpPr>
        <p:spPr>
          <a:xfrm>
            <a:off x="8595360" y="5486400"/>
            <a:ext cx="3136392" cy="457200"/>
          </a:xfrm>
          <a:prstGeom prst="rect">
            <a:avLst/>
          </a:prstGeom>
          <a:noFill/>
          <a:ln/>
        </p:spPr>
        <p:txBody>
          <a:bodyPr wrap="square" lIns="0" tIns="0" rIns="0" bIns="0" rtlCol="0" anchor="ctr"/>
          <a:lstStyle/>
          <a:p>
            <a:pPr algn="ctr" indent="0" marL="0">
              <a:buNone/>
            </a:pPr>
            <a:r>
              <a:rPr lang="en-US" sz="2000" b="1" dirty="0">
                <a:solidFill>
                  <a:srgbClr val="1F3B7A"/>
                </a:solidFill>
              </a:rPr>
              <a:t>Terima kasih</a:t>
            </a:r>
            <a:endParaRPr lang="en-US" sz="2000" dirty="0"/>
          </a:p>
        </p:txBody>
      </p:sp>
      <p:sp>
        <p:nvSpPr>
          <p:cNvPr id="25" name="Slide Number Placeholder 0"/>
          <p:cNvSpPr>
            <a:spLocks noGrp="1"/>
          </p:cNvSpPr>
          <p:nvPr>
            <p:ph type="sldNum" sz="quarter" idx="4294967295"/>
          </p:nvPr>
        </p:nvSpPr>
        <p:spPr>
          <a:xfrm>
            <a:off x="1133856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ADCFC"/>
                </a:solidFill>
              </a:defRPr>
            </a:lvl1pPr>
          </a:lstStyle>
          <a:p>
            <a:pPr algn="r"/>
            <a:fld id="{F7021451-1387-4CA6-816F-3879F97B5CBC}" type="slidenum">
              <a:rPr b="0" lang="en-US"/>
              <a:t>3</a:t>
            </a:fld>
            <a:endParaRPr lang="en-US"/>
          </a:p>
        </p:txBody>
      </p:sp>
    </p:spTree>
  </p:cSld>
  <p:clrMapOvr>
    <a:masterClrMapping/>
  </p:clrMapOvr>
</p:sld>
</file>

<file path=ppt/theme/theme1.xml><?xml version="1.0" encoding="utf-8"?>
<a:theme xmlns:a="http://schemas.openxmlformats.org/drawingml/2006/main" name="PID POS">
  <a:themeElements>
    <a:clrScheme name="PID POS">
      <a:dk1>
        <a:srgbClr val="1B2437"/>
      </a:dk1>
      <a:lt1>
        <a:srgbClr val="FFFFFF"/>
      </a:lt1>
      <a:dk2>
        <a:srgbClr val="1F3B7A"/>
      </a:dk2>
      <a:lt2>
        <a:srgbClr val="EEF3FB"/>
      </a:lt2>
      <a:accent1>
        <a:srgbClr val="FF6B1A"/>
      </a:accent1>
      <a:accent2>
        <a:srgbClr val="3A7D3A"/>
      </a:accent2>
      <a:accent3>
        <a:srgbClr val="3D8BFF"/>
      </a:accent3>
      <a:accent4>
        <a:srgbClr val="C0392B"/>
      </a:accent4>
      <a:accent5>
        <a:srgbClr val="5B6B86"/>
      </a:accent5>
      <a:accent6>
        <a:srgbClr val="D5DEEC"/>
      </a:accent6>
      <a:hlink>
        <a:srgbClr val="1F3B7A"/>
      </a:hlink>
      <a:folHlink>
        <a:srgbClr val="5B6B86"/>
      </a:folHlink>
    </a:clrScheme>
    <a:fontScheme name="PID PO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PT Pelita Indonesia Djaya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PID POS: paparan direksi</dc:title>
  <dc:subject>Pengenalan dan alur besar PID POS</dc:subject>
  <dc:creator>PID POS</dc:creator>
  <cp:lastModifiedBy>PID POS</cp:lastModifiedBy>
  <cp:revision>1</cp:revision>
  <dcterms:created xsi:type="dcterms:W3CDTF">2026-10-23T10:31:07Z</dcterms:created>
  <dcterms:modified xsi:type="dcterms:W3CDTF">2026-10-23T10:31:07Z</dcterms:modified>
</cp:coreProperties>
</file>