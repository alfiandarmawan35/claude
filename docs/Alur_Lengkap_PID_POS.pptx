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presentasi ini kita ikuti satu permintaan barang dari awal sampai akhir: dari kapal memesan ke DC, sampai barangnya terjual di kasir dan dikirim ke SAP sebagai Delivery Order. Contohnya PERMINTAAN-AWU/2610/0008 untuk KM Awu. Semua nomor dokumen adalah data uji SAP DB_TEST.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sembilan tahap. Jalur atas selalu dijalani. Jalur bawah, PUR, PO, dan GRPO, hanya dijalani bila stok DC tidak cukup. Label hijau menunjukkan dokumen SAP yang terbentuk setelah tahap itu disetujui.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Tujuh peran terlibat, dan masing-masing hanya melihat tugasnya sendiri. Lonceng dan tab Giliran saya menunjukkan apa yang sedang menunggu. Akun yang tertulis adalah akun uji di server dev.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Semuanya dimulai di kapal. Admin kapal KM Awu memesan enam AQUA untuk Dek 3 dan dua puluh empat Teh Pucuk untuk Dek 7, lalu klik Kirim ke DC. Permintaan langsung mendapat nomor PERMINTAAN-AWU/2610/0008 dan statusnya Menunggu persetujuan. Belum ada dokumen di SAP.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 SO memeriksa barang dan harga jualnya, lalu menyetujui. Begitu disetujui, dua Sales Order langsung dibuat di SAP, satu untuk setiap dek. Bila ada yang tidak sesuai, tolak dengan alasan; permintaan kembali ke admin kapal.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DC memilah. AQUA masih ada di gudang, jadi enam diambil dari stok DC. Teh Pucuk kosong, jadi dua puluh empat harus dibeli dan otomatis menjadi Qty PUR. Bila semua barang ada di stok DC, tahap PUR, PO, dan GRPO dilewati.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 PUR memeriksa jumlah yang harus dibeli lalu menyetujuinya. Purchase Request untuk Dek 7 pun dibuat di SAP. Giliran berikutnya admin purchase membuat 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Admin purchase memilih vendor, mengisi jumlah dan harga beli, lalu mengajukan Purchase Order. Approve PO memeriksa vendor dan harganya lalu menyetujui. Setelah level terakhir menyetujui, Purchase Order dibuat di SAP.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Beberapa hari kemudian barang dari vendor tiba di gudang. Admin DC mengisi jumlah yang benar-benar diterima, lalu mengajukan GRPO. Approve PUR menyetujui, GRPO dibuat di SAP, dan stok DC bertambah.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Barang siap dikirim. Admin DC memeriksa jumlah untuk tiap dek lalu mengajukan Inventory Transfer. Approve PUR menyetujui, dan Inventory Transfer dibuat di SAP, satu untuk setiap dek. Kiriman langsung muncul di menu Terima barang kapal.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Kiriman tiba di kapal. Admin kapal memeriksa dan menerima barang per dek, lalu kepala toko mencentang semua checklist dan menyetujui. Terakhir P2 menyetujui: stok dek bertambah dan Sales Order ditutup di SAP.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Barang sudah ada di dek dan siap dijual. Kasir scan dua AQUA, totalnya tiga puluh delapan ribu rupiah, pembeli membayar dan kembalian dihitung otomatis. Di akhir hari kasir klik Kirim DO hari ini, dan penjualan masuk ke SAP sebagai Delivery Order. Alur selesai.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jejak dokumen SAP dari satu permintaan. Setiap dokumen baru dibuat setelah persetujuannya selesai di web. Selama statusnya masih Approval, belum ada apa pun di SAP.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 semua barang ada di stok DC, tahap PUR, PO, dan GRPO dilewati. Bila sebagian harus dibeli, seperti contoh ini, semua tahap dijalani, dan Inventory Transfer menunggu GRPO lalu dikirim sekali, tetap satu dokumen per dek.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Ringkasnya: satu permintaan mengalir melewati tujuh peran. Dokumen SAP dibuat setelah setiap persetujuan, dan semuanya berakhir di Delivery Order kasir. Untuk detail tiap peran, tonton video episode satu sampai tujuh atau buka Manual Book per peran.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1F3B7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7772400" cy="14630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640080" y="3566160"/>
            <a:ext cx="7772400" cy="91440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400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pic>
        <p:nvPicPr>
          <p:cNvPr id="3" name="Image 0" descr="/home/user/claude/motion/public/brand/pelni_services.png">    </p:cNvPr>
          <p:cNvPicPr>
            <a:picLocks noChangeAspect="1"/>
          </p:cNvPicPr>
          <p:nvPr/>
        </p:nvPicPr>
        <p:blipFill>
          <a:blip r:embed="rId1"/>
          <a:stretch>
            <a:fillRect/>
          </a:stretch>
        </p:blipFill>
        <p:spPr>
          <a:xfrm>
            <a:off x="10469880" y="347472"/>
            <a:ext cx="1261872" cy="576072"/>
          </a:xfrm>
          <a:prstGeom prst="rect">
            <a:avLst/>
          </a:prstGeom>
        </p:spPr>
      </p:pic>
      <p:sp>
        <p:nvSpPr>
          <p:cNvPr id="4" name="Text 0"/>
          <p:cNvSpPr/>
          <p:nvPr/>
        </p:nvSpPr>
        <p:spPr>
          <a:xfrm>
            <a:off x="45720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PID POS · Alur lengkap · Contoh data uji SAP DB_TEST</a:t>
            </a:r>
            <a:endParaRPr lang="en-US" sz="10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ENUTUP">
    <p:bg>
      <p:bgPr>
        <a:solidFill>
          <a:srgbClr val="1F3B7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97280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nvSpPr>
        <p:spPr>
          <a:xfrm>
            <a:off x="457200" y="6400800"/>
            <a:ext cx="7315200" cy="274320"/>
          </a:xfrm>
          <a:prstGeom prst="rect">
            <a:avLst/>
          </a:prstGeom>
          <a:noFill/>
          <a:ln/>
        </p:spPr>
        <p:txBody>
          <a:bodyPr wrap="square" lIns="0" tIns="0" rIns="0" bIns="0" rtlCol="0" anchor="ctr"/>
          <a:lstStyle/>
          <a:p>
            <a:pPr indent="0" marL="0">
              <a:buNone/>
            </a:pPr>
            <a:r>
              <a:rPr lang="en-US" sz="1000" dirty="0">
                <a:solidFill>
                  <a:schemeClr val="bg2"/>
                </a:solidFill>
              </a:rPr>
              <a:t>PID POS · Alur lengkap · Contoh data uji SAP DB_TEST</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7772400" cy="1463040"/>
          </a:xfrm>
          <a:prstGeom prst="rect">
            <a:avLst/>
          </a:prstGeom>
          <a:noFill/>
          <a:ln/>
        </p:spPr>
        <p:txBody>
          <a:bodyPr wrap="square" lIns="0" tIns="0" rIns="0" bIns="0" rtlCol="0" anchor="t"/>
          <a:lstStyle/>
          <a:p>
            <a:pPr algn="l" indent="0" marL="0">
              <a:buNone/>
            </a:pPr>
            <a:r>
              <a:rPr lang="en-US" sz="4800" b="1" dirty="0">
                <a:solidFill>
                  <a:schemeClr val="bg1"/>
                </a:solidFill>
              </a:rPr>
              <a:t>Alur Lengkap PID POS</a:t>
            </a:r>
            <a:endParaRPr lang="en-US" sz="4800" dirty="0"/>
          </a:p>
        </p:txBody>
      </p:sp>
      <p:sp>
        <p:nvSpPr>
          <p:cNvPr id="3" name="Text 0"/>
          <p:cNvSpPr/>
          <p:nvPr>
            <p:ph idx="101" type="body" hasCustomPrompt="1"/>
          </p:nvPr>
        </p:nvSpPr>
        <p:spPr>
          <a:xfrm>
            <a:off x="640080" y="3566160"/>
            <a:ext cx="7772400" cy="914400"/>
          </a:xfrm>
          <a:prstGeom prst="rect">
            <a:avLst/>
          </a:prstGeom>
          <a:noFill/>
          <a:ln/>
        </p:spPr>
        <p:txBody>
          <a:bodyPr wrap="square" lIns="0" tIns="0" rIns="0" bIns="0" rtlCol="0" anchor="t"/>
          <a:lstStyle/>
          <a:p>
            <a:pPr indent="0" marL="0">
              <a:buNone/>
            </a:pPr>
            <a:r>
              <a:rPr lang="en-US" sz="2200" dirty="0">
                <a:solidFill>
                  <a:schemeClr val="bg2"/>
                </a:solidFill>
              </a:rPr>
              <a:t>Dari pesan ke DC sampai Delivery Order: 9 tahap, 7 peran, satu permintaan</a:t>
            </a:r>
            <a:endParaRPr lang="en-US" sz="2200" dirty="0"/>
          </a:p>
        </p:txBody>
      </p:sp>
      <p:sp>
        <p:nvSpPr>
          <p:cNvPr id="4" name="Kartu logo"/>
          <p:cNvSpPr/>
          <p:nvPr/>
        </p:nvSpPr>
        <p:spPr>
          <a:xfrm>
            <a:off x="8915400" y="548640"/>
            <a:ext cx="2651760" cy="1234440"/>
          </a:xfrm>
          <a:prstGeom prst="roundRect">
            <a:avLst>
              <a:gd name="adj" fmla="val 8889"/>
            </a:avLst>
          </a:prstGeom>
          <a:solidFill>
            <a:srgbClr val="FFFFFF"/>
          </a:solidFill>
          <a:ln w="12700">
            <a:solidFill>
              <a:srgbClr val="FFFFFF"/>
            </a:solidFill>
            <a:prstDash val="solid"/>
          </a:ln>
        </p:spPr>
      </p:sp>
      <p:pic>
        <p:nvPicPr>
          <p:cNvPr id="5" name="Logo" descr="Logo PELNI Services">    </p:cNvPr>
          <p:cNvPicPr>
            <a:picLocks noChangeAspect="1"/>
          </p:cNvPicPr>
          <p:nvPr/>
        </p:nvPicPr>
        <p:blipFill>
          <a:blip r:embed="rId1"/>
          <a:stretch>
            <a:fillRect/>
          </a:stretch>
        </p:blipFill>
        <p:spPr>
          <a:xfrm>
            <a:off x="9098280" y="658368"/>
            <a:ext cx="2286000" cy="1051560"/>
          </a:xfrm>
          <a:prstGeom prst="rect">
            <a:avLst/>
          </a:prstGeom>
        </p:spPr>
      </p:pic>
      <p:sp>
        <p:nvSpPr>
          <p:cNvPr id="6" name="Contoh permintaan"/>
          <p:cNvSpPr txBox="1"/>
          <p:nvPr/>
        </p:nvSpPr>
        <p:spPr>
          <a:xfrm>
            <a:off x="640080" y="4937760"/>
            <a:ext cx="8229600" cy="1005840"/>
          </a:xfrm>
          <a:prstGeom prst="rect">
            <a:avLst/>
          </a:prstGeom>
          <a:noFill/>
          <a:ln/>
        </p:spPr>
        <p:txBody>
          <a:bodyPr wrap="square" lIns="0" tIns="0" rIns="0" bIns="0" rtlCol="0" anchor="t"/>
          <a:lstStyle/>
          <a:p>
            <a:pPr indent="0" marL="0">
              <a:buNone/>
            </a:pPr>
            <a:r>
              <a:rPr lang="en-US" sz="1400" b="1" dirty="0">
                <a:solidFill>
                  <a:srgbClr val="FF6B1A"/>
                </a:solidFill>
              </a:rPr>
              <a:t>Contoh di deck ini</a:t>
            </a:r>
            <a:endParaRPr lang="en-US" sz="1400" dirty="0"/>
          </a:p>
          <a:p>
            <a:pPr indent="0" marL="0">
              <a:buNone/>
            </a:pPr>
            <a:r>
              <a:rPr lang="en-US" sz="1600" dirty="0">
                <a:solidFill>
                  <a:srgbClr val="FFFFFF"/>
                </a:solidFill>
              </a:rPr>
              <a:t>PERMINTAAN-AWU/2610/0008 · KM Awu</a:t>
            </a:r>
            <a:endParaRPr lang="en-US" sz="1400" dirty="0"/>
          </a:p>
          <a:p>
            <a:pPr indent="0" marL="0">
              <a:buNone/>
            </a:pPr>
            <a:r>
              <a:rPr lang="en-US" sz="1400" dirty="0">
                <a:solidFill>
                  <a:srgbClr val="CADCFC"/>
                </a:solidFill>
              </a:rPr>
              <a:t>AQUA 6 pcs ke Dek 3 (stok DC) · Teh Pucuk 24 pcs ke Dek 7 (dibeli)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40080"/>
          </a:xfrm>
          <a:prstGeom prst="rect">
            <a:avLst/>
          </a:prstGeom>
          <a:noFill/>
          <a:ln/>
        </p:spPr>
        <p:txBody>
          <a:bodyPr wrap="square" lIns="0" tIns="0" rIns="0" bIns="0" rtlCol="0" anchor="ctr"/>
          <a:lstStyle/>
          <a:p>
            <a:pPr algn="l" indent="0" marL="0">
              <a:buNone/>
            </a:pPr>
            <a:r>
              <a:rPr lang="en-US" sz="3400" b="1" dirty="0">
                <a:solidFill>
                  <a:schemeClr val="tx2"/>
                </a:solidFill>
              </a:rPr>
              <a:t>9 tahap dari kapal sampai kasir</a:t>
            </a:r>
            <a:endParaRPr lang="en-US" sz="3400" dirty="0"/>
          </a:p>
        </p:txBody>
      </p:sp>
      <p:sp>
        <p:nvSpPr>
          <p:cNvPr id="3" name="Text 1"/>
          <p:cNvSpPr txBox="1"/>
          <p:nvPr/>
        </p:nvSpPr>
        <p:spPr>
          <a:xfrm>
            <a:off x="457200" y="1051560"/>
            <a:ext cx="11247120" cy="365760"/>
          </a:xfrm>
          <a:prstGeom prst="rect">
            <a:avLst/>
          </a:prstGeom>
          <a:noFill/>
          <a:ln/>
        </p:spPr>
        <p:txBody>
          <a:bodyPr wrap="square" lIns="0" tIns="0" rIns="0" bIns="0" rtlCol="0" anchor="ctr"/>
          <a:lstStyle/>
          <a:p>
            <a:pPr indent="0" marL="0">
              <a:buNone/>
            </a:pPr>
            <a:r>
              <a:rPr lang="en-US" sz="1500" dirty="0">
                <a:solidFill>
                  <a:schemeClr val="accent5"/>
                </a:solidFill>
              </a:rPr>
              <a:t>Dokumen SAP dibuat setelah tahap persetujuannya selesai. Jalur bawah hanya dijalani bila stok DC kurang.</a:t>
            </a:r>
            <a:endParaRPr lang="en-US" sz="1500" dirty="0"/>
          </a:p>
        </p:txBody>
      </p:sp>
      <p:sp>
        <p:nvSpPr>
          <p:cNvPr id="4" name="Panah "/>
          <p:cNvSpPr/>
          <p:nvPr/>
        </p:nvSpPr>
        <p:spPr>
          <a:xfrm>
            <a:off x="2011680" y="2514600"/>
            <a:ext cx="320040" cy="914"/>
          </a:xfrm>
          <a:prstGeom prst="line">
            <a:avLst/>
          </a:prstGeom>
          <a:noFill/>
          <a:ln w="25400">
            <a:solidFill>
              <a:srgbClr val="1F3B7A"/>
            </a:solidFill>
            <a:prstDash val="solid"/>
            <a:tailEnd type="triangle"/>
          </a:ln>
        </p:spPr>
      </p:sp>
      <p:sp>
        <p:nvSpPr>
          <p:cNvPr id="5" name="Panah "/>
          <p:cNvSpPr/>
          <p:nvPr/>
        </p:nvSpPr>
        <p:spPr>
          <a:xfrm>
            <a:off x="3886200" y="2514600"/>
            <a:ext cx="320040" cy="914"/>
          </a:xfrm>
          <a:prstGeom prst="line">
            <a:avLst/>
          </a:prstGeom>
          <a:noFill/>
          <a:ln w="25400">
            <a:solidFill>
              <a:srgbClr val="1F3B7A"/>
            </a:solidFill>
            <a:prstDash val="solid"/>
            <a:tailEnd type="triangle"/>
          </a:ln>
        </p:spPr>
      </p:sp>
      <p:sp>
        <p:nvSpPr>
          <p:cNvPr id="6" name="Panah stok ada"/>
          <p:cNvSpPr/>
          <p:nvPr/>
        </p:nvSpPr>
        <p:spPr>
          <a:xfrm>
            <a:off x="5760720" y="2514600"/>
            <a:ext cx="960120" cy="914"/>
          </a:xfrm>
          <a:prstGeom prst="line">
            <a:avLst/>
          </a:prstGeom>
          <a:noFill/>
          <a:ln w="25400">
            <a:solidFill>
              <a:srgbClr val="1F3B7A"/>
            </a:solidFill>
            <a:prstDash val="solid"/>
            <a:tailEnd type="triangle"/>
          </a:ln>
        </p:spPr>
      </p:sp>
      <p:sp>
        <p:nvSpPr>
          <p:cNvPr id="7" name="Panah "/>
          <p:cNvSpPr/>
          <p:nvPr/>
        </p:nvSpPr>
        <p:spPr>
          <a:xfrm>
            <a:off x="8275320" y="2514600"/>
            <a:ext cx="320040" cy="914"/>
          </a:xfrm>
          <a:prstGeom prst="line">
            <a:avLst/>
          </a:prstGeom>
          <a:noFill/>
          <a:ln w="25400">
            <a:solidFill>
              <a:srgbClr val="1F3B7A"/>
            </a:solidFill>
            <a:prstDash val="solid"/>
            <a:tailEnd type="triangle"/>
          </a:ln>
        </p:spPr>
      </p:sp>
      <p:sp>
        <p:nvSpPr>
          <p:cNvPr id="8" name="Panah "/>
          <p:cNvSpPr/>
          <p:nvPr/>
        </p:nvSpPr>
        <p:spPr>
          <a:xfrm>
            <a:off x="10149840" y="2514600"/>
            <a:ext cx="320040" cy="914"/>
          </a:xfrm>
          <a:prstGeom prst="line">
            <a:avLst/>
          </a:prstGeom>
          <a:noFill/>
          <a:ln w="25400">
            <a:solidFill>
              <a:srgbClr val="1F3B7A"/>
            </a:solidFill>
            <a:prstDash val="solid"/>
            <a:tailEnd type="triangle"/>
          </a:ln>
        </p:spPr>
      </p:sp>
      <p:sp>
        <p:nvSpPr>
          <p:cNvPr id="9" name="Panah stok kurang"/>
          <p:cNvSpPr/>
          <p:nvPr/>
        </p:nvSpPr>
        <p:spPr>
          <a:xfrm>
            <a:off x="4983480" y="3108960"/>
            <a:ext cx="914" cy="1051560"/>
          </a:xfrm>
          <a:prstGeom prst="line">
            <a:avLst/>
          </a:prstGeom>
          <a:noFill/>
          <a:ln w="25400">
            <a:solidFill>
              <a:srgbClr val="1F3B7A"/>
            </a:solidFill>
            <a:prstDash val="solid"/>
            <a:tailEnd type="triangle"/>
          </a:ln>
        </p:spPr>
      </p:sp>
      <p:sp>
        <p:nvSpPr>
          <p:cNvPr id="10" name="Panah "/>
          <p:cNvSpPr/>
          <p:nvPr/>
        </p:nvSpPr>
        <p:spPr>
          <a:xfrm>
            <a:off x="5760720" y="4754880"/>
            <a:ext cx="137160" cy="914"/>
          </a:xfrm>
          <a:prstGeom prst="line">
            <a:avLst/>
          </a:prstGeom>
          <a:noFill/>
          <a:ln w="25400">
            <a:solidFill>
              <a:srgbClr val="1F3B7A"/>
            </a:solidFill>
            <a:prstDash val="solid"/>
            <a:tailEnd type="triangle"/>
          </a:ln>
        </p:spPr>
      </p:sp>
      <p:sp>
        <p:nvSpPr>
          <p:cNvPr id="11" name="Panah "/>
          <p:cNvSpPr/>
          <p:nvPr/>
        </p:nvSpPr>
        <p:spPr>
          <a:xfrm>
            <a:off x="7452360" y="4754880"/>
            <a:ext cx="137160" cy="914"/>
          </a:xfrm>
          <a:prstGeom prst="line">
            <a:avLst/>
          </a:prstGeom>
          <a:noFill/>
          <a:ln w="25400">
            <a:solidFill>
              <a:srgbClr val="1F3B7A"/>
            </a:solidFill>
            <a:prstDash val="solid"/>
            <a:tailEnd type="triangle"/>
          </a:ln>
        </p:spPr>
      </p:sp>
      <p:sp>
        <p:nvSpPr>
          <p:cNvPr id="12" name="Panah ke transfer"/>
          <p:cNvSpPr/>
          <p:nvPr/>
        </p:nvSpPr>
        <p:spPr>
          <a:xfrm flipV="1">
            <a:off x="7498080" y="3108960"/>
            <a:ext cx="868680" cy="1051560"/>
          </a:xfrm>
          <a:prstGeom prst="line">
            <a:avLst/>
          </a:prstGeom>
          <a:noFill/>
          <a:ln w="25400">
            <a:solidFill>
              <a:srgbClr val="1F3B7A"/>
            </a:solidFill>
            <a:prstDash val="solid"/>
            <a:tailEnd type="triangle"/>
          </a:ln>
        </p:spPr>
      </p:sp>
      <p:sp>
        <p:nvSpPr>
          <p:cNvPr id="13" name="Text 11"/>
          <p:cNvSpPr txBox="1"/>
          <p:nvPr/>
        </p:nvSpPr>
        <p:spPr>
          <a:xfrm>
            <a:off x="5760720" y="2194560"/>
            <a:ext cx="960120" cy="274320"/>
          </a:xfrm>
          <a:prstGeom prst="rect">
            <a:avLst/>
          </a:prstGeom>
          <a:noFill/>
          <a:ln/>
        </p:spPr>
        <p:txBody>
          <a:bodyPr wrap="square" lIns="0" tIns="0" rIns="0" bIns="0" rtlCol="0" anchor="ctr"/>
          <a:lstStyle/>
          <a:p>
            <a:pPr algn="ctr" indent="0" marL="0">
              <a:buNone/>
            </a:pPr>
            <a:r>
              <a:rPr lang="en-US" sz="1100" dirty="0">
                <a:solidFill>
                  <a:schemeClr val="accent5"/>
                </a:solidFill>
              </a:rPr>
              <a:t>stok DC ada</a:t>
            </a:r>
            <a:endParaRPr lang="en-US" sz="1100" dirty="0"/>
          </a:p>
        </p:txBody>
      </p:sp>
      <p:sp>
        <p:nvSpPr>
          <p:cNvPr id="14" name="Text 12"/>
          <p:cNvSpPr txBox="1"/>
          <p:nvPr/>
        </p:nvSpPr>
        <p:spPr>
          <a:xfrm>
            <a:off x="2971800" y="3429000"/>
            <a:ext cx="1920240" cy="274320"/>
          </a:xfrm>
          <a:prstGeom prst="rect">
            <a:avLst/>
          </a:prstGeom>
          <a:noFill/>
          <a:ln/>
        </p:spPr>
        <p:txBody>
          <a:bodyPr wrap="square" lIns="0" tIns="0" rIns="0" bIns="0" rtlCol="0" anchor="ctr"/>
          <a:lstStyle/>
          <a:p>
            <a:pPr algn="r" indent="0" marL="0">
              <a:buNone/>
            </a:pPr>
            <a:r>
              <a:rPr lang="en-US" sz="1100" dirty="0">
                <a:solidFill>
                  <a:schemeClr val="accent5"/>
                </a:solidFill>
              </a:rPr>
              <a:t>stok DC kurang</a:t>
            </a:r>
            <a:endParaRPr lang="en-US" sz="1100" dirty="0"/>
          </a:p>
        </p:txBody>
      </p:sp>
      <p:sp>
        <p:nvSpPr>
          <p:cNvPr id="15" name="Tahap Pesan barang"/>
          <p:cNvSpPr/>
          <p:nvPr/>
        </p:nvSpPr>
        <p:spPr>
          <a:xfrm>
            <a:off x="457200" y="1920240"/>
            <a:ext cx="1554480" cy="1188720"/>
          </a:xfrm>
          <a:prstGeom prst="roundRect">
            <a:avLst>
              <a:gd name="adj" fmla="val 7692"/>
            </a:avLst>
          </a:prstGeom>
          <a:solidFill>
            <a:srgbClr val="FFFFFF"/>
          </a:solidFill>
          <a:ln w="28575">
            <a:solidFill>
              <a:srgbClr val="0F766E"/>
            </a:solidFill>
            <a:prstDash val="solid"/>
          </a:ln>
          <a:effectLst>
            <a:outerShdw sx="100000" sy="100000" kx="0" ky="0" algn="bl" rotWithShape="0" blurRad="76200" dist="25400" dir="5400000">
              <a:srgbClr val="1F3B7A">
                <a:alpha val="15000"/>
              </a:srgbClr>
            </a:outerShdw>
          </a:effectLst>
        </p:spPr>
      </p:sp>
      <p:sp>
        <p:nvSpPr>
          <p:cNvPr id="16" name="Text 14"/>
          <p:cNvSpPr txBox="1"/>
          <p:nvPr/>
        </p:nvSpPr>
        <p:spPr>
          <a:xfrm>
            <a:off x="566928" y="1993392"/>
            <a:ext cx="1335024" cy="1042416"/>
          </a:xfrm>
          <a:prstGeom prst="rect">
            <a:avLst/>
          </a:prstGeom>
          <a:noFill/>
          <a:ln/>
        </p:spPr>
        <p:txBody>
          <a:bodyPr wrap="square" lIns="0" tIns="0" rIns="0" bIns="0" rtlCol="0" anchor="t"/>
          <a:lstStyle/>
          <a:p>
            <a:pPr indent="0" marL="0">
              <a:buNone/>
            </a:pPr>
            <a:r>
              <a:rPr lang="en-US" sz="1100" b="1" dirty="0">
                <a:solidFill>
                  <a:srgbClr val="0F766E"/>
                </a:solidFill>
              </a:rPr>
              <a:t>Tahap 1</a:t>
            </a:r>
            <a:endParaRPr lang="en-US" sz="1100" dirty="0"/>
          </a:p>
          <a:p>
            <a:pPr indent="0" marL="0">
              <a:buNone/>
            </a:pPr>
            <a:r>
              <a:rPr lang="en-US" sz="1500" b="1" dirty="0">
                <a:solidFill>
                  <a:srgbClr val="1B2437"/>
                </a:solidFill>
              </a:rPr>
              <a:t>Pesan barang</a:t>
            </a:r>
            <a:endParaRPr lang="en-US" sz="1100" dirty="0"/>
          </a:p>
          <a:p>
            <a:pPr indent="0" marL="0">
              <a:buNone/>
            </a:pPr>
            <a:r>
              <a:rPr lang="en-US" sz="1050" dirty="0">
                <a:solidFill>
                  <a:srgbClr val="5B6B86"/>
                </a:solidFill>
              </a:rPr>
              <a:t>Admin kapal</a:t>
            </a:r>
            <a:endParaRPr lang="en-US" sz="1100" dirty="0"/>
          </a:p>
        </p:txBody>
      </p:sp>
      <p:sp>
        <p:nvSpPr>
          <p:cNvPr id="17" name="Tahap Approval SO"/>
          <p:cNvSpPr/>
          <p:nvPr/>
        </p:nvSpPr>
        <p:spPr>
          <a:xfrm>
            <a:off x="2331720" y="1920240"/>
            <a:ext cx="1554480" cy="1188720"/>
          </a:xfrm>
          <a:prstGeom prst="roundRect">
            <a:avLst>
              <a:gd name="adj" fmla="val 7692"/>
            </a:avLst>
          </a:prstGeom>
          <a:solidFill>
            <a:srgbClr val="FFFFFF"/>
          </a:solidFill>
          <a:ln w="28575">
            <a:solidFill>
              <a:srgbClr val="6D28D9"/>
            </a:solidFill>
            <a:prstDash val="solid"/>
          </a:ln>
          <a:effectLst>
            <a:outerShdw sx="100000" sy="100000" kx="0" ky="0" algn="bl" rotWithShape="0" blurRad="76200" dist="25400" dir="5400000">
              <a:srgbClr val="1F3B7A">
                <a:alpha val="15000"/>
              </a:srgbClr>
            </a:outerShdw>
          </a:effectLst>
        </p:spPr>
      </p:sp>
      <p:sp>
        <p:nvSpPr>
          <p:cNvPr id="18" name="Text 16"/>
          <p:cNvSpPr txBox="1"/>
          <p:nvPr/>
        </p:nvSpPr>
        <p:spPr>
          <a:xfrm>
            <a:off x="2441448" y="1993392"/>
            <a:ext cx="1335024" cy="1042416"/>
          </a:xfrm>
          <a:prstGeom prst="rect">
            <a:avLst/>
          </a:prstGeom>
          <a:noFill/>
          <a:ln/>
        </p:spPr>
        <p:txBody>
          <a:bodyPr wrap="square" lIns="0" tIns="0" rIns="0" bIns="0" rtlCol="0" anchor="t"/>
          <a:lstStyle/>
          <a:p>
            <a:pPr indent="0" marL="0">
              <a:buNone/>
            </a:pPr>
            <a:r>
              <a:rPr lang="en-US" sz="1100" b="1" dirty="0">
                <a:solidFill>
                  <a:srgbClr val="6D28D9"/>
                </a:solidFill>
              </a:rPr>
              <a:t>Tahap 2</a:t>
            </a:r>
            <a:endParaRPr lang="en-US" sz="1100" dirty="0"/>
          </a:p>
          <a:p>
            <a:pPr indent="0" marL="0">
              <a:buNone/>
            </a:pPr>
            <a:r>
              <a:rPr lang="en-US" sz="1500" b="1" dirty="0">
                <a:solidFill>
                  <a:srgbClr val="1B2437"/>
                </a:solidFill>
              </a:rPr>
              <a:t>Approval SO</a:t>
            </a:r>
            <a:endParaRPr lang="en-US" sz="1100" dirty="0"/>
          </a:p>
          <a:p>
            <a:pPr indent="0" marL="0">
              <a:buNone/>
            </a:pPr>
            <a:r>
              <a:rPr lang="en-US" sz="1050" dirty="0">
                <a:solidFill>
                  <a:srgbClr val="5B6B86"/>
                </a:solidFill>
              </a:rPr>
              <a:t>Approve SO</a:t>
            </a:r>
            <a:endParaRPr lang="en-US" sz="1100" dirty="0"/>
          </a:p>
        </p:txBody>
      </p:sp>
      <p:sp>
        <p:nvSpPr>
          <p:cNvPr id="19" name="Text 17"/>
          <p:cNvSpPr txBox="1"/>
          <p:nvPr/>
        </p:nvSpPr>
        <p:spPr>
          <a:xfrm>
            <a:off x="2286000" y="320040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Sales Order</a:t>
            </a:r>
            <a:endParaRPr lang="en-US" sz="1050" dirty="0"/>
          </a:p>
        </p:txBody>
      </p:sp>
      <p:sp>
        <p:nvSpPr>
          <p:cNvPr id="20" name="Tahap Pilah stok DC"/>
          <p:cNvSpPr/>
          <p:nvPr/>
        </p:nvSpPr>
        <p:spPr>
          <a:xfrm>
            <a:off x="4206240" y="1920240"/>
            <a:ext cx="1554480" cy="1188720"/>
          </a:xfrm>
          <a:prstGeom prst="roundRect">
            <a:avLst>
              <a:gd name="adj" fmla="val 7692"/>
            </a:avLst>
          </a:prstGeom>
          <a:solidFill>
            <a:srgbClr val="FFFFFF"/>
          </a:solidFill>
          <a:ln w="28575">
            <a:solidFill>
              <a:srgbClr val="EA580C"/>
            </a:solidFill>
            <a:prstDash val="solid"/>
          </a:ln>
          <a:effectLst>
            <a:outerShdw sx="100000" sy="100000" kx="0" ky="0" algn="bl" rotWithShape="0" blurRad="76200" dist="25400" dir="5400000">
              <a:srgbClr val="1F3B7A">
                <a:alpha val="15000"/>
              </a:srgbClr>
            </a:outerShdw>
          </a:effectLst>
        </p:spPr>
      </p:sp>
      <p:sp>
        <p:nvSpPr>
          <p:cNvPr id="21" name="Text 19"/>
          <p:cNvSpPr txBox="1"/>
          <p:nvPr/>
        </p:nvSpPr>
        <p:spPr>
          <a:xfrm>
            <a:off x="4315968" y="1993392"/>
            <a:ext cx="1335024" cy="1042416"/>
          </a:xfrm>
          <a:prstGeom prst="rect">
            <a:avLst/>
          </a:prstGeom>
          <a:noFill/>
          <a:ln/>
        </p:spPr>
        <p:txBody>
          <a:bodyPr wrap="square" lIns="0" tIns="0" rIns="0" bIns="0" rtlCol="0" anchor="t"/>
          <a:lstStyle/>
          <a:p>
            <a:pPr indent="0" marL="0">
              <a:buNone/>
            </a:pPr>
            <a:r>
              <a:rPr lang="en-US" sz="1100" b="1" dirty="0">
                <a:solidFill>
                  <a:srgbClr val="EA580C"/>
                </a:solidFill>
              </a:rPr>
              <a:t>Tahap 3</a:t>
            </a:r>
            <a:endParaRPr lang="en-US" sz="1100" dirty="0"/>
          </a:p>
          <a:p>
            <a:pPr indent="0" marL="0">
              <a:buNone/>
            </a:pPr>
            <a:r>
              <a:rPr lang="en-US" sz="1500" b="1" dirty="0">
                <a:solidFill>
                  <a:srgbClr val="1B2437"/>
                </a:solidFill>
              </a:rPr>
              <a:t>Pilah stok DC</a:t>
            </a:r>
            <a:endParaRPr lang="en-US" sz="1100" dirty="0"/>
          </a:p>
          <a:p>
            <a:pPr indent="0" marL="0">
              <a:buNone/>
            </a:pPr>
            <a:r>
              <a:rPr lang="en-US" sz="1050" dirty="0">
                <a:solidFill>
                  <a:srgbClr val="5B6B86"/>
                </a:solidFill>
              </a:rPr>
              <a:t>Admin DC</a:t>
            </a:r>
            <a:endParaRPr lang="en-US" sz="1100" dirty="0"/>
          </a:p>
        </p:txBody>
      </p:sp>
      <p:sp>
        <p:nvSpPr>
          <p:cNvPr id="22" name="Tahap PUR"/>
          <p:cNvSpPr/>
          <p:nvPr/>
        </p:nvSpPr>
        <p:spPr>
          <a:xfrm>
            <a:off x="4206240" y="4160520"/>
            <a:ext cx="1554480" cy="1188720"/>
          </a:xfrm>
          <a:prstGeom prst="roundRect">
            <a:avLst>
              <a:gd name="adj" fmla="val 7692"/>
            </a:avLst>
          </a:prstGeom>
          <a:solidFill>
            <a:srgbClr val="FFFFFF"/>
          </a:solidFill>
          <a:ln w="28575">
            <a:solidFill>
              <a:srgbClr val="BE185D"/>
            </a:solidFill>
            <a:prstDash val="solid"/>
          </a:ln>
          <a:effectLst>
            <a:outerShdw sx="100000" sy="100000" kx="0" ky="0" algn="bl" rotWithShape="0" blurRad="76200" dist="25400" dir="5400000">
              <a:srgbClr val="1F3B7A">
                <a:alpha val="15000"/>
              </a:srgbClr>
            </a:outerShdw>
          </a:effectLst>
        </p:spPr>
      </p:sp>
      <p:sp>
        <p:nvSpPr>
          <p:cNvPr id="23" name="Text 21"/>
          <p:cNvSpPr txBox="1"/>
          <p:nvPr/>
        </p:nvSpPr>
        <p:spPr>
          <a:xfrm>
            <a:off x="4315968" y="4233672"/>
            <a:ext cx="1335024" cy="1042416"/>
          </a:xfrm>
          <a:prstGeom prst="rect">
            <a:avLst/>
          </a:prstGeom>
          <a:noFill/>
          <a:ln/>
        </p:spPr>
        <p:txBody>
          <a:bodyPr wrap="square" lIns="0" tIns="0" rIns="0" bIns="0" rtlCol="0" anchor="t"/>
          <a:lstStyle/>
          <a:p>
            <a:pPr indent="0" marL="0">
              <a:buNone/>
            </a:pPr>
            <a:r>
              <a:rPr lang="en-US" sz="1100" b="1" dirty="0">
                <a:solidFill>
                  <a:srgbClr val="BE185D"/>
                </a:solidFill>
              </a:rPr>
              <a:t>Tahap 4</a:t>
            </a:r>
            <a:endParaRPr lang="en-US" sz="1100" dirty="0"/>
          </a:p>
          <a:p>
            <a:pPr indent="0" marL="0">
              <a:buNone/>
            </a:pPr>
            <a:r>
              <a:rPr lang="en-US" sz="1500" b="1" dirty="0">
                <a:solidFill>
                  <a:srgbClr val="1B2437"/>
                </a:solidFill>
              </a:rPr>
              <a:t>PUR</a:t>
            </a:r>
            <a:endParaRPr lang="en-US" sz="1100" dirty="0"/>
          </a:p>
          <a:p>
            <a:pPr indent="0" marL="0">
              <a:buNone/>
            </a:pPr>
            <a:r>
              <a:rPr lang="en-US" sz="1050" dirty="0">
                <a:solidFill>
                  <a:srgbClr val="5B6B86"/>
                </a:solidFill>
              </a:rPr>
              <a:t>Approve PUR</a:t>
            </a:r>
            <a:endParaRPr lang="en-US" sz="1100" dirty="0"/>
          </a:p>
        </p:txBody>
      </p:sp>
      <p:sp>
        <p:nvSpPr>
          <p:cNvPr id="24" name="Text 22"/>
          <p:cNvSpPr txBox="1"/>
          <p:nvPr/>
        </p:nvSpPr>
        <p:spPr>
          <a:xfrm>
            <a:off x="4160520" y="544068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Purchase Request</a:t>
            </a:r>
            <a:endParaRPr lang="en-US" sz="1050" dirty="0"/>
          </a:p>
        </p:txBody>
      </p:sp>
      <p:sp>
        <p:nvSpPr>
          <p:cNvPr id="25" name="Tahap PO"/>
          <p:cNvSpPr/>
          <p:nvPr/>
        </p:nvSpPr>
        <p:spPr>
          <a:xfrm>
            <a:off x="5897880" y="4160520"/>
            <a:ext cx="1554480" cy="1188720"/>
          </a:xfrm>
          <a:prstGeom prst="roundRect">
            <a:avLst>
              <a:gd name="adj" fmla="val 7692"/>
            </a:avLst>
          </a:prstGeom>
          <a:solidFill>
            <a:srgbClr val="FFFFFF"/>
          </a:solidFill>
          <a:ln w="28575">
            <a:solidFill>
              <a:srgbClr val="2563EB"/>
            </a:solidFill>
            <a:prstDash val="solid"/>
          </a:ln>
          <a:effectLst>
            <a:outerShdw sx="100000" sy="100000" kx="0" ky="0" algn="bl" rotWithShape="0" blurRad="76200" dist="25400" dir="5400000">
              <a:srgbClr val="1F3B7A">
                <a:alpha val="15000"/>
              </a:srgbClr>
            </a:outerShdw>
          </a:effectLst>
        </p:spPr>
      </p:sp>
      <p:sp>
        <p:nvSpPr>
          <p:cNvPr id="26" name="Text 24"/>
          <p:cNvSpPr txBox="1"/>
          <p:nvPr/>
        </p:nvSpPr>
        <p:spPr>
          <a:xfrm>
            <a:off x="6007608" y="4233672"/>
            <a:ext cx="1335024" cy="1042416"/>
          </a:xfrm>
          <a:prstGeom prst="rect">
            <a:avLst/>
          </a:prstGeom>
          <a:noFill/>
          <a:ln/>
        </p:spPr>
        <p:txBody>
          <a:bodyPr wrap="square" lIns="0" tIns="0" rIns="0" bIns="0" rtlCol="0" anchor="t"/>
          <a:lstStyle/>
          <a:p>
            <a:pPr indent="0" marL="0">
              <a:buNone/>
            </a:pPr>
            <a:r>
              <a:rPr lang="en-US" sz="1100" b="1" dirty="0">
                <a:solidFill>
                  <a:srgbClr val="2563EB"/>
                </a:solidFill>
              </a:rPr>
              <a:t>Tahap 5</a:t>
            </a:r>
            <a:endParaRPr lang="en-US" sz="1100" dirty="0"/>
          </a:p>
          <a:p>
            <a:pPr indent="0" marL="0">
              <a:buNone/>
            </a:pPr>
            <a:r>
              <a:rPr lang="en-US" sz="1500" b="1" dirty="0">
                <a:solidFill>
                  <a:srgbClr val="1B2437"/>
                </a:solidFill>
              </a:rPr>
              <a:t>PO</a:t>
            </a:r>
            <a:endParaRPr lang="en-US" sz="1100" dirty="0"/>
          </a:p>
          <a:p>
            <a:pPr indent="0" marL="0">
              <a:buNone/>
            </a:pPr>
            <a:r>
              <a:rPr lang="en-US" sz="1050" dirty="0">
                <a:solidFill>
                  <a:srgbClr val="5B6B86"/>
                </a:solidFill>
              </a:rPr>
              <a:t>Admin purchase · Approve PO</a:t>
            </a:r>
            <a:endParaRPr lang="en-US" sz="1100" dirty="0"/>
          </a:p>
        </p:txBody>
      </p:sp>
      <p:sp>
        <p:nvSpPr>
          <p:cNvPr id="27" name="Text 25"/>
          <p:cNvSpPr txBox="1"/>
          <p:nvPr/>
        </p:nvSpPr>
        <p:spPr>
          <a:xfrm>
            <a:off x="5852160" y="544068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Purchase Order</a:t>
            </a:r>
            <a:endParaRPr lang="en-US" sz="1050" dirty="0"/>
          </a:p>
        </p:txBody>
      </p:sp>
      <p:sp>
        <p:nvSpPr>
          <p:cNvPr id="28" name="Tahap GRPO"/>
          <p:cNvSpPr/>
          <p:nvPr/>
        </p:nvSpPr>
        <p:spPr>
          <a:xfrm>
            <a:off x="7589520" y="4160520"/>
            <a:ext cx="1554480" cy="1188720"/>
          </a:xfrm>
          <a:prstGeom prst="roundRect">
            <a:avLst>
              <a:gd name="adj" fmla="val 7692"/>
            </a:avLst>
          </a:prstGeom>
          <a:solidFill>
            <a:srgbClr val="FFFFFF"/>
          </a:solidFill>
          <a:ln w="28575">
            <a:solidFill>
              <a:srgbClr val="EA580C"/>
            </a:solidFill>
            <a:prstDash val="solid"/>
          </a:ln>
          <a:effectLst>
            <a:outerShdw sx="100000" sy="100000" kx="0" ky="0" algn="bl" rotWithShape="0" blurRad="76200" dist="25400" dir="5400000">
              <a:srgbClr val="1F3B7A">
                <a:alpha val="15000"/>
              </a:srgbClr>
            </a:outerShdw>
          </a:effectLst>
        </p:spPr>
      </p:sp>
      <p:sp>
        <p:nvSpPr>
          <p:cNvPr id="29" name="Text 27"/>
          <p:cNvSpPr txBox="1"/>
          <p:nvPr/>
        </p:nvSpPr>
        <p:spPr>
          <a:xfrm>
            <a:off x="7699248" y="4233672"/>
            <a:ext cx="1335024" cy="1042416"/>
          </a:xfrm>
          <a:prstGeom prst="rect">
            <a:avLst/>
          </a:prstGeom>
          <a:noFill/>
          <a:ln/>
        </p:spPr>
        <p:txBody>
          <a:bodyPr wrap="square" lIns="0" tIns="0" rIns="0" bIns="0" rtlCol="0" anchor="t"/>
          <a:lstStyle/>
          <a:p>
            <a:pPr indent="0" marL="0">
              <a:buNone/>
            </a:pPr>
            <a:r>
              <a:rPr lang="en-US" sz="1100" b="1" dirty="0">
                <a:solidFill>
                  <a:srgbClr val="EA580C"/>
                </a:solidFill>
              </a:rPr>
              <a:t>Tahap 6</a:t>
            </a:r>
            <a:endParaRPr lang="en-US" sz="1100" dirty="0"/>
          </a:p>
          <a:p>
            <a:pPr indent="0" marL="0">
              <a:buNone/>
            </a:pPr>
            <a:r>
              <a:rPr lang="en-US" sz="1500" b="1" dirty="0">
                <a:solidFill>
                  <a:srgbClr val="1B2437"/>
                </a:solidFill>
              </a:rPr>
              <a:t>GRPO</a:t>
            </a:r>
            <a:endParaRPr lang="en-US" sz="1100" dirty="0"/>
          </a:p>
          <a:p>
            <a:pPr indent="0" marL="0">
              <a:buNone/>
            </a:pPr>
            <a:r>
              <a:rPr lang="en-US" sz="1050" dirty="0">
                <a:solidFill>
                  <a:srgbClr val="5B6B86"/>
                </a:solidFill>
              </a:rPr>
              <a:t>Admin DC · Approve PUR</a:t>
            </a:r>
            <a:endParaRPr lang="en-US" sz="1100" dirty="0"/>
          </a:p>
        </p:txBody>
      </p:sp>
      <p:sp>
        <p:nvSpPr>
          <p:cNvPr id="30" name="Text 28"/>
          <p:cNvSpPr txBox="1"/>
          <p:nvPr/>
        </p:nvSpPr>
        <p:spPr>
          <a:xfrm>
            <a:off x="7543800" y="544068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GRPO</a:t>
            </a:r>
            <a:endParaRPr lang="en-US" sz="1050" dirty="0"/>
          </a:p>
        </p:txBody>
      </p:sp>
      <p:sp>
        <p:nvSpPr>
          <p:cNvPr id="31" name="Tahap Transfer ke dek"/>
          <p:cNvSpPr/>
          <p:nvPr/>
        </p:nvSpPr>
        <p:spPr>
          <a:xfrm>
            <a:off x="6720840" y="1920240"/>
            <a:ext cx="1554480" cy="1188720"/>
          </a:xfrm>
          <a:prstGeom prst="roundRect">
            <a:avLst>
              <a:gd name="adj" fmla="val 7692"/>
            </a:avLst>
          </a:prstGeom>
          <a:solidFill>
            <a:srgbClr val="FFFFFF"/>
          </a:solidFill>
          <a:ln w="28575">
            <a:solidFill>
              <a:srgbClr val="EA580C"/>
            </a:solidFill>
            <a:prstDash val="solid"/>
          </a:ln>
          <a:effectLst>
            <a:outerShdw sx="100000" sy="100000" kx="0" ky="0" algn="bl" rotWithShape="0" blurRad="76200" dist="25400" dir="5400000">
              <a:srgbClr val="1F3B7A">
                <a:alpha val="15000"/>
              </a:srgbClr>
            </a:outerShdw>
          </a:effectLst>
        </p:spPr>
      </p:sp>
      <p:sp>
        <p:nvSpPr>
          <p:cNvPr id="32" name="Text 30"/>
          <p:cNvSpPr txBox="1"/>
          <p:nvPr/>
        </p:nvSpPr>
        <p:spPr>
          <a:xfrm>
            <a:off x="6830568" y="1993392"/>
            <a:ext cx="1335024" cy="1042416"/>
          </a:xfrm>
          <a:prstGeom prst="rect">
            <a:avLst/>
          </a:prstGeom>
          <a:noFill/>
          <a:ln/>
        </p:spPr>
        <p:txBody>
          <a:bodyPr wrap="square" lIns="0" tIns="0" rIns="0" bIns="0" rtlCol="0" anchor="t"/>
          <a:lstStyle/>
          <a:p>
            <a:pPr indent="0" marL="0">
              <a:buNone/>
            </a:pPr>
            <a:r>
              <a:rPr lang="en-US" sz="1100" b="1" dirty="0">
                <a:solidFill>
                  <a:srgbClr val="EA580C"/>
                </a:solidFill>
              </a:rPr>
              <a:t>Tahap 7</a:t>
            </a:r>
            <a:endParaRPr lang="en-US" sz="1100" dirty="0"/>
          </a:p>
          <a:p>
            <a:pPr indent="0" marL="0">
              <a:buNone/>
            </a:pPr>
            <a:r>
              <a:rPr lang="en-US" sz="1500" b="1" dirty="0">
                <a:solidFill>
                  <a:srgbClr val="1B2437"/>
                </a:solidFill>
              </a:rPr>
              <a:t>Transfer ke dek</a:t>
            </a:r>
            <a:endParaRPr lang="en-US" sz="1100" dirty="0"/>
          </a:p>
          <a:p>
            <a:pPr indent="0" marL="0">
              <a:buNone/>
            </a:pPr>
            <a:r>
              <a:rPr lang="en-US" sz="1050" dirty="0">
                <a:solidFill>
                  <a:srgbClr val="5B6B86"/>
                </a:solidFill>
              </a:rPr>
              <a:t>Admin DC · Approve PUR</a:t>
            </a:r>
            <a:endParaRPr lang="en-US" sz="1100" dirty="0"/>
          </a:p>
        </p:txBody>
      </p:sp>
      <p:sp>
        <p:nvSpPr>
          <p:cNvPr id="33" name="Text 31"/>
          <p:cNvSpPr txBox="1"/>
          <p:nvPr/>
        </p:nvSpPr>
        <p:spPr>
          <a:xfrm>
            <a:off x="6675120" y="320040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Inventory Transfer</a:t>
            </a:r>
            <a:endParaRPr lang="en-US" sz="1050" dirty="0"/>
          </a:p>
        </p:txBody>
      </p:sp>
      <p:sp>
        <p:nvSpPr>
          <p:cNvPr id="34" name="Tahap Terima di dek"/>
          <p:cNvSpPr/>
          <p:nvPr/>
        </p:nvSpPr>
        <p:spPr>
          <a:xfrm>
            <a:off x="8595360" y="1920240"/>
            <a:ext cx="1554480" cy="1188720"/>
          </a:xfrm>
          <a:prstGeom prst="roundRect">
            <a:avLst>
              <a:gd name="adj" fmla="val 7692"/>
            </a:avLst>
          </a:prstGeom>
          <a:solidFill>
            <a:srgbClr val="FFFFFF"/>
          </a:solidFill>
          <a:ln w="28575">
            <a:solidFill>
              <a:srgbClr val="0F766E"/>
            </a:solidFill>
            <a:prstDash val="solid"/>
          </a:ln>
          <a:effectLst>
            <a:outerShdw sx="100000" sy="100000" kx="0" ky="0" algn="bl" rotWithShape="0" blurRad="76200" dist="25400" dir="5400000">
              <a:srgbClr val="1F3B7A">
                <a:alpha val="15000"/>
              </a:srgbClr>
            </a:outerShdw>
          </a:effectLst>
        </p:spPr>
      </p:sp>
      <p:sp>
        <p:nvSpPr>
          <p:cNvPr id="35" name="Text 33"/>
          <p:cNvSpPr txBox="1"/>
          <p:nvPr/>
        </p:nvSpPr>
        <p:spPr>
          <a:xfrm>
            <a:off x="8705088" y="1993392"/>
            <a:ext cx="1335024" cy="1042416"/>
          </a:xfrm>
          <a:prstGeom prst="rect">
            <a:avLst/>
          </a:prstGeom>
          <a:noFill/>
          <a:ln/>
        </p:spPr>
        <p:txBody>
          <a:bodyPr wrap="square" lIns="0" tIns="0" rIns="0" bIns="0" rtlCol="0" anchor="t"/>
          <a:lstStyle/>
          <a:p>
            <a:pPr indent="0" marL="0">
              <a:buNone/>
            </a:pPr>
            <a:r>
              <a:rPr lang="en-US" sz="1100" b="1" dirty="0">
                <a:solidFill>
                  <a:srgbClr val="0F766E"/>
                </a:solidFill>
              </a:rPr>
              <a:t>Tahap 8</a:t>
            </a:r>
            <a:endParaRPr lang="en-US" sz="1100" dirty="0"/>
          </a:p>
          <a:p>
            <a:pPr indent="0" marL="0">
              <a:buNone/>
            </a:pPr>
            <a:r>
              <a:rPr lang="en-US" sz="1500" b="1" dirty="0">
                <a:solidFill>
                  <a:srgbClr val="1B2437"/>
                </a:solidFill>
              </a:rPr>
              <a:t>Terima di dek</a:t>
            </a:r>
            <a:endParaRPr lang="en-US" sz="1100" dirty="0"/>
          </a:p>
          <a:p>
            <a:pPr indent="0" marL="0">
              <a:buNone/>
            </a:pPr>
            <a:r>
              <a:rPr lang="en-US" sz="1050" dirty="0">
                <a:solidFill>
                  <a:srgbClr val="5B6B86"/>
                </a:solidFill>
              </a:rPr>
              <a:t>Admin kapal · Approve SO</a:t>
            </a:r>
            <a:endParaRPr lang="en-US" sz="1100" dirty="0"/>
          </a:p>
        </p:txBody>
      </p:sp>
      <p:sp>
        <p:nvSpPr>
          <p:cNvPr id="36" name="Text 34"/>
          <p:cNvSpPr txBox="1"/>
          <p:nvPr/>
        </p:nvSpPr>
        <p:spPr>
          <a:xfrm>
            <a:off x="8549640" y="320040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SO ditutup</a:t>
            </a:r>
            <a:endParaRPr lang="en-US" sz="1050" dirty="0"/>
          </a:p>
        </p:txBody>
      </p:sp>
      <p:sp>
        <p:nvSpPr>
          <p:cNvPr id="37" name="Tahap Jual &amp; DO"/>
          <p:cNvSpPr/>
          <p:nvPr/>
        </p:nvSpPr>
        <p:spPr>
          <a:xfrm>
            <a:off x="10469880" y="1920240"/>
            <a:ext cx="1554480" cy="1188720"/>
          </a:xfrm>
          <a:prstGeom prst="roundRect">
            <a:avLst>
              <a:gd name="adj" fmla="val 7692"/>
            </a:avLst>
          </a:prstGeom>
          <a:solidFill>
            <a:srgbClr val="FFFFFF"/>
          </a:solidFill>
          <a:ln w="28575">
            <a:solidFill>
              <a:srgbClr val="15803D"/>
            </a:solidFill>
            <a:prstDash val="solid"/>
          </a:ln>
          <a:effectLst>
            <a:outerShdw sx="100000" sy="100000" kx="0" ky="0" algn="bl" rotWithShape="0" blurRad="76200" dist="25400" dir="5400000">
              <a:srgbClr val="1F3B7A">
                <a:alpha val="15000"/>
              </a:srgbClr>
            </a:outerShdw>
          </a:effectLst>
        </p:spPr>
      </p:sp>
      <p:sp>
        <p:nvSpPr>
          <p:cNvPr id="38" name="Text 36"/>
          <p:cNvSpPr txBox="1"/>
          <p:nvPr/>
        </p:nvSpPr>
        <p:spPr>
          <a:xfrm>
            <a:off x="10579608" y="1993392"/>
            <a:ext cx="1335024" cy="1042416"/>
          </a:xfrm>
          <a:prstGeom prst="rect">
            <a:avLst/>
          </a:prstGeom>
          <a:noFill/>
          <a:ln/>
        </p:spPr>
        <p:txBody>
          <a:bodyPr wrap="square" lIns="0" tIns="0" rIns="0" bIns="0" rtlCol="0" anchor="t"/>
          <a:lstStyle/>
          <a:p>
            <a:pPr indent="0" marL="0">
              <a:buNone/>
            </a:pPr>
            <a:r>
              <a:rPr lang="en-US" sz="1100" b="1" dirty="0">
                <a:solidFill>
                  <a:srgbClr val="15803D"/>
                </a:solidFill>
              </a:rPr>
              <a:t>Tahap 9</a:t>
            </a:r>
            <a:endParaRPr lang="en-US" sz="1100" dirty="0"/>
          </a:p>
          <a:p>
            <a:pPr indent="0" marL="0">
              <a:buNone/>
            </a:pPr>
            <a:r>
              <a:rPr lang="en-US" sz="1500" b="1" dirty="0">
                <a:solidFill>
                  <a:srgbClr val="1B2437"/>
                </a:solidFill>
              </a:rPr>
              <a:t>Jual &amp; DO</a:t>
            </a:r>
            <a:endParaRPr lang="en-US" sz="1100" dirty="0"/>
          </a:p>
          <a:p>
            <a:pPr indent="0" marL="0">
              <a:buNone/>
            </a:pPr>
            <a:r>
              <a:rPr lang="en-US" sz="1050" dirty="0">
                <a:solidFill>
                  <a:srgbClr val="5B6B86"/>
                </a:solidFill>
              </a:rPr>
              <a:t>Kasir</a:t>
            </a:r>
            <a:endParaRPr lang="en-US" sz="1100" dirty="0"/>
          </a:p>
        </p:txBody>
      </p:sp>
      <p:sp>
        <p:nvSpPr>
          <p:cNvPr id="39" name="Text 37"/>
          <p:cNvSpPr txBox="1"/>
          <p:nvPr/>
        </p:nvSpPr>
        <p:spPr>
          <a:xfrm>
            <a:off x="10424160" y="3200400"/>
            <a:ext cx="1645920" cy="292608"/>
          </a:xfrm>
          <a:prstGeom prst="roundRect">
            <a:avLst>
              <a:gd name="adj" fmla="val 31250"/>
            </a:avLst>
          </a:prstGeom>
          <a:solidFill>
            <a:srgbClr val="E5F4E4"/>
          </a:solidFill>
          <a:ln>
            <a:solidFill>
              <a:srgbClr val="E5F4E4"/>
            </a:solidFill>
          </a:ln>
        </p:spPr>
        <p:txBody>
          <a:bodyPr wrap="square" lIns="0" tIns="0" rIns="0" bIns="0" rtlCol="0" anchor="ctr"/>
          <a:lstStyle/>
          <a:p>
            <a:pPr algn="ctr" indent="0" marL="0">
              <a:buNone/>
            </a:pPr>
            <a:r>
              <a:rPr lang="en-US" sz="1050" b="1" dirty="0">
                <a:solidFill>
                  <a:srgbClr val="3A7D3A"/>
                </a:solidFill>
              </a:rPr>
              <a:t>SAP · Delivery (DO)</a:t>
            </a:r>
            <a:endParaRPr lang="en-US" sz="105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40080"/>
          </a:xfrm>
          <a:prstGeom prst="rect">
            <a:avLst/>
          </a:prstGeom>
          <a:noFill/>
          <a:ln/>
        </p:spPr>
        <p:txBody>
          <a:bodyPr wrap="square" lIns="0" tIns="0" rIns="0" bIns="0" rtlCol="0" anchor="ctr"/>
          <a:lstStyle/>
          <a:p>
            <a:pPr algn="l" indent="0" marL="0">
              <a:buNone/>
            </a:pPr>
            <a:r>
              <a:rPr lang="en-US" sz="3400" b="1" dirty="0">
                <a:solidFill>
                  <a:schemeClr val="tx2"/>
                </a:solidFill>
              </a:rPr>
              <a:t>7 peran, masing-masing dengan tugasnya</a:t>
            </a:r>
            <a:endParaRPr lang="en-US" sz="3400" dirty="0"/>
          </a:p>
        </p:txBody>
      </p:sp>
      <p:sp>
        <p:nvSpPr>
          <p:cNvPr id="3" name="Kartu Admin kapal"/>
          <p:cNvSpPr/>
          <p:nvPr/>
        </p:nvSpPr>
        <p:spPr>
          <a:xfrm>
            <a:off x="457200" y="1234440"/>
            <a:ext cx="5559552" cy="1051560"/>
          </a:xfrm>
          <a:prstGeom prst="roundRect">
            <a:avLst>
              <a:gd name="adj" fmla="val 8696"/>
            </a:avLst>
          </a:prstGeom>
          <a:solidFill>
            <a:srgbClr val="EEF3FB"/>
          </a:solidFill>
          <a:ln w="12700">
            <a:solidFill>
              <a:srgbClr val="EEF3FB"/>
            </a:solidFill>
            <a:prstDash val="solid"/>
          </a:ln>
        </p:spPr>
      </p:sp>
      <p:sp>
        <p:nvSpPr>
          <p:cNvPr id="4" name="Ikon Admin kapal"/>
          <p:cNvSpPr/>
          <p:nvPr/>
        </p:nvSpPr>
        <p:spPr>
          <a:xfrm>
            <a:off x="640080" y="1371600"/>
            <a:ext cx="457200" cy="457200"/>
          </a:xfrm>
          <a:prstGeom prst="ellipse">
            <a:avLst/>
          </a:prstGeom>
          <a:solidFill>
            <a:srgbClr val="0F766E"/>
          </a:solidFill>
          <a:ln w="12700">
            <a:solidFill>
              <a:srgbClr val="0F766E"/>
            </a:solidFill>
            <a:prstDash val="solid"/>
          </a:ln>
        </p:spPr>
      </p:sp>
      <p:sp>
        <p:nvSpPr>
          <p:cNvPr id="5" name="Text 3"/>
          <p:cNvSpPr txBox="1"/>
          <p:nvPr/>
        </p:nvSpPr>
        <p:spPr>
          <a:xfrm>
            <a:off x="640080" y="13716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AK</a:t>
            </a:r>
            <a:endParaRPr lang="en-US" sz="1200" dirty="0"/>
          </a:p>
        </p:txBody>
      </p:sp>
      <p:sp>
        <p:nvSpPr>
          <p:cNvPr id="6" name="Peran Admin kapal"/>
          <p:cNvSpPr txBox="1"/>
          <p:nvPr/>
        </p:nvSpPr>
        <p:spPr>
          <a:xfrm>
            <a:off x="1207008" y="1325880"/>
            <a:ext cx="1810512" cy="548640"/>
          </a:xfrm>
          <a:prstGeom prst="rect">
            <a:avLst/>
          </a:prstGeom>
          <a:noFill/>
          <a:ln/>
        </p:spPr>
        <p:txBody>
          <a:bodyPr wrap="square" lIns="0" tIns="0" rIns="0" bIns="0" rtlCol="0" anchor="ctr"/>
          <a:lstStyle/>
          <a:p>
            <a:pPr indent="0" marL="0">
              <a:buNone/>
            </a:pPr>
            <a:r>
              <a:rPr lang="en-US" sz="1600" b="1" dirty="0">
                <a:solidFill>
                  <a:srgbClr val="0F766E"/>
                </a:solidFill>
              </a:rPr>
              <a:t>Admin kapal</a:t>
            </a:r>
            <a:endParaRPr lang="en-US" sz="1600" dirty="0"/>
          </a:p>
          <a:p>
            <a:pPr indent="0" marL="0">
              <a:buNone/>
            </a:pPr>
            <a:r>
              <a:rPr lang="en-US" sz="1200" dirty="0">
                <a:solidFill>
                  <a:srgbClr val="5B6B86"/>
                </a:solidFill>
              </a:rPr>
              <a:t>admin.awu</a:t>
            </a:r>
            <a:endParaRPr lang="en-US" sz="1600" dirty="0"/>
          </a:p>
        </p:txBody>
      </p:sp>
      <p:sp>
        <p:nvSpPr>
          <p:cNvPr id="7" name="Text 5"/>
          <p:cNvSpPr txBox="1"/>
          <p:nvPr/>
        </p:nvSpPr>
        <p:spPr>
          <a:xfrm>
            <a:off x="3154680" y="1325880"/>
            <a:ext cx="2679192" cy="868680"/>
          </a:xfrm>
          <a:prstGeom prst="rect">
            <a:avLst/>
          </a:prstGeom>
          <a:noFill/>
          <a:ln/>
        </p:spPr>
        <p:txBody>
          <a:bodyPr wrap="square" lIns="0" tIns="0" rIns="0" bIns="0" rtlCol="0" anchor="ctr"/>
          <a:lstStyle/>
          <a:p>
            <a:pPr indent="0" marL="0">
              <a:buNone/>
            </a:pPr>
            <a:r>
              <a:rPr lang="en-US" sz="1400" dirty="0">
                <a:solidFill>
                  <a:srgbClr val="1B2437"/>
                </a:solidFill>
              </a:rPr>
              <a:t>Memesan barang ke DC, menerima kiriman di dek, approval kepala toko, dan mutasi antar dek.</a:t>
            </a:r>
            <a:endParaRPr lang="en-US" sz="1400" dirty="0"/>
          </a:p>
        </p:txBody>
      </p:sp>
      <p:sp>
        <p:nvSpPr>
          <p:cNvPr id="8" name="Kartu Approve SO (P2)"/>
          <p:cNvSpPr/>
          <p:nvPr/>
        </p:nvSpPr>
        <p:spPr>
          <a:xfrm>
            <a:off x="6172200" y="1234440"/>
            <a:ext cx="5559552" cy="1051560"/>
          </a:xfrm>
          <a:prstGeom prst="roundRect">
            <a:avLst>
              <a:gd name="adj" fmla="val 8696"/>
            </a:avLst>
          </a:prstGeom>
          <a:solidFill>
            <a:srgbClr val="EEF3FB"/>
          </a:solidFill>
          <a:ln w="12700">
            <a:solidFill>
              <a:srgbClr val="EEF3FB"/>
            </a:solidFill>
            <a:prstDash val="solid"/>
          </a:ln>
        </p:spPr>
      </p:sp>
      <p:sp>
        <p:nvSpPr>
          <p:cNvPr id="9" name="Ikon Approve SO (P2)"/>
          <p:cNvSpPr/>
          <p:nvPr/>
        </p:nvSpPr>
        <p:spPr>
          <a:xfrm>
            <a:off x="6355080" y="1371600"/>
            <a:ext cx="457200" cy="457200"/>
          </a:xfrm>
          <a:prstGeom prst="ellipse">
            <a:avLst/>
          </a:prstGeom>
          <a:solidFill>
            <a:srgbClr val="6D28D9"/>
          </a:solidFill>
          <a:ln w="12700">
            <a:solidFill>
              <a:srgbClr val="6D28D9"/>
            </a:solidFill>
            <a:prstDash val="solid"/>
          </a:ln>
        </p:spPr>
      </p:sp>
      <p:sp>
        <p:nvSpPr>
          <p:cNvPr id="10" name="Text 8"/>
          <p:cNvSpPr txBox="1"/>
          <p:nvPr/>
        </p:nvSpPr>
        <p:spPr>
          <a:xfrm>
            <a:off x="6355080" y="13716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SO</a:t>
            </a:r>
            <a:endParaRPr lang="en-US" sz="1200" dirty="0"/>
          </a:p>
        </p:txBody>
      </p:sp>
      <p:sp>
        <p:nvSpPr>
          <p:cNvPr id="11" name="Peran Approve SO (P2)"/>
          <p:cNvSpPr txBox="1"/>
          <p:nvPr/>
        </p:nvSpPr>
        <p:spPr>
          <a:xfrm>
            <a:off x="6922008" y="1325880"/>
            <a:ext cx="1810512" cy="548640"/>
          </a:xfrm>
          <a:prstGeom prst="rect">
            <a:avLst/>
          </a:prstGeom>
          <a:noFill/>
          <a:ln/>
        </p:spPr>
        <p:txBody>
          <a:bodyPr wrap="square" lIns="0" tIns="0" rIns="0" bIns="0" rtlCol="0" anchor="ctr"/>
          <a:lstStyle/>
          <a:p>
            <a:pPr indent="0" marL="0">
              <a:buNone/>
            </a:pPr>
            <a:r>
              <a:rPr lang="en-US" sz="1600" b="1" dirty="0">
                <a:solidFill>
                  <a:srgbClr val="6D28D9"/>
                </a:solidFill>
              </a:rPr>
              <a:t>Approve SO (P2)</a:t>
            </a:r>
            <a:endParaRPr lang="en-US" sz="1600" dirty="0"/>
          </a:p>
          <a:p>
            <a:pPr indent="0" marL="0">
              <a:buNone/>
            </a:pPr>
            <a:r>
              <a:rPr lang="en-US" sz="1200" dirty="0">
                <a:solidFill>
                  <a:srgbClr val="5B6B86"/>
                </a:solidFill>
              </a:rPr>
              <a:t>approve.so</a:t>
            </a:r>
            <a:endParaRPr lang="en-US" sz="1600" dirty="0"/>
          </a:p>
        </p:txBody>
      </p:sp>
      <p:sp>
        <p:nvSpPr>
          <p:cNvPr id="12" name="Text 10"/>
          <p:cNvSpPr txBox="1"/>
          <p:nvPr/>
        </p:nvSpPr>
        <p:spPr>
          <a:xfrm>
            <a:off x="8869680" y="1325880"/>
            <a:ext cx="2679192" cy="868680"/>
          </a:xfrm>
          <a:prstGeom prst="rect">
            <a:avLst/>
          </a:prstGeom>
          <a:noFill/>
          <a:ln/>
        </p:spPr>
        <p:txBody>
          <a:bodyPr wrap="square" lIns="0" tIns="0" rIns="0" bIns="0" rtlCol="0" anchor="ctr"/>
          <a:lstStyle/>
          <a:p>
            <a:pPr indent="0" marL="0">
              <a:buNone/>
            </a:pPr>
            <a:r>
              <a:rPr lang="en-US" sz="1400" dirty="0">
                <a:solidFill>
                  <a:srgbClr val="1B2437"/>
                </a:solidFill>
              </a:rPr>
              <a:t>Menyetujui permintaan kapal (Sales Order) dan, sebagai P2, menyetujui penerimaan di dek.</a:t>
            </a:r>
            <a:endParaRPr lang="en-US" sz="1400" dirty="0"/>
          </a:p>
        </p:txBody>
      </p:sp>
      <p:sp>
        <p:nvSpPr>
          <p:cNvPr id="13" name="Kartu Admin DC"/>
          <p:cNvSpPr/>
          <p:nvPr/>
        </p:nvSpPr>
        <p:spPr>
          <a:xfrm>
            <a:off x="457200" y="2468880"/>
            <a:ext cx="5559552" cy="1051560"/>
          </a:xfrm>
          <a:prstGeom prst="roundRect">
            <a:avLst>
              <a:gd name="adj" fmla="val 8696"/>
            </a:avLst>
          </a:prstGeom>
          <a:solidFill>
            <a:srgbClr val="EEF3FB"/>
          </a:solidFill>
          <a:ln w="12700">
            <a:solidFill>
              <a:srgbClr val="EEF3FB"/>
            </a:solidFill>
            <a:prstDash val="solid"/>
          </a:ln>
        </p:spPr>
      </p:sp>
      <p:sp>
        <p:nvSpPr>
          <p:cNvPr id="14" name="Ikon Admin DC"/>
          <p:cNvSpPr/>
          <p:nvPr/>
        </p:nvSpPr>
        <p:spPr>
          <a:xfrm>
            <a:off x="640080" y="2606040"/>
            <a:ext cx="457200" cy="457200"/>
          </a:xfrm>
          <a:prstGeom prst="ellipse">
            <a:avLst/>
          </a:prstGeom>
          <a:solidFill>
            <a:srgbClr val="EA580C"/>
          </a:solidFill>
          <a:ln w="12700">
            <a:solidFill>
              <a:srgbClr val="EA580C"/>
            </a:solidFill>
            <a:prstDash val="solid"/>
          </a:ln>
        </p:spPr>
      </p:sp>
      <p:sp>
        <p:nvSpPr>
          <p:cNvPr id="15" name="Text 13"/>
          <p:cNvSpPr txBox="1"/>
          <p:nvPr/>
        </p:nvSpPr>
        <p:spPr>
          <a:xfrm>
            <a:off x="640080" y="26060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DC</a:t>
            </a:r>
            <a:endParaRPr lang="en-US" sz="1200" dirty="0"/>
          </a:p>
        </p:txBody>
      </p:sp>
      <p:sp>
        <p:nvSpPr>
          <p:cNvPr id="16" name="Peran Admin DC"/>
          <p:cNvSpPr txBox="1"/>
          <p:nvPr/>
        </p:nvSpPr>
        <p:spPr>
          <a:xfrm>
            <a:off x="1207008" y="2560320"/>
            <a:ext cx="1810512" cy="548640"/>
          </a:xfrm>
          <a:prstGeom prst="rect">
            <a:avLst/>
          </a:prstGeom>
          <a:noFill/>
          <a:ln/>
        </p:spPr>
        <p:txBody>
          <a:bodyPr wrap="square" lIns="0" tIns="0" rIns="0" bIns="0" rtlCol="0" anchor="ctr"/>
          <a:lstStyle/>
          <a:p>
            <a:pPr indent="0" marL="0">
              <a:buNone/>
            </a:pPr>
            <a:r>
              <a:rPr lang="en-US" sz="1600" b="1" dirty="0">
                <a:solidFill>
                  <a:srgbClr val="EA580C"/>
                </a:solidFill>
              </a:rPr>
              <a:t>Admin DC</a:t>
            </a:r>
            <a:endParaRPr lang="en-US" sz="1600" dirty="0"/>
          </a:p>
          <a:p>
            <a:pPr indent="0" marL="0">
              <a:buNone/>
            </a:pPr>
            <a:r>
              <a:rPr lang="en-US" sz="1200" dirty="0">
                <a:solidFill>
                  <a:srgbClr val="5B6B86"/>
                </a:solidFill>
              </a:rPr>
              <a:t>admin.dc.jkt</a:t>
            </a:r>
            <a:endParaRPr lang="en-US" sz="1600" dirty="0"/>
          </a:p>
        </p:txBody>
      </p:sp>
      <p:sp>
        <p:nvSpPr>
          <p:cNvPr id="17" name="Text 15"/>
          <p:cNvSpPr txBox="1"/>
          <p:nvPr/>
        </p:nvSpPr>
        <p:spPr>
          <a:xfrm>
            <a:off x="3154680" y="2560320"/>
            <a:ext cx="2679192" cy="868680"/>
          </a:xfrm>
          <a:prstGeom prst="rect">
            <a:avLst/>
          </a:prstGeom>
          <a:noFill/>
          <a:ln/>
        </p:spPr>
        <p:txBody>
          <a:bodyPr wrap="square" lIns="0" tIns="0" rIns="0" bIns="0" rtlCol="0" anchor="ctr"/>
          <a:lstStyle/>
          <a:p>
            <a:pPr indent="0" marL="0">
              <a:buNone/>
            </a:pPr>
            <a:r>
              <a:rPr lang="en-US" sz="1400" dirty="0">
                <a:solidFill>
                  <a:srgbClr val="1B2437"/>
                </a:solidFill>
              </a:rPr>
              <a:t>Memilah stok DC, mengajukan GRPO, dan mengajukan Inventory Transfer ke dek.</a:t>
            </a:r>
            <a:endParaRPr lang="en-US" sz="1400" dirty="0"/>
          </a:p>
        </p:txBody>
      </p:sp>
      <p:sp>
        <p:nvSpPr>
          <p:cNvPr id="18" name="Kartu Approve PUR"/>
          <p:cNvSpPr/>
          <p:nvPr/>
        </p:nvSpPr>
        <p:spPr>
          <a:xfrm>
            <a:off x="6172200" y="2468880"/>
            <a:ext cx="5559552" cy="1051560"/>
          </a:xfrm>
          <a:prstGeom prst="roundRect">
            <a:avLst>
              <a:gd name="adj" fmla="val 8696"/>
            </a:avLst>
          </a:prstGeom>
          <a:solidFill>
            <a:srgbClr val="EEF3FB"/>
          </a:solidFill>
          <a:ln w="12700">
            <a:solidFill>
              <a:srgbClr val="EEF3FB"/>
            </a:solidFill>
            <a:prstDash val="solid"/>
          </a:ln>
        </p:spPr>
      </p:sp>
      <p:sp>
        <p:nvSpPr>
          <p:cNvPr id="19" name="Ikon Approve PUR"/>
          <p:cNvSpPr/>
          <p:nvPr/>
        </p:nvSpPr>
        <p:spPr>
          <a:xfrm>
            <a:off x="6355080" y="2606040"/>
            <a:ext cx="457200" cy="457200"/>
          </a:xfrm>
          <a:prstGeom prst="ellipse">
            <a:avLst/>
          </a:prstGeom>
          <a:solidFill>
            <a:srgbClr val="BE185D"/>
          </a:solidFill>
          <a:ln w="12700">
            <a:solidFill>
              <a:srgbClr val="BE185D"/>
            </a:solidFill>
            <a:prstDash val="solid"/>
          </a:ln>
        </p:spPr>
      </p:sp>
      <p:sp>
        <p:nvSpPr>
          <p:cNvPr id="20" name="Text 18"/>
          <p:cNvSpPr txBox="1"/>
          <p:nvPr/>
        </p:nvSpPr>
        <p:spPr>
          <a:xfrm>
            <a:off x="6355080" y="26060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PR</a:t>
            </a:r>
            <a:endParaRPr lang="en-US" sz="1200" dirty="0"/>
          </a:p>
        </p:txBody>
      </p:sp>
      <p:sp>
        <p:nvSpPr>
          <p:cNvPr id="21" name="Peran Approve PUR"/>
          <p:cNvSpPr txBox="1"/>
          <p:nvPr/>
        </p:nvSpPr>
        <p:spPr>
          <a:xfrm>
            <a:off x="6922008" y="2560320"/>
            <a:ext cx="1810512" cy="548640"/>
          </a:xfrm>
          <a:prstGeom prst="rect">
            <a:avLst/>
          </a:prstGeom>
          <a:noFill/>
          <a:ln/>
        </p:spPr>
        <p:txBody>
          <a:bodyPr wrap="square" lIns="0" tIns="0" rIns="0" bIns="0" rtlCol="0" anchor="ctr"/>
          <a:lstStyle/>
          <a:p>
            <a:pPr indent="0" marL="0">
              <a:buNone/>
            </a:pPr>
            <a:r>
              <a:rPr lang="en-US" sz="1600" b="1" dirty="0">
                <a:solidFill>
                  <a:srgbClr val="BE185D"/>
                </a:solidFill>
              </a:rPr>
              <a:t>Approve PUR</a:t>
            </a:r>
            <a:endParaRPr lang="en-US" sz="1600" dirty="0"/>
          </a:p>
          <a:p>
            <a:pPr indent="0" marL="0">
              <a:buNone/>
            </a:pPr>
            <a:r>
              <a:rPr lang="en-US" sz="1200" dirty="0">
                <a:solidFill>
                  <a:srgbClr val="5B6B86"/>
                </a:solidFill>
              </a:rPr>
              <a:t>approve.pur</a:t>
            </a:r>
            <a:endParaRPr lang="en-US" sz="1600" dirty="0"/>
          </a:p>
        </p:txBody>
      </p:sp>
      <p:sp>
        <p:nvSpPr>
          <p:cNvPr id="22" name="Text 20"/>
          <p:cNvSpPr txBox="1"/>
          <p:nvPr/>
        </p:nvSpPr>
        <p:spPr>
          <a:xfrm>
            <a:off x="8869680" y="2560320"/>
            <a:ext cx="2679192" cy="868680"/>
          </a:xfrm>
          <a:prstGeom prst="rect">
            <a:avLst/>
          </a:prstGeom>
          <a:noFill/>
          <a:ln/>
        </p:spPr>
        <p:txBody>
          <a:bodyPr wrap="square" lIns="0" tIns="0" rIns="0" bIns="0" rtlCol="0" anchor="ctr"/>
          <a:lstStyle/>
          <a:p>
            <a:pPr indent="0" marL="0">
              <a:buNone/>
            </a:pPr>
            <a:r>
              <a:rPr lang="en-US" sz="1400" dirty="0">
                <a:solidFill>
                  <a:srgbClr val="1B2437"/>
                </a:solidFill>
              </a:rPr>
              <a:t>Menyetujui Purchase Request, GRPO, dan Inventory Transfer.</a:t>
            </a:r>
            <a:endParaRPr lang="en-US" sz="1400" dirty="0"/>
          </a:p>
        </p:txBody>
      </p:sp>
      <p:sp>
        <p:nvSpPr>
          <p:cNvPr id="23" name="Kartu Admin purchase"/>
          <p:cNvSpPr/>
          <p:nvPr/>
        </p:nvSpPr>
        <p:spPr>
          <a:xfrm>
            <a:off x="457200" y="3703320"/>
            <a:ext cx="5559552" cy="1051560"/>
          </a:xfrm>
          <a:prstGeom prst="roundRect">
            <a:avLst>
              <a:gd name="adj" fmla="val 8696"/>
            </a:avLst>
          </a:prstGeom>
          <a:solidFill>
            <a:srgbClr val="EEF3FB"/>
          </a:solidFill>
          <a:ln w="12700">
            <a:solidFill>
              <a:srgbClr val="EEF3FB"/>
            </a:solidFill>
            <a:prstDash val="solid"/>
          </a:ln>
        </p:spPr>
      </p:sp>
      <p:sp>
        <p:nvSpPr>
          <p:cNvPr id="24" name="Ikon Admin purchase"/>
          <p:cNvSpPr/>
          <p:nvPr/>
        </p:nvSpPr>
        <p:spPr>
          <a:xfrm>
            <a:off x="640080" y="3840480"/>
            <a:ext cx="457200" cy="457200"/>
          </a:xfrm>
          <a:prstGeom prst="ellipse">
            <a:avLst/>
          </a:prstGeom>
          <a:solidFill>
            <a:srgbClr val="2563EB"/>
          </a:solidFill>
          <a:ln w="12700">
            <a:solidFill>
              <a:srgbClr val="2563EB"/>
            </a:solidFill>
            <a:prstDash val="solid"/>
          </a:ln>
        </p:spPr>
      </p:sp>
      <p:sp>
        <p:nvSpPr>
          <p:cNvPr id="25" name="Text 23"/>
          <p:cNvSpPr txBox="1"/>
          <p:nvPr/>
        </p:nvSpPr>
        <p:spPr>
          <a:xfrm>
            <a:off x="640080" y="38404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AP</a:t>
            </a:r>
            <a:endParaRPr lang="en-US" sz="1200" dirty="0"/>
          </a:p>
        </p:txBody>
      </p:sp>
      <p:sp>
        <p:nvSpPr>
          <p:cNvPr id="26" name="Peran Admin purchase"/>
          <p:cNvSpPr txBox="1"/>
          <p:nvPr/>
        </p:nvSpPr>
        <p:spPr>
          <a:xfrm>
            <a:off x="1207008" y="3794760"/>
            <a:ext cx="1810512" cy="548640"/>
          </a:xfrm>
          <a:prstGeom prst="rect">
            <a:avLst/>
          </a:prstGeom>
          <a:noFill/>
          <a:ln/>
        </p:spPr>
        <p:txBody>
          <a:bodyPr wrap="square" lIns="0" tIns="0" rIns="0" bIns="0" rtlCol="0" anchor="ctr"/>
          <a:lstStyle/>
          <a:p>
            <a:pPr indent="0" marL="0">
              <a:buNone/>
            </a:pPr>
            <a:r>
              <a:rPr lang="en-US" sz="1600" b="1" dirty="0">
                <a:solidFill>
                  <a:srgbClr val="2563EB"/>
                </a:solidFill>
              </a:rPr>
              <a:t>Admin purchase</a:t>
            </a:r>
            <a:endParaRPr lang="en-US" sz="1600" dirty="0"/>
          </a:p>
          <a:p>
            <a:pPr indent="0" marL="0">
              <a:buNone/>
            </a:pPr>
            <a:r>
              <a:rPr lang="en-US" sz="1200" dirty="0">
                <a:solidFill>
                  <a:srgbClr val="5B6B86"/>
                </a:solidFill>
              </a:rPr>
              <a:t>admin.purchase</a:t>
            </a:r>
            <a:endParaRPr lang="en-US" sz="1600" dirty="0"/>
          </a:p>
        </p:txBody>
      </p:sp>
      <p:sp>
        <p:nvSpPr>
          <p:cNvPr id="27" name="Text 25"/>
          <p:cNvSpPr txBox="1"/>
          <p:nvPr/>
        </p:nvSpPr>
        <p:spPr>
          <a:xfrm>
            <a:off x="3154680" y="3794760"/>
            <a:ext cx="2679192" cy="868680"/>
          </a:xfrm>
          <a:prstGeom prst="rect">
            <a:avLst/>
          </a:prstGeom>
          <a:noFill/>
          <a:ln/>
        </p:spPr>
        <p:txBody>
          <a:bodyPr wrap="square" lIns="0" tIns="0" rIns="0" bIns="0" rtlCol="0" anchor="ctr"/>
          <a:lstStyle/>
          <a:p>
            <a:pPr indent="0" marL="0">
              <a:buNone/>
            </a:pPr>
            <a:r>
              <a:rPr lang="en-US" sz="1400" dirty="0">
                <a:solidFill>
                  <a:srgbClr val="1B2437"/>
                </a:solidFill>
              </a:rPr>
              <a:t>Memilih vendor, mengisi qty dan harga beli, lalu mengajukan Purchase Order.</a:t>
            </a:r>
            <a:endParaRPr lang="en-US" sz="1400" dirty="0"/>
          </a:p>
        </p:txBody>
      </p:sp>
      <p:sp>
        <p:nvSpPr>
          <p:cNvPr id="28" name="Kartu Approve PO"/>
          <p:cNvSpPr/>
          <p:nvPr/>
        </p:nvSpPr>
        <p:spPr>
          <a:xfrm>
            <a:off x="6172200" y="3703320"/>
            <a:ext cx="5559552" cy="1051560"/>
          </a:xfrm>
          <a:prstGeom prst="roundRect">
            <a:avLst>
              <a:gd name="adj" fmla="val 8696"/>
            </a:avLst>
          </a:prstGeom>
          <a:solidFill>
            <a:srgbClr val="EEF3FB"/>
          </a:solidFill>
          <a:ln w="12700">
            <a:solidFill>
              <a:srgbClr val="EEF3FB"/>
            </a:solidFill>
            <a:prstDash val="solid"/>
          </a:ln>
        </p:spPr>
      </p:sp>
      <p:sp>
        <p:nvSpPr>
          <p:cNvPr id="29" name="Ikon Approve PO"/>
          <p:cNvSpPr/>
          <p:nvPr/>
        </p:nvSpPr>
        <p:spPr>
          <a:xfrm>
            <a:off x="6355080" y="3840480"/>
            <a:ext cx="457200" cy="457200"/>
          </a:xfrm>
          <a:prstGeom prst="ellipse">
            <a:avLst/>
          </a:prstGeom>
          <a:solidFill>
            <a:srgbClr val="B7791F"/>
          </a:solidFill>
          <a:ln w="12700">
            <a:solidFill>
              <a:srgbClr val="B7791F"/>
            </a:solidFill>
            <a:prstDash val="solid"/>
          </a:ln>
        </p:spPr>
      </p:sp>
      <p:sp>
        <p:nvSpPr>
          <p:cNvPr id="30" name="Text 28"/>
          <p:cNvSpPr txBox="1"/>
          <p:nvPr/>
        </p:nvSpPr>
        <p:spPr>
          <a:xfrm>
            <a:off x="6355080" y="38404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PO</a:t>
            </a:r>
            <a:endParaRPr lang="en-US" sz="1200" dirty="0"/>
          </a:p>
        </p:txBody>
      </p:sp>
      <p:sp>
        <p:nvSpPr>
          <p:cNvPr id="31" name="Peran Approve PO"/>
          <p:cNvSpPr txBox="1"/>
          <p:nvPr/>
        </p:nvSpPr>
        <p:spPr>
          <a:xfrm>
            <a:off x="6922008" y="3794760"/>
            <a:ext cx="1810512" cy="548640"/>
          </a:xfrm>
          <a:prstGeom prst="rect">
            <a:avLst/>
          </a:prstGeom>
          <a:noFill/>
          <a:ln/>
        </p:spPr>
        <p:txBody>
          <a:bodyPr wrap="square" lIns="0" tIns="0" rIns="0" bIns="0" rtlCol="0" anchor="ctr"/>
          <a:lstStyle/>
          <a:p>
            <a:pPr indent="0" marL="0">
              <a:buNone/>
            </a:pPr>
            <a:r>
              <a:rPr lang="en-US" sz="1600" b="1" dirty="0">
                <a:solidFill>
                  <a:srgbClr val="B7791F"/>
                </a:solidFill>
              </a:rPr>
              <a:t>Approve PO</a:t>
            </a:r>
            <a:endParaRPr lang="en-US" sz="1600" dirty="0"/>
          </a:p>
          <a:p>
            <a:pPr indent="0" marL="0">
              <a:buNone/>
            </a:pPr>
            <a:r>
              <a:rPr lang="en-US" sz="1200" dirty="0">
                <a:solidFill>
                  <a:srgbClr val="5B6B86"/>
                </a:solidFill>
              </a:rPr>
              <a:t>approve.po</a:t>
            </a:r>
            <a:endParaRPr lang="en-US" sz="1600" dirty="0"/>
          </a:p>
        </p:txBody>
      </p:sp>
      <p:sp>
        <p:nvSpPr>
          <p:cNvPr id="32" name="Text 30"/>
          <p:cNvSpPr txBox="1"/>
          <p:nvPr/>
        </p:nvSpPr>
        <p:spPr>
          <a:xfrm>
            <a:off x="8869680" y="3794760"/>
            <a:ext cx="2679192" cy="868680"/>
          </a:xfrm>
          <a:prstGeom prst="rect">
            <a:avLst/>
          </a:prstGeom>
          <a:noFill/>
          <a:ln/>
        </p:spPr>
        <p:txBody>
          <a:bodyPr wrap="square" lIns="0" tIns="0" rIns="0" bIns="0" rtlCol="0" anchor="ctr"/>
          <a:lstStyle/>
          <a:p>
            <a:pPr indent="0" marL="0">
              <a:buNone/>
            </a:pPr>
            <a:r>
              <a:rPr lang="en-US" sz="1400" dirty="0">
                <a:solidFill>
                  <a:srgbClr val="1B2437"/>
                </a:solidFill>
              </a:rPr>
              <a:t>Menyetujui Purchase Order; persetujuan bisa bertingkat.</a:t>
            </a:r>
            <a:endParaRPr lang="en-US" sz="1400" dirty="0"/>
          </a:p>
        </p:txBody>
      </p:sp>
      <p:sp>
        <p:nvSpPr>
          <p:cNvPr id="33" name="Kartu Kasir"/>
          <p:cNvSpPr/>
          <p:nvPr/>
        </p:nvSpPr>
        <p:spPr>
          <a:xfrm>
            <a:off x="457200" y="4937760"/>
            <a:ext cx="11274552" cy="1051560"/>
          </a:xfrm>
          <a:prstGeom prst="roundRect">
            <a:avLst>
              <a:gd name="adj" fmla="val 8696"/>
            </a:avLst>
          </a:prstGeom>
          <a:solidFill>
            <a:srgbClr val="EEF3FB"/>
          </a:solidFill>
          <a:ln w="12700">
            <a:solidFill>
              <a:srgbClr val="EEF3FB"/>
            </a:solidFill>
            <a:prstDash val="solid"/>
          </a:ln>
        </p:spPr>
      </p:sp>
      <p:sp>
        <p:nvSpPr>
          <p:cNvPr id="34" name="Ikon Kasir"/>
          <p:cNvSpPr/>
          <p:nvPr/>
        </p:nvSpPr>
        <p:spPr>
          <a:xfrm>
            <a:off x="640080" y="5074920"/>
            <a:ext cx="457200" cy="457200"/>
          </a:xfrm>
          <a:prstGeom prst="ellipse">
            <a:avLst/>
          </a:prstGeom>
          <a:solidFill>
            <a:srgbClr val="15803D"/>
          </a:solidFill>
          <a:ln w="12700">
            <a:solidFill>
              <a:srgbClr val="15803D"/>
            </a:solidFill>
            <a:prstDash val="solid"/>
          </a:ln>
        </p:spPr>
      </p:sp>
      <p:sp>
        <p:nvSpPr>
          <p:cNvPr id="35" name="Text 33"/>
          <p:cNvSpPr txBox="1"/>
          <p:nvPr/>
        </p:nvSpPr>
        <p:spPr>
          <a:xfrm>
            <a:off x="640080" y="507492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KA</a:t>
            </a:r>
            <a:endParaRPr lang="en-US" sz="1200" dirty="0"/>
          </a:p>
        </p:txBody>
      </p:sp>
      <p:sp>
        <p:nvSpPr>
          <p:cNvPr id="36" name="Peran Kasir"/>
          <p:cNvSpPr txBox="1"/>
          <p:nvPr/>
        </p:nvSpPr>
        <p:spPr>
          <a:xfrm>
            <a:off x="1207008" y="5029200"/>
            <a:ext cx="1810512" cy="548640"/>
          </a:xfrm>
          <a:prstGeom prst="rect">
            <a:avLst/>
          </a:prstGeom>
          <a:noFill/>
          <a:ln/>
        </p:spPr>
        <p:txBody>
          <a:bodyPr wrap="square" lIns="0" tIns="0" rIns="0" bIns="0" rtlCol="0" anchor="ctr"/>
          <a:lstStyle/>
          <a:p>
            <a:pPr indent="0" marL="0">
              <a:buNone/>
            </a:pPr>
            <a:r>
              <a:rPr lang="en-US" sz="1600" b="1" dirty="0">
                <a:solidFill>
                  <a:srgbClr val="15803D"/>
                </a:solidFill>
              </a:rPr>
              <a:t>Kasir</a:t>
            </a:r>
            <a:endParaRPr lang="en-US" sz="1600" dirty="0"/>
          </a:p>
          <a:p>
            <a:pPr indent="0" marL="0">
              <a:buNone/>
            </a:pPr>
            <a:r>
              <a:rPr lang="en-US" sz="1200" dirty="0">
                <a:solidFill>
                  <a:srgbClr val="5B6B86"/>
                </a:solidFill>
              </a:rPr>
              <a:t>kasir1.awu</a:t>
            </a:r>
            <a:endParaRPr lang="en-US" sz="1600" dirty="0"/>
          </a:p>
        </p:txBody>
      </p:sp>
      <p:sp>
        <p:nvSpPr>
          <p:cNvPr id="37" name="Text 35"/>
          <p:cNvSpPr txBox="1"/>
          <p:nvPr/>
        </p:nvSpPr>
        <p:spPr>
          <a:xfrm>
            <a:off x="3154680" y="5029200"/>
            <a:ext cx="8394192" cy="868680"/>
          </a:xfrm>
          <a:prstGeom prst="rect">
            <a:avLst/>
          </a:prstGeom>
          <a:noFill/>
          <a:ln/>
        </p:spPr>
        <p:txBody>
          <a:bodyPr wrap="square" lIns="0" tIns="0" rIns="0" bIns="0" rtlCol="0" anchor="ctr"/>
          <a:lstStyle/>
          <a:p>
            <a:pPr indent="0" marL="0">
              <a:buNone/>
            </a:pPr>
            <a:r>
              <a:rPr lang="en-US" sz="1400" dirty="0">
                <a:solidFill>
                  <a:srgbClr val="1B2437"/>
                </a:solidFill>
              </a:rPr>
              <a:t>Menjual barang di dek, mengirim DO harian ke SAP, dan menutup kasir.</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40080"/>
          </a:xfrm>
          <a:prstGeom prst="rect">
            <a:avLst/>
          </a:prstGeom>
          <a:noFill/>
          <a:ln/>
        </p:spPr>
        <p:txBody>
          <a:bodyPr wrap="square" lIns="0" tIns="0" rIns="0" bIns="0" rtlCol="0" anchor="ctr"/>
          <a:lstStyle/>
          <a:p>
            <a:pPr algn="l" indent="0" marL="0">
              <a:buNone/>
            </a:pPr>
            <a:r>
              <a:rPr lang="en-US" sz="3400" b="1" dirty="0">
                <a:solidFill>
                  <a:schemeClr val="tx2"/>
                </a:solidFill>
              </a:rPr>
              <a:t>Tahap 1 · Admin kapal memesan ke DC</a:t>
            </a:r>
            <a:endParaRPr lang="en-US" sz="3400" dirty="0"/>
          </a:p>
        </p:txBody>
      </p:sp>
      <p:sp>
        <p:nvSpPr>
          <p:cNvPr id="3" name="Tahap 1 Pesan barang"/>
          <p:cNvSpPr txBox="1"/>
          <p:nvPr/>
        </p:nvSpPr>
        <p:spPr>
          <a:xfrm>
            <a:off x="457200" y="1078992"/>
            <a:ext cx="1783080" cy="384048"/>
          </a:xfrm>
          <a:prstGeom prst="roundRect">
            <a:avLst>
              <a:gd name="adj" fmla="val 19048"/>
            </a:avLst>
          </a:prstGeom>
          <a:solidFill>
            <a:srgbClr val="0F766E"/>
          </a:solidFill>
          <a:ln w="12700">
            <a:solidFill>
              <a:srgbClr val="0F766E"/>
            </a:solidFill>
          </a:ln>
        </p:spPr>
        <p:txBody>
          <a:bodyPr wrap="square" lIns="0" tIns="0" rIns="0" bIns="0" rtlCol="0" anchor="ctr"/>
          <a:lstStyle/>
          <a:p>
            <a:pPr algn="ctr" indent="0" marL="0">
              <a:buNone/>
            </a:pPr>
            <a:r>
              <a:rPr lang="en-US" sz="1300" b="1" dirty="0">
                <a:solidFill>
                  <a:srgbClr val="FFFFFF"/>
                </a:solidFill>
              </a:rPr>
              <a:t>Pesan barang</a:t>
            </a:r>
            <a:endParaRPr lang="en-US" sz="1300" dirty="0"/>
          </a:p>
        </p:txBody>
      </p:sp>
      <p:sp>
        <p:nvSpPr>
          <p:cNvPr id="4" name="Tahap 2 Approval SO"/>
          <p:cNvSpPr txBox="1"/>
          <p:nvPr/>
        </p:nvSpPr>
        <p:spPr>
          <a:xfrm>
            <a:off x="2304288"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Approval SO</a:t>
            </a:r>
            <a:endParaRPr lang="en-US" sz="1050" dirty="0"/>
          </a:p>
        </p:txBody>
      </p:sp>
      <p:sp>
        <p:nvSpPr>
          <p:cNvPr id="5" name="Tahap 3 Pilah stok DC"/>
          <p:cNvSpPr txBox="1"/>
          <p:nvPr/>
        </p:nvSpPr>
        <p:spPr>
          <a:xfrm>
            <a:off x="3491065"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Pilah stok DC</a:t>
            </a:r>
            <a:endParaRPr lang="en-US" sz="1050" dirty="0"/>
          </a:p>
        </p:txBody>
      </p:sp>
      <p:sp>
        <p:nvSpPr>
          <p:cNvPr id="6" name="Tahap 4 PUR"/>
          <p:cNvSpPr txBox="1"/>
          <p:nvPr/>
        </p:nvSpPr>
        <p:spPr>
          <a:xfrm>
            <a:off x="4677842"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PUR</a:t>
            </a:r>
            <a:endParaRPr lang="en-US" sz="1050" dirty="0"/>
          </a:p>
        </p:txBody>
      </p:sp>
      <p:sp>
        <p:nvSpPr>
          <p:cNvPr id="7" name="Tahap 5 PO"/>
          <p:cNvSpPr txBox="1"/>
          <p:nvPr/>
        </p:nvSpPr>
        <p:spPr>
          <a:xfrm>
            <a:off x="5864619"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PO</a:t>
            </a:r>
            <a:endParaRPr lang="en-US" sz="1050" dirty="0"/>
          </a:p>
        </p:txBody>
      </p:sp>
      <p:sp>
        <p:nvSpPr>
          <p:cNvPr id="8" name="Tahap 6 GRPO"/>
          <p:cNvSpPr txBox="1"/>
          <p:nvPr/>
        </p:nvSpPr>
        <p:spPr>
          <a:xfrm>
            <a:off x="7051396"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GRPO</a:t>
            </a:r>
            <a:endParaRPr lang="en-US" sz="1050" dirty="0"/>
          </a:p>
        </p:txBody>
      </p:sp>
      <p:sp>
        <p:nvSpPr>
          <p:cNvPr id="9" name="Tahap 7 Transfer ke dek"/>
          <p:cNvSpPr txBox="1"/>
          <p:nvPr/>
        </p:nvSpPr>
        <p:spPr>
          <a:xfrm>
            <a:off x="8238173"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Transfer ke dek</a:t>
            </a:r>
            <a:endParaRPr lang="en-US" sz="1050" dirty="0"/>
          </a:p>
        </p:txBody>
      </p:sp>
      <p:sp>
        <p:nvSpPr>
          <p:cNvPr id="10" name="Tahap 8 Terima di dek"/>
          <p:cNvSpPr txBox="1"/>
          <p:nvPr/>
        </p:nvSpPr>
        <p:spPr>
          <a:xfrm>
            <a:off x="9424949"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Terima di dek</a:t>
            </a:r>
            <a:endParaRPr lang="en-US" sz="1050" dirty="0"/>
          </a:p>
        </p:txBody>
      </p:sp>
      <p:sp>
        <p:nvSpPr>
          <p:cNvPr id="11" name="Tahap 9 Jual &amp;amp; DO"/>
          <p:cNvSpPr txBox="1"/>
          <p:nvPr/>
        </p:nvSpPr>
        <p:spPr>
          <a:xfrm>
            <a:off x="10611726"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Jual &amp; DO</a:t>
            </a:r>
            <a:endParaRPr lang="en-US" sz="1050" dirty="0"/>
          </a:p>
        </p:txBody>
      </p:sp>
      <p:sp>
        <p:nvSpPr>
          <p:cNvPr id="12" name="Layar Admin kapal memesan ke DC bingkai"/>
          <p:cNvSpPr/>
          <p:nvPr/>
        </p:nvSpPr>
        <p:spPr>
          <a:xfrm>
            <a:off x="457200" y="2353415"/>
            <a:ext cx="6693408" cy="3239306"/>
          </a:xfrm>
          <a:prstGeom prst="roundRect">
            <a:avLst>
              <a:gd name="adj" fmla="val 2258"/>
            </a:avLst>
          </a:prstGeom>
          <a:solidFill>
            <a:schemeClr val="bg1"/>
          </a:solidFill>
          <a:ln w="12700">
            <a:solidFill>
              <a:srgbClr val="D5DEEC"/>
            </a:solidFill>
            <a:prstDash val="solid"/>
          </a:ln>
          <a:effectLst>
            <a:outerShdw sx="100000" sy="100000" kx="0" ky="0" algn="bl" rotWithShape="0" blurRad="101600" dist="38100" dir="5400000">
              <a:srgbClr val="1F3B7A">
                <a:alpha val="18000"/>
              </a:srgbClr>
            </a:outerShdw>
          </a:effectLst>
        </p:spPr>
      </p:sp>
      <p:pic>
        <p:nvPicPr>
          <p:cNvPr id="13" name="Layar Admin kapal memesan ke DC" descr="Gambar layar PID POS (Layar Admin kapal memesan ke DC)">    </p:cNvPr>
          <p:cNvPicPr>
            <a:picLocks noChangeAspect="1"/>
          </p:cNvPicPr>
          <p:nvPr/>
        </p:nvPicPr>
        <p:blipFill>
          <a:blip r:embed="rId1"/>
          <a:stretch>
            <a:fillRect/>
          </a:stretch>
        </p:blipFill>
        <p:spPr>
          <a:xfrm>
            <a:off x="512064" y="2408279"/>
            <a:ext cx="6583680" cy="3129578"/>
          </a:xfrm>
          <a:prstGeom prst="rect">
            <a:avLst/>
          </a:prstGeom>
        </p:spPr>
      </p:pic>
      <p:sp>
        <p:nvSpPr>
          <p:cNvPr id="14" name="Ikon Admin kapal"/>
          <p:cNvSpPr/>
          <p:nvPr/>
        </p:nvSpPr>
        <p:spPr>
          <a:xfrm>
            <a:off x="7498080" y="1783080"/>
            <a:ext cx="457200" cy="457200"/>
          </a:xfrm>
          <a:prstGeom prst="ellipse">
            <a:avLst/>
          </a:prstGeom>
          <a:solidFill>
            <a:srgbClr val="0F766E"/>
          </a:solidFill>
          <a:ln w="12700">
            <a:solidFill>
              <a:srgbClr val="0F766E"/>
            </a:solidFill>
            <a:prstDash val="solid"/>
          </a:ln>
        </p:spPr>
      </p:sp>
      <p:sp>
        <p:nvSpPr>
          <p:cNvPr id="15" name="Text 12"/>
          <p:cNvSpPr txBox="1"/>
          <p:nvPr/>
        </p:nvSpPr>
        <p:spPr>
          <a:xfrm>
            <a:off x="7498080" y="17830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AK</a:t>
            </a:r>
            <a:endParaRPr lang="en-US" sz="1200" dirty="0"/>
          </a:p>
        </p:txBody>
      </p:sp>
      <p:sp>
        <p:nvSpPr>
          <p:cNvPr id="16" name="Peran Admin kapal"/>
          <p:cNvSpPr txBox="1"/>
          <p:nvPr/>
        </p:nvSpPr>
        <p:spPr>
          <a:xfrm>
            <a:off x="8065008" y="1737360"/>
            <a:ext cx="3639312" cy="548640"/>
          </a:xfrm>
          <a:prstGeom prst="rect">
            <a:avLst/>
          </a:prstGeom>
          <a:noFill/>
          <a:ln/>
        </p:spPr>
        <p:txBody>
          <a:bodyPr wrap="square" lIns="0" tIns="0" rIns="0" bIns="0" rtlCol="0" anchor="ctr"/>
          <a:lstStyle/>
          <a:p>
            <a:pPr indent="0" marL="0">
              <a:buNone/>
            </a:pPr>
            <a:r>
              <a:rPr lang="en-US" sz="1600" b="1" dirty="0">
                <a:solidFill>
                  <a:srgbClr val="0F766E"/>
                </a:solidFill>
              </a:rPr>
              <a:t>Admin kapal</a:t>
            </a:r>
            <a:endParaRPr lang="en-US" sz="1600" dirty="0"/>
          </a:p>
          <a:p>
            <a:pPr indent="0" marL="0">
              <a:buNone/>
            </a:pPr>
            <a:r>
              <a:rPr lang="en-US" sz="1200" dirty="0">
                <a:solidFill>
                  <a:srgbClr val="5B6B86"/>
                </a:solidFill>
              </a:rPr>
              <a:t>admin.awu</a:t>
            </a:r>
            <a:endParaRPr lang="en-US" sz="1600" dirty="0"/>
          </a:p>
        </p:txBody>
      </p:sp>
      <p:sp>
        <p:nvSpPr>
          <p:cNvPr id="17" name="Langkah"/>
          <p:cNvSpPr txBox="1"/>
          <p:nvPr/>
        </p:nvSpPr>
        <p:spPr>
          <a:xfrm>
            <a:off x="7498080" y="2478024"/>
            <a:ext cx="4233672" cy="3255264"/>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rgbClr val="1B2437"/>
                </a:solidFill>
              </a:rPr>
              <a:t>Pesan DC → Pesanan baru</a:t>
            </a:r>
            <a:endParaRPr lang="en-US" sz="1500" dirty="0"/>
          </a:p>
          <a:p>
            <a:pPr marL="342900" indent="-342900">
              <a:spcAft>
                <a:spcPts val="600"/>
              </a:spcAft>
              <a:buSzPct val="100000"/>
              <a:buFont typeface="+mj-lt"/>
              <a:buAutoNum type="arabicPeriod" startAt="1"/>
            </a:pPr>
            <a:r>
              <a:rPr lang="en-US" sz="1500" dirty="0">
                <a:solidFill>
                  <a:srgbClr val="1B2437"/>
                </a:solidFill>
              </a:rPr>
              <a:t>Pilih voyage, periode, dan pelabuhan suplai</a:t>
            </a:r>
            <a:endParaRPr lang="en-US" sz="1500" dirty="0"/>
          </a:p>
          <a:p>
            <a:pPr marL="342900" indent="-342900">
              <a:spcAft>
                <a:spcPts val="600"/>
              </a:spcAft>
              <a:buSzPct val="100000"/>
              <a:buFont typeface="+mj-lt"/>
              <a:buAutoNum type="arabicPeriod" startAt="1"/>
            </a:pPr>
            <a:r>
              <a:rPr lang="en-US" sz="1500" dirty="0">
                <a:solidFill>
                  <a:srgbClr val="1B2437"/>
                </a:solidFill>
              </a:rPr>
              <a:t>Isi tanggal dibutuhkan (minimal H-5)</a:t>
            </a:r>
            <a:endParaRPr lang="en-US" sz="1500" dirty="0"/>
          </a:p>
          <a:p>
            <a:pPr marL="342900" indent="-342900">
              <a:spcAft>
                <a:spcPts val="600"/>
              </a:spcAft>
              <a:buSzPct val="100000"/>
              <a:buFont typeface="+mj-lt"/>
              <a:buAutoNum type="arabicPeriod" startAt="1"/>
            </a:pPr>
            <a:r>
              <a:rPr lang="en-US" sz="1500" dirty="0">
                <a:solidFill>
                  <a:srgbClr val="1B2437"/>
                </a:solidFill>
              </a:rPr>
              <a:t>Cari barang, pilih Dek tujuan, isi Dipesan</a:t>
            </a:r>
            <a:endParaRPr lang="en-US" sz="1500" dirty="0"/>
          </a:p>
          <a:p>
            <a:pPr marL="342900" indent="-342900">
              <a:spcAft>
                <a:spcPts val="600"/>
              </a:spcAft>
              <a:buSzPct val="100000"/>
              <a:buFont typeface="+mj-lt"/>
              <a:buAutoNum type="arabicPeriod" startAt="1"/>
            </a:pPr>
            <a:r>
              <a:rPr lang="en-US" sz="1500" dirty="0">
                <a:solidFill>
                  <a:srgbClr val="1B2437"/>
                </a:solidFill>
              </a:rPr>
              <a:t>Klik Kirim ke DC</a:t>
            </a:r>
            <a:endParaRPr lang="en-US" sz="1500" dirty="0"/>
          </a:p>
        </p:txBody>
      </p:sp>
      <p:sp>
        <p:nvSpPr>
          <p:cNvPr id="18" name="Dokumen SAP"/>
          <p:cNvSpPr/>
          <p:nvPr/>
        </p:nvSpPr>
        <p:spPr>
          <a:xfrm>
            <a:off x="7498080" y="5861304"/>
            <a:ext cx="4233672" cy="329184"/>
          </a:xfrm>
          <a:prstGeom prst="roundRect">
            <a:avLst>
              <a:gd name="adj" fmla="val 22222"/>
            </a:avLst>
          </a:prstGeom>
          <a:solidFill>
            <a:srgbClr val="E5F4E4"/>
          </a:solidFill>
          <a:ln w="12700">
            <a:solidFill>
              <a:srgbClr val="E5F4E4"/>
            </a:solidFill>
            <a:prstDash val="solid"/>
          </a:ln>
        </p:spPr>
      </p:sp>
      <p:sp>
        <p:nvSpPr>
          <p:cNvPr id="19" name="Text 16"/>
          <p:cNvSpPr txBox="1"/>
          <p:nvPr/>
        </p:nvSpPr>
        <p:spPr>
          <a:xfrm>
            <a:off x="7662672" y="5861304"/>
            <a:ext cx="3904488" cy="329184"/>
          </a:xfrm>
          <a:prstGeom prst="rect">
            <a:avLst/>
          </a:prstGeom>
          <a:noFill/>
          <a:ln/>
        </p:spPr>
        <p:txBody>
          <a:bodyPr wrap="square" lIns="0" tIns="0" rIns="0" bIns="0" rtlCol="0" anchor="ctr"/>
          <a:lstStyle/>
          <a:p>
            <a:pPr indent="0" marL="0">
              <a:spcAft>
                <a:spcPts val="200"/>
              </a:spcAft>
              <a:buNone/>
            </a:pPr>
            <a:r>
              <a:rPr lang="en-US" sz="1200" b="1" dirty="0">
                <a:solidFill>
                  <a:srgbClr val="3A7D3A"/>
                </a:solidFill>
              </a:rPr>
              <a:t>Belum ada dokumen SAP</a:t>
            </a:r>
            <a:endParaRPr lang="en-US" sz="12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40080"/>
          </a:xfrm>
          <a:prstGeom prst="rect">
            <a:avLst/>
          </a:prstGeom>
          <a:noFill/>
          <a:ln/>
        </p:spPr>
        <p:txBody>
          <a:bodyPr wrap="square" lIns="0" tIns="0" rIns="0" bIns="0" rtlCol="0" anchor="ctr"/>
          <a:lstStyle/>
          <a:p>
            <a:pPr algn="l" indent="0" marL="0">
              <a:buNone/>
            </a:pPr>
            <a:r>
              <a:rPr lang="en-US" sz="3400" b="1" dirty="0">
                <a:solidFill>
                  <a:schemeClr val="tx2"/>
                </a:solidFill>
              </a:rPr>
              <a:t>Tahap 2 · Approve SO menyetujui</a:t>
            </a:r>
            <a:endParaRPr lang="en-US" sz="3400" dirty="0"/>
          </a:p>
        </p:txBody>
      </p:sp>
      <p:sp>
        <p:nvSpPr>
          <p:cNvPr id="3" name="Tahap 1 Pesan barang"/>
          <p:cNvSpPr txBox="1"/>
          <p:nvPr/>
        </p:nvSpPr>
        <p:spPr>
          <a:xfrm>
            <a:off x="457200"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Pesan barang</a:t>
            </a:r>
            <a:endParaRPr lang="en-US" sz="1050" dirty="0"/>
          </a:p>
        </p:txBody>
      </p:sp>
      <p:sp>
        <p:nvSpPr>
          <p:cNvPr id="4" name="Tahap 2 Approval SO"/>
          <p:cNvSpPr txBox="1"/>
          <p:nvPr/>
        </p:nvSpPr>
        <p:spPr>
          <a:xfrm>
            <a:off x="1643977" y="1078992"/>
            <a:ext cx="1783080" cy="384048"/>
          </a:xfrm>
          <a:prstGeom prst="roundRect">
            <a:avLst>
              <a:gd name="adj" fmla="val 19048"/>
            </a:avLst>
          </a:prstGeom>
          <a:solidFill>
            <a:srgbClr val="6D28D9"/>
          </a:solidFill>
          <a:ln w="12700">
            <a:solidFill>
              <a:srgbClr val="6D28D9"/>
            </a:solidFill>
          </a:ln>
        </p:spPr>
        <p:txBody>
          <a:bodyPr wrap="square" lIns="0" tIns="0" rIns="0" bIns="0" rtlCol="0" anchor="ctr"/>
          <a:lstStyle/>
          <a:p>
            <a:pPr algn="ctr" indent="0" marL="0">
              <a:buNone/>
            </a:pPr>
            <a:r>
              <a:rPr lang="en-US" sz="1300" b="1" dirty="0">
                <a:solidFill>
                  <a:srgbClr val="FFFFFF"/>
                </a:solidFill>
              </a:rPr>
              <a:t>Approval SO</a:t>
            </a:r>
            <a:endParaRPr lang="en-US" sz="1300" dirty="0"/>
          </a:p>
        </p:txBody>
      </p:sp>
      <p:sp>
        <p:nvSpPr>
          <p:cNvPr id="5" name="Tahap 3 Pilah stok DC"/>
          <p:cNvSpPr txBox="1"/>
          <p:nvPr/>
        </p:nvSpPr>
        <p:spPr>
          <a:xfrm>
            <a:off x="3491065"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Pilah stok DC</a:t>
            </a:r>
            <a:endParaRPr lang="en-US" sz="1050" dirty="0"/>
          </a:p>
        </p:txBody>
      </p:sp>
      <p:sp>
        <p:nvSpPr>
          <p:cNvPr id="6" name="Tahap 4 PUR"/>
          <p:cNvSpPr txBox="1"/>
          <p:nvPr/>
        </p:nvSpPr>
        <p:spPr>
          <a:xfrm>
            <a:off x="4677842"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PUR</a:t>
            </a:r>
            <a:endParaRPr lang="en-US" sz="1050" dirty="0"/>
          </a:p>
        </p:txBody>
      </p:sp>
      <p:sp>
        <p:nvSpPr>
          <p:cNvPr id="7" name="Tahap 5 PO"/>
          <p:cNvSpPr txBox="1"/>
          <p:nvPr/>
        </p:nvSpPr>
        <p:spPr>
          <a:xfrm>
            <a:off x="5864619"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PO</a:t>
            </a:r>
            <a:endParaRPr lang="en-US" sz="1050" dirty="0"/>
          </a:p>
        </p:txBody>
      </p:sp>
      <p:sp>
        <p:nvSpPr>
          <p:cNvPr id="8" name="Tahap 6 GRPO"/>
          <p:cNvSpPr txBox="1"/>
          <p:nvPr/>
        </p:nvSpPr>
        <p:spPr>
          <a:xfrm>
            <a:off x="7051396"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GRPO</a:t>
            </a:r>
            <a:endParaRPr lang="en-US" sz="1050" dirty="0"/>
          </a:p>
        </p:txBody>
      </p:sp>
      <p:sp>
        <p:nvSpPr>
          <p:cNvPr id="9" name="Tahap 7 Transfer ke dek"/>
          <p:cNvSpPr txBox="1"/>
          <p:nvPr/>
        </p:nvSpPr>
        <p:spPr>
          <a:xfrm>
            <a:off x="8238173"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Transfer ke dek</a:t>
            </a:r>
            <a:endParaRPr lang="en-US" sz="1050" dirty="0"/>
          </a:p>
        </p:txBody>
      </p:sp>
      <p:sp>
        <p:nvSpPr>
          <p:cNvPr id="10" name="Tahap 8 Terima di dek"/>
          <p:cNvSpPr txBox="1"/>
          <p:nvPr/>
        </p:nvSpPr>
        <p:spPr>
          <a:xfrm>
            <a:off x="9424949"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Terima di dek</a:t>
            </a:r>
            <a:endParaRPr lang="en-US" sz="1050" dirty="0"/>
          </a:p>
        </p:txBody>
      </p:sp>
      <p:sp>
        <p:nvSpPr>
          <p:cNvPr id="11" name="Tahap 9 Jual &amp;amp; DO"/>
          <p:cNvSpPr txBox="1"/>
          <p:nvPr/>
        </p:nvSpPr>
        <p:spPr>
          <a:xfrm>
            <a:off x="10611726"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Jual &amp; DO</a:t>
            </a:r>
            <a:endParaRPr lang="en-US" sz="1050" dirty="0"/>
          </a:p>
        </p:txBody>
      </p:sp>
      <p:sp>
        <p:nvSpPr>
          <p:cNvPr id="12" name="Layar Approve SO menyetujui bingkai"/>
          <p:cNvSpPr/>
          <p:nvPr/>
        </p:nvSpPr>
        <p:spPr>
          <a:xfrm>
            <a:off x="1251803" y="1700784"/>
            <a:ext cx="5104203" cy="4544568"/>
          </a:xfrm>
          <a:prstGeom prst="roundRect">
            <a:avLst>
              <a:gd name="adj" fmla="val 1610"/>
            </a:avLst>
          </a:prstGeom>
          <a:solidFill>
            <a:schemeClr val="bg1"/>
          </a:solidFill>
          <a:ln w="12700">
            <a:solidFill>
              <a:srgbClr val="D5DEEC"/>
            </a:solidFill>
            <a:prstDash val="solid"/>
          </a:ln>
          <a:effectLst>
            <a:outerShdw sx="100000" sy="100000" kx="0" ky="0" algn="bl" rotWithShape="0" blurRad="101600" dist="38100" dir="5400000">
              <a:srgbClr val="1F3B7A">
                <a:alpha val="18000"/>
              </a:srgbClr>
            </a:outerShdw>
          </a:effectLst>
        </p:spPr>
      </p:sp>
      <p:pic>
        <p:nvPicPr>
          <p:cNvPr id="13" name="Layar Approve SO menyetujui" descr="Gambar layar PID POS (Layar Approve SO menyetujui)">    </p:cNvPr>
          <p:cNvPicPr>
            <a:picLocks noChangeAspect="1"/>
          </p:cNvPicPr>
          <p:nvPr/>
        </p:nvPicPr>
        <p:blipFill>
          <a:blip r:embed="rId1"/>
          <a:stretch>
            <a:fillRect/>
          </a:stretch>
        </p:blipFill>
        <p:spPr>
          <a:xfrm>
            <a:off x="1306667" y="1755648"/>
            <a:ext cx="4994475" cy="4434840"/>
          </a:xfrm>
          <a:prstGeom prst="rect">
            <a:avLst/>
          </a:prstGeom>
        </p:spPr>
      </p:pic>
      <p:sp>
        <p:nvSpPr>
          <p:cNvPr id="14" name="Ikon Approve SO (P2)"/>
          <p:cNvSpPr/>
          <p:nvPr/>
        </p:nvSpPr>
        <p:spPr>
          <a:xfrm>
            <a:off x="7498080" y="1783080"/>
            <a:ext cx="457200" cy="457200"/>
          </a:xfrm>
          <a:prstGeom prst="ellipse">
            <a:avLst/>
          </a:prstGeom>
          <a:solidFill>
            <a:srgbClr val="6D28D9"/>
          </a:solidFill>
          <a:ln w="12700">
            <a:solidFill>
              <a:srgbClr val="6D28D9"/>
            </a:solidFill>
            <a:prstDash val="solid"/>
          </a:ln>
        </p:spPr>
      </p:sp>
      <p:sp>
        <p:nvSpPr>
          <p:cNvPr id="15" name="Text 12"/>
          <p:cNvSpPr txBox="1"/>
          <p:nvPr/>
        </p:nvSpPr>
        <p:spPr>
          <a:xfrm>
            <a:off x="7498080" y="17830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SO</a:t>
            </a:r>
            <a:endParaRPr lang="en-US" sz="1200" dirty="0"/>
          </a:p>
        </p:txBody>
      </p:sp>
      <p:sp>
        <p:nvSpPr>
          <p:cNvPr id="16" name="Peran Approve SO (P2)"/>
          <p:cNvSpPr txBox="1"/>
          <p:nvPr/>
        </p:nvSpPr>
        <p:spPr>
          <a:xfrm>
            <a:off x="8065008" y="1737360"/>
            <a:ext cx="3639312" cy="548640"/>
          </a:xfrm>
          <a:prstGeom prst="rect">
            <a:avLst/>
          </a:prstGeom>
          <a:noFill/>
          <a:ln/>
        </p:spPr>
        <p:txBody>
          <a:bodyPr wrap="square" lIns="0" tIns="0" rIns="0" bIns="0" rtlCol="0" anchor="ctr"/>
          <a:lstStyle/>
          <a:p>
            <a:pPr indent="0" marL="0">
              <a:buNone/>
            </a:pPr>
            <a:r>
              <a:rPr lang="en-US" sz="1600" b="1" dirty="0">
                <a:solidFill>
                  <a:srgbClr val="6D28D9"/>
                </a:solidFill>
              </a:rPr>
              <a:t>Approve SO (P2)</a:t>
            </a:r>
            <a:endParaRPr lang="en-US" sz="1600" dirty="0"/>
          </a:p>
          <a:p>
            <a:pPr indent="0" marL="0">
              <a:buNone/>
            </a:pPr>
            <a:r>
              <a:rPr lang="en-US" sz="1200" dirty="0">
                <a:solidFill>
                  <a:srgbClr val="5B6B86"/>
                </a:solidFill>
              </a:rPr>
              <a:t>approve.so</a:t>
            </a:r>
            <a:endParaRPr lang="en-US" sz="1600" dirty="0"/>
          </a:p>
        </p:txBody>
      </p:sp>
      <p:sp>
        <p:nvSpPr>
          <p:cNvPr id="17" name="Langkah"/>
          <p:cNvSpPr txBox="1"/>
          <p:nvPr/>
        </p:nvSpPr>
        <p:spPr>
          <a:xfrm>
            <a:off x="7498080" y="2478024"/>
            <a:ext cx="4233672" cy="2596896"/>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rgbClr val="1B2437"/>
                </a:solidFill>
              </a:rPr>
              <a:t>Lonceng atau Giliran saya → buka permintaan</a:t>
            </a:r>
            <a:endParaRPr lang="en-US" sz="1500" dirty="0"/>
          </a:p>
          <a:p>
            <a:pPr marL="342900" indent="-342900">
              <a:spcAft>
                <a:spcPts val="600"/>
              </a:spcAft>
              <a:buSzPct val="100000"/>
              <a:buFont typeface="+mj-lt"/>
              <a:buAutoNum type="arabicPeriod" startAt="1"/>
            </a:pPr>
            <a:r>
              <a:rPr lang="en-US" sz="1500" dirty="0">
                <a:solidFill>
                  <a:srgbClr val="1B2437"/>
                </a:solidFill>
              </a:rPr>
              <a:t>Periksa barang, stok dek, dan stok DC</a:t>
            </a:r>
            <a:endParaRPr lang="en-US" sz="1500" dirty="0"/>
          </a:p>
          <a:p>
            <a:pPr marL="342900" indent="-342900">
              <a:spcAft>
                <a:spcPts val="600"/>
              </a:spcAft>
              <a:buSzPct val="100000"/>
              <a:buFont typeface="+mj-lt"/>
              <a:buAutoNum type="arabicPeriod" startAt="1"/>
            </a:pPr>
            <a:r>
              <a:rPr lang="en-US" sz="1500" dirty="0">
                <a:solidFill>
                  <a:srgbClr val="1B2437"/>
                </a:solidFill>
              </a:rPr>
              <a:t>Isi harga jual bila masih kosong</a:t>
            </a:r>
            <a:endParaRPr lang="en-US" sz="1500" dirty="0"/>
          </a:p>
          <a:p>
            <a:pPr marL="342900" indent="-342900">
              <a:spcAft>
                <a:spcPts val="600"/>
              </a:spcAft>
              <a:buSzPct val="100000"/>
              <a:buFont typeface="+mj-lt"/>
              <a:buAutoNum type="arabicPeriod" startAt="1"/>
            </a:pPr>
            <a:r>
              <a:rPr lang="en-US" sz="1500" dirty="0">
                <a:solidFill>
                  <a:srgbClr val="1B2437"/>
                </a:solidFill>
              </a:rPr>
              <a:t>Klik Setujui level 1 (atau Tolak dengan alasan)</a:t>
            </a:r>
            <a:endParaRPr lang="en-US" sz="1500" dirty="0"/>
          </a:p>
        </p:txBody>
      </p:sp>
      <p:sp>
        <p:nvSpPr>
          <p:cNvPr id="18" name="Dokumen SAP"/>
          <p:cNvSpPr/>
          <p:nvPr/>
        </p:nvSpPr>
        <p:spPr>
          <a:xfrm>
            <a:off x="7498080" y="5202936"/>
            <a:ext cx="4233672" cy="987552"/>
          </a:xfrm>
          <a:prstGeom prst="roundRect">
            <a:avLst>
              <a:gd name="adj" fmla="val 7407"/>
            </a:avLst>
          </a:prstGeom>
          <a:solidFill>
            <a:srgbClr val="E5F4E4"/>
          </a:solidFill>
          <a:ln w="12700">
            <a:solidFill>
              <a:srgbClr val="E5F4E4"/>
            </a:solidFill>
            <a:prstDash val="solid"/>
          </a:ln>
        </p:spPr>
      </p:sp>
      <p:sp>
        <p:nvSpPr>
          <p:cNvPr id="19" name="Text 16"/>
          <p:cNvSpPr txBox="1"/>
          <p:nvPr/>
        </p:nvSpPr>
        <p:spPr>
          <a:xfrm>
            <a:off x="7662672" y="5202936"/>
            <a:ext cx="3904488" cy="987552"/>
          </a:xfrm>
          <a:prstGeom prst="rect">
            <a:avLst/>
          </a:prstGeom>
          <a:noFill/>
          <a:ln/>
        </p:spPr>
        <p:txBody>
          <a:bodyPr wrap="square" lIns="0" tIns="0" rIns="0" bIns="0" rtlCol="0" anchor="ctr"/>
          <a:lstStyle/>
          <a:p>
            <a:pPr indent="0" marL="0">
              <a:spcAft>
                <a:spcPts val="200"/>
              </a:spcAft>
              <a:buNone/>
            </a:pPr>
            <a:r>
              <a:rPr lang="en-US" sz="1200" b="1" dirty="0">
                <a:solidFill>
                  <a:srgbClr val="3A7D3A"/>
                </a:solidFill>
              </a:rPr>
              <a:t>Dokumen SAP yang terbentuk</a:t>
            </a:r>
            <a:endParaRPr lang="en-US" sz="1200" dirty="0"/>
          </a:p>
          <a:p>
            <a:pPr indent="0" marL="0">
              <a:spcAft>
                <a:spcPts val="200"/>
              </a:spcAft>
              <a:buNone/>
            </a:pPr>
            <a:r>
              <a:rPr lang="en-US" sz="1400" dirty="0">
                <a:solidFill>
                  <a:srgbClr val="1B2437"/>
                </a:solidFill>
              </a:rPr>
              <a:t>Sales Order Dek 3  266000699</a:t>
            </a:r>
            <a:endParaRPr lang="en-US" sz="1200" dirty="0"/>
          </a:p>
          <a:p>
            <a:pPr indent="0" marL="0">
              <a:spcAft>
                <a:spcPts val="200"/>
              </a:spcAft>
              <a:buNone/>
            </a:pPr>
            <a:r>
              <a:rPr lang="en-US" sz="1400" dirty="0">
                <a:solidFill>
                  <a:srgbClr val="1B2437"/>
                </a:solidFill>
              </a:rPr>
              <a:t>Sales Order Dek 7  266000700</a:t>
            </a:r>
            <a:endParaRPr lang="en-US" sz="12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40080"/>
          </a:xfrm>
          <a:prstGeom prst="rect">
            <a:avLst/>
          </a:prstGeom>
          <a:noFill/>
          <a:ln/>
        </p:spPr>
        <p:txBody>
          <a:bodyPr wrap="square" lIns="0" tIns="0" rIns="0" bIns="0" rtlCol="0" anchor="ctr"/>
          <a:lstStyle/>
          <a:p>
            <a:pPr algn="l" indent="0" marL="0">
              <a:buNone/>
            </a:pPr>
            <a:r>
              <a:rPr lang="en-US" sz="3400" b="1" dirty="0">
                <a:solidFill>
                  <a:schemeClr val="tx2"/>
                </a:solidFill>
              </a:rPr>
              <a:t>Tahap 3 · Admin DC memilah stok</a:t>
            </a:r>
            <a:endParaRPr lang="en-US" sz="3400" dirty="0"/>
          </a:p>
        </p:txBody>
      </p:sp>
      <p:sp>
        <p:nvSpPr>
          <p:cNvPr id="3" name="Tahap 1 Pesan barang"/>
          <p:cNvSpPr txBox="1"/>
          <p:nvPr/>
        </p:nvSpPr>
        <p:spPr>
          <a:xfrm>
            <a:off x="457200"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Pesan barang</a:t>
            </a:r>
            <a:endParaRPr lang="en-US" sz="1050" dirty="0"/>
          </a:p>
        </p:txBody>
      </p:sp>
      <p:sp>
        <p:nvSpPr>
          <p:cNvPr id="4" name="Tahap 2 Approval SO"/>
          <p:cNvSpPr txBox="1"/>
          <p:nvPr/>
        </p:nvSpPr>
        <p:spPr>
          <a:xfrm>
            <a:off x="1643977"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Approval SO</a:t>
            </a:r>
            <a:endParaRPr lang="en-US" sz="1050" dirty="0"/>
          </a:p>
        </p:txBody>
      </p:sp>
      <p:sp>
        <p:nvSpPr>
          <p:cNvPr id="5" name="Tahap 3 Pilah stok DC"/>
          <p:cNvSpPr txBox="1"/>
          <p:nvPr/>
        </p:nvSpPr>
        <p:spPr>
          <a:xfrm>
            <a:off x="2830754" y="1078992"/>
            <a:ext cx="1783080" cy="384048"/>
          </a:xfrm>
          <a:prstGeom prst="roundRect">
            <a:avLst>
              <a:gd name="adj" fmla="val 19048"/>
            </a:avLst>
          </a:prstGeom>
          <a:solidFill>
            <a:srgbClr val="EA580C"/>
          </a:solidFill>
          <a:ln w="12700">
            <a:solidFill>
              <a:srgbClr val="EA580C"/>
            </a:solidFill>
          </a:ln>
        </p:spPr>
        <p:txBody>
          <a:bodyPr wrap="square" lIns="0" tIns="0" rIns="0" bIns="0" rtlCol="0" anchor="ctr"/>
          <a:lstStyle/>
          <a:p>
            <a:pPr algn="ctr" indent="0" marL="0">
              <a:buNone/>
            </a:pPr>
            <a:r>
              <a:rPr lang="en-US" sz="1300" b="1" dirty="0">
                <a:solidFill>
                  <a:srgbClr val="FFFFFF"/>
                </a:solidFill>
              </a:rPr>
              <a:t>Pilah stok DC</a:t>
            </a:r>
            <a:endParaRPr lang="en-US" sz="1300" dirty="0"/>
          </a:p>
        </p:txBody>
      </p:sp>
      <p:sp>
        <p:nvSpPr>
          <p:cNvPr id="6" name="Tahap 4 PUR"/>
          <p:cNvSpPr txBox="1"/>
          <p:nvPr/>
        </p:nvSpPr>
        <p:spPr>
          <a:xfrm>
            <a:off x="4677842"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PUR</a:t>
            </a:r>
            <a:endParaRPr lang="en-US" sz="1050" dirty="0"/>
          </a:p>
        </p:txBody>
      </p:sp>
      <p:sp>
        <p:nvSpPr>
          <p:cNvPr id="7" name="Tahap 5 PO"/>
          <p:cNvSpPr txBox="1"/>
          <p:nvPr/>
        </p:nvSpPr>
        <p:spPr>
          <a:xfrm>
            <a:off x="5864619"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PO</a:t>
            </a:r>
            <a:endParaRPr lang="en-US" sz="1050" dirty="0"/>
          </a:p>
        </p:txBody>
      </p:sp>
      <p:sp>
        <p:nvSpPr>
          <p:cNvPr id="8" name="Tahap 6 GRPO"/>
          <p:cNvSpPr txBox="1"/>
          <p:nvPr/>
        </p:nvSpPr>
        <p:spPr>
          <a:xfrm>
            <a:off x="7051396"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GRPO</a:t>
            </a:r>
            <a:endParaRPr lang="en-US" sz="1050" dirty="0"/>
          </a:p>
        </p:txBody>
      </p:sp>
      <p:sp>
        <p:nvSpPr>
          <p:cNvPr id="9" name="Tahap 7 Transfer ke dek"/>
          <p:cNvSpPr txBox="1"/>
          <p:nvPr/>
        </p:nvSpPr>
        <p:spPr>
          <a:xfrm>
            <a:off x="8238173"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Transfer ke dek</a:t>
            </a:r>
            <a:endParaRPr lang="en-US" sz="1050" dirty="0"/>
          </a:p>
        </p:txBody>
      </p:sp>
      <p:sp>
        <p:nvSpPr>
          <p:cNvPr id="10" name="Tahap 8 Terima di dek"/>
          <p:cNvSpPr txBox="1"/>
          <p:nvPr/>
        </p:nvSpPr>
        <p:spPr>
          <a:xfrm>
            <a:off x="9424949"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Terima di dek</a:t>
            </a:r>
            <a:endParaRPr lang="en-US" sz="1050" dirty="0"/>
          </a:p>
        </p:txBody>
      </p:sp>
      <p:sp>
        <p:nvSpPr>
          <p:cNvPr id="11" name="Tahap 9 Jual &amp;amp; DO"/>
          <p:cNvSpPr txBox="1"/>
          <p:nvPr/>
        </p:nvSpPr>
        <p:spPr>
          <a:xfrm>
            <a:off x="10611726"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Jual &amp; DO</a:t>
            </a:r>
            <a:endParaRPr lang="en-US" sz="1050" dirty="0"/>
          </a:p>
        </p:txBody>
      </p:sp>
      <p:sp>
        <p:nvSpPr>
          <p:cNvPr id="12" name="Layar Admin DC memilah stok bingkai"/>
          <p:cNvSpPr/>
          <p:nvPr/>
        </p:nvSpPr>
        <p:spPr>
          <a:xfrm>
            <a:off x="1743772" y="1700784"/>
            <a:ext cx="4120265" cy="4544568"/>
          </a:xfrm>
          <a:prstGeom prst="roundRect">
            <a:avLst>
              <a:gd name="adj" fmla="val 1775"/>
            </a:avLst>
          </a:prstGeom>
          <a:solidFill>
            <a:schemeClr val="bg1"/>
          </a:solidFill>
          <a:ln w="12700">
            <a:solidFill>
              <a:srgbClr val="D5DEEC"/>
            </a:solidFill>
            <a:prstDash val="solid"/>
          </a:ln>
          <a:effectLst>
            <a:outerShdw sx="100000" sy="100000" kx="0" ky="0" algn="bl" rotWithShape="0" blurRad="101600" dist="38100" dir="5400000">
              <a:srgbClr val="1F3B7A">
                <a:alpha val="18000"/>
              </a:srgbClr>
            </a:outerShdw>
          </a:effectLst>
        </p:spPr>
      </p:sp>
      <p:pic>
        <p:nvPicPr>
          <p:cNvPr id="13" name="Layar Admin DC memilah stok" descr="Gambar layar PID POS (Layar Admin DC memilah stok)">    </p:cNvPr>
          <p:cNvPicPr>
            <a:picLocks noChangeAspect="1"/>
          </p:cNvPicPr>
          <p:nvPr/>
        </p:nvPicPr>
        <p:blipFill>
          <a:blip r:embed="rId1"/>
          <a:stretch>
            <a:fillRect/>
          </a:stretch>
        </p:blipFill>
        <p:spPr>
          <a:xfrm>
            <a:off x="1798636" y="1755648"/>
            <a:ext cx="4010537" cy="4434840"/>
          </a:xfrm>
          <a:prstGeom prst="rect">
            <a:avLst/>
          </a:prstGeom>
        </p:spPr>
      </p:pic>
      <p:sp>
        <p:nvSpPr>
          <p:cNvPr id="14" name="Ikon Admin DC"/>
          <p:cNvSpPr/>
          <p:nvPr/>
        </p:nvSpPr>
        <p:spPr>
          <a:xfrm>
            <a:off x="7498080" y="1783080"/>
            <a:ext cx="457200" cy="457200"/>
          </a:xfrm>
          <a:prstGeom prst="ellipse">
            <a:avLst/>
          </a:prstGeom>
          <a:solidFill>
            <a:srgbClr val="EA580C"/>
          </a:solidFill>
          <a:ln w="12700">
            <a:solidFill>
              <a:srgbClr val="EA580C"/>
            </a:solidFill>
            <a:prstDash val="solid"/>
          </a:ln>
        </p:spPr>
      </p:sp>
      <p:sp>
        <p:nvSpPr>
          <p:cNvPr id="15" name="Text 12"/>
          <p:cNvSpPr txBox="1"/>
          <p:nvPr/>
        </p:nvSpPr>
        <p:spPr>
          <a:xfrm>
            <a:off x="7498080" y="17830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DC</a:t>
            </a:r>
            <a:endParaRPr lang="en-US" sz="1200" dirty="0"/>
          </a:p>
        </p:txBody>
      </p:sp>
      <p:sp>
        <p:nvSpPr>
          <p:cNvPr id="16" name="Peran Admin DC"/>
          <p:cNvSpPr txBox="1"/>
          <p:nvPr/>
        </p:nvSpPr>
        <p:spPr>
          <a:xfrm>
            <a:off x="8065008" y="1737360"/>
            <a:ext cx="3639312" cy="548640"/>
          </a:xfrm>
          <a:prstGeom prst="rect">
            <a:avLst/>
          </a:prstGeom>
          <a:noFill/>
          <a:ln/>
        </p:spPr>
        <p:txBody>
          <a:bodyPr wrap="square" lIns="0" tIns="0" rIns="0" bIns="0" rtlCol="0" anchor="ctr"/>
          <a:lstStyle/>
          <a:p>
            <a:pPr indent="0" marL="0">
              <a:buNone/>
            </a:pPr>
            <a:r>
              <a:rPr lang="en-US" sz="1600" b="1" dirty="0">
                <a:solidFill>
                  <a:srgbClr val="EA580C"/>
                </a:solidFill>
              </a:rPr>
              <a:t>Admin DC</a:t>
            </a:r>
            <a:endParaRPr lang="en-US" sz="1600" dirty="0"/>
          </a:p>
          <a:p>
            <a:pPr indent="0" marL="0">
              <a:buNone/>
            </a:pPr>
            <a:r>
              <a:rPr lang="en-US" sz="1200" dirty="0">
                <a:solidFill>
                  <a:srgbClr val="5B6B86"/>
                </a:solidFill>
              </a:rPr>
              <a:t>admin.dc.jkt</a:t>
            </a:r>
            <a:endParaRPr lang="en-US" sz="1600" dirty="0"/>
          </a:p>
        </p:txBody>
      </p:sp>
      <p:sp>
        <p:nvSpPr>
          <p:cNvPr id="17" name="Langkah"/>
          <p:cNvSpPr txBox="1"/>
          <p:nvPr/>
        </p:nvSpPr>
        <p:spPr>
          <a:xfrm>
            <a:off x="7498080" y="2478024"/>
            <a:ext cx="4233672" cy="3255264"/>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rgbClr val="1B2437"/>
                </a:solidFill>
              </a:rPr>
              <a:t>Giliran saya → permintaan berlabel Pilah stok DC</a:t>
            </a:r>
            <a:endParaRPr lang="en-US" sz="1500" dirty="0"/>
          </a:p>
          <a:p>
            <a:pPr marL="342900" indent="-342900">
              <a:spcAft>
                <a:spcPts val="600"/>
              </a:spcAft>
              <a:buSzPct val="100000"/>
              <a:buFont typeface="+mj-lt"/>
              <a:buAutoNum type="arabicPeriod" startAt="1"/>
            </a:pPr>
            <a:r>
              <a:rPr lang="en-US" sz="1500" dirty="0">
                <a:solidFill>
                  <a:srgbClr val="1B2437"/>
                </a:solidFill>
              </a:rPr>
              <a:t>Isi Transfer DC: AQUA 6 dari stok gudang</a:t>
            </a:r>
            <a:endParaRPr lang="en-US" sz="1500" dirty="0"/>
          </a:p>
          <a:p>
            <a:pPr marL="342900" indent="-342900">
              <a:spcAft>
                <a:spcPts val="600"/>
              </a:spcAft>
              <a:buSzPct val="100000"/>
              <a:buFont typeface="+mj-lt"/>
              <a:buAutoNum type="arabicPeriod" startAt="1"/>
            </a:pPr>
            <a:r>
              <a:rPr lang="en-US" sz="1500" dirty="0">
                <a:solidFill>
                  <a:srgbClr val="1B2437"/>
                </a:solidFill>
              </a:rPr>
              <a:t>Teh Pucuk 0 → otomatis Qty PUR 24</a:t>
            </a:r>
            <a:endParaRPr lang="en-US" sz="1500" dirty="0"/>
          </a:p>
          <a:p>
            <a:pPr marL="342900" indent="-342900">
              <a:spcAft>
                <a:spcPts val="600"/>
              </a:spcAft>
              <a:buSzPct val="100000"/>
              <a:buFont typeface="+mj-lt"/>
              <a:buAutoNum type="arabicPeriod" startAt="1"/>
            </a:pPr>
            <a:r>
              <a:rPr lang="en-US" sz="1500" dirty="0">
                <a:solidFill>
                  <a:srgbClr val="1B2437"/>
                </a:solidFill>
              </a:rPr>
              <a:t>Klik Setujui PUR tahap 1</a:t>
            </a:r>
            <a:endParaRPr lang="en-US" sz="1500" dirty="0"/>
          </a:p>
        </p:txBody>
      </p:sp>
      <p:sp>
        <p:nvSpPr>
          <p:cNvPr id="18" name="Dokumen SAP"/>
          <p:cNvSpPr/>
          <p:nvPr/>
        </p:nvSpPr>
        <p:spPr>
          <a:xfrm>
            <a:off x="7498080" y="5861304"/>
            <a:ext cx="4233672" cy="329184"/>
          </a:xfrm>
          <a:prstGeom prst="roundRect">
            <a:avLst>
              <a:gd name="adj" fmla="val 22222"/>
            </a:avLst>
          </a:prstGeom>
          <a:solidFill>
            <a:srgbClr val="E5F4E4"/>
          </a:solidFill>
          <a:ln w="12700">
            <a:solidFill>
              <a:srgbClr val="E5F4E4"/>
            </a:solidFill>
            <a:prstDash val="solid"/>
          </a:ln>
        </p:spPr>
      </p:sp>
      <p:sp>
        <p:nvSpPr>
          <p:cNvPr id="19" name="Text 16"/>
          <p:cNvSpPr txBox="1"/>
          <p:nvPr/>
        </p:nvSpPr>
        <p:spPr>
          <a:xfrm>
            <a:off x="7662672" y="5861304"/>
            <a:ext cx="3904488" cy="329184"/>
          </a:xfrm>
          <a:prstGeom prst="rect">
            <a:avLst/>
          </a:prstGeom>
          <a:noFill/>
          <a:ln/>
        </p:spPr>
        <p:txBody>
          <a:bodyPr wrap="square" lIns="0" tIns="0" rIns="0" bIns="0" rtlCol="0" anchor="ctr"/>
          <a:lstStyle/>
          <a:p>
            <a:pPr indent="0" marL="0">
              <a:spcAft>
                <a:spcPts val="200"/>
              </a:spcAft>
              <a:buNone/>
            </a:pPr>
            <a:r>
              <a:rPr lang="en-US" sz="1200" b="1" dirty="0">
                <a:solidFill>
                  <a:srgbClr val="3A7D3A"/>
                </a:solidFill>
              </a:rPr>
              <a:t>Belum ada dokumen SAP</a:t>
            </a:r>
            <a:endParaRPr lang="en-US" sz="12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40080"/>
          </a:xfrm>
          <a:prstGeom prst="rect">
            <a:avLst/>
          </a:prstGeom>
          <a:noFill/>
          <a:ln/>
        </p:spPr>
        <p:txBody>
          <a:bodyPr wrap="square" lIns="0" tIns="0" rIns="0" bIns="0" rtlCol="0" anchor="ctr"/>
          <a:lstStyle/>
          <a:p>
            <a:pPr algn="l" indent="0" marL="0">
              <a:buNone/>
            </a:pPr>
            <a:r>
              <a:rPr lang="en-US" sz="3400" b="1" dirty="0">
                <a:solidFill>
                  <a:schemeClr val="tx2"/>
                </a:solidFill>
              </a:rPr>
              <a:t>Tahap 4 · Approve PUR menyetujui PUR</a:t>
            </a:r>
            <a:endParaRPr lang="en-US" sz="3400" dirty="0"/>
          </a:p>
        </p:txBody>
      </p:sp>
      <p:sp>
        <p:nvSpPr>
          <p:cNvPr id="3" name="Tahap 1 Pesan barang"/>
          <p:cNvSpPr txBox="1"/>
          <p:nvPr/>
        </p:nvSpPr>
        <p:spPr>
          <a:xfrm>
            <a:off x="457200"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Pesan barang</a:t>
            </a:r>
            <a:endParaRPr lang="en-US" sz="1050" dirty="0"/>
          </a:p>
        </p:txBody>
      </p:sp>
      <p:sp>
        <p:nvSpPr>
          <p:cNvPr id="4" name="Tahap 2 Approval SO"/>
          <p:cNvSpPr txBox="1"/>
          <p:nvPr/>
        </p:nvSpPr>
        <p:spPr>
          <a:xfrm>
            <a:off x="1643977"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Approval SO</a:t>
            </a:r>
            <a:endParaRPr lang="en-US" sz="1050" dirty="0"/>
          </a:p>
        </p:txBody>
      </p:sp>
      <p:sp>
        <p:nvSpPr>
          <p:cNvPr id="5" name="Tahap 3 Pilah stok DC"/>
          <p:cNvSpPr txBox="1"/>
          <p:nvPr/>
        </p:nvSpPr>
        <p:spPr>
          <a:xfrm>
            <a:off x="2830754"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Pilah stok DC</a:t>
            </a:r>
            <a:endParaRPr lang="en-US" sz="1050" dirty="0"/>
          </a:p>
        </p:txBody>
      </p:sp>
      <p:sp>
        <p:nvSpPr>
          <p:cNvPr id="6" name="Tahap 4 PUR"/>
          <p:cNvSpPr txBox="1"/>
          <p:nvPr/>
        </p:nvSpPr>
        <p:spPr>
          <a:xfrm>
            <a:off x="4017531" y="1078992"/>
            <a:ext cx="1783080" cy="384048"/>
          </a:xfrm>
          <a:prstGeom prst="roundRect">
            <a:avLst>
              <a:gd name="adj" fmla="val 19048"/>
            </a:avLst>
          </a:prstGeom>
          <a:solidFill>
            <a:srgbClr val="BE185D"/>
          </a:solidFill>
          <a:ln w="12700">
            <a:solidFill>
              <a:srgbClr val="BE185D"/>
            </a:solidFill>
          </a:ln>
        </p:spPr>
        <p:txBody>
          <a:bodyPr wrap="square" lIns="0" tIns="0" rIns="0" bIns="0" rtlCol="0" anchor="ctr"/>
          <a:lstStyle/>
          <a:p>
            <a:pPr algn="ctr" indent="0" marL="0">
              <a:buNone/>
            </a:pPr>
            <a:r>
              <a:rPr lang="en-US" sz="1300" b="1" dirty="0">
                <a:solidFill>
                  <a:srgbClr val="FFFFFF"/>
                </a:solidFill>
              </a:rPr>
              <a:t>PUR</a:t>
            </a:r>
            <a:endParaRPr lang="en-US" sz="1300" dirty="0"/>
          </a:p>
        </p:txBody>
      </p:sp>
      <p:sp>
        <p:nvSpPr>
          <p:cNvPr id="7" name="Tahap 5 PO"/>
          <p:cNvSpPr txBox="1"/>
          <p:nvPr/>
        </p:nvSpPr>
        <p:spPr>
          <a:xfrm>
            <a:off x="5864619"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PO</a:t>
            </a:r>
            <a:endParaRPr lang="en-US" sz="1050" dirty="0"/>
          </a:p>
        </p:txBody>
      </p:sp>
      <p:sp>
        <p:nvSpPr>
          <p:cNvPr id="8" name="Tahap 6 GRPO"/>
          <p:cNvSpPr txBox="1"/>
          <p:nvPr/>
        </p:nvSpPr>
        <p:spPr>
          <a:xfrm>
            <a:off x="7051396"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GRPO</a:t>
            </a:r>
            <a:endParaRPr lang="en-US" sz="1050" dirty="0"/>
          </a:p>
        </p:txBody>
      </p:sp>
      <p:sp>
        <p:nvSpPr>
          <p:cNvPr id="9" name="Tahap 7 Transfer ke dek"/>
          <p:cNvSpPr txBox="1"/>
          <p:nvPr/>
        </p:nvSpPr>
        <p:spPr>
          <a:xfrm>
            <a:off x="8238173"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Transfer ke dek</a:t>
            </a:r>
            <a:endParaRPr lang="en-US" sz="1050" dirty="0"/>
          </a:p>
        </p:txBody>
      </p:sp>
      <p:sp>
        <p:nvSpPr>
          <p:cNvPr id="10" name="Tahap 8 Terima di dek"/>
          <p:cNvSpPr txBox="1"/>
          <p:nvPr/>
        </p:nvSpPr>
        <p:spPr>
          <a:xfrm>
            <a:off x="9424949"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Terima di dek</a:t>
            </a:r>
            <a:endParaRPr lang="en-US" sz="1050" dirty="0"/>
          </a:p>
        </p:txBody>
      </p:sp>
      <p:sp>
        <p:nvSpPr>
          <p:cNvPr id="11" name="Tahap 9 Jual &amp;amp; DO"/>
          <p:cNvSpPr txBox="1"/>
          <p:nvPr/>
        </p:nvSpPr>
        <p:spPr>
          <a:xfrm>
            <a:off x="10611726"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Jual &amp; DO</a:t>
            </a:r>
            <a:endParaRPr lang="en-US" sz="1050" dirty="0"/>
          </a:p>
        </p:txBody>
      </p:sp>
      <p:sp>
        <p:nvSpPr>
          <p:cNvPr id="12" name="Layar Approve PUR menyetujui PUR bingkai"/>
          <p:cNvSpPr/>
          <p:nvPr/>
        </p:nvSpPr>
        <p:spPr>
          <a:xfrm>
            <a:off x="1738501" y="1700784"/>
            <a:ext cx="4130805" cy="4544568"/>
          </a:xfrm>
          <a:prstGeom prst="roundRect">
            <a:avLst>
              <a:gd name="adj" fmla="val 1771"/>
            </a:avLst>
          </a:prstGeom>
          <a:solidFill>
            <a:schemeClr val="bg1"/>
          </a:solidFill>
          <a:ln w="12700">
            <a:solidFill>
              <a:srgbClr val="D5DEEC"/>
            </a:solidFill>
            <a:prstDash val="solid"/>
          </a:ln>
          <a:effectLst>
            <a:outerShdw sx="100000" sy="100000" kx="0" ky="0" algn="bl" rotWithShape="0" blurRad="101600" dist="38100" dir="5400000">
              <a:srgbClr val="1F3B7A">
                <a:alpha val="18000"/>
              </a:srgbClr>
            </a:outerShdw>
          </a:effectLst>
        </p:spPr>
      </p:sp>
      <p:pic>
        <p:nvPicPr>
          <p:cNvPr id="13" name="Layar Approve PUR menyetujui PUR" descr="Gambar layar PID POS (Layar Approve PUR menyetujui PUR)">    </p:cNvPr>
          <p:cNvPicPr>
            <a:picLocks noChangeAspect="1"/>
          </p:cNvPicPr>
          <p:nvPr/>
        </p:nvPicPr>
        <p:blipFill>
          <a:blip r:embed="rId1"/>
          <a:stretch>
            <a:fillRect/>
          </a:stretch>
        </p:blipFill>
        <p:spPr>
          <a:xfrm>
            <a:off x="1793365" y="1755648"/>
            <a:ext cx="4021077" cy="4434840"/>
          </a:xfrm>
          <a:prstGeom prst="rect">
            <a:avLst/>
          </a:prstGeom>
        </p:spPr>
      </p:pic>
      <p:sp>
        <p:nvSpPr>
          <p:cNvPr id="14" name="Ikon Approve PUR"/>
          <p:cNvSpPr/>
          <p:nvPr/>
        </p:nvSpPr>
        <p:spPr>
          <a:xfrm>
            <a:off x="7498080" y="1783080"/>
            <a:ext cx="457200" cy="457200"/>
          </a:xfrm>
          <a:prstGeom prst="ellipse">
            <a:avLst/>
          </a:prstGeom>
          <a:solidFill>
            <a:srgbClr val="BE185D"/>
          </a:solidFill>
          <a:ln w="12700">
            <a:solidFill>
              <a:srgbClr val="BE185D"/>
            </a:solidFill>
            <a:prstDash val="solid"/>
          </a:ln>
        </p:spPr>
      </p:sp>
      <p:sp>
        <p:nvSpPr>
          <p:cNvPr id="15" name="Text 12"/>
          <p:cNvSpPr txBox="1"/>
          <p:nvPr/>
        </p:nvSpPr>
        <p:spPr>
          <a:xfrm>
            <a:off x="7498080" y="17830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PR</a:t>
            </a:r>
            <a:endParaRPr lang="en-US" sz="1200" dirty="0"/>
          </a:p>
        </p:txBody>
      </p:sp>
      <p:sp>
        <p:nvSpPr>
          <p:cNvPr id="16" name="Peran Approve PUR"/>
          <p:cNvSpPr txBox="1"/>
          <p:nvPr/>
        </p:nvSpPr>
        <p:spPr>
          <a:xfrm>
            <a:off x="8065008" y="1737360"/>
            <a:ext cx="3639312" cy="548640"/>
          </a:xfrm>
          <a:prstGeom prst="rect">
            <a:avLst/>
          </a:prstGeom>
          <a:noFill/>
          <a:ln/>
        </p:spPr>
        <p:txBody>
          <a:bodyPr wrap="square" lIns="0" tIns="0" rIns="0" bIns="0" rtlCol="0" anchor="ctr"/>
          <a:lstStyle/>
          <a:p>
            <a:pPr indent="0" marL="0">
              <a:buNone/>
            </a:pPr>
            <a:r>
              <a:rPr lang="en-US" sz="1600" b="1" dirty="0">
                <a:solidFill>
                  <a:srgbClr val="BE185D"/>
                </a:solidFill>
              </a:rPr>
              <a:t>Approve PUR</a:t>
            </a:r>
            <a:endParaRPr lang="en-US" sz="1600" dirty="0"/>
          </a:p>
          <a:p>
            <a:pPr indent="0" marL="0">
              <a:buNone/>
            </a:pPr>
            <a:r>
              <a:rPr lang="en-US" sz="1200" dirty="0">
                <a:solidFill>
                  <a:srgbClr val="5B6B86"/>
                </a:solidFill>
              </a:rPr>
              <a:t>approve.pur</a:t>
            </a:r>
            <a:endParaRPr lang="en-US" sz="1600" dirty="0"/>
          </a:p>
        </p:txBody>
      </p:sp>
      <p:sp>
        <p:nvSpPr>
          <p:cNvPr id="17" name="Langkah"/>
          <p:cNvSpPr txBox="1"/>
          <p:nvPr/>
        </p:nvSpPr>
        <p:spPr>
          <a:xfrm>
            <a:off x="7498080" y="2478024"/>
            <a:ext cx="4233672" cy="29260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rgbClr val="1B2437"/>
                </a:solidFill>
              </a:rPr>
              <a:t>Buka tab Approval PUR</a:t>
            </a:r>
            <a:endParaRPr lang="en-US" sz="1500" dirty="0"/>
          </a:p>
          <a:p>
            <a:pPr marL="342900" indent="-342900">
              <a:spcAft>
                <a:spcPts val="600"/>
              </a:spcAft>
              <a:buSzPct val="100000"/>
              <a:buFont typeface="+mj-lt"/>
              <a:buAutoNum type="arabicPeriod" startAt="1"/>
            </a:pPr>
            <a:r>
              <a:rPr lang="en-US" sz="1500" dirty="0">
                <a:solidFill>
                  <a:srgbClr val="1B2437"/>
                </a:solidFill>
              </a:rPr>
              <a:t>Periksa Transfer DC dan Qty PUR</a:t>
            </a:r>
            <a:endParaRPr lang="en-US" sz="1500" dirty="0"/>
          </a:p>
          <a:p>
            <a:pPr marL="342900" indent="-342900">
              <a:spcAft>
                <a:spcPts val="600"/>
              </a:spcAft>
              <a:buSzPct val="100000"/>
              <a:buFont typeface="+mj-lt"/>
              <a:buAutoNum type="arabicPeriod" startAt="1"/>
            </a:pPr>
            <a:r>
              <a:rPr lang="en-US" sz="1500" dirty="0">
                <a:solidFill>
                  <a:srgbClr val="1B2437"/>
                </a:solidFill>
              </a:rPr>
              <a:t>Ubah Qty PUR bila perlu, lalu Simpan</a:t>
            </a:r>
            <a:endParaRPr lang="en-US" sz="1500" dirty="0"/>
          </a:p>
          <a:p>
            <a:pPr marL="342900" indent="-342900">
              <a:spcAft>
                <a:spcPts val="600"/>
              </a:spcAft>
              <a:buSzPct val="100000"/>
              <a:buFont typeface="+mj-lt"/>
              <a:buAutoNum type="arabicPeriod" startAt="1"/>
            </a:pPr>
            <a:r>
              <a:rPr lang="en-US" sz="1500" dirty="0">
                <a:solidFill>
                  <a:srgbClr val="1B2437"/>
                </a:solidFill>
              </a:rPr>
              <a:t>Klik Setujui PUR level 1</a:t>
            </a:r>
            <a:endParaRPr lang="en-US" sz="1500" dirty="0"/>
          </a:p>
        </p:txBody>
      </p:sp>
      <p:sp>
        <p:nvSpPr>
          <p:cNvPr id="18" name="Dokumen SAP"/>
          <p:cNvSpPr/>
          <p:nvPr/>
        </p:nvSpPr>
        <p:spPr>
          <a:xfrm>
            <a:off x="7498080" y="5532120"/>
            <a:ext cx="4233672" cy="658368"/>
          </a:xfrm>
          <a:prstGeom prst="roundRect">
            <a:avLst>
              <a:gd name="adj" fmla="val 11111"/>
            </a:avLst>
          </a:prstGeom>
          <a:solidFill>
            <a:srgbClr val="E5F4E4"/>
          </a:solidFill>
          <a:ln w="12700">
            <a:solidFill>
              <a:srgbClr val="E5F4E4"/>
            </a:solidFill>
            <a:prstDash val="solid"/>
          </a:ln>
        </p:spPr>
      </p:sp>
      <p:sp>
        <p:nvSpPr>
          <p:cNvPr id="19" name="Text 16"/>
          <p:cNvSpPr txBox="1"/>
          <p:nvPr/>
        </p:nvSpPr>
        <p:spPr>
          <a:xfrm>
            <a:off x="7662672" y="5532120"/>
            <a:ext cx="3904488" cy="658368"/>
          </a:xfrm>
          <a:prstGeom prst="rect">
            <a:avLst/>
          </a:prstGeom>
          <a:noFill/>
          <a:ln/>
        </p:spPr>
        <p:txBody>
          <a:bodyPr wrap="square" lIns="0" tIns="0" rIns="0" bIns="0" rtlCol="0" anchor="ctr"/>
          <a:lstStyle/>
          <a:p>
            <a:pPr indent="0" marL="0">
              <a:spcAft>
                <a:spcPts val="200"/>
              </a:spcAft>
              <a:buNone/>
            </a:pPr>
            <a:r>
              <a:rPr lang="en-US" sz="1200" b="1" dirty="0">
                <a:solidFill>
                  <a:srgbClr val="3A7D3A"/>
                </a:solidFill>
              </a:rPr>
              <a:t>Dokumen SAP yang terbentuk</a:t>
            </a:r>
            <a:endParaRPr lang="en-US" sz="1200" dirty="0"/>
          </a:p>
          <a:p>
            <a:pPr indent="0" marL="0">
              <a:spcAft>
                <a:spcPts val="200"/>
              </a:spcAft>
              <a:buNone/>
            </a:pPr>
            <a:r>
              <a:rPr lang="en-US" sz="1400" dirty="0">
                <a:solidFill>
                  <a:srgbClr val="1B2437"/>
                </a:solidFill>
              </a:rPr>
              <a:t>Purchase Request Dek 7  262000460</a:t>
            </a:r>
            <a:endParaRPr lang="en-US" sz="12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40080"/>
          </a:xfrm>
          <a:prstGeom prst="rect">
            <a:avLst/>
          </a:prstGeom>
          <a:noFill/>
          <a:ln/>
        </p:spPr>
        <p:txBody>
          <a:bodyPr wrap="square" lIns="0" tIns="0" rIns="0" bIns="0" rtlCol="0" anchor="ctr"/>
          <a:lstStyle/>
          <a:p>
            <a:pPr algn="l" indent="0" marL="0">
              <a:buNone/>
            </a:pPr>
            <a:r>
              <a:rPr lang="en-US" sz="3400" b="1" dirty="0">
                <a:solidFill>
                  <a:schemeClr val="tx2"/>
                </a:solidFill>
              </a:rPr>
              <a:t>Tahap 5 · Purchase Order dibuat dan disetujui</a:t>
            </a:r>
            <a:endParaRPr lang="en-US" sz="3400" dirty="0"/>
          </a:p>
        </p:txBody>
      </p:sp>
      <p:sp>
        <p:nvSpPr>
          <p:cNvPr id="3" name="Tahap 1 Pesan barang"/>
          <p:cNvSpPr txBox="1"/>
          <p:nvPr/>
        </p:nvSpPr>
        <p:spPr>
          <a:xfrm>
            <a:off x="457200"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Pesan barang</a:t>
            </a:r>
            <a:endParaRPr lang="en-US" sz="1050" dirty="0"/>
          </a:p>
        </p:txBody>
      </p:sp>
      <p:sp>
        <p:nvSpPr>
          <p:cNvPr id="4" name="Tahap 2 Approval SO"/>
          <p:cNvSpPr txBox="1"/>
          <p:nvPr/>
        </p:nvSpPr>
        <p:spPr>
          <a:xfrm>
            <a:off x="1643977"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Approval SO</a:t>
            </a:r>
            <a:endParaRPr lang="en-US" sz="1050" dirty="0"/>
          </a:p>
        </p:txBody>
      </p:sp>
      <p:sp>
        <p:nvSpPr>
          <p:cNvPr id="5" name="Tahap 3 Pilah stok DC"/>
          <p:cNvSpPr txBox="1"/>
          <p:nvPr/>
        </p:nvSpPr>
        <p:spPr>
          <a:xfrm>
            <a:off x="2830754"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Pilah stok DC</a:t>
            </a:r>
            <a:endParaRPr lang="en-US" sz="1050" dirty="0"/>
          </a:p>
        </p:txBody>
      </p:sp>
      <p:sp>
        <p:nvSpPr>
          <p:cNvPr id="6" name="Tahap 4 PUR"/>
          <p:cNvSpPr txBox="1"/>
          <p:nvPr/>
        </p:nvSpPr>
        <p:spPr>
          <a:xfrm>
            <a:off x="4017531"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PUR</a:t>
            </a:r>
            <a:endParaRPr lang="en-US" sz="1050" dirty="0"/>
          </a:p>
        </p:txBody>
      </p:sp>
      <p:sp>
        <p:nvSpPr>
          <p:cNvPr id="7" name="Tahap 5 PO"/>
          <p:cNvSpPr txBox="1"/>
          <p:nvPr/>
        </p:nvSpPr>
        <p:spPr>
          <a:xfrm>
            <a:off x="5204308" y="1078992"/>
            <a:ext cx="1783080" cy="384048"/>
          </a:xfrm>
          <a:prstGeom prst="roundRect">
            <a:avLst>
              <a:gd name="adj" fmla="val 19048"/>
            </a:avLst>
          </a:prstGeom>
          <a:solidFill>
            <a:srgbClr val="2563EB"/>
          </a:solidFill>
          <a:ln w="12700">
            <a:solidFill>
              <a:srgbClr val="2563EB"/>
            </a:solidFill>
          </a:ln>
        </p:spPr>
        <p:txBody>
          <a:bodyPr wrap="square" lIns="0" tIns="0" rIns="0" bIns="0" rtlCol="0" anchor="ctr"/>
          <a:lstStyle/>
          <a:p>
            <a:pPr algn="ctr" indent="0" marL="0">
              <a:buNone/>
            </a:pPr>
            <a:r>
              <a:rPr lang="en-US" sz="1300" b="1" dirty="0">
                <a:solidFill>
                  <a:srgbClr val="FFFFFF"/>
                </a:solidFill>
              </a:rPr>
              <a:t>PO</a:t>
            </a:r>
            <a:endParaRPr lang="en-US" sz="1300" dirty="0"/>
          </a:p>
        </p:txBody>
      </p:sp>
      <p:sp>
        <p:nvSpPr>
          <p:cNvPr id="8" name="Tahap 6 GRPO"/>
          <p:cNvSpPr txBox="1"/>
          <p:nvPr/>
        </p:nvSpPr>
        <p:spPr>
          <a:xfrm>
            <a:off x="7051396"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GRPO</a:t>
            </a:r>
            <a:endParaRPr lang="en-US" sz="1050" dirty="0"/>
          </a:p>
        </p:txBody>
      </p:sp>
      <p:sp>
        <p:nvSpPr>
          <p:cNvPr id="9" name="Tahap 7 Transfer ke dek"/>
          <p:cNvSpPr txBox="1"/>
          <p:nvPr/>
        </p:nvSpPr>
        <p:spPr>
          <a:xfrm>
            <a:off x="8238173"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Transfer ke dek</a:t>
            </a:r>
            <a:endParaRPr lang="en-US" sz="1050" dirty="0"/>
          </a:p>
        </p:txBody>
      </p:sp>
      <p:sp>
        <p:nvSpPr>
          <p:cNvPr id="10" name="Tahap 8 Terima di dek"/>
          <p:cNvSpPr txBox="1"/>
          <p:nvPr/>
        </p:nvSpPr>
        <p:spPr>
          <a:xfrm>
            <a:off x="9424949"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Terima di dek</a:t>
            </a:r>
            <a:endParaRPr lang="en-US" sz="1050" dirty="0"/>
          </a:p>
        </p:txBody>
      </p:sp>
      <p:sp>
        <p:nvSpPr>
          <p:cNvPr id="11" name="Tahap 9 Jual &amp;amp; DO"/>
          <p:cNvSpPr txBox="1"/>
          <p:nvPr/>
        </p:nvSpPr>
        <p:spPr>
          <a:xfrm>
            <a:off x="10611726"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Jual &amp; DO</a:t>
            </a:r>
            <a:endParaRPr lang="en-US" sz="1050" dirty="0"/>
          </a:p>
        </p:txBody>
      </p:sp>
      <p:sp>
        <p:nvSpPr>
          <p:cNvPr id="12" name="Layar Purchase Order dibuat dan disetujui bingkai"/>
          <p:cNvSpPr/>
          <p:nvPr/>
        </p:nvSpPr>
        <p:spPr>
          <a:xfrm>
            <a:off x="743107" y="1700784"/>
            <a:ext cx="6121594" cy="4544568"/>
          </a:xfrm>
          <a:prstGeom prst="roundRect">
            <a:avLst>
              <a:gd name="adj" fmla="val 1610"/>
            </a:avLst>
          </a:prstGeom>
          <a:solidFill>
            <a:schemeClr val="bg1"/>
          </a:solidFill>
          <a:ln w="12700">
            <a:solidFill>
              <a:srgbClr val="D5DEEC"/>
            </a:solidFill>
            <a:prstDash val="solid"/>
          </a:ln>
          <a:effectLst>
            <a:outerShdw sx="100000" sy="100000" kx="0" ky="0" algn="bl" rotWithShape="0" blurRad="101600" dist="38100" dir="5400000">
              <a:srgbClr val="1F3B7A">
                <a:alpha val="18000"/>
              </a:srgbClr>
            </a:outerShdw>
          </a:effectLst>
        </p:spPr>
      </p:sp>
      <p:pic>
        <p:nvPicPr>
          <p:cNvPr id="13" name="Layar Purchase Order dibuat dan disetujui" descr="Gambar layar PID POS (Layar Purchase Order dibuat dan disetujui)">    </p:cNvPr>
          <p:cNvPicPr>
            <a:picLocks noChangeAspect="1"/>
          </p:cNvPicPr>
          <p:nvPr/>
        </p:nvPicPr>
        <p:blipFill>
          <a:blip r:embed="rId1"/>
          <a:stretch>
            <a:fillRect/>
          </a:stretch>
        </p:blipFill>
        <p:spPr>
          <a:xfrm>
            <a:off x="797971" y="1755648"/>
            <a:ext cx="6011866" cy="4434840"/>
          </a:xfrm>
          <a:prstGeom prst="rect">
            <a:avLst/>
          </a:prstGeom>
        </p:spPr>
      </p:pic>
      <p:sp>
        <p:nvSpPr>
          <p:cNvPr id="14" name="Ikon Admin purchase"/>
          <p:cNvSpPr/>
          <p:nvPr/>
        </p:nvSpPr>
        <p:spPr>
          <a:xfrm>
            <a:off x="7498080" y="1783080"/>
            <a:ext cx="457200" cy="457200"/>
          </a:xfrm>
          <a:prstGeom prst="ellipse">
            <a:avLst/>
          </a:prstGeom>
          <a:solidFill>
            <a:srgbClr val="2563EB"/>
          </a:solidFill>
          <a:ln w="12700">
            <a:solidFill>
              <a:srgbClr val="2563EB"/>
            </a:solidFill>
            <a:prstDash val="solid"/>
          </a:ln>
        </p:spPr>
      </p:sp>
      <p:sp>
        <p:nvSpPr>
          <p:cNvPr id="15" name="Text 12"/>
          <p:cNvSpPr txBox="1"/>
          <p:nvPr/>
        </p:nvSpPr>
        <p:spPr>
          <a:xfrm>
            <a:off x="7498080" y="17830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AP</a:t>
            </a:r>
            <a:endParaRPr lang="en-US" sz="1200" dirty="0"/>
          </a:p>
        </p:txBody>
      </p:sp>
      <p:sp>
        <p:nvSpPr>
          <p:cNvPr id="16" name="Peran Admin purchase"/>
          <p:cNvSpPr txBox="1"/>
          <p:nvPr/>
        </p:nvSpPr>
        <p:spPr>
          <a:xfrm>
            <a:off x="8065008" y="1737360"/>
            <a:ext cx="3639312" cy="548640"/>
          </a:xfrm>
          <a:prstGeom prst="rect">
            <a:avLst/>
          </a:prstGeom>
          <a:noFill/>
          <a:ln/>
        </p:spPr>
        <p:txBody>
          <a:bodyPr wrap="square" lIns="0" tIns="0" rIns="0" bIns="0" rtlCol="0" anchor="ctr"/>
          <a:lstStyle/>
          <a:p>
            <a:pPr indent="0" marL="0">
              <a:buNone/>
            </a:pPr>
            <a:r>
              <a:rPr lang="en-US" sz="1600" b="1" dirty="0">
                <a:solidFill>
                  <a:srgbClr val="2563EB"/>
                </a:solidFill>
              </a:rPr>
              <a:t>Admin purchase</a:t>
            </a:r>
            <a:endParaRPr lang="en-US" sz="1600" dirty="0"/>
          </a:p>
          <a:p>
            <a:pPr indent="0" marL="0">
              <a:buNone/>
            </a:pPr>
            <a:r>
              <a:rPr lang="en-US" sz="1200" dirty="0">
                <a:solidFill>
                  <a:srgbClr val="5B6B86"/>
                </a:solidFill>
              </a:rPr>
              <a:t>admin.purchase</a:t>
            </a:r>
            <a:endParaRPr lang="en-US" sz="1600" dirty="0"/>
          </a:p>
        </p:txBody>
      </p:sp>
      <p:sp>
        <p:nvSpPr>
          <p:cNvPr id="17" name="Ikon Approve PO"/>
          <p:cNvSpPr/>
          <p:nvPr/>
        </p:nvSpPr>
        <p:spPr>
          <a:xfrm>
            <a:off x="7498080" y="2404872"/>
            <a:ext cx="457200" cy="457200"/>
          </a:xfrm>
          <a:prstGeom prst="ellipse">
            <a:avLst/>
          </a:prstGeom>
          <a:solidFill>
            <a:srgbClr val="B7791F"/>
          </a:solidFill>
          <a:ln w="12700">
            <a:solidFill>
              <a:srgbClr val="B7791F"/>
            </a:solidFill>
            <a:prstDash val="solid"/>
          </a:ln>
        </p:spPr>
      </p:sp>
      <p:sp>
        <p:nvSpPr>
          <p:cNvPr id="18" name="Text 15"/>
          <p:cNvSpPr txBox="1"/>
          <p:nvPr/>
        </p:nvSpPr>
        <p:spPr>
          <a:xfrm>
            <a:off x="7498080" y="24048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PO</a:t>
            </a:r>
            <a:endParaRPr lang="en-US" sz="1200" dirty="0"/>
          </a:p>
        </p:txBody>
      </p:sp>
      <p:sp>
        <p:nvSpPr>
          <p:cNvPr id="19" name="Peran Approve PO"/>
          <p:cNvSpPr txBox="1"/>
          <p:nvPr/>
        </p:nvSpPr>
        <p:spPr>
          <a:xfrm>
            <a:off x="8065008" y="2359152"/>
            <a:ext cx="3639312" cy="548640"/>
          </a:xfrm>
          <a:prstGeom prst="rect">
            <a:avLst/>
          </a:prstGeom>
          <a:noFill/>
          <a:ln/>
        </p:spPr>
        <p:txBody>
          <a:bodyPr wrap="square" lIns="0" tIns="0" rIns="0" bIns="0" rtlCol="0" anchor="ctr"/>
          <a:lstStyle/>
          <a:p>
            <a:pPr indent="0" marL="0">
              <a:buNone/>
            </a:pPr>
            <a:r>
              <a:rPr lang="en-US" sz="1600" b="1" dirty="0">
                <a:solidFill>
                  <a:srgbClr val="B7791F"/>
                </a:solidFill>
              </a:rPr>
              <a:t>Approve PO</a:t>
            </a:r>
            <a:endParaRPr lang="en-US" sz="1600" dirty="0"/>
          </a:p>
          <a:p>
            <a:pPr indent="0" marL="0">
              <a:buNone/>
            </a:pPr>
            <a:r>
              <a:rPr lang="en-US" sz="1200" dirty="0">
                <a:solidFill>
                  <a:srgbClr val="5B6B86"/>
                </a:solidFill>
              </a:rPr>
              <a:t>approve.po</a:t>
            </a:r>
            <a:endParaRPr lang="en-US" sz="1600" dirty="0"/>
          </a:p>
        </p:txBody>
      </p:sp>
      <p:sp>
        <p:nvSpPr>
          <p:cNvPr id="20" name="Langkah"/>
          <p:cNvSpPr txBox="1"/>
          <p:nvPr/>
        </p:nvSpPr>
        <p:spPr>
          <a:xfrm>
            <a:off x="7498080" y="3099816"/>
            <a:ext cx="4233672" cy="2304288"/>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rgbClr val="1B2437"/>
                </a:solidFill>
              </a:rPr>
              <a:t>Admin purchase memilih vendor: BERKAH COD</a:t>
            </a:r>
            <a:endParaRPr lang="en-US" sz="1500" dirty="0"/>
          </a:p>
          <a:p>
            <a:pPr marL="342900" indent="-342900">
              <a:spcAft>
                <a:spcPts val="600"/>
              </a:spcAft>
              <a:buSzPct val="100000"/>
              <a:buFont typeface="+mj-lt"/>
              <a:buAutoNum type="arabicPeriod" startAt="1"/>
            </a:pPr>
            <a:r>
              <a:rPr lang="en-US" sz="1500" dirty="0">
                <a:solidFill>
                  <a:srgbClr val="1B2437"/>
                </a:solidFill>
              </a:rPr>
              <a:t>Isi Qty PO dan harga beli: 24 × Rp 8.000</a:t>
            </a:r>
            <a:endParaRPr lang="en-US" sz="1500" dirty="0"/>
          </a:p>
          <a:p>
            <a:pPr marL="342900" indent="-342900">
              <a:spcAft>
                <a:spcPts val="600"/>
              </a:spcAft>
              <a:buSzPct val="100000"/>
              <a:buFont typeface="+mj-lt"/>
              <a:buAutoNum type="arabicPeriod" startAt="1"/>
            </a:pPr>
            <a:r>
              <a:rPr lang="en-US" sz="1500" dirty="0">
                <a:solidFill>
                  <a:srgbClr val="1B2437"/>
                </a:solidFill>
              </a:rPr>
              <a:t>Klik Ajukan Purchase Order</a:t>
            </a:r>
            <a:endParaRPr lang="en-US" sz="1500" dirty="0"/>
          </a:p>
          <a:p>
            <a:pPr marL="342900" indent="-342900">
              <a:spcAft>
                <a:spcPts val="600"/>
              </a:spcAft>
              <a:buSzPct val="100000"/>
              <a:buFont typeface="+mj-lt"/>
              <a:buAutoNum type="arabicPeriod" startAt="1"/>
            </a:pPr>
            <a:r>
              <a:rPr lang="en-US" sz="1500" dirty="0">
                <a:solidFill>
                  <a:srgbClr val="1B2437"/>
                </a:solidFill>
              </a:rPr>
              <a:t>Approve PO memeriksa lalu Setujui (bisa bertingkat)</a:t>
            </a:r>
            <a:endParaRPr lang="en-US" sz="1500" dirty="0"/>
          </a:p>
        </p:txBody>
      </p:sp>
      <p:sp>
        <p:nvSpPr>
          <p:cNvPr id="21" name="Dokumen SAP"/>
          <p:cNvSpPr/>
          <p:nvPr/>
        </p:nvSpPr>
        <p:spPr>
          <a:xfrm>
            <a:off x="7498080" y="5532120"/>
            <a:ext cx="4233672" cy="658368"/>
          </a:xfrm>
          <a:prstGeom prst="roundRect">
            <a:avLst>
              <a:gd name="adj" fmla="val 11111"/>
            </a:avLst>
          </a:prstGeom>
          <a:solidFill>
            <a:srgbClr val="E5F4E4"/>
          </a:solidFill>
          <a:ln w="12700">
            <a:solidFill>
              <a:srgbClr val="E5F4E4"/>
            </a:solidFill>
            <a:prstDash val="solid"/>
          </a:ln>
        </p:spPr>
      </p:sp>
      <p:sp>
        <p:nvSpPr>
          <p:cNvPr id="22" name="Text 19"/>
          <p:cNvSpPr txBox="1"/>
          <p:nvPr/>
        </p:nvSpPr>
        <p:spPr>
          <a:xfrm>
            <a:off x="7662672" y="5532120"/>
            <a:ext cx="3904488" cy="658368"/>
          </a:xfrm>
          <a:prstGeom prst="rect">
            <a:avLst/>
          </a:prstGeom>
          <a:noFill/>
          <a:ln/>
        </p:spPr>
        <p:txBody>
          <a:bodyPr wrap="square" lIns="0" tIns="0" rIns="0" bIns="0" rtlCol="0" anchor="ctr"/>
          <a:lstStyle/>
          <a:p>
            <a:pPr indent="0" marL="0">
              <a:spcAft>
                <a:spcPts val="200"/>
              </a:spcAft>
              <a:buNone/>
            </a:pPr>
            <a:r>
              <a:rPr lang="en-US" sz="1200" b="1" dirty="0">
                <a:solidFill>
                  <a:srgbClr val="3A7D3A"/>
                </a:solidFill>
              </a:rPr>
              <a:t>Dokumen SAP yang terbentuk</a:t>
            </a:r>
            <a:endParaRPr lang="en-US" sz="1200" dirty="0"/>
          </a:p>
          <a:p>
            <a:pPr indent="0" marL="0">
              <a:spcAft>
                <a:spcPts val="200"/>
              </a:spcAft>
              <a:buNone/>
            </a:pPr>
            <a:r>
              <a:rPr lang="en-US" sz="1400" dirty="0">
                <a:solidFill>
                  <a:srgbClr val="1B2437"/>
                </a:solidFill>
              </a:rPr>
              <a:t>Purchase Order  262002060</a:t>
            </a:r>
            <a:endParaRPr lang="en-US" sz="12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40080"/>
          </a:xfrm>
          <a:prstGeom prst="rect">
            <a:avLst/>
          </a:prstGeom>
          <a:noFill/>
          <a:ln/>
        </p:spPr>
        <p:txBody>
          <a:bodyPr wrap="square" lIns="0" tIns="0" rIns="0" bIns="0" rtlCol="0" anchor="ctr"/>
          <a:lstStyle/>
          <a:p>
            <a:pPr algn="l" indent="0" marL="0">
              <a:buNone/>
            </a:pPr>
            <a:r>
              <a:rPr lang="en-US" sz="3400" b="1" dirty="0">
                <a:solidFill>
                  <a:schemeClr val="tx2"/>
                </a:solidFill>
              </a:rPr>
              <a:t>Tahap 6 · Barang vendor diterima di DC (GRPO)</a:t>
            </a:r>
            <a:endParaRPr lang="en-US" sz="3400" dirty="0"/>
          </a:p>
        </p:txBody>
      </p:sp>
      <p:sp>
        <p:nvSpPr>
          <p:cNvPr id="3" name="Tahap 1 Pesan barang"/>
          <p:cNvSpPr txBox="1"/>
          <p:nvPr/>
        </p:nvSpPr>
        <p:spPr>
          <a:xfrm>
            <a:off x="457200"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Pesan barang</a:t>
            </a:r>
            <a:endParaRPr lang="en-US" sz="1050" dirty="0"/>
          </a:p>
        </p:txBody>
      </p:sp>
      <p:sp>
        <p:nvSpPr>
          <p:cNvPr id="4" name="Tahap 2 Approval SO"/>
          <p:cNvSpPr txBox="1"/>
          <p:nvPr/>
        </p:nvSpPr>
        <p:spPr>
          <a:xfrm>
            <a:off x="1643977"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Approval SO</a:t>
            </a:r>
            <a:endParaRPr lang="en-US" sz="1050" dirty="0"/>
          </a:p>
        </p:txBody>
      </p:sp>
      <p:sp>
        <p:nvSpPr>
          <p:cNvPr id="5" name="Tahap 3 Pilah stok DC"/>
          <p:cNvSpPr txBox="1"/>
          <p:nvPr/>
        </p:nvSpPr>
        <p:spPr>
          <a:xfrm>
            <a:off x="2830754"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Pilah stok DC</a:t>
            </a:r>
            <a:endParaRPr lang="en-US" sz="1050" dirty="0"/>
          </a:p>
        </p:txBody>
      </p:sp>
      <p:sp>
        <p:nvSpPr>
          <p:cNvPr id="6" name="Tahap 4 PUR"/>
          <p:cNvSpPr txBox="1"/>
          <p:nvPr/>
        </p:nvSpPr>
        <p:spPr>
          <a:xfrm>
            <a:off x="4017531"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PUR</a:t>
            </a:r>
            <a:endParaRPr lang="en-US" sz="1050" dirty="0"/>
          </a:p>
        </p:txBody>
      </p:sp>
      <p:sp>
        <p:nvSpPr>
          <p:cNvPr id="7" name="Tahap 5 PO"/>
          <p:cNvSpPr txBox="1"/>
          <p:nvPr/>
        </p:nvSpPr>
        <p:spPr>
          <a:xfrm>
            <a:off x="5204308"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PO</a:t>
            </a:r>
            <a:endParaRPr lang="en-US" sz="1050" dirty="0"/>
          </a:p>
        </p:txBody>
      </p:sp>
      <p:sp>
        <p:nvSpPr>
          <p:cNvPr id="8" name="Tahap 6 GRPO"/>
          <p:cNvSpPr txBox="1"/>
          <p:nvPr/>
        </p:nvSpPr>
        <p:spPr>
          <a:xfrm>
            <a:off x="6391085" y="1078992"/>
            <a:ext cx="1783080" cy="384048"/>
          </a:xfrm>
          <a:prstGeom prst="roundRect">
            <a:avLst>
              <a:gd name="adj" fmla="val 19048"/>
            </a:avLst>
          </a:prstGeom>
          <a:solidFill>
            <a:srgbClr val="EA580C"/>
          </a:solidFill>
          <a:ln w="12700">
            <a:solidFill>
              <a:srgbClr val="EA580C"/>
            </a:solidFill>
          </a:ln>
        </p:spPr>
        <p:txBody>
          <a:bodyPr wrap="square" lIns="0" tIns="0" rIns="0" bIns="0" rtlCol="0" anchor="ctr"/>
          <a:lstStyle/>
          <a:p>
            <a:pPr algn="ctr" indent="0" marL="0">
              <a:buNone/>
            </a:pPr>
            <a:r>
              <a:rPr lang="en-US" sz="1300" b="1" dirty="0">
                <a:solidFill>
                  <a:srgbClr val="FFFFFF"/>
                </a:solidFill>
              </a:rPr>
              <a:t>GRPO</a:t>
            </a:r>
            <a:endParaRPr lang="en-US" sz="1300" dirty="0"/>
          </a:p>
        </p:txBody>
      </p:sp>
      <p:sp>
        <p:nvSpPr>
          <p:cNvPr id="9" name="Tahap 7 Transfer ke dek"/>
          <p:cNvSpPr txBox="1"/>
          <p:nvPr/>
        </p:nvSpPr>
        <p:spPr>
          <a:xfrm>
            <a:off x="8238173"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Transfer ke dek</a:t>
            </a:r>
            <a:endParaRPr lang="en-US" sz="1050" dirty="0"/>
          </a:p>
        </p:txBody>
      </p:sp>
      <p:sp>
        <p:nvSpPr>
          <p:cNvPr id="10" name="Tahap 8 Terima di dek"/>
          <p:cNvSpPr txBox="1"/>
          <p:nvPr/>
        </p:nvSpPr>
        <p:spPr>
          <a:xfrm>
            <a:off x="9424949"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Terima di dek</a:t>
            </a:r>
            <a:endParaRPr lang="en-US" sz="1050" dirty="0"/>
          </a:p>
        </p:txBody>
      </p:sp>
      <p:sp>
        <p:nvSpPr>
          <p:cNvPr id="11" name="Tahap 9 Jual &amp;amp; DO"/>
          <p:cNvSpPr txBox="1"/>
          <p:nvPr/>
        </p:nvSpPr>
        <p:spPr>
          <a:xfrm>
            <a:off x="10611726"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Jual &amp; DO</a:t>
            </a:r>
            <a:endParaRPr lang="en-US" sz="1050" dirty="0"/>
          </a:p>
        </p:txBody>
      </p:sp>
      <p:sp>
        <p:nvSpPr>
          <p:cNvPr id="12" name="Layar Barang vendor diterima di DC (GRPO) bingkai"/>
          <p:cNvSpPr/>
          <p:nvPr/>
        </p:nvSpPr>
        <p:spPr>
          <a:xfrm>
            <a:off x="521150" y="1700784"/>
            <a:ext cx="6565508" cy="4544568"/>
          </a:xfrm>
          <a:prstGeom prst="roundRect">
            <a:avLst>
              <a:gd name="adj" fmla="val 1610"/>
            </a:avLst>
          </a:prstGeom>
          <a:solidFill>
            <a:schemeClr val="bg1"/>
          </a:solidFill>
          <a:ln w="12700">
            <a:solidFill>
              <a:srgbClr val="D5DEEC"/>
            </a:solidFill>
            <a:prstDash val="solid"/>
          </a:ln>
          <a:effectLst>
            <a:outerShdw sx="100000" sy="100000" kx="0" ky="0" algn="bl" rotWithShape="0" blurRad="101600" dist="38100" dir="5400000">
              <a:srgbClr val="1F3B7A">
                <a:alpha val="18000"/>
              </a:srgbClr>
            </a:outerShdw>
          </a:effectLst>
        </p:spPr>
      </p:sp>
      <p:pic>
        <p:nvPicPr>
          <p:cNvPr id="13" name="Layar Barang vendor diterima di DC (GRPO)" descr="Gambar layar PID POS (Layar Barang vendor diterima di DC (GRPO))">    </p:cNvPr>
          <p:cNvPicPr>
            <a:picLocks noChangeAspect="1"/>
          </p:cNvPicPr>
          <p:nvPr/>
        </p:nvPicPr>
        <p:blipFill>
          <a:blip r:embed="rId1"/>
          <a:stretch>
            <a:fillRect/>
          </a:stretch>
        </p:blipFill>
        <p:spPr>
          <a:xfrm>
            <a:off x="576014" y="1755648"/>
            <a:ext cx="6455780" cy="4434840"/>
          </a:xfrm>
          <a:prstGeom prst="rect">
            <a:avLst/>
          </a:prstGeom>
        </p:spPr>
      </p:pic>
      <p:sp>
        <p:nvSpPr>
          <p:cNvPr id="14" name="Ikon Admin DC"/>
          <p:cNvSpPr/>
          <p:nvPr/>
        </p:nvSpPr>
        <p:spPr>
          <a:xfrm>
            <a:off x="7498080" y="1783080"/>
            <a:ext cx="457200" cy="457200"/>
          </a:xfrm>
          <a:prstGeom prst="ellipse">
            <a:avLst/>
          </a:prstGeom>
          <a:solidFill>
            <a:srgbClr val="EA580C"/>
          </a:solidFill>
          <a:ln w="12700">
            <a:solidFill>
              <a:srgbClr val="EA580C"/>
            </a:solidFill>
            <a:prstDash val="solid"/>
          </a:ln>
        </p:spPr>
      </p:sp>
      <p:sp>
        <p:nvSpPr>
          <p:cNvPr id="15" name="Text 12"/>
          <p:cNvSpPr txBox="1"/>
          <p:nvPr/>
        </p:nvSpPr>
        <p:spPr>
          <a:xfrm>
            <a:off x="7498080" y="17830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DC</a:t>
            </a:r>
            <a:endParaRPr lang="en-US" sz="1200" dirty="0"/>
          </a:p>
        </p:txBody>
      </p:sp>
      <p:sp>
        <p:nvSpPr>
          <p:cNvPr id="16" name="Peran Admin DC"/>
          <p:cNvSpPr txBox="1"/>
          <p:nvPr/>
        </p:nvSpPr>
        <p:spPr>
          <a:xfrm>
            <a:off x="8065008" y="1737360"/>
            <a:ext cx="3639312" cy="548640"/>
          </a:xfrm>
          <a:prstGeom prst="rect">
            <a:avLst/>
          </a:prstGeom>
          <a:noFill/>
          <a:ln/>
        </p:spPr>
        <p:txBody>
          <a:bodyPr wrap="square" lIns="0" tIns="0" rIns="0" bIns="0" rtlCol="0" anchor="ctr"/>
          <a:lstStyle/>
          <a:p>
            <a:pPr indent="0" marL="0">
              <a:buNone/>
            </a:pPr>
            <a:r>
              <a:rPr lang="en-US" sz="1600" b="1" dirty="0">
                <a:solidFill>
                  <a:srgbClr val="EA580C"/>
                </a:solidFill>
              </a:rPr>
              <a:t>Admin DC</a:t>
            </a:r>
            <a:endParaRPr lang="en-US" sz="1600" dirty="0"/>
          </a:p>
          <a:p>
            <a:pPr indent="0" marL="0">
              <a:buNone/>
            </a:pPr>
            <a:r>
              <a:rPr lang="en-US" sz="1200" dirty="0">
                <a:solidFill>
                  <a:srgbClr val="5B6B86"/>
                </a:solidFill>
              </a:rPr>
              <a:t>admin.dc.jkt</a:t>
            </a:r>
            <a:endParaRPr lang="en-US" sz="1600" dirty="0"/>
          </a:p>
        </p:txBody>
      </p:sp>
      <p:sp>
        <p:nvSpPr>
          <p:cNvPr id="17" name="Ikon Approve PUR"/>
          <p:cNvSpPr/>
          <p:nvPr/>
        </p:nvSpPr>
        <p:spPr>
          <a:xfrm>
            <a:off x="7498080" y="2404872"/>
            <a:ext cx="457200" cy="457200"/>
          </a:xfrm>
          <a:prstGeom prst="ellipse">
            <a:avLst/>
          </a:prstGeom>
          <a:solidFill>
            <a:srgbClr val="BE185D"/>
          </a:solidFill>
          <a:ln w="12700">
            <a:solidFill>
              <a:srgbClr val="BE185D"/>
            </a:solidFill>
            <a:prstDash val="solid"/>
          </a:ln>
        </p:spPr>
      </p:sp>
      <p:sp>
        <p:nvSpPr>
          <p:cNvPr id="18" name="Text 15"/>
          <p:cNvSpPr txBox="1"/>
          <p:nvPr/>
        </p:nvSpPr>
        <p:spPr>
          <a:xfrm>
            <a:off x="7498080" y="24048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PR</a:t>
            </a:r>
            <a:endParaRPr lang="en-US" sz="1200" dirty="0"/>
          </a:p>
        </p:txBody>
      </p:sp>
      <p:sp>
        <p:nvSpPr>
          <p:cNvPr id="19" name="Peran Approve PUR"/>
          <p:cNvSpPr txBox="1"/>
          <p:nvPr/>
        </p:nvSpPr>
        <p:spPr>
          <a:xfrm>
            <a:off x="8065008" y="2359152"/>
            <a:ext cx="3639312" cy="548640"/>
          </a:xfrm>
          <a:prstGeom prst="rect">
            <a:avLst/>
          </a:prstGeom>
          <a:noFill/>
          <a:ln/>
        </p:spPr>
        <p:txBody>
          <a:bodyPr wrap="square" lIns="0" tIns="0" rIns="0" bIns="0" rtlCol="0" anchor="ctr"/>
          <a:lstStyle/>
          <a:p>
            <a:pPr indent="0" marL="0">
              <a:buNone/>
            </a:pPr>
            <a:r>
              <a:rPr lang="en-US" sz="1600" b="1" dirty="0">
                <a:solidFill>
                  <a:srgbClr val="BE185D"/>
                </a:solidFill>
              </a:rPr>
              <a:t>Approve PUR</a:t>
            </a:r>
            <a:endParaRPr lang="en-US" sz="1600" dirty="0"/>
          </a:p>
          <a:p>
            <a:pPr indent="0" marL="0">
              <a:buNone/>
            </a:pPr>
            <a:r>
              <a:rPr lang="en-US" sz="1200" dirty="0">
                <a:solidFill>
                  <a:srgbClr val="5B6B86"/>
                </a:solidFill>
              </a:rPr>
              <a:t>approve.pur</a:t>
            </a:r>
            <a:endParaRPr lang="en-US" sz="1600" dirty="0"/>
          </a:p>
        </p:txBody>
      </p:sp>
      <p:sp>
        <p:nvSpPr>
          <p:cNvPr id="20" name="Langkah"/>
          <p:cNvSpPr txBox="1"/>
          <p:nvPr/>
        </p:nvSpPr>
        <p:spPr>
          <a:xfrm>
            <a:off x="7498080" y="3099816"/>
            <a:ext cx="4233672" cy="2304288"/>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rgbClr val="1B2437"/>
                </a:solidFill>
              </a:rPr>
              <a:t>Barang vendor tiba di gudang DC</a:t>
            </a:r>
            <a:endParaRPr lang="en-US" sz="1500" dirty="0"/>
          </a:p>
          <a:p>
            <a:pPr marL="342900" indent="-342900">
              <a:spcAft>
                <a:spcPts val="600"/>
              </a:spcAft>
              <a:buSzPct val="100000"/>
              <a:buFont typeface="+mj-lt"/>
              <a:buAutoNum type="arabicPeriod" startAt="1"/>
            </a:pPr>
            <a:r>
              <a:rPr lang="en-US" sz="1500" dirty="0">
                <a:solidFill>
                  <a:srgbClr val="1B2437"/>
                </a:solidFill>
              </a:rPr>
              <a:t>Admin DC mengisi Qty diterima (GRPO)</a:t>
            </a:r>
            <a:endParaRPr lang="en-US" sz="1500" dirty="0"/>
          </a:p>
          <a:p>
            <a:pPr marL="342900" indent="-342900">
              <a:spcAft>
                <a:spcPts val="600"/>
              </a:spcAft>
              <a:buSzPct val="100000"/>
              <a:buFont typeface="+mj-lt"/>
              <a:buAutoNum type="arabicPeriod" startAt="1"/>
            </a:pPr>
            <a:r>
              <a:rPr lang="en-US" sz="1500" dirty="0">
                <a:solidFill>
                  <a:srgbClr val="1B2437"/>
                </a:solidFill>
              </a:rPr>
              <a:t>Klik Ajukan GRPO</a:t>
            </a:r>
            <a:endParaRPr lang="en-US" sz="1500" dirty="0"/>
          </a:p>
          <a:p>
            <a:pPr marL="342900" indent="-342900">
              <a:spcAft>
                <a:spcPts val="600"/>
              </a:spcAft>
              <a:buSzPct val="100000"/>
              <a:buFont typeface="+mj-lt"/>
              <a:buAutoNum type="arabicPeriod" startAt="1"/>
            </a:pPr>
            <a:r>
              <a:rPr lang="en-US" sz="1500" dirty="0">
                <a:solidFill>
                  <a:srgbClr val="1B2437"/>
                </a:solidFill>
              </a:rPr>
              <a:t>Approve PUR menyetujui; stok DC bertambah</a:t>
            </a:r>
            <a:endParaRPr lang="en-US" sz="1500" dirty="0"/>
          </a:p>
        </p:txBody>
      </p:sp>
      <p:sp>
        <p:nvSpPr>
          <p:cNvPr id="21" name="Dokumen SAP"/>
          <p:cNvSpPr/>
          <p:nvPr/>
        </p:nvSpPr>
        <p:spPr>
          <a:xfrm>
            <a:off x="7498080" y="5532120"/>
            <a:ext cx="4233672" cy="658368"/>
          </a:xfrm>
          <a:prstGeom prst="roundRect">
            <a:avLst>
              <a:gd name="adj" fmla="val 11111"/>
            </a:avLst>
          </a:prstGeom>
          <a:solidFill>
            <a:srgbClr val="E5F4E4"/>
          </a:solidFill>
          <a:ln w="12700">
            <a:solidFill>
              <a:srgbClr val="E5F4E4"/>
            </a:solidFill>
            <a:prstDash val="solid"/>
          </a:ln>
        </p:spPr>
      </p:sp>
      <p:sp>
        <p:nvSpPr>
          <p:cNvPr id="22" name="Text 19"/>
          <p:cNvSpPr txBox="1"/>
          <p:nvPr/>
        </p:nvSpPr>
        <p:spPr>
          <a:xfrm>
            <a:off x="7662672" y="5532120"/>
            <a:ext cx="3904488" cy="658368"/>
          </a:xfrm>
          <a:prstGeom prst="rect">
            <a:avLst/>
          </a:prstGeom>
          <a:noFill/>
          <a:ln/>
        </p:spPr>
        <p:txBody>
          <a:bodyPr wrap="square" lIns="0" tIns="0" rIns="0" bIns="0" rtlCol="0" anchor="ctr"/>
          <a:lstStyle/>
          <a:p>
            <a:pPr indent="0" marL="0">
              <a:spcAft>
                <a:spcPts val="200"/>
              </a:spcAft>
              <a:buNone/>
            </a:pPr>
            <a:r>
              <a:rPr lang="en-US" sz="1200" b="1" dirty="0">
                <a:solidFill>
                  <a:srgbClr val="3A7D3A"/>
                </a:solidFill>
              </a:rPr>
              <a:t>Dokumen SAP yang terbentuk</a:t>
            </a:r>
            <a:endParaRPr lang="en-US" sz="1200" dirty="0"/>
          </a:p>
          <a:p>
            <a:pPr indent="0" marL="0">
              <a:spcAft>
                <a:spcPts val="200"/>
              </a:spcAft>
              <a:buNone/>
            </a:pPr>
            <a:r>
              <a:rPr lang="en-US" sz="1400" dirty="0">
                <a:solidFill>
                  <a:srgbClr val="1B2437"/>
                </a:solidFill>
              </a:rPr>
              <a:t>GRPO  262001908</a:t>
            </a:r>
            <a:endParaRPr lang="en-US" sz="12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40080"/>
          </a:xfrm>
          <a:prstGeom prst="rect">
            <a:avLst/>
          </a:prstGeom>
          <a:noFill/>
          <a:ln/>
        </p:spPr>
        <p:txBody>
          <a:bodyPr wrap="square" lIns="0" tIns="0" rIns="0" bIns="0" rtlCol="0" anchor="ctr"/>
          <a:lstStyle/>
          <a:p>
            <a:pPr algn="l" indent="0" marL="0">
              <a:buNone/>
            </a:pPr>
            <a:r>
              <a:rPr lang="en-US" sz="3400" b="1" dirty="0">
                <a:solidFill>
                  <a:schemeClr val="tx2"/>
                </a:solidFill>
              </a:rPr>
              <a:t>Tahap 7 · Inventory Transfer ke dek</a:t>
            </a:r>
            <a:endParaRPr lang="en-US" sz="3400" dirty="0"/>
          </a:p>
        </p:txBody>
      </p:sp>
      <p:sp>
        <p:nvSpPr>
          <p:cNvPr id="3" name="Tahap 1 Pesan barang"/>
          <p:cNvSpPr txBox="1"/>
          <p:nvPr/>
        </p:nvSpPr>
        <p:spPr>
          <a:xfrm>
            <a:off x="457200"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Pesan barang</a:t>
            </a:r>
            <a:endParaRPr lang="en-US" sz="1050" dirty="0"/>
          </a:p>
        </p:txBody>
      </p:sp>
      <p:sp>
        <p:nvSpPr>
          <p:cNvPr id="4" name="Tahap 2 Approval SO"/>
          <p:cNvSpPr txBox="1"/>
          <p:nvPr/>
        </p:nvSpPr>
        <p:spPr>
          <a:xfrm>
            <a:off x="1643977"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Approval SO</a:t>
            </a:r>
            <a:endParaRPr lang="en-US" sz="1050" dirty="0"/>
          </a:p>
        </p:txBody>
      </p:sp>
      <p:sp>
        <p:nvSpPr>
          <p:cNvPr id="5" name="Tahap 3 Pilah stok DC"/>
          <p:cNvSpPr txBox="1"/>
          <p:nvPr/>
        </p:nvSpPr>
        <p:spPr>
          <a:xfrm>
            <a:off x="2830754"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Pilah stok DC</a:t>
            </a:r>
            <a:endParaRPr lang="en-US" sz="1050" dirty="0"/>
          </a:p>
        </p:txBody>
      </p:sp>
      <p:sp>
        <p:nvSpPr>
          <p:cNvPr id="6" name="Tahap 4 PUR"/>
          <p:cNvSpPr txBox="1"/>
          <p:nvPr/>
        </p:nvSpPr>
        <p:spPr>
          <a:xfrm>
            <a:off x="4017531"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PUR</a:t>
            </a:r>
            <a:endParaRPr lang="en-US" sz="1050" dirty="0"/>
          </a:p>
        </p:txBody>
      </p:sp>
      <p:sp>
        <p:nvSpPr>
          <p:cNvPr id="7" name="Tahap 5 PO"/>
          <p:cNvSpPr txBox="1"/>
          <p:nvPr/>
        </p:nvSpPr>
        <p:spPr>
          <a:xfrm>
            <a:off x="5204308"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PO</a:t>
            </a:r>
            <a:endParaRPr lang="en-US" sz="1050" dirty="0"/>
          </a:p>
        </p:txBody>
      </p:sp>
      <p:sp>
        <p:nvSpPr>
          <p:cNvPr id="8" name="Tahap 6 GRPO"/>
          <p:cNvSpPr txBox="1"/>
          <p:nvPr/>
        </p:nvSpPr>
        <p:spPr>
          <a:xfrm>
            <a:off x="6391085"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GRPO</a:t>
            </a:r>
            <a:endParaRPr lang="en-US" sz="1050" dirty="0"/>
          </a:p>
        </p:txBody>
      </p:sp>
      <p:sp>
        <p:nvSpPr>
          <p:cNvPr id="9" name="Tahap 7 Transfer ke dek"/>
          <p:cNvSpPr txBox="1"/>
          <p:nvPr/>
        </p:nvSpPr>
        <p:spPr>
          <a:xfrm>
            <a:off x="7577861" y="1078992"/>
            <a:ext cx="1783080" cy="384048"/>
          </a:xfrm>
          <a:prstGeom prst="roundRect">
            <a:avLst>
              <a:gd name="adj" fmla="val 19048"/>
            </a:avLst>
          </a:prstGeom>
          <a:solidFill>
            <a:srgbClr val="EA580C"/>
          </a:solidFill>
          <a:ln w="12700">
            <a:solidFill>
              <a:srgbClr val="EA580C"/>
            </a:solidFill>
          </a:ln>
        </p:spPr>
        <p:txBody>
          <a:bodyPr wrap="square" lIns="0" tIns="0" rIns="0" bIns="0" rtlCol="0" anchor="ctr"/>
          <a:lstStyle/>
          <a:p>
            <a:pPr algn="ctr" indent="0" marL="0">
              <a:buNone/>
            </a:pPr>
            <a:r>
              <a:rPr lang="en-US" sz="1300" b="1" dirty="0">
                <a:solidFill>
                  <a:srgbClr val="FFFFFF"/>
                </a:solidFill>
              </a:rPr>
              <a:t>Transfer ke dek</a:t>
            </a:r>
            <a:endParaRPr lang="en-US" sz="1300" dirty="0"/>
          </a:p>
        </p:txBody>
      </p:sp>
      <p:sp>
        <p:nvSpPr>
          <p:cNvPr id="10" name="Tahap 8 Terima di dek"/>
          <p:cNvSpPr txBox="1"/>
          <p:nvPr/>
        </p:nvSpPr>
        <p:spPr>
          <a:xfrm>
            <a:off x="9424949"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Terima di dek</a:t>
            </a:r>
            <a:endParaRPr lang="en-US" sz="1050" dirty="0"/>
          </a:p>
        </p:txBody>
      </p:sp>
      <p:sp>
        <p:nvSpPr>
          <p:cNvPr id="11" name="Tahap 9 Jual &amp;amp; DO"/>
          <p:cNvSpPr txBox="1"/>
          <p:nvPr/>
        </p:nvSpPr>
        <p:spPr>
          <a:xfrm>
            <a:off x="10611726"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Jual &amp; DO</a:t>
            </a:r>
            <a:endParaRPr lang="en-US" sz="1050" dirty="0"/>
          </a:p>
        </p:txBody>
      </p:sp>
      <p:sp>
        <p:nvSpPr>
          <p:cNvPr id="12" name="Layar Inventory Transfer ke dek bingkai"/>
          <p:cNvSpPr/>
          <p:nvPr/>
        </p:nvSpPr>
        <p:spPr>
          <a:xfrm>
            <a:off x="1151383" y="1700784"/>
            <a:ext cx="5305041" cy="4544568"/>
          </a:xfrm>
          <a:prstGeom prst="roundRect">
            <a:avLst>
              <a:gd name="adj" fmla="val 1610"/>
            </a:avLst>
          </a:prstGeom>
          <a:solidFill>
            <a:schemeClr val="bg1"/>
          </a:solidFill>
          <a:ln w="12700">
            <a:solidFill>
              <a:srgbClr val="D5DEEC"/>
            </a:solidFill>
            <a:prstDash val="solid"/>
          </a:ln>
          <a:effectLst>
            <a:outerShdw sx="100000" sy="100000" kx="0" ky="0" algn="bl" rotWithShape="0" blurRad="101600" dist="38100" dir="5400000">
              <a:srgbClr val="1F3B7A">
                <a:alpha val="18000"/>
              </a:srgbClr>
            </a:outerShdw>
          </a:effectLst>
        </p:spPr>
      </p:sp>
      <p:pic>
        <p:nvPicPr>
          <p:cNvPr id="13" name="Layar Inventory Transfer ke dek" descr="Gambar layar PID POS (Layar Inventory Transfer ke dek)">    </p:cNvPr>
          <p:cNvPicPr>
            <a:picLocks noChangeAspect="1"/>
          </p:cNvPicPr>
          <p:nvPr/>
        </p:nvPicPr>
        <p:blipFill>
          <a:blip r:embed="rId1"/>
          <a:stretch>
            <a:fillRect/>
          </a:stretch>
        </p:blipFill>
        <p:spPr>
          <a:xfrm>
            <a:off x="1206247" y="1755648"/>
            <a:ext cx="5195313" cy="4434840"/>
          </a:xfrm>
          <a:prstGeom prst="rect">
            <a:avLst/>
          </a:prstGeom>
        </p:spPr>
      </p:pic>
      <p:sp>
        <p:nvSpPr>
          <p:cNvPr id="14" name="Ikon Admin DC"/>
          <p:cNvSpPr/>
          <p:nvPr/>
        </p:nvSpPr>
        <p:spPr>
          <a:xfrm>
            <a:off x="7498080" y="1783080"/>
            <a:ext cx="457200" cy="457200"/>
          </a:xfrm>
          <a:prstGeom prst="ellipse">
            <a:avLst/>
          </a:prstGeom>
          <a:solidFill>
            <a:srgbClr val="EA580C"/>
          </a:solidFill>
          <a:ln w="12700">
            <a:solidFill>
              <a:srgbClr val="EA580C"/>
            </a:solidFill>
            <a:prstDash val="solid"/>
          </a:ln>
        </p:spPr>
      </p:sp>
      <p:sp>
        <p:nvSpPr>
          <p:cNvPr id="15" name="Text 12"/>
          <p:cNvSpPr txBox="1"/>
          <p:nvPr/>
        </p:nvSpPr>
        <p:spPr>
          <a:xfrm>
            <a:off x="7498080" y="17830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DC</a:t>
            </a:r>
            <a:endParaRPr lang="en-US" sz="1200" dirty="0"/>
          </a:p>
        </p:txBody>
      </p:sp>
      <p:sp>
        <p:nvSpPr>
          <p:cNvPr id="16" name="Peran Admin DC"/>
          <p:cNvSpPr txBox="1"/>
          <p:nvPr/>
        </p:nvSpPr>
        <p:spPr>
          <a:xfrm>
            <a:off x="8065008" y="1737360"/>
            <a:ext cx="3639312" cy="548640"/>
          </a:xfrm>
          <a:prstGeom prst="rect">
            <a:avLst/>
          </a:prstGeom>
          <a:noFill/>
          <a:ln/>
        </p:spPr>
        <p:txBody>
          <a:bodyPr wrap="square" lIns="0" tIns="0" rIns="0" bIns="0" rtlCol="0" anchor="ctr"/>
          <a:lstStyle/>
          <a:p>
            <a:pPr indent="0" marL="0">
              <a:buNone/>
            </a:pPr>
            <a:r>
              <a:rPr lang="en-US" sz="1600" b="1" dirty="0">
                <a:solidFill>
                  <a:srgbClr val="EA580C"/>
                </a:solidFill>
              </a:rPr>
              <a:t>Admin DC</a:t>
            </a:r>
            <a:endParaRPr lang="en-US" sz="1600" dirty="0"/>
          </a:p>
          <a:p>
            <a:pPr indent="0" marL="0">
              <a:buNone/>
            </a:pPr>
            <a:r>
              <a:rPr lang="en-US" sz="1200" dirty="0">
                <a:solidFill>
                  <a:srgbClr val="5B6B86"/>
                </a:solidFill>
              </a:rPr>
              <a:t>admin.dc.jkt</a:t>
            </a:r>
            <a:endParaRPr lang="en-US" sz="1600" dirty="0"/>
          </a:p>
        </p:txBody>
      </p:sp>
      <p:sp>
        <p:nvSpPr>
          <p:cNvPr id="17" name="Ikon Approve PUR"/>
          <p:cNvSpPr/>
          <p:nvPr/>
        </p:nvSpPr>
        <p:spPr>
          <a:xfrm>
            <a:off x="7498080" y="2404872"/>
            <a:ext cx="457200" cy="457200"/>
          </a:xfrm>
          <a:prstGeom prst="ellipse">
            <a:avLst/>
          </a:prstGeom>
          <a:solidFill>
            <a:srgbClr val="BE185D"/>
          </a:solidFill>
          <a:ln w="12700">
            <a:solidFill>
              <a:srgbClr val="BE185D"/>
            </a:solidFill>
            <a:prstDash val="solid"/>
          </a:ln>
        </p:spPr>
      </p:sp>
      <p:sp>
        <p:nvSpPr>
          <p:cNvPr id="18" name="Text 15"/>
          <p:cNvSpPr txBox="1"/>
          <p:nvPr/>
        </p:nvSpPr>
        <p:spPr>
          <a:xfrm>
            <a:off x="7498080" y="24048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PR</a:t>
            </a:r>
            <a:endParaRPr lang="en-US" sz="1200" dirty="0"/>
          </a:p>
        </p:txBody>
      </p:sp>
      <p:sp>
        <p:nvSpPr>
          <p:cNvPr id="19" name="Peran Approve PUR"/>
          <p:cNvSpPr txBox="1"/>
          <p:nvPr/>
        </p:nvSpPr>
        <p:spPr>
          <a:xfrm>
            <a:off x="8065008" y="2359152"/>
            <a:ext cx="3639312" cy="548640"/>
          </a:xfrm>
          <a:prstGeom prst="rect">
            <a:avLst/>
          </a:prstGeom>
          <a:noFill/>
          <a:ln/>
        </p:spPr>
        <p:txBody>
          <a:bodyPr wrap="square" lIns="0" tIns="0" rIns="0" bIns="0" rtlCol="0" anchor="ctr"/>
          <a:lstStyle/>
          <a:p>
            <a:pPr indent="0" marL="0">
              <a:buNone/>
            </a:pPr>
            <a:r>
              <a:rPr lang="en-US" sz="1600" b="1" dirty="0">
                <a:solidFill>
                  <a:srgbClr val="BE185D"/>
                </a:solidFill>
              </a:rPr>
              <a:t>Approve PUR</a:t>
            </a:r>
            <a:endParaRPr lang="en-US" sz="1600" dirty="0"/>
          </a:p>
          <a:p>
            <a:pPr indent="0" marL="0">
              <a:buNone/>
            </a:pPr>
            <a:r>
              <a:rPr lang="en-US" sz="1200" dirty="0">
                <a:solidFill>
                  <a:srgbClr val="5B6B86"/>
                </a:solidFill>
              </a:rPr>
              <a:t>approve.pur</a:t>
            </a:r>
            <a:endParaRPr lang="en-US" sz="1600" dirty="0"/>
          </a:p>
        </p:txBody>
      </p:sp>
      <p:sp>
        <p:nvSpPr>
          <p:cNvPr id="20" name="Langkah"/>
          <p:cNvSpPr txBox="1"/>
          <p:nvPr/>
        </p:nvSpPr>
        <p:spPr>
          <a:xfrm>
            <a:off x="7498080" y="3099816"/>
            <a:ext cx="4233672" cy="1975104"/>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rgbClr val="1B2437"/>
                </a:solidFill>
              </a:rPr>
              <a:t>Usulan qty = stok DC + hasil GRPO</a:t>
            </a:r>
            <a:endParaRPr lang="en-US" sz="1500" dirty="0"/>
          </a:p>
          <a:p>
            <a:pPr marL="342900" indent="-342900">
              <a:spcAft>
                <a:spcPts val="600"/>
              </a:spcAft>
              <a:buSzPct val="100000"/>
              <a:buFont typeface="+mj-lt"/>
              <a:buAutoNum type="arabicPeriod" startAt="1"/>
            </a:pPr>
            <a:r>
              <a:rPr lang="en-US" sz="1500" dirty="0">
                <a:solidFill>
                  <a:srgbClr val="1B2437"/>
                </a:solidFill>
              </a:rPr>
              <a:t>Periksa Dikirim ke dek per barang</a:t>
            </a:r>
            <a:endParaRPr lang="en-US" sz="1500" dirty="0"/>
          </a:p>
          <a:p>
            <a:pPr marL="342900" indent="-342900">
              <a:spcAft>
                <a:spcPts val="600"/>
              </a:spcAft>
              <a:buSzPct val="100000"/>
              <a:buFont typeface="+mj-lt"/>
              <a:buAutoNum type="arabicPeriod" startAt="1"/>
            </a:pPr>
            <a:r>
              <a:rPr lang="en-US" sz="1500" dirty="0">
                <a:solidFill>
                  <a:srgbClr val="1B2437"/>
                </a:solidFill>
              </a:rPr>
              <a:t>Klik Ajukan Inventory Transfer</a:t>
            </a:r>
            <a:endParaRPr lang="en-US" sz="1500" dirty="0"/>
          </a:p>
          <a:p>
            <a:pPr marL="342900" indent="-342900">
              <a:spcAft>
                <a:spcPts val="600"/>
              </a:spcAft>
              <a:buSzPct val="100000"/>
              <a:buFont typeface="+mj-lt"/>
              <a:buAutoNum type="arabicPeriod" startAt="1"/>
            </a:pPr>
            <a:r>
              <a:rPr lang="en-US" sz="1500" dirty="0">
                <a:solidFill>
                  <a:srgbClr val="1B2437"/>
                </a:solidFill>
              </a:rPr>
              <a:t>Approve PUR menyetujui</a:t>
            </a:r>
            <a:endParaRPr lang="en-US" sz="1500" dirty="0"/>
          </a:p>
        </p:txBody>
      </p:sp>
      <p:sp>
        <p:nvSpPr>
          <p:cNvPr id="21" name="Dokumen SAP"/>
          <p:cNvSpPr/>
          <p:nvPr/>
        </p:nvSpPr>
        <p:spPr>
          <a:xfrm>
            <a:off x="7498080" y="5202936"/>
            <a:ext cx="4233672" cy="987552"/>
          </a:xfrm>
          <a:prstGeom prst="roundRect">
            <a:avLst>
              <a:gd name="adj" fmla="val 7407"/>
            </a:avLst>
          </a:prstGeom>
          <a:solidFill>
            <a:srgbClr val="E5F4E4"/>
          </a:solidFill>
          <a:ln w="12700">
            <a:solidFill>
              <a:srgbClr val="E5F4E4"/>
            </a:solidFill>
            <a:prstDash val="solid"/>
          </a:ln>
        </p:spPr>
      </p:sp>
      <p:sp>
        <p:nvSpPr>
          <p:cNvPr id="22" name="Text 19"/>
          <p:cNvSpPr txBox="1"/>
          <p:nvPr/>
        </p:nvSpPr>
        <p:spPr>
          <a:xfrm>
            <a:off x="7662672" y="5202936"/>
            <a:ext cx="3904488" cy="987552"/>
          </a:xfrm>
          <a:prstGeom prst="rect">
            <a:avLst/>
          </a:prstGeom>
          <a:noFill/>
          <a:ln/>
        </p:spPr>
        <p:txBody>
          <a:bodyPr wrap="square" lIns="0" tIns="0" rIns="0" bIns="0" rtlCol="0" anchor="ctr"/>
          <a:lstStyle/>
          <a:p>
            <a:pPr indent="0" marL="0">
              <a:spcAft>
                <a:spcPts val="200"/>
              </a:spcAft>
              <a:buNone/>
            </a:pPr>
            <a:r>
              <a:rPr lang="en-US" sz="1200" b="1" dirty="0">
                <a:solidFill>
                  <a:srgbClr val="3A7D3A"/>
                </a:solidFill>
              </a:rPr>
              <a:t>Dokumen SAP yang terbentuk</a:t>
            </a:r>
            <a:endParaRPr lang="en-US" sz="1200" dirty="0"/>
          </a:p>
          <a:p>
            <a:pPr indent="0" marL="0">
              <a:spcAft>
                <a:spcPts val="200"/>
              </a:spcAft>
              <a:buNone/>
            </a:pPr>
            <a:r>
              <a:rPr lang="en-US" sz="1400" dirty="0">
                <a:solidFill>
                  <a:srgbClr val="1B2437"/>
                </a:solidFill>
              </a:rPr>
              <a:t>Inventory Transfer Dek 3  262000146</a:t>
            </a:r>
            <a:endParaRPr lang="en-US" sz="1200" dirty="0"/>
          </a:p>
          <a:p>
            <a:pPr indent="0" marL="0">
              <a:spcAft>
                <a:spcPts val="200"/>
              </a:spcAft>
              <a:buNone/>
            </a:pPr>
            <a:r>
              <a:rPr lang="en-US" sz="1400" dirty="0">
                <a:solidFill>
                  <a:srgbClr val="1B2437"/>
                </a:solidFill>
              </a:rPr>
              <a:t>Inventory Transfer Dek 7  262000147</a:t>
            </a:r>
            <a:endParaRPr lang="en-US" sz="12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40080"/>
          </a:xfrm>
          <a:prstGeom prst="rect">
            <a:avLst/>
          </a:prstGeom>
          <a:noFill/>
          <a:ln/>
        </p:spPr>
        <p:txBody>
          <a:bodyPr wrap="square" lIns="0" tIns="0" rIns="0" bIns="0" rtlCol="0" anchor="ctr"/>
          <a:lstStyle/>
          <a:p>
            <a:pPr algn="l" indent="0" marL="0">
              <a:buNone/>
            </a:pPr>
            <a:r>
              <a:rPr lang="en-US" sz="3400" b="1" dirty="0">
                <a:solidFill>
                  <a:schemeClr val="tx2"/>
                </a:solidFill>
              </a:rPr>
              <a:t>Tahap 8 · Barang diterima di dek</a:t>
            </a:r>
            <a:endParaRPr lang="en-US" sz="3400" dirty="0"/>
          </a:p>
        </p:txBody>
      </p:sp>
      <p:sp>
        <p:nvSpPr>
          <p:cNvPr id="3" name="Tahap 1 Pesan barang"/>
          <p:cNvSpPr txBox="1"/>
          <p:nvPr/>
        </p:nvSpPr>
        <p:spPr>
          <a:xfrm>
            <a:off x="457200"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Pesan barang</a:t>
            </a:r>
            <a:endParaRPr lang="en-US" sz="1050" dirty="0"/>
          </a:p>
        </p:txBody>
      </p:sp>
      <p:sp>
        <p:nvSpPr>
          <p:cNvPr id="4" name="Tahap 2 Approval SO"/>
          <p:cNvSpPr txBox="1"/>
          <p:nvPr/>
        </p:nvSpPr>
        <p:spPr>
          <a:xfrm>
            <a:off x="1643977"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Approval SO</a:t>
            </a:r>
            <a:endParaRPr lang="en-US" sz="1050" dirty="0"/>
          </a:p>
        </p:txBody>
      </p:sp>
      <p:sp>
        <p:nvSpPr>
          <p:cNvPr id="5" name="Tahap 3 Pilah stok DC"/>
          <p:cNvSpPr txBox="1"/>
          <p:nvPr/>
        </p:nvSpPr>
        <p:spPr>
          <a:xfrm>
            <a:off x="2830754"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Pilah stok DC</a:t>
            </a:r>
            <a:endParaRPr lang="en-US" sz="1050" dirty="0"/>
          </a:p>
        </p:txBody>
      </p:sp>
      <p:sp>
        <p:nvSpPr>
          <p:cNvPr id="6" name="Tahap 4 PUR"/>
          <p:cNvSpPr txBox="1"/>
          <p:nvPr/>
        </p:nvSpPr>
        <p:spPr>
          <a:xfrm>
            <a:off x="4017531"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PUR</a:t>
            </a:r>
            <a:endParaRPr lang="en-US" sz="1050" dirty="0"/>
          </a:p>
        </p:txBody>
      </p:sp>
      <p:sp>
        <p:nvSpPr>
          <p:cNvPr id="7" name="Tahap 5 PO"/>
          <p:cNvSpPr txBox="1"/>
          <p:nvPr/>
        </p:nvSpPr>
        <p:spPr>
          <a:xfrm>
            <a:off x="5204308"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PO</a:t>
            </a:r>
            <a:endParaRPr lang="en-US" sz="1050" dirty="0"/>
          </a:p>
        </p:txBody>
      </p:sp>
      <p:sp>
        <p:nvSpPr>
          <p:cNvPr id="8" name="Tahap 6 GRPO"/>
          <p:cNvSpPr txBox="1"/>
          <p:nvPr/>
        </p:nvSpPr>
        <p:spPr>
          <a:xfrm>
            <a:off x="6391085"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GRPO</a:t>
            </a:r>
            <a:endParaRPr lang="en-US" sz="1050" dirty="0"/>
          </a:p>
        </p:txBody>
      </p:sp>
      <p:sp>
        <p:nvSpPr>
          <p:cNvPr id="9" name="Tahap 7 Transfer ke dek"/>
          <p:cNvSpPr txBox="1"/>
          <p:nvPr/>
        </p:nvSpPr>
        <p:spPr>
          <a:xfrm>
            <a:off x="7577861"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Transfer ke dek</a:t>
            </a:r>
            <a:endParaRPr lang="en-US" sz="1050" dirty="0"/>
          </a:p>
        </p:txBody>
      </p:sp>
      <p:sp>
        <p:nvSpPr>
          <p:cNvPr id="10" name="Tahap 8 Terima di dek"/>
          <p:cNvSpPr txBox="1"/>
          <p:nvPr/>
        </p:nvSpPr>
        <p:spPr>
          <a:xfrm>
            <a:off x="8764638" y="1078992"/>
            <a:ext cx="1783080" cy="384048"/>
          </a:xfrm>
          <a:prstGeom prst="roundRect">
            <a:avLst>
              <a:gd name="adj" fmla="val 19048"/>
            </a:avLst>
          </a:prstGeom>
          <a:solidFill>
            <a:srgbClr val="0F766E"/>
          </a:solidFill>
          <a:ln w="12700">
            <a:solidFill>
              <a:srgbClr val="0F766E"/>
            </a:solidFill>
          </a:ln>
        </p:spPr>
        <p:txBody>
          <a:bodyPr wrap="square" lIns="0" tIns="0" rIns="0" bIns="0" rtlCol="0" anchor="ctr"/>
          <a:lstStyle/>
          <a:p>
            <a:pPr algn="ctr" indent="0" marL="0">
              <a:buNone/>
            </a:pPr>
            <a:r>
              <a:rPr lang="en-US" sz="1300" b="1" dirty="0">
                <a:solidFill>
                  <a:srgbClr val="FFFFFF"/>
                </a:solidFill>
              </a:rPr>
              <a:t>Terima di dek</a:t>
            </a:r>
            <a:endParaRPr lang="en-US" sz="1300" dirty="0"/>
          </a:p>
        </p:txBody>
      </p:sp>
      <p:sp>
        <p:nvSpPr>
          <p:cNvPr id="11" name="Tahap 9 Jual &amp;amp; DO"/>
          <p:cNvSpPr txBox="1"/>
          <p:nvPr/>
        </p:nvSpPr>
        <p:spPr>
          <a:xfrm>
            <a:off x="10611726" y="1078992"/>
            <a:ext cx="1122769" cy="384048"/>
          </a:xfrm>
          <a:prstGeom prst="roundRect">
            <a:avLst>
              <a:gd name="adj" fmla="val 19048"/>
            </a:avLst>
          </a:prstGeom>
          <a:solidFill>
            <a:srgbClr val="FFFFFF"/>
          </a:solidFill>
          <a:ln w="12700">
            <a:solidFill>
              <a:srgbClr val="D5DEEC"/>
            </a:solidFill>
          </a:ln>
        </p:spPr>
        <p:txBody>
          <a:bodyPr wrap="square" lIns="0" tIns="0" rIns="0" bIns="0" rtlCol="0" anchor="ctr"/>
          <a:lstStyle/>
          <a:p>
            <a:pPr algn="ctr" indent="0" marL="0">
              <a:buNone/>
            </a:pPr>
            <a:r>
              <a:rPr lang="en-US" sz="1050" b="1" dirty="0">
                <a:solidFill>
                  <a:srgbClr val="5B6B86"/>
                </a:solidFill>
              </a:rPr>
              <a:t>Jual &amp; DO</a:t>
            </a:r>
            <a:endParaRPr lang="en-US" sz="1050" dirty="0"/>
          </a:p>
        </p:txBody>
      </p:sp>
      <p:sp>
        <p:nvSpPr>
          <p:cNvPr id="12" name="Layar Barang diterima di dek bingkai"/>
          <p:cNvSpPr/>
          <p:nvPr/>
        </p:nvSpPr>
        <p:spPr>
          <a:xfrm>
            <a:off x="503687" y="1700784"/>
            <a:ext cx="6600433" cy="4544568"/>
          </a:xfrm>
          <a:prstGeom prst="roundRect">
            <a:avLst>
              <a:gd name="adj" fmla="val 1610"/>
            </a:avLst>
          </a:prstGeom>
          <a:solidFill>
            <a:schemeClr val="bg1"/>
          </a:solidFill>
          <a:ln w="12700">
            <a:solidFill>
              <a:srgbClr val="D5DEEC"/>
            </a:solidFill>
            <a:prstDash val="solid"/>
          </a:ln>
          <a:effectLst>
            <a:outerShdw sx="100000" sy="100000" kx="0" ky="0" algn="bl" rotWithShape="0" blurRad="101600" dist="38100" dir="5400000">
              <a:srgbClr val="1F3B7A">
                <a:alpha val="18000"/>
              </a:srgbClr>
            </a:outerShdw>
          </a:effectLst>
        </p:spPr>
      </p:sp>
      <p:pic>
        <p:nvPicPr>
          <p:cNvPr id="13" name="Layar Barang diterima di dek" descr="Gambar layar PID POS (Layar Barang diterima di dek)">    </p:cNvPr>
          <p:cNvPicPr>
            <a:picLocks noChangeAspect="1"/>
          </p:cNvPicPr>
          <p:nvPr/>
        </p:nvPicPr>
        <p:blipFill>
          <a:blip r:embed="rId1"/>
          <a:stretch>
            <a:fillRect/>
          </a:stretch>
        </p:blipFill>
        <p:spPr>
          <a:xfrm>
            <a:off x="558551" y="1755648"/>
            <a:ext cx="6490705" cy="4434840"/>
          </a:xfrm>
          <a:prstGeom prst="rect">
            <a:avLst/>
          </a:prstGeom>
        </p:spPr>
      </p:pic>
      <p:sp>
        <p:nvSpPr>
          <p:cNvPr id="14" name="Ikon Admin kapal"/>
          <p:cNvSpPr/>
          <p:nvPr/>
        </p:nvSpPr>
        <p:spPr>
          <a:xfrm>
            <a:off x="7498080" y="1783080"/>
            <a:ext cx="457200" cy="457200"/>
          </a:xfrm>
          <a:prstGeom prst="ellipse">
            <a:avLst/>
          </a:prstGeom>
          <a:solidFill>
            <a:srgbClr val="0F766E"/>
          </a:solidFill>
          <a:ln w="12700">
            <a:solidFill>
              <a:srgbClr val="0F766E"/>
            </a:solidFill>
            <a:prstDash val="solid"/>
          </a:ln>
        </p:spPr>
      </p:sp>
      <p:sp>
        <p:nvSpPr>
          <p:cNvPr id="15" name="Text 12"/>
          <p:cNvSpPr txBox="1"/>
          <p:nvPr/>
        </p:nvSpPr>
        <p:spPr>
          <a:xfrm>
            <a:off x="7498080" y="17830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AK</a:t>
            </a:r>
            <a:endParaRPr lang="en-US" sz="1200" dirty="0"/>
          </a:p>
        </p:txBody>
      </p:sp>
      <p:sp>
        <p:nvSpPr>
          <p:cNvPr id="16" name="Peran Admin kapal"/>
          <p:cNvSpPr txBox="1"/>
          <p:nvPr/>
        </p:nvSpPr>
        <p:spPr>
          <a:xfrm>
            <a:off x="8065008" y="1737360"/>
            <a:ext cx="3639312" cy="548640"/>
          </a:xfrm>
          <a:prstGeom prst="rect">
            <a:avLst/>
          </a:prstGeom>
          <a:noFill/>
          <a:ln/>
        </p:spPr>
        <p:txBody>
          <a:bodyPr wrap="square" lIns="0" tIns="0" rIns="0" bIns="0" rtlCol="0" anchor="ctr"/>
          <a:lstStyle/>
          <a:p>
            <a:pPr indent="0" marL="0">
              <a:buNone/>
            </a:pPr>
            <a:r>
              <a:rPr lang="en-US" sz="1600" b="1" dirty="0">
                <a:solidFill>
                  <a:srgbClr val="0F766E"/>
                </a:solidFill>
              </a:rPr>
              <a:t>Admin kapal</a:t>
            </a:r>
            <a:endParaRPr lang="en-US" sz="1600" dirty="0"/>
          </a:p>
          <a:p>
            <a:pPr indent="0" marL="0">
              <a:buNone/>
            </a:pPr>
            <a:r>
              <a:rPr lang="en-US" sz="1200" dirty="0">
                <a:solidFill>
                  <a:srgbClr val="5B6B86"/>
                </a:solidFill>
              </a:rPr>
              <a:t>admin.awu</a:t>
            </a:r>
            <a:endParaRPr lang="en-US" sz="1600" dirty="0"/>
          </a:p>
        </p:txBody>
      </p:sp>
      <p:sp>
        <p:nvSpPr>
          <p:cNvPr id="17" name="Ikon Approve SO (P2)"/>
          <p:cNvSpPr/>
          <p:nvPr/>
        </p:nvSpPr>
        <p:spPr>
          <a:xfrm>
            <a:off x="7498080" y="2404872"/>
            <a:ext cx="457200" cy="457200"/>
          </a:xfrm>
          <a:prstGeom prst="ellipse">
            <a:avLst/>
          </a:prstGeom>
          <a:solidFill>
            <a:srgbClr val="6D28D9"/>
          </a:solidFill>
          <a:ln w="12700">
            <a:solidFill>
              <a:srgbClr val="6D28D9"/>
            </a:solidFill>
            <a:prstDash val="solid"/>
          </a:ln>
        </p:spPr>
      </p:sp>
      <p:sp>
        <p:nvSpPr>
          <p:cNvPr id="18" name="Text 15"/>
          <p:cNvSpPr txBox="1"/>
          <p:nvPr/>
        </p:nvSpPr>
        <p:spPr>
          <a:xfrm>
            <a:off x="7498080" y="24048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SO</a:t>
            </a:r>
            <a:endParaRPr lang="en-US" sz="1200" dirty="0"/>
          </a:p>
        </p:txBody>
      </p:sp>
      <p:sp>
        <p:nvSpPr>
          <p:cNvPr id="19" name="Peran Approve SO (P2)"/>
          <p:cNvSpPr txBox="1"/>
          <p:nvPr/>
        </p:nvSpPr>
        <p:spPr>
          <a:xfrm>
            <a:off x="8065008" y="2359152"/>
            <a:ext cx="3639312" cy="548640"/>
          </a:xfrm>
          <a:prstGeom prst="rect">
            <a:avLst/>
          </a:prstGeom>
          <a:noFill/>
          <a:ln/>
        </p:spPr>
        <p:txBody>
          <a:bodyPr wrap="square" lIns="0" tIns="0" rIns="0" bIns="0" rtlCol="0" anchor="ctr"/>
          <a:lstStyle/>
          <a:p>
            <a:pPr indent="0" marL="0">
              <a:buNone/>
            </a:pPr>
            <a:r>
              <a:rPr lang="en-US" sz="1600" b="1" dirty="0">
                <a:solidFill>
                  <a:srgbClr val="6D28D9"/>
                </a:solidFill>
              </a:rPr>
              <a:t>Approve SO (P2)</a:t>
            </a:r>
            <a:endParaRPr lang="en-US" sz="1600" dirty="0"/>
          </a:p>
          <a:p>
            <a:pPr indent="0" marL="0">
              <a:buNone/>
            </a:pPr>
            <a:r>
              <a:rPr lang="en-US" sz="1200" dirty="0">
                <a:solidFill>
                  <a:srgbClr val="5B6B86"/>
                </a:solidFill>
              </a:rPr>
              <a:t>approve.so</a:t>
            </a:r>
            <a:endParaRPr lang="en-US" sz="1600" dirty="0"/>
          </a:p>
        </p:txBody>
      </p:sp>
      <p:sp>
        <p:nvSpPr>
          <p:cNvPr id="20" name="Langkah"/>
          <p:cNvSpPr txBox="1"/>
          <p:nvPr/>
        </p:nvSpPr>
        <p:spPr>
          <a:xfrm>
            <a:off x="7498080" y="3099816"/>
            <a:ext cx="4233672" cy="2304288"/>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rgbClr val="1B2437"/>
                </a:solidFill>
              </a:rPr>
              <a:t>Stok → Terima barang → Periksa &amp; terima</a:t>
            </a:r>
            <a:endParaRPr lang="en-US" sz="1500" dirty="0"/>
          </a:p>
          <a:p>
            <a:pPr marL="342900" indent="-342900">
              <a:spcAft>
                <a:spcPts val="600"/>
              </a:spcAft>
              <a:buSzPct val="100000"/>
              <a:buFont typeface="+mj-lt"/>
              <a:buAutoNum type="arabicPeriod" startAt="1"/>
            </a:pPr>
            <a:r>
              <a:rPr lang="en-US" sz="1500" dirty="0">
                <a:solidFill>
                  <a:srgbClr val="1B2437"/>
                </a:solidFill>
              </a:rPr>
              <a:t>Isi Diterima baik dan Rusak, lalu Konfirmasi</a:t>
            </a:r>
            <a:endParaRPr lang="en-US" sz="1500" dirty="0"/>
          </a:p>
          <a:p>
            <a:pPr marL="342900" indent="-342900">
              <a:spcAft>
                <a:spcPts val="600"/>
              </a:spcAft>
              <a:buSzPct val="100000"/>
              <a:buFont typeface="+mj-lt"/>
              <a:buAutoNum type="arabicPeriod" startAt="1"/>
            </a:pPr>
            <a:r>
              <a:rPr lang="en-US" sz="1500" dirty="0">
                <a:solidFill>
                  <a:srgbClr val="1B2437"/>
                </a:solidFill>
              </a:rPr>
              <a:t>Kepala toko mencentang checklist, lalu Setujui</a:t>
            </a:r>
            <a:endParaRPr lang="en-US" sz="1500" dirty="0"/>
          </a:p>
          <a:p>
            <a:pPr marL="342900" indent="-342900">
              <a:spcAft>
                <a:spcPts val="600"/>
              </a:spcAft>
              <a:buSzPct val="100000"/>
              <a:buFont typeface="+mj-lt"/>
              <a:buAutoNum type="arabicPeriod" startAt="1"/>
            </a:pPr>
            <a:r>
              <a:rPr lang="en-US" sz="1500" dirty="0">
                <a:solidFill>
                  <a:srgbClr val="1B2437"/>
                </a:solidFill>
              </a:rPr>
              <a:t>P2 (approve.so) menyetujui penerimaan</a:t>
            </a:r>
            <a:endParaRPr lang="en-US" sz="1500" dirty="0"/>
          </a:p>
        </p:txBody>
      </p:sp>
      <p:sp>
        <p:nvSpPr>
          <p:cNvPr id="21" name="Dokumen SAP"/>
          <p:cNvSpPr/>
          <p:nvPr/>
        </p:nvSpPr>
        <p:spPr>
          <a:xfrm>
            <a:off x="7498080" y="5532120"/>
            <a:ext cx="4233672" cy="658368"/>
          </a:xfrm>
          <a:prstGeom prst="roundRect">
            <a:avLst>
              <a:gd name="adj" fmla="val 11111"/>
            </a:avLst>
          </a:prstGeom>
          <a:solidFill>
            <a:srgbClr val="E5F4E4"/>
          </a:solidFill>
          <a:ln w="12700">
            <a:solidFill>
              <a:srgbClr val="E5F4E4"/>
            </a:solidFill>
            <a:prstDash val="solid"/>
          </a:ln>
        </p:spPr>
      </p:sp>
      <p:sp>
        <p:nvSpPr>
          <p:cNvPr id="22" name="Text 19"/>
          <p:cNvSpPr txBox="1"/>
          <p:nvPr/>
        </p:nvSpPr>
        <p:spPr>
          <a:xfrm>
            <a:off x="7662672" y="5532120"/>
            <a:ext cx="3904488" cy="658368"/>
          </a:xfrm>
          <a:prstGeom prst="rect">
            <a:avLst/>
          </a:prstGeom>
          <a:noFill/>
          <a:ln/>
        </p:spPr>
        <p:txBody>
          <a:bodyPr wrap="square" lIns="0" tIns="0" rIns="0" bIns="0" rtlCol="0" anchor="ctr"/>
          <a:lstStyle/>
          <a:p>
            <a:pPr indent="0" marL="0">
              <a:spcAft>
                <a:spcPts val="200"/>
              </a:spcAft>
              <a:buNone/>
            </a:pPr>
            <a:r>
              <a:rPr lang="en-US" sz="1200" b="1" dirty="0">
                <a:solidFill>
                  <a:srgbClr val="3A7D3A"/>
                </a:solidFill>
              </a:rPr>
              <a:t>Dokumen SAP yang terbentuk</a:t>
            </a:r>
            <a:endParaRPr lang="en-US" sz="1200" dirty="0"/>
          </a:p>
          <a:p>
            <a:pPr indent="0" marL="0">
              <a:spcAft>
                <a:spcPts val="200"/>
              </a:spcAft>
              <a:buNone/>
            </a:pPr>
            <a:r>
              <a:rPr lang="en-US" sz="1400" dirty="0">
                <a:solidFill>
                  <a:srgbClr val="1B2437"/>
                </a:solidFill>
              </a:rPr>
              <a:t>Sales Order Dek 3 / Dek 7  ditutup</a:t>
            </a:r>
            <a:endParaRPr lang="en-US" sz="12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40080"/>
          </a:xfrm>
          <a:prstGeom prst="rect">
            <a:avLst/>
          </a:prstGeom>
          <a:noFill/>
          <a:ln/>
        </p:spPr>
        <p:txBody>
          <a:bodyPr wrap="square" lIns="0" tIns="0" rIns="0" bIns="0" rtlCol="0" anchor="ctr"/>
          <a:lstStyle/>
          <a:p>
            <a:pPr algn="l" indent="0" marL="0">
              <a:buNone/>
            </a:pPr>
            <a:r>
              <a:rPr lang="en-US" sz="3400" b="1" dirty="0">
                <a:solidFill>
                  <a:schemeClr val="tx2"/>
                </a:solidFill>
              </a:rPr>
              <a:t>Tahap 9 · Kasir menjual dan mengirim DO</a:t>
            </a:r>
            <a:endParaRPr lang="en-US" sz="3400" dirty="0"/>
          </a:p>
        </p:txBody>
      </p:sp>
      <p:sp>
        <p:nvSpPr>
          <p:cNvPr id="3" name="Tahap 1 Pesan barang"/>
          <p:cNvSpPr txBox="1"/>
          <p:nvPr/>
        </p:nvSpPr>
        <p:spPr>
          <a:xfrm>
            <a:off x="457200"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Pesan barang</a:t>
            </a:r>
            <a:endParaRPr lang="en-US" sz="1050" dirty="0"/>
          </a:p>
        </p:txBody>
      </p:sp>
      <p:sp>
        <p:nvSpPr>
          <p:cNvPr id="4" name="Tahap 2 Approval SO"/>
          <p:cNvSpPr txBox="1"/>
          <p:nvPr/>
        </p:nvSpPr>
        <p:spPr>
          <a:xfrm>
            <a:off x="1643977"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Approval SO</a:t>
            </a:r>
            <a:endParaRPr lang="en-US" sz="1050" dirty="0"/>
          </a:p>
        </p:txBody>
      </p:sp>
      <p:sp>
        <p:nvSpPr>
          <p:cNvPr id="5" name="Tahap 3 Pilah stok DC"/>
          <p:cNvSpPr txBox="1"/>
          <p:nvPr/>
        </p:nvSpPr>
        <p:spPr>
          <a:xfrm>
            <a:off x="2830754"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Pilah stok DC</a:t>
            </a:r>
            <a:endParaRPr lang="en-US" sz="1050" dirty="0"/>
          </a:p>
        </p:txBody>
      </p:sp>
      <p:sp>
        <p:nvSpPr>
          <p:cNvPr id="6" name="Tahap 4 PUR"/>
          <p:cNvSpPr txBox="1"/>
          <p:nvPr/>
        </p:nvSpPr>
        <p:spPr>
          <a:xfrm>
            <a:off x="4017531"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PUR</a:t>
            </a:r>
            <a:endParaRPr lang="en-US" sz="1050" dirty="0"/>
          </a:p>
        </p:txBody>
      </p:sp>
      <p:sp>
        <p:nvSpPr>
          <p:cNvPr id="7" name="Tahap 5 PO"/>
          <p:cNvSpPr txBox="1"/>
          <p:nvPr/>
        </p:nvSpPr>
        <p:spPr>
          <a:xfrm>
            <a:off x="5204308"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PO</a:t>
            </a:r>
            <a:endParaRPr lang="en-US" sz="1050" dirty="0"/>
          </a:p>
        </p:txBody>
      </p:sp>
      <p:sp>
        <p:nvSpPr>
          <p:cNvPr id="8" name="Tahap 6 GRPO"/>
          <p:cNvSpPr txBox="1"/>
          <p:nvPr/>
        </p:nvSpPr>
        <p:spPr>
          <a:xfrm>
            <a:off x="6391085"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GRPO</a:t>
            </a:r>
            <a:endParaRPr lang="en-US" sz="1050" dirty="0"/>
          </a:p>
        </p:txBody>
      </p:sp>
      <p:sp>
        <p:nvSpPr>
          <p:cNvPr id="9" name="Tahap 7 Transfer ke dek"/>
          <p:cNvSpPr txBox="1"/>
          <p:nvPr/>
        </p:nvSpPr>
        <p:spPr>
          <a:xfrm>
            <a:off x="7577861"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Transfer ke dek</a:t>
            </a:r>
            <a:endParaRPr lang="en-US" sz="1050" dirty="0"/>
          </a:p>
        </p:txBody>
      </p:sp>
      <p:sp>
        <p:nvSpPr>
          <p:cNvPr id="10" name="Tahap 8 Terima di dek"/>
          <p:cNvSpPr txBox="1"/>
          <p:nvPr/>
        </p:nvSpPr>
        <p:spPr>
          <a:xfrm>
            <a:off x="8764638" y="1078992"/>
            <a:ext cx="1122769" cy="384048"/>
          </a:xfrm>
          <a:prstGeom prst="roundRect">
            <a:avLst>
              <a:gd name="adj" fmla="val 19048"/>
            </a:avLst>
          </a:prstGeom>
          <a:solidFill>
            <a:srgbClr val="DCE6F5"/>
          </a:solidFill>
          <a:ln w="12700">
            <a:solidFill>
              <a:srgbClr val="DCE6F5"/>
            </a:solidFill>
          </a:ln>
        </p:spPr>
        <p:txBody>
          <a:bodyPr wrap="square" lIns="0" tIns="0" rIns="0" bIns="0" rtlCol="0" anchor="ctr"/>
          <a:lstStyle/>
          <a:p>
            <a:pPr algn="ctr" indent="0" marL="0">
              <a:buNone/>
            </a:pPr>
            <a:r>
              <a:rPr lang="en-US" sz="1050" b="1" dirty="0">
                <a:solidFill>
                  <a:srgbClr val="1F3B7A"/>
                </a:solidFill>
              </a:rPr>
              <a:t>✓ Terima di dek</a:t>
            </a:r>
            <a:endParaRPr lang="en-US" sz="1050" dirty="0"/>
          </a:p>
        </p:txBody>
      </p:sp>
      <p:sp>
        <p:nvSpPr>
          <p:cNvPr id="11" name="Tahap 9 Jual &amp;amp; DO"/>
          <p:cNvSpPr txBox="1"/>
          <p:nvPr/>
        </p:nvSpPr>
        <p:spPr>
          <a:xfrm>
            <a:off x="9951415" y="1078992"/>
            <a:ext cx="1783080" cy="384048"/>
          </a:xfrm>
          <a:prstGeom prst="roundRect">
            <a:avLst>
              <a:gd name="adj" fmla="val 19048"/>
            </a:avLst>
          </a:prstGeom>
          <a:solidFill>
            <a:srgbClr val="15803D"/>
          </a:solidFill>
          <a:ln w="12700">
            <a:solidFill>
              <a:srgbClr val="15803D"/>
            </a:solidFill>
          </a:ln>
        </p:spPr>
        <p:txBody>
          <a:bodyPr wrap="square" lIns="0" tIns="0" rIns="0" bIns="0" rtlCol="0" anchor="ctr"/>
          <a:lstStyle/>
          <a:p>
            <a:pPr algn="ctr" indent="0" marL="0">
              <a:buNone/>
            </a:pPr>
            <a:r>
              <a:rPr lang="en-US" sz="1300" b="1" dirty="0">
                <a:solidFill>
                  <a:srgbClr val="FFFFFF"/>
                </a:solidFill>
              </a:rPr>
              <a:t>Jual &amp; DO</a:t>
            </a:r>
            <a:endParaRPr lang="en-US" sz="1300" dirty="0"/>
          </a:p>
        </p:txBody>
      </p:sp>
      <p:sp>
        <p:nvSpPr>
          <p:cNvPr id="12" name="Layar Kasir menjual dan mengirim DO bingkai"/>
          <p:cNvSpPr/>
          <p:nvPr/>
        </p:nvSpPr>
        <p:spPr>
          <a:xfrm>
            <a:off x="823416" y="1700784"/>
            <a:ext cx="5960975" cy="4544568"/>
          </a:xfrm>
          <a:prstGeom prst="roundRect">
            <a:avLst>
              <a:gd name="adj" fmla="val 1610"/>
            </a:avLst>
          </a:prstGeom>
          <a:solidFill>
            <a:schemeClr val="bg1"/>
          </a:solidFill>
          <a:ln w="12700">
            <a:solidFill>
              <a:srgbClr val="D5DEEC"/>
            </a:solidFill>
            <a:prstDash val="solid"/>
          </a:ln>
          <a:effectLst>
            <a:outerShdw sx="100000" sy="100000" kx="0" ky="0" algn="bl" rotWithShape="0" blurRad="101600" dist="38100" dir="5400000">
              <a:srgbClr val="1F3B7A">
                <a:alpha val="18000"/>
              </a:srgbClr>
            </a:outerShdw>
          </a:effectLst>
        </p:spPr>
      </p:sp>
      <p:pic>
        <p:nvPicPr>
          <p:cNvPr id="13" name="Layar Kasir menjual dan mengirim DO" descr="Gambar layar PID POS (Layar Kasir menjual dan mengirim DO)">    </p:cNvPr>
          <p:cNvPicPr>
            <a:picLocks noChangeAspect="1"/>
          </p:cNvPicPr>
          <p:nvPr/>
        </p:nvPicPr>
        <p:blipFill>
          <a:blip r:embed="rId1"/>
          <a:stretch>
            <a:fillRect/>
          </a:stretch>
        </p:blipFill>
        <p:spPr>
          <a:xfrm>
            <a:off x="878280" y="1755648"/>
            <a:ext cx="5851247" cy="4434840"/>
          </a:xfrm>
          <a:prstGeom prst="rect">
            <a:avLst/>
          </a:prstGeom>
        </p:spPr>
      </p:pic>
      <p:sp>
        <p:nvSpPr>
          <p:cNvPr id="14" name="Ikon Kasir"/>
          <p:cNvSpPr/>
          <p:nvPr/>
        </p:nvSpPr>
        <p:spPr>
          <a:xfrm>
            <a:off x="7498080" y="1783080"/>
            <a:ext cx="457200" cy="457200"/>
          </a:xfrm>
          <a:prstGeom prst="ellipse">
            <a:avLst/>
          </a:prstGeom>
          <a:solidFill>
            <a:srgbClr val="15803D"/>
          </a:solidFill>
          <a:ln w="12700">
            <a:solidFill>
              <a:srgbClr val="15803D"/>
            </a:solidFill>
            <a:prstDash val="solid"/>
          </a:ln>
        </p:spPr>
      </p:sp>
      <p:sp>
        <p:nvSpPr>
          <p:cNvPr id="15" name="Text 12"/>
          <p:cNvSpPr txBox="1"/>
          <p:nvPr/>
        </p:nvSpPr>
        <p:spPr>
          <a:xfrm>
            <a:off x="7498080" y="178308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rPr>
              <a:t>KA</a:t>
            </a:r>
            <a:endParaRPr lang="en-US" sz="1200" dirty="0"/>
          </a:p>
        </p:txBody>
      </p:sp>
      <p:sp>
        <p:nvSpPr>
          <p:cNvPr id="16" name="Peran Kasir"/>
          <p:cNvSpPr txBox="1"/>
          <p:nvPr/>
        </p:nvSpPr>
        <p:spPr>
          <a:xfrm>
            <a:off x="8065008" y="1737360"/>
            <a:ext cx="3639312" cy="548640"/>
          </a:xfrm>
          <a:prstGeom prst="rect">
            <a:avLst/>
          </a:prstGeom>
          <a:noFill/>
          <a:ln/>
        </p:spPr>
        <p:txBody>
          <a:bodyPr wrap="square" lIns="0" tIns="0" rIns="0" bIns="0" rtlCol="0" anchor="ctr"/>
          <a:lstStyle/>
          <a:p>
            <a:pPr indent="0" marL="0">
              <a:buNone/>
            </a:pPr>
            <a:r>
              <a:rPr lang="en-US" sz="1600" b="1" dirty="0">
                <a:solidFill>
                  <a:srgbClr val="15803D"/>
                </a:solidFill>
              </a:rPr>
              <a:t>Kasir</a:t>
            </a:r>
            <a:endParaRPr lang="en-US" sz="1600" dirty="0"/>
          </a:p>
          <a:p>
            <a:pPr indent="0" marL="0">
              <a:buNone/>
            </a:pPr>
            <a:r>
              <a:rPr lang="en-US" sz="1200" dirty="0">
                <a:solidFill>
                  <a:srgbClr val="5B6B86"/>
                </a:solidFill>
              </a:rPr>
              <a:t>kasir1.awu</a:t>
            </a:r>
            <a:endParaRPr lang="en-US" sz="1600" dirty="0"/>
          </a:p>
        </p:txBody>
      </p:sp>
      <p:sp>
        <p:nvSpPr>
          <p:cNvPr id="17" name="Langkah"/>
          <p:cNvSpPr txBox="1"/>
          <p:nvPr/>
        </p:nvSpPr>
        <p:spPr>
          <a:xfrm>
            <a:off x="7498080" y="2478024"/>
            <a:ext cx="4233672" cy="292608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500" dirty="0">
                <a:solidFill>
                  <a:srgbClr val="1B2437"/>
                </a:solidFill>
              </a:rPr>
              <a:t>Buka kasir</a:t>
            </a:r>
            <a:endParaRPr lang="en-US" sz="1500" dirty="0"/>
          </a:p>
          <a:p>
            <a:pPr marL="342900" indent="-342900">
              <a:spcAft>
                <a:spcPts val="600"/>
              </a:spcAft>
              <a:buSzPct val="100000"/>
              <a:buFont typeface="+mj-lt"/>
              <a:buAutoNum type="arabicPeriod" startAt="1"/>
            </a:pPr>
            <a:r>
              <a:rPr lang="en-US" sz="1500" dirty="0">
                <a:solidFill>
                  <a:srgbClr val="1B2437"/>
                </a:solidFill>
              </a:rPr>
              <a:t>Scan barang: AQUA 2 pcs, total Rp 38.000</a:t>
            </a:r>
            <a:endParaRPr lang="en-US" sz="1500" dirty="0"/>
          </a:p>
          <a:p>
            <a:pPr marL="342900" indent="-342900">
              <a:spcAft>
                <a:spcPts val="600"/>
              </a:spcAft>
              <a:buSzPct val="100000"/>
              <a:buFont typeface="+mj-lt"/>
              <a:buAutoNum type="arabicPeriod" startAt="1"/>
            </a:pPr>
            <a:r>
              <a:rPr lang="en-US" sz="1500" dirty="0">
                <a:solidFill>
                  <a:srgbClr val="1B2437"/>
                </a:solidFill>
              </a:rPr>
              <a:t>Bayar (F12): tunai atau QRIS</a:t>
            </a:r>
            <a:endParaRPr lang="en-US" sz="1500" dirty="0"/>
          </a:p>
          <a:p>
            <a:pPr marL="342900" indent="-342900">
              <a:spcAft>
                <a:spcPts val="600"/>
              </a:spcAft>
              <a:buSzPct val="100000"/>
              <a:buFont typeface="+mj-lt"/>
              <a:buAutoNum type="arabicPeriod" startAt="1"/>
            </a:pPr>
            <a:r>
              <a:rPr lang="en-US" sz="1500" dirty="0">
                <a:solidFill>
                  <a:srgbClr val="1B2437"/>
                </a:solidFill>
              </a:rPr>
              <a:t>Rekap shift → Kirim DO hari ini</a:t>
            </a:r>
            <a:endParaRPr lang="en-US" sz="1500" dirty="0"/>
          </a:p>
          <a:p>
            <a:pPr marL="342900" indent="-342900">
              <a:spcAft>
                <a:spcPts val="600"/>
              </a:spcAft>
              <a:buSzPct val="100000"/>
              <a:buFont typeface="+mj-lt"/>
              <a:buAutoNum type="arabicPeriod" startAt="1"/>
            </a:pPr>
            <a:r>
              <a:rPr lang="en-US" sz="1500" dirty="0">
                <a:solidFill>
                  <a:srgbClr val="1B2437"/>
                </a:solidFill>
              </a:rPr>
              <a:t>Tutup kasir</a:t>
            </a:r>
            <a:endParaRPr lang="en-US" sz="1500" dirty="0"/>
          </a:p>
        </p:txBody>
      </p:sp>
      <p:sp>
        <p:nvSpPr>
          <p:cNvPr id="18" name="Dokumen SAP"/>
          <p:cNvSpPr/>
          <p:nvPr/>
        </p:nvSpPr>
        <p:spPr>
          <a:xfrm>
            <a:off x="7498080" y="5532120"/>
            <a:ext cx="4233672" cy="658368"/>
          </a:xfrm>
          <a:prstGeom prst="roundRect">
            <a:avLst>
              <a:gd name="adj" fmla="val 11111"/>
            </a:avLst>
          </a:prstGeom>
          <a:solidFill>
            <a:srgbClr val="E5F4E4"/>
          </a:solidFill>
          <a:ln w="12700">
            <a:solidFill>
              <a:srgbClr val="E5F4E4"/>
            </a:solidFill>
            <a:prstDash val="solid"/>
          </a:ln>
        </p:spPr>
      </p:sp>
      <p:sp>
        <p:nvSpPr>
          <p:cNvPr id="19" name="Text 16"/>
          <p:cNvSpPr txBox="1"/>
          <p:nvPr/>
        </p:nvSpPr>
        <p:spPr>
          <a:xfrm>
            <a:off x="7662672" y="5532120"/>
            <a:ext cx="3904488" cy="658368"/>
          </a:xfrm>
          <a:prstGeom prst="rect">
            <a:avLst/>
          </a:prstGeom>
          <a:noFill/>
          <a:ln/>
        </p:spPr>
        <p:txBody>
          <a:bodyPr wrap="square" lIns="0" tIns="0" rIns="0" bIns="0" rtlCol="0" anchor="ctr"/>
          <a:lstStyle/>
          <a:p>
            <a:pPr indent="0" marL="0">
              <a:spcAft>
                <a:spcPts val="200"/>
              </a:spcAft>
              <a:buNone/>
            </a:pPr>
            <a:r>
              <a:rPr lang="en-US" sz="1200" b="1" dirty="0">
                <a:solidFill>
                  <a:srgbClr val="3A7D3A"/>
                </a:solidFill>
              </a:rPr>
              <a:t>Dokumen SAP yang terbentuk</a:t>
            </a:r>
            <a:endParaRPr lang="en-US" sz="1200" dirty="0"/>
          </a:p>
          <a:p>
            <a:pPr indent="0" marL="0">
              <a:spcAft>
                <a:spcPts val="200"/>
              </a:spcAft>
              <a:buNone/>
            </a:pPr>
            <a:r>
              <a:rPr lang="en-US" sz="1400" dirty="0">
                <a:solidFill>
                  <a:srgbClr val="1B2437"/>
                </a:solidFill>
              </a:rPr>
              <a:t>Delivery (DO) KM Awu Dek 3  266000512</a:t>
            </a:r>
            <a:endParaRPr lang="en-US" sz="12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40080"/>
          </a:xfrm>
          <a:prstGeom prst="rect">
            <a:avLst/>
          </a:prstGeom>
          <a:noFill/>
          <a:ln/>
        </p:spPr>
        <p:txBody>
          <a:bodyPr wrap="square" lIns="0" tIns="0" rIns="0" bIns="0" rtlCol="0" anchor="ctr"/>
          <a:lstStyle/>
          <a:p>
            <a:pPr algn="l" indent="0" marL="0">
              <a:buNone/>
            </a:pPr>
            <a:r>
              <a:rPr lang="en-US" sz="3400" b="1" dirty="0">
                <a:solidFill>
                  <a:schemeClr val="tx2"/>
                </a:solidFill>
              </a:rPr>
              <a:t>Jejak dokumen SAP satu permintaan</a:t>
            </a:r>
            <a:endParaRPr lang="en-US" sz="3400" dirty="0"/>
          </a:p>
        </p:txBody>
      </p:sp>
      <p:graphicFrame>
        <p:nvGraphicFramePr>
          <p:cNvPr id="14" name="Tabel dokumen SAP"/>
          <p:cNvGraphicFramePr>
            <a:graphicFrameLocks noGrp="1"/>
          </p:cNvGraphicFramePr>
          <p:nvPr>
            <p:extLst>
              <p:ext uri="{D42A27DB-BD31-4B8C-83A1-F6EECF244321}">
                <p14:modId xmlns:p14="http://schemas.microsoft.com/office/powerpoint/2010/main" val="1579011935"/>
              </p:ext>
            </p:extLst>
          </p:nvPr>
        </p:nvGraphicFramePr>
        <p:xfrm>
          <a:off x="457200" y="1234440"/>
          <a:ext cx="11274552" cy="914400"/>
        </p:xfrm>
        <a:graphic>
          <a:graphicData uri="http://schemas.openxmlformats.org/drawingml/2006/table">
            <a:tbl>
              <a:tblPr/>
              <a:tblGrid>
                <a:gridCol w="2377440"/>
                <a:gridCol w="2743200"/>
                <a:gridCol w="3410712"/>
                <a:gridCol w="2743200"/>
              </a:tblGrid>
              <a:tr h="438912">
                <a:tc>
                  <a:txBody>
                    <a:bodyPr/>
                    <a:lstStyle/>
                    <a:p>
                      <a:pPr indent="0" marL="0">
                        <a:buNone/>
                      </a:pPr>
                      <a:r>
                        <a:rPr lang="en-US" sz="1400" b="1" dirty="0">
                          <a:solidFill>
                            <a:srgbClr val="FFFFFF"/>
                          </a:solidFill>
                        </a:rPr>
                        <a:t>Tahap</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B7A"/>
                    </a:solidFill>
                  </a:tcPr>
                </a:tc>
                <a:tc>
                  <a:txBody>
                    <a:bodyPr/>
                    <a:lstStyle/>
                    <a:p>
                      <a:pPr indent="0" marL="0">
                        <a:buNone/>
                      </a:pPr>
                      <a:r>
                        <a:rPr lang="en-US" sz="1400" b="1" dirty="0">
                          <a:solidFill>
                            <a:srgbClr val="FFFFFF"/>
                          </a:solidFill>
                        </a:rPr>
                        <a:t>Disetujui oleh</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B7A"/>
                    </a:solidFill>
                  </a:tcPr>
                </a:tc>
                <a:tc>
                  <a:txBody>
                    <a:bodyPr/>
                    <a:lstStyle/>
                    <a:p>
                      <a:pPr indent="0" marL="0">
                        <a:buNone/>
                      </a:pPr>
                      <a:r>
                        <a:rPr lang="en-US" sz="1400" b="1" dirty="0">
                          <a:solidFill>
                            <a:srgbClr val="FFFFFF"/>
                          </a:solidFill>
                        </a:rPr>
                        <a:t>Dokumen SAP</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B7A"/>
                    </a:solidFill>
                  </a:tcPr>
                </a:tc>
                <a:tc>
                  <a:txBody>
                    <a:bodyPr/>
                    <a:lstStyle/>
                    <a:p>
                      <a:pPr indent="0" marL="0">
                        <a:buNone/>
                      </a:pPr>
                      <a:r>
                        <a:rPr lang="en-US" sz="1400" b="1" dirty="0">
                          <a:solidFill>
                            <a:srgbClr val="FFFFFF"/>
                          </a:solidFill>
                        </a:rPr>
                        <a:t>Nomor (uji coba)</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F3B7A"/>
                    </a:solidFill>
                  </a:tcPr>
                </a:tc>
              </a:tr>
              <a:tr h="438912">
                <a:tc>
                  <a:txBody>
                    <a:bodyPr/>
                    <a:lstStyle/>
                    <a:p>
                      <a:pPr indent="0" marL="0">
                        <a:buNone/>
                      </a:pPr>
                      <a:r>
                        <a:rPr lang="en-US" sz="1400" dirty="0">
                          <a:solidFill>
                            <a:srgbClr val="1B2437"/>
                          </a:solidFill>
                        </a:rPr>
                        <a:t>2 · Approval SO</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400" dirty="0">
                          <a:solidFill>
                            <a:srgbClr val="1B2437"/>
                          </a:solidFill>
                        </a:rPr>
                        <a:t>Approve SO</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400" dirty="0">
                          <a:solidFill>
                            <a:srgbClr val="1B2437"/>
                          </a:solidFill>
                        </a:rPr>
                        <a:t>Sales Order Dek 3 / Dek 7</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400" dirty="0">
                          <a:solidFill>
                            <a:srgbClr val="1B2437"/>
                          </a:solidFill>
                        </a:rPr>
                        <a:t>266000699 / 266000700</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r>
              <a:tr h="438912">
                <a:tc>
                  <a:txBody>
                    <a:bodyPr/>
                    <a:lstStyle/>
                    <a:p>
                      <a:pPr indent="0" marL="0">
                        <a:buNone/>
                      </a:pPr>
                      <a:r>
                        <a:rPr lang="en-US" sz="1400" dirty="0">
                          <a:solidFill>
                            <a:srgbClr val="1B2437"/>
                          </a:solidFill>
                        </a:rPr>
                        <a:t>4 · PUR</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B2437"/>
                          </a:solidFill>
                        </a:rPr>
                        <a:t>Approve PUR</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B2437"/>
                          </a:solidFill>
                        </a:rPr>
                        <a:t>Purchase Request Dek 7</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B2437"/>
                          </a:solidFill>
                        </a:rPr>
                        <a:t>262000460</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B2437"/>
                          </a:solidFill>
                        </a:rPr>
                        <a:t>5 · PO</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400" dirty="0">
                          <a:solidFill>
                            <a:srgbClr val="1B2437"/>
                          </a:solidFill>
                        </a:rPr>
                        <a:t>Approve PO</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400" dirty="0">
                          <a:solidFill>
                            <a:srgbClr val="1B2437"/>
                          </a:solidFill>
                        </a:rPr>
                        <a:t>Purchase Order (BERKAH COD)</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400" dirty="0">
                          <a:solidFill>
                            <a:srgbClr val="1B2437"/>
                          </a:solidFill>
                        </a:rPr>
                        <a:t>262002060</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r>
              <a:tr h="438912">
                <a:tc>
                  <a:txBody>
                    <a:bodyPr/>
                    <a:lstStyle/>
                    <a:p>
                      <a:pPr indent="0" marL="0">
                        <a:buNone/>
                      </a:pPr>
                      <a:r>
                        <a:rPr lang="en-US" sz="1400" dirty="0">
                          <a:solidFill>
                            <a:srgbClr val="1B2437"/>
                          </a:solidFill>
                        </a:rPr>
                        <a:t>6 · GRPO</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B2437"/>
                          </a:solidFill>
                        </a:rPr>
                        <a:t>Approve PUR</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B2437"/>
                          </a:solidFill>
                        </a:rPr>
                        <a:t>GRPO</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B2437"/>
                          </a:solidFill>
                        </a:rPr>
                        <a:t>262001908</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B2437"/>
                          </a:solidFill>
                        </a:rPr>
                        <a:t>7 · Transfer ke dek</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400" dirty="0">
                          <a:solidFill>
                            <a:srgbClr val="1B2437"/>
                          </a:solidFill>
                        </a:rPr>
                        <a:t>Approve PUR</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400" dirty="0">
                          <a:solidFill>
                            <a:srgbClr val="1B2437"/>
                          </a:solidFill>
                        </a:rPr>
                        <a:t>Inventory Transfer Dek 3 / Dek 7</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400" dirty="0">
                          <a:solidFill>
                            <a:srgbClr val="1B2437"/>
                          </a:solidFill>
                        </a:rPr>
                        <a:t>262000146 / 262000147</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r>
              <a:tr h="438912">
                <a:tc>
                  <a:txBody>
                    <a:bodyPr/>
                    <a:lstStyle/>
                    <a:p>
                      <a:pPr indent="0" marL="0">
                        <a:buNone/>
                      </a:pPr>
                      <a:r>
                        <a:rPr lang="en-US" sz="1400" dirty="0">
                          <a:solidFill>
                            <a:srgbClr val="1B2437"/>
                          </a:solidFill>
                        </a:rPr>
                        <a:t>8 · Terima di dek</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B2437"/>
                          </a:solidFill>
                        </a:rPr>
                        <a:t>Kepala toko + P2</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B2437"/>
                          </a:solidFill>
                        </a:rPr>
                        <a:t>Sales Order ditutup</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1B2437"/>
                          </a:solidFill>
                        </a:rPr>
                        <a:t>266000699 / 266000700</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B2437"/>
                          </a:solidFill>
                        </a:rPr>
                        <a:t>9 · Jual &amp; DO</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400" dirty="0">
                          <a:solidFill>
                            <a:srgbClr val="1B2437"/>
                          </a:solidFill>
                        </a:rPr>
                        <a:t>Kasir (Kirim DO)</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400" dirty="0">
                          <a:solidFill>
                            <a:srgbClr val="1B2437"/>
                          </a:solidFill>
                        </a:rPr>
                        <a:t>Delivery KM Awu Dek 3</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c>
                  <a:txBody>
                    <a:bodyPr/>
                    <a:lstStyle/>
                    <a:p>
                      <a:pPr indent="0" marL="0">
                        <a:buNone/>
                      </a:pPr>
                      <a:r>
                        <a:rPr lang="en-US" sz="1400" dirty="0">
                          <a:solidFill>
                            <a:srgbClr val="1B2437"/>
                          </a:solidFill>
                        </a:rPr>
                        <a:t>266000512</a:t>
                      </a:r>
                      <a:endParaRPr lang="en-US" sz="1400" dirty="0"/>
                    </a:p>
                  </a:txBody>
                  <a:tcPr marL="109728" marR="109728"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B"/>
                    </a:solidFill>
                  </a:tcPr>
                </a:tc>
              </a:tr>
            </a:tbl>
          </a:graphicData>
        </a:graphic>
      </p:graphicFrame>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9509760" cy="640080"/>
          </a:xfrm>
          <a:prstGeom prst="rect">
            <a:avLst/>
          </a:prstGeom>
          <a:noFill/>
          <a:ln/>
        </p:spPr>
        <p:txBody>
          <a:bodyPr wrap="square" lIns="0" tIns="0" rIns="0" bIns="0" rtlCol="0" anchor="ctr"/>
          <a:lstStyle/>
          <a:p>
            <a:pPr algn="l" indent="0" marL="0">
              <a:buNone/>
            </a:pPr>
            <a:r>
              <a:rPr lang="en-US" sz="3400" b="1" dirty="0">
                <a:solidFill>
                  <a:schemeClr val="tx2"/>
                </a:solidFill>
              </a:rPr>
              <a:t>Dua variasi alur</a:t>
            </a:r>
            <a:endParaRPr lang="en-US" sz="3400" dirty="0"/>
          </a:p>
        </p:txBody>
      </p:sp>
      <p:sp>
        <p:nvSpPr>
          <p:cNvPr id="3" name="Semua ada di stok DC"/>
          <p:cNvSpPr/>
          <p:nvPr/>
        </p:nvSpPr>
        <p:spPr>
          <a:xfrm>
            <a:off x="457200" y="1280160"/>
            <a:ext cx="5486400" cy="4754880"/>
          </a:xfrm>
          <a:prstGeom prst="roundRect">
            <a:avLst>
              <a:gd name="adj" fmla="val 2308"/>
            </a:avLst>
          </a:prstGeom>
          <a:solidFill>
            <a:srgbClr val="EEF3FB"/>
          </a:solidFill>
          <a:ln w="12700">
            <a:solidFill>
              <a:srgbClr val="EEF3FB"/>
            </a:solidFill>
            <a:prstDash val="solid"/>
          </a:ln>
        </p:spPr>
      </p:sp>
      <p:sp>
        <p:nvSpPr>
          <p:cNvPr id="4" name="Text 2"/>
          <p:cNvSpPr txBox="1"/>
          <p:nvPr/>
        </p:nvSpPr>
        <p:spPr>
          <a:xfrm>
            <a:off x="777240" y="1508760"/>
            <a:ext cx="4846320" cy="457200"/>
          </a:xfrm>
          <a:prstGeom prst="rect">
            <a:avLst/>
          </a:prstGeom>
          <a:noFill/>
          <a:ln/>
        </p:spPr>
        <p:txBody>
          <a:bodyPr wrap="square" lIns="0" tIns="0" rIns="0" bIns="0" rtlCol="0" anchor="ctr"/>
          <a:lstStyle/>
          <a:p>
            <a:pPr indent="0" marL="0">
              <a:buNone/>
            </a:pPr>
            <a:r>
              <a:rPr lang="en-US" sz="2200" b="1" dirty="0">
                <a:solidFill>
                  <a:srgbClr val="0F766E"/>
                </a:solidFill>
              </a:rPr>
              <a:t>Semua ada di stok DC</a:t>
            </a:r>
            <a:endParaRPr lang="en-US" sz="2200" dirty="0"/>
          </a:p>
        </p:txBody>
      </p:sp>
      <p:sp>
        <p:nvSpPr>
          <p:cNvPr id="5" name="Text 3"/>
          <p:cNvSpPr txBox="1"/>
          <p:nvPr/>
        </p:nvSpPr>
        <p:spPr>
          <a:xfrm>
            <a:off x="777240" y="2240280"/>
            <a:ext cx="1517904" cy="420624"/>
          </a:xfrm>
          <a:prstGeom prst="roundRect">
            <a:avLst>
              <a:gd name="adj" fmla="val 17391"/>
            </a:avLst>
          </a:prstGeom>
          <a:solidFill>
            <a:srgbClr val="0F766E"/>
          </a:solidFill>
          <a:ln w="12700">
            <a:solidFill>
              <a:srgbClr val="0F766E"/>
            </a:solidFill>
            <a:prstDash val="solid"/>
          </a:ln>
        </p:spPr>
        <p:txBody>
          <a:bodyPr wrap="square" lIns="0" tIns="0" rIns="0" bIns="0" rtlCol="0" anchor="ctr"/>
          <a:lstStyle/>
          <a:p>
            <a:pPr algn="ctr" indent="0" marL="0">
              <a:buNone/>
            </a:pPr>
            <a:r>
              <a:rPr lang="en-US" sz="1200" b="1" dirty="0">
                <a:solidFill>
                  <a:srgbClr val="FFFFFF"/>
                </a:solidFill>
              </a:rPr>
              <a:t>Pesan</a:t>
            </a:r>
            <a:endParaRPr lang="en-US" sz="1200" dirty="0"/>
          </a:p>
        </p:txBody>
      </p:sp>
      <p:sp>
        <p:nvSpPr>
          <p:cNvPr id="6" name="Text 4"/>
          <p:cNvSpPr txBox="1"/>
          <p:nvPr/>
        </p:nvSpPr>
        <p:spPr>
          <a:xfrm>
            <a:off x="2404872" y="2240280"/>
            <a:ext cx="1517904" cy="420624"/>
          </a:xfrm>
          <a:prstGeom prst="roundRect">
            <a:avLst>
              <a:gd name="adj" fmla="val 17391"/>
            </a:avLst>
          </a:prstGeom>
          <a:solidFill>
            <a:srgbClr val="0F766E"/>
          </a:solidFill>
          <a:ln w="12700">
            <a:solidFill>
              <a:srgbClr val="0F766E"/>
            </a:solidFill>
            <a:prstDash val="solid"/>
          </a:ln>
        </p:spPr>
        <p:txBody>
          <a:bodyPr wrap="square" lIns="0" tIns="0" rIns="0" bIns="0" rtlCol="0" anchor="ctr"/>
          <a:lstStyle/>
          <a:p>
            <a:pPr algn="ctr" indent="0" marL="0">
              <a:buNone/>
            </a:pPr>
            <a:r>
              <a:rPr lang="en-US" sz="1200" b="1" dirty="0">
                <a:solidFill>
                  <a:srgbClr val="FFFFFF"/>
                </a:solidFill>
              </a:rPr>
              <a:t>Approval SO</a:t>
            </a:r>
            <a:endParaRPr lang="en-US" sz="1200" dirty="0"/>
          </a:p>
        </p:txBody>
      </p:sp>
      <p:sp>
        <p:nvSpPr>
          <p:cNvPr id="7" name="Text 5"/>
          <p:cNvSpPr txBox="1"/>
          <p:nvPr/>
        </p:nvSpPr>
        <p:spPr>
          <a:xfrm>
            <a:off x="4032504" y="2240280"/>
            <a:ext cx="1517904" cy="420624"/>
          </a:xfrm>
          <a:prstGeom prst="roundRect">
            <a:avLst>
              <a:gd name="adj" fmla="val 17391"/>
            </a:avLst>
          </a:prstGeom>
          <a:solidFill>
            <a:srgbClr val="0F766E"/>
          </a:solidFill>
          <a:ln w="12700">
            <a:solidFill>
              <a:srgbClr val="0F766E"/>
            </a:solidFill>
            <a:prstDash val="solid"/>
          </a:ln>
        </p:spPr>
        <p:txBody>
          <a:bodyPr wrap="square" lIns="0" tIns="0" rIns="0" bIns="0" rtlCol="0" anchor="ctr"/>
          <a:lstStyle/>
          <a:p>
            <a:pPr algn="ctr" indent="0" marL="0">
              <a:buNone/>
            </a:pPr>
            <a:r>
              <a:rPr lang="en-US" sz="1200" b="1" dirty="0">
                <a:solidFill>
                  <a:srgbClr val="FFFFFF"/>
                </a:solidFill>
              </a:rPr>
              <a:t>Pilah stok</a:t>
            </a:r>
            <a:endParaRPr lang="en-US" sz="1200" dirty="0"/>
          </a:p>
        </p:txBody>
      </p:sp>
      <p:sp>
        <p:nvSpPr>
          <p:cNvPr id="8" name="Text 6"/>
          <p:cNvSpPr txBox="1"/>
          <p:nvPr/>
        </p:nvSpPr>
        <p:spPr>
          <a:xfrm>
            <a:off x="777240" y="2788920"/>
            <a:ext cx="1517904" cy="420624"/>
          </a:xfrm>
          <a:prstGeom prst="roundRect">
            <a:avLst>
              <a:gd name="adj" fmla="val 17391"/>
            </a:avLst>
          </a:prstGeom>
          <a:solidFill>
            <a:srgbClr val="FFFFFF"/>
          </a:solidFill>
          <a:ln w="12700">
            <a:solidFill>
              <a:srgbClr val="D5DEEC"/>
            </a:solidFill>
            <a:prstDash val="dash"/>
          </a:ln>
        </p:spPr>
        <p:txBody>
          <a:bodyPr wrap="square" lIns="0" tIns="0" rIns="0" bIns="0" rtlCol="0" anchor="ctr"/>
          <a:lstStyle/>
          <a:p>
            <a:pPr algn="ctr" indent="0" marL="0">
              <a:buNone/>
            </a:pPr>
            <a:r>
              <a:rPr lang="en-US" sz="1200" b="1" dirty="0">
                <a:solidFill>
                  <a:srgbClr val="A7B2C6"/>
                </a:solidFill>
              </a:rPr>
              <a:t>PUR</a:t>
            </a:r>
            <a:endParaRPr lang="en-US" sz="1200" dirty="0"/>
          </a:p>
        </p:txBody>
      </p:sp>
      <p:sp>
        <p:nvSpPr>
          <p:cNvPr id="9" name="Text 7"/>
          <p:cNvSpPr txBox="1"/>
          <p:nvPr/>
        </p:nvSpPr>
        <p:spPr>
          <a:xfrm>
            <a:off x="2404872" y="2788920"/>
            <a:ext cx="1517904" cy="420624"/>
          </a:xfrm>
          <a:prstGeom prst="roundRect">
            <a:avLst>
              <a:gd name="adj" fmla="val 17391"/>
            </a:avLst>
          </a:prstGeom>
          <a:solidFill>
            <a:srgbClr val="FFFFFF"/>
          </a:solidFill>
          <a:ln w="12700">
            <a:solidFill>
              <a:srgbClr val="D5DEEC"/>
            </a:solidFill>
            <a:prstDash val="dash"/>
          </a:ln>
        </p:spPr>
        <p:txBody>
          <a:bodyPr wrap="square" lIns="0" tIns="0" rIns="0" bIns="0" rtlCol="0" anchor="ctr"/>
          <a:lstStyle/>
          <a:p>
            <a:pPr algn="ctr" indent="0" marL="0">
              <a:buNone/>
            </a:pPr>
            <a:r>
              <a:rPr lang="en-US" sz="1200" b="1" dirty="0">
                <a:solidFill>
                  <a:srgbClr val="A7B2C6"/>
                </a:solidFill>
              </a:rPr>
              <a:t>PO</a:t>
            </a:r>
            <a:endParaRPr lang="en-US" sz="1200" dirty="0"/>
          </a:p>
        </p:txBody>
      </p:sp>
      <p:sp>
        <p:nvSpPr>
          <p:cNvPr id="10" name="Text 8"/>
          <p:cNvSpPr txBox="1"/>
          <p:nvPr/>
        </p:nvSpPr>
        <p:spPr>
          <a:xfrm>
            <a:off x="4032504" y="2788920"/>
            <a:ext cx="1517904" cy="420624"/>
          </a:xfrm>
          <a:prstGeom prst="roundRect">
            <a:avLst>
              <a:gd name="adj" fmla="val 17391"/>
            </a:avLst>
          </a:prstGeom>
          <a:solidFill>
            <a:srgbClr val="FFFFFF"/>
          </a:solidFill>
          <a:ln w="12700">
            <a:solidFill>
              <a:srgbClr val="D5DEEC"/>
            </a:solidFill>
            <a:prstDash val="dash"/>
          </a:ln>
        </p:spPr>
        <p:txBody>
          <a:bodyPr wrap="square" lIns="0" tIns="0" rIns="0" bIns="0" rtlCol="0" anchor="ctr"/>
          <a:lstStyle/>
          <a:p>
            <a:pPr algn="ctr" indent="0" marL="0">
              <a:buNone/>
            </a:pPr>
            <a:r>
              <a:rPr lang="en-US" sz="1200" b="1" dirty="0">
                <a:solidFill>
                  <a:srgbClr val="A7B2C6"/>
                </a:solidFill>
              </a:rPr>
              <a:t>GRPO</a:t>
            </a:r>
            <a:endParaRPr lang="en-US" sz="1200" dirty="0"/>
          </a:p>
        </p:txBody>
      </p:sp>
      <p:sp>
        <p:nvSpPr>
          <p:cNvPr id="11" name="Text 9"/>
          <p:cNvSpPr txBox="1"/>
          <p:nvPr/>
        </p:nvSpPr>
        <p:spPr>
          <a:xfrm>
            <a:off x="777240" y="3337560"/>
            <a:ext cx="1517904" cy="420624"/>
          </a:xfrm>
          <a:prstGeom prst="roundRect">
            <a:avLst>
              <a:gd name="adj" fmla="val 17391"/>
            </a:avLst>
          </a:prstGeom>
          <a:solidFill>
            <a:srgbClr val="0F766E"/>
          </a:solidFill>
          <a:ln w="12700">
            <a:solidFill>
              <a:srgbClr val="0F766E"/>
            </a:solidFill>
            <a:prstDash val="solid"/>
          </a:ln>
        </p:spPr>
        <p:txBody>
          <a:bodyPr wrap="square" lIns="0" tIns="0" rIns="0" bIns="0" rtlCol="0" anchor="ctr"/>
          <a:lstStyle/>
          <a:p>
            <a:pPr algn="ctr" indent="0" marL="0">
              <a:buNone/>
            </a:pPr>
            <a:r>
              <a:rPr lang="en-US" sz="1200" b="1" dirty="0">
                <a:solidFill>
                  <a:srgbClr val="FFFFFF"/>
                </a:solidFill>
              </a:rPr>
              <a:t>Transfer</a:t>
            </a:r>
            <a:endParaRPr lang="en-US" sz="1200" dirty="0"/>
          </a:p>
        </p:txBody>
      </p:sp>
      <p:sp>
        <p:nvSpPr>
          <p:cNvPr id="12" name="Text 10"/>
          <p:cNvSpPr txBox="1"/>
          <p:nvPr/>
        </p:nvSpPr>
        <p:spPr>
          <a:xfrm>
            <a:off x="2404872" y="3337560"/>
            <a:ext cx="1517904" cy="420624"/>
          </a:xfrm>
          <a:prstGeom prst="roundRect">
            <a:avLst>
              <a:gd name="adj" fmla="val 17391"/>
            </a:avLst>
          </a:prstGeom>
          <a:solidFill>
            <a:srgbClr val="0F766E"/>
          </a:solidFill>
          <a:ln w="12700">
            <a:solidFill>
              <a:srgbClr val="0F766E"/>
            </a:solidFill>
            <a:prstDash val="solid"/>
          </a:ln>
        </p:spPr>
        <p:txBody>
          <a:bodyPr wrap="square" lIns="0" tIns="0" rIns="0" bIns="0" rtlCol="0" anchor="ctr"/>
          <a:lstStyle/>
          <a:p>
            <a:pPr algn="ctr" indent="0" marL="0">
              <a:buNone/>
            </a:pPr>
            <a:r>
              <a:rPr lang="en-US" sz="1200" b="1" dirty="0">
                <a:solidFill>
                  <a:srgbClr val="FFFFFF"/>
                </a:solidFill>
              </a:rPr>
              <a:t>Terima</a:t>
            </a:r>
            <a:endParaRPr lang="en-US" sz="1200" dirty="0"/>
          </a:p>
        </p:txBody>
      </p:sp>
      <p:sp>
        <p:nvSpPr>
          <p:cNvPr id="13" name="Text 11"/>
          <p:cNvSpPr txBox="1"/>
          <p:nvPr/>
        </p:nvSpPr>
        <p:spPr>
          <a:xfrm>
            <a:off x="4032504" y="3337560"/>
            <a:ext cx="1517904" cy="420624"/>
          </a:xfrm>
          <a:prstGeom prst="roundRect">
            <a:avLst>
              <a:gd name="adj" fmla="val 17391"/>
            </a:avLst>
          </a:prstGeom>
          <a:solidFill>
            <a:srgbClr val="0F766E"/>
          </a:solidFill>
          <a:ln w="12700">
            <a:solidFill>
              <a:srgbClr val="0F766E"/>
            </a:solidFill>
            <a:prstDash val="solid"/>
          </a:ln>
        </p:spPr>
        <p:txBody>
          <a:bodyPr wrap="square" lIns="0" tIns="0" rIns="0" bIns="0" rtlCol="0" anchor="ctr"/>
          <a:lstStyle/>
          <a:p>
            <a:pPr algn="ctr" indent="0" marL="0">
              <a:buNone/>
            </a:pPr>
            <a:r>
              <a:rPr lang="en-US" sz="1200" b="1" dirty="0">
                <a:solidFill>
                  <a:srgbClr val="FFFFFF"/>
                </a:solidFill>
              </a:rPr>
              <a:t>Jual &amp; DO</a:t>
            </a:r>
            <a:endParaRPr lang="en-US" sz="1200" dirty="0"/>
          </a:p>
        </p:txBody>
      </p:sp>
      <p:sp>
        <p:nvSpPr>
          <p:cNvPr id="14" name="Text 12"/>
          <p:cNvSpPr txBox="1"/>
          <p:nvPr/>
        </p:nvSpPr>
        <p:spPr>
          <a:xfrm>
            <a:off x="777240" y="4069080"/>
            <a:ext cx="4846320" cy="1737360"/>
          </a:xfrm>
          <a:prstGeom prst="rect">
            <a:avLst/>
          </a:prstGeom>
          <a:noFill/>
          <a:ln/>
        </p:spPr>
        <p:txBody>
          <a:bodyPr wrap="square" lIns="0" tIns="0" rIns="0" bIns="0" rtlCol="0" anchor="t"/>
          <a:lstStyle/>
          <a:p>
            <a:pPr indent="0" marL="0">
              <a:buNone/>
            </a:pPr>
            <a:r>
              <a:rPr lang="en-US" sz="1500" dirty="0">
                <a:solidFill>
                  <a:srgbClr val="1B2437"/>
                </a:solidFill>
              </a:rPr>
              <a:t>Tahap PUR, PO, dan GRPO dilewati. Setelah admin DC memilah, langsung ke Inventory Transfer.</a:t>
            </a:r>
            <a:endParaRPr lang="en-US" sz="1500" dirty="0"/>
          </a:p>
        </p:txBody>
      </p:sp>
      <p:sp>
        <p:nvSpPr>
          <p:cNvPr id="15" name="Sebagian dibeli (contoh deck ini)"/>
          <p:cNvSpPr/>
          <p:nvPr/>
        </p:nvSpPr>
        <p:spPr>
          <a:xfrm>
            <a:off x="6245352" y="1280160"/>
            <a:ext cx="5486400" cy="4754880"/>
          </a:xfrm>
          <a:prstGeom prst="roundRect">
            <a:avLst>
              <a:gd name="adj" fmla="val 2308"/>
            </a:avLst>
          </a:prstGeom>
          <a:solidFill>
            <a:srgbClr val="EEF3FB"/>
          </a:solidFill>
          <a:ln w="12700">
            <a:solidFill>
              <a:srgbClr val="EEF3FB"/>
            </a:solidFill>
            <a:prstDash val="solid"/>
          </a:ln>
        </p:spPr>
      </p:sp>
      <p:sp>
        <p:nvSpPr>
          <p:cNvPr id="16" name="Text 14"/>
          <p:cNvSpPr txBox="1"/>
          <p:nvPr/>
        </p:nvSpPr>
        <p:spPr>
          <a:xfrm>
            <a:off x="6565392" y="1508760"/>
            <a:ext cx="4846320" cy="457200"/>
          </a:xfrm>
          <a:prstGeom prst="rect">
            <a:avLst/>
          </a:prstGeom>
          <a:noFill/>
          <a:ln/>
        </p:spPr>
        <p:txBody>
          <a:bodyPr wrap="square" lIns="0" tIns="0" rIns="0" bIns="0" rtlCol="0" anchor="ctr"/>
          <a:lstStyle/>
          <a:p>
            <a:pPr indent="0" marL="0">
              <a:buNone/>
            </a:pPr>
            <a:r>
              <a:rPr lang="en-US" sz="2200" b="1" dirty="0">
                <a:solidFill>
                  <a:srgbClr val="EA580C"/>
                </a:solidFill>
              </a:rPr>
              <a:t>Sebagian dibeli (contoh deck ini)</a:t>
            </a:r>
            <a:endParaRPr lang="en-US" sz="2200" dirty="0"/>
          </a:p>
        </p:txBody>
      </p:sp>
      <p:sp>
        <p:nvSpPr>
          <p:cNvPr id="17" name="Text 15"/>
          <p:cNvSpPr txBox="1"/>
          <p:nvPr/>
        </p:nvSpPr>
        <p:spPr>
          <a:xfrm>
            <a:off x="6565392" y="2240280"/>
            <a:ext cx="1517904" cy="420624"/>
          </a:xfrm>
          <a:prstGeom prst="roundRect">
            <a:avLst>
              <a:gd name="adj" fmla="val 17391"/>
            </a:avLst>
          </a:prstGeom>
          <a:solidFill>
            <a:srgbClr val="EA580C"/>
          </a:solidFill>
          <a:ln w="12700">
            <a:solidFill>
              <a:srgbClr val="EA580C"/>
            </a:solidFill>
            <a:prstDash val="solid"/>
          </a:ln>
        </p:spPr>
        <p:txBody>
          <a:bodyPr wrap="square" lIns="0" tIns="0" rIns="0" bIns="0" rtlCol="0" anchor="ctr"/>
          <a:lstStyle/>
          <a:p>
            <a:pPr algn="ctr" indent="0" marL="0">
              <a:buNone/>
            </a:pPr>
            <a:r>
              <a:rPr lang="en-US" sz="1200" b="1" dirty="0">
                <a:solidFill>
                  <a:srgbClr val="FFFFFF"/>
                </a:solidFill>
              </a:rPr>
              <a:t>Pesan</a:t>
            </a:r>
            <a:endParaRPr lang="en-US" sz="1200" dirty="0"/>
          </a:p>
        </p:txBody>
      </p:sp>
      <p:sp>
        <p:nvSpPr>
          <p:cNvPr id="18" name="Text 16"/>
          <p:cNvSpPr txBox="1"/>
          <p:nvPr/>
        </p:nvSpPr>
        <p:spPr>
          <a:xfrm>
            <a:off x="8193024" y="2240280"/>
            <a:ext cx="1517904" cy="420624"/>
          </a:xfrm>
          <a:prstGeom prst="roundRect">
            <a:avLst>
              <a:gd name="adj" fmla="val 17391"/>
            </a:avLst>
          </a:prstGeom>
          <a:solidFill>
            <a:srgbClr val="EA580C"/>
          </a:solidFill>
          <a:ln w="12700">
            <a:solidFill>
              <a:srgbClr val="EA580C"/>
            </a:solidFill>
            <a:prstDash val="solid"/>
          </a:ln>
        </p:spPr>
        <p:txBody>
          <a:bodyPr wrap="square" lIns="0" tIns="0" rIns="0" bIns="0" rtlCol="0" anchor="ctr"/>
          <a:lstStyle/>
          <a:p>
            <a:pPr algn="ctr" indent="0" marL="0">
              <a:buNone/>
            </a:pPr>
            <a:r>
              <a:rPr lang="en-US" sz="1200" b="1" dirty="0">
                <a:solidFill>
                  <a:srgbClr val="FFFFFF"/>
                </a:solidFill>
              </a:rPr>
              <a:t>Approval SO</a:t>
            </a:r>
            <a:endParaRPr lang="en-US" sz="1200" dirty="0"/>
          </a:p>
        </p:txBody>
      </p:sp>
      <p:sp>
        <p:nvSpPr>
          <p:cNvPr id="19" name="Text 17"/>
          <p:cNvSpPr txBox="1"/>
          <p:nvPr/>
        </p:nvSpPr>
        <p:spPr>
          <a:xfrm>
            <a:off x="9820656" y="2240280"/>
            <a:ext cx="1517904" cy="420624"/>
          </a:xfrm>
          <a:prstGeom prst="roundRect">
            <a:avLst>
              <a:gd name="adj" fmla="val 17391"/>
            </a:avLst>
          </a:prstGeom>
          <a:solidFill>
            <a:srgbClr val="EA580C"/>
          </a:solidFill>
          <a:ln w="12700">
            <a:solidFill>
              <a:srgbClr val="EA580C"/>
            </a:solidFill>
            <a:prstDash val="solid"/>
          </a:ln>
        </p:spPr>
        <p:txBody>
          <a:bodyPr wrap="square" lIns="0" tIns="0" rIns="0" bIns="0" rtlCol="0" anchor="ctr"/>
          <a:lstStyle/>
          <a:p>
            <a:pPr algn="ctr" indent="0" marL="0">
              <a:buNone/>
            </a:pPr>
            <a:r>
              <a:rPr lang="en-US" sz="1200" b="1" dirty="0">
                <a:solidFill>
                  <a:srgbClr val="FFFFFF"/>
                </a:solidFill>
              </a:rPr>
              <a:t>Pilah stok</a:t>
            </a:r>
            <a:endParaRPr lang="en-US" sz="1200" dirty="0"/>
          </a:p>
        </p:txBody>
      </p:sp>
      <p:sp>
        <p:nvSpPr>
          <p:cNvPr id="20" name="Text 18"/>
          <p:cNvSpPr txBox="1"/>
          <p:nvPr/>
        </p:nvSpPr>
        <p:spPr>
          <a:xfrm>
            <a:off x="6565392" y="2788920"/>
            <a:ext cx="1517904" cy="420624"/>
          </a:xfrm>
          <a:prstGeom prst="roundRect">
            <a:avLst>
              <a:gd name="adj" fmla="val 17391"/>
            </a:avLst>
          </a:prstGeom>
          <a:solidFill>
            <a:srgbClr val="EA580C"/>
          </a:solidFill>
          <a:ln w="12700">
            <a:solidFill>
              <a:srgbClr val="EA580C"/>
            </a:solidFill>
            <a:prstDash val="solid"/>
          </a:ln>
        </p:spPr>
        <p:txBody>
          <a:bodyPr wrap="square" lIns="0" tIns="0" rIns="0" bIns="0" rtlCol="0" anchor="ctr"/>
          <a:lstStyle/>
          <a:p>
            <a:pPr algn="ctr" indent="0" marL="0">
              <a:buNone/>
            </a:pPr>
            <a:r>
              <a:rPr lang="en-US" sz="1200" b="1" dirty="0">
                <a:solidFill>
                  <a:srgbClr val="FFFFFF"/>
                </a:solidFill>
              </a:rPr>
              <a:t>PUR</a:t>
            </a:r>
            <a:endParaRPr lang="en-US" sz="1200" dirty="0"/>
          </a:p>
        </p:txBody>
      </p:sp>
      <p:sp>
        <p:nvSpPr>
          <p:cNvPr id="21" name="Text 19"/>
          <p:cNvSpPr txBox="1"/>
          <p:nvPr/>
        </p:nvSpPr>
        <p:spPr>
          <a:xfrm>
            <a:off x="8193024" y="2788920"/>
            <a:ext cx="1517904" cy="420624"/>
          </a:xfrm>
          <a:prstGeom prst="roundRect">
            <a:avLst>
              <a:gd name="adj" fmla="val 17391"/>
            </a:avLst>
          </a:prstGeom>
          <a:solidFill>
            <a:srgbClr val="EA580C"/>
          </a:solidFill>
          <a:ln w="12700">
            <a:solidFill>
              <a:srgbClr val="EA580C"/>
            </a:solidFill>
            <a:prstDash val="solid"/>
          </a:ln>
        </p:spPr>
        <p:txBody>
          <a:bodyPr wrap="square" lIns="0" tIns="0" rIns="0" bIns="0" rtlCol="0" anchor="ctr"/>
          <a:lstStyle/>
          <a:p>
            <a:pPr algn="ctr" indent="0" marL="0">
              <a:buNone/>
            </a:pPr>
            <a:r>
              <a:rPr lang="en-US" sz="1200" b="1" dirty="0">
                <a:solidFill>
                  <a:srgbClr val="FFFFFF"/>
                </a:solidFill>
              </a:rPr>
              <a:t>PO</a:t>
            </a:r>
            <a:endParaRPr lang="en-US" sz="1200" dirty="0"/>
          </a:p>
        </p:txBody>
      </p:sp>
      <p:sp>
        <p:nvSpPr>
          <p:cNvPr id="22" name="Text 20"/>
          <p:cNvSpPr txBox="1"/>
          <p:nvPr/>
        </p:nvSpPr>
        <p:spPr>
          <a:xfrm>
            <a:off x="9820656" y="2788920"/>
            <a:ext cx="1517904" cy="420624"/>
          </a:xfrm>
          <a:prstGeom prst="roundRect">
            <a:avLst>
              <a:gd name="adj" fmla="val 17391"/>
            </a:avLst>
          </a:prstGeom>
          <a:solidFill>
            <a:srgbClr val="EA580C"/>
          </a:solidFill>
          <a:ln w="12700">
            <a:solidFill>
              <a:srgbClr val="EA580C"/>
            </a:solidFill>
            <a:prstDash val="solid"/>
          </a:ln>
        </p:spPr>
        <p:txBody>
          <a:bodyPr wrap="square" lIns="0" tIns="0" rIns="0" bIns="0" rtlCol="0" anchor="ctr"/>
          <a:lstStyle/>
          <a:p>
            <a:pPr algn="ctr" indent="0" marL="0">
              <a:buNone/>
            </a:pPr>
            <a:r>
              <a:rPr lang="en-US" sz="1200" b="1" dirty="0">
                <a:solidFill>
                  <a:srgbClr val="FFFFFF"/>
                </a:solidFill>
              </a:rPr>
              <a:t>GRPO</a:t>
            </a:r>
            <a:endParaRPr lang="en-US" sz="1200" dirty="0"/>
          </a:p>
        </p:txBody>
      </p:sp>
      <p:sp>
        <p:nvSpPr>
          <p:cNvPr id="23" name="Text 21"/>
          <p:cNvSpPr txBox="1"/>
          <p:nvPr/>
        </p:nvSpPr>
        <p:spPr>
          <a:xfrm>
            <a:off x="6565392" y="3337560"/>
            <a:ext cx="1517904" cy="420624"/>
          </a:xfrm>
          <a:prstGeom prst="roundRect">
            <a:avLst>
              <a:gd name="adj" fmla="val 17391"/>
            </a:avLst>
          </a:prstGeom>
          <a:solidFill>
            <a:srgbClr val="EA580C"/>
          </a:solidFill>
          <a:ln w="12700">
            <a:solidFill>
              <a:srgbClr val="EA580C"/>
            </a:solidFill>
            <a:prstDash val="solid"/>
          </a:ln>
        </p:spPr>
        <p:txBody>
          <a:bodyPr wrap="square" lIns="0" tIns="0" rIns="0" bIns="0" rtlCol="0" anchor="ctr"/>
          <a:lstStyle/>
          <a:p>
            <a:pPr algn="ctr" indent="0" marL="0">
              <a:buNone/>
            </a:pPr>
            <a:r>
              <a:rPr lang="en-US" sz="1200" b="1" dirty="0">
                <a:solidFill>
                  <a:srgbClr val="FFFFFF"/>
                </a:solidFill>
              </a:rPr>
              <a:t>Transfer</a:t>
            </a:r>
            <a:endParaRPr lang="en-US" sz="1200" dirty="0"/>
          </a:p>
        </p:txBody>
      </p:sp>
      <p:sp>
        <p:nvSpPr>
          <p:cNvPr id="24" name="Text 22"/>
          <p:cNvSpPr txBox="1"/>
          <p:nvPr/>
        </p:nvSpPr>
        <p:spPr>
          <a:xfrm>
            <a:off x="8193024" y="3337560"/>
            <a:ext cx="1517904" cy="420624"/>
          </a:xfrm>
          <a:prstGeom prst="roundRect">
            <a:avLst>
              <a:gd name="adj" fmla="val 17391"/>
            </a:avLst>
          </a:prstGeom>
          <a:solidFill>
            <a:srgbClr val="EA580C"/>
          </a:solidFill>
          <a:ln w="12700">
            <a:solidFill>
              <a:srgbClr val="EA580C"/>
            </a:solidFill>
            <a:prstDash val="solid"/>
          </a:ln>
        </p:spPr>
        <p:txBody>
          <a:bodyPr wrap="square" lIns="0" tIns="0" rIns="0" bIns="0" rtlCol="0" anchor="ctr"/>
          <a:lstStyle/>
          <a:p>
            <a:pPr algn="ctr" indent="0" marL="0">
              <a:buNone/>
            </a:pPr>
            <a:r>
              <a:rPr lang="en-US" sz="1200" b="1" dirty="0">
                <a:solidFill>
                  <a:srgbClr val="FFFFFF"/>
                </a:solidFill>
              </a:rPr>
              <a:t>Terima</a:t>
            </a:r>
            <a:endParaRPr lang="en-US" sz="1200" dirty="0"/>
          </a:p>
        </p:txBody>
      </p:sp>
      <p:sp>
        <p:nvSpPr>
          <p:cNvPr id="25" name="Text 23"/>
          <p:cNvSpPr txBox="1"/>
          <p:nvPr/>
        </p:nvSpPr>
        <p:spPr>
          <a:xfrm>
            <a:off x="9820656" y="3337560"/>
            <a:ext cx="1517904" cy="420624"/>
          </a:xfrm>
          <a:prstGeom prst="roundRect">
            <a:avLst>
              <a:gd name="adj" fmla="val 17391"/>
            </a:avLst>
          </a:prstGeom>
          <a:solidFill>
            <a:srgbClr val="EA580C"/>
          </a:solidFill>
          <a:ln w="12700">
            <a:solidFill>
              <a:srgbClr val="EA580C"/>
            </a:solidFill>
            <a:prstDash val="solid"/>
          </a:ln>
        </p:spPr>
        <p:txBody>
          <a:bodyPr wrap="square" lIns="0" tIns="0" rIns="0" bIns="0" rtlCol="0" anchor="ctr"/>
          <a:lstStyle/>
          <a:p>
            <a:pPr algn="ctr" indent="0" marL="0">
              <a:buNone/>
            </a:pPr>
            <a:r>
              <a:rPr lang="en-US" sz="1200" b="1" dirty="0">
                <a:solidFill>
                  <a:srgbClr val="FFFFFF"/>
                </a:solidFill>
              </a:rPr>
              <a:t>Jual &amp; DO</a:t>
            </a:r>
            <a:endParaRPr lang="en-US" sz="1200" dirty="0"/>
          </a:p>
        </p:txBody>
      </p:sp>
      <p:sp>
        <p:nvSpPr>
          <p:cNvPr id="26" name="Text 24"/>
          <p:cNvSpPr txBox="1"/>
          <p:nvPr/>
        </p:nvSpPr>
        <p:spPr>
          <a:xfrm>
            <a:off x="6565392" y="4069080"/>
            <a:ext cx="4846320" cy="1737360"/>
          </a:xfrm>
          <a:prstGeom prst="rect">
            <a:avLst/>
          </a:prstGeom>
          <a:noFill/>
          <a:ln/>
        </p:spPr>
        <p:txBody>
          <a:bodyPr wrap="square" lIns="0" tIns="0" rIns="0" bIns="0" rtlCol="0" anchor="t"/>
          <a:lstStyle/>
          <a:p>
            <a:pPr indent="0" marL="0">
              <a:buNone/>
            </a:pPr>
            <a:r>
              <a:rPr lang="en-US" sz="1500" dirty="0">
                <a:solidFill>
                  <a:srgbClr val="1B2437"/>
                </a:solidFill>
              </a:rPr>
              <a:t>Semua tahap dijalani. Inventory Transfer menunggu GRPO, lalu dikirim sekali (stok DC + hasil GRPO), tetap satu dokumen per dek.</a:t>
            </a:r>
            <a:endParaRPr lang="en-US" sz="15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8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972800" cy="914400"/>
          </a:xfrm>
          <a:prstGeom prst="rect">
            <a:avLst/>
          </a:prstGeom>
          <a:noFill/>
          <a:ln/>
        </p:spPr>
        <p:txBody>
          <a:bodyPr wrap="square" lIns="0" tIns="0" rIns="0" bIns="0" rtlCol="0" anchor="ctr"/>
          <a:lstStyle/>
          <a:p>
            <a:pPr algn="l" indent="0" marL="0">
              <a:buNone/>
            </a:pPr>
            <a:r>
              <a:rPr lang="en-US" sz="4000" b="1" dirty="0">
                <a:solidFill>
                  <a:schemeClr val="bg1"/>
                </a:solidFill>
              </a:rPr>
              <a:t>Satu permintaan, satu alur</a:t>
            </a:r>
            <a:endParaRPr lang="en-US" sz="4000" dirty="0"/>
          </a:p>
        </p:txBody>
      </p:sp>
      <p:sp>
        <p:nvSpPr>
          <p:cNvPr id="3" name="Dokumen SAP dibuat setelah disetujui"/>
          <p:cNvSpPr/>
          <p:nvPr/>
        </p:nvSpPr>
        <p:spPr>
          <a:xfrm>
            <a:off x="640080" y="1783080"/>
            <a:ext cx="3474720" cy="2377440"/>
          </a:xfrm>
          <a:prstGeom prst="roundRect">
            <a:avLst>
              <a:gd name="adj" fmla="val 4615"/>
            </a:avLst>
          </a:prstGeom>
          <a:solidFill>
            <a:srgbClr val="2A4A8F"/>
          </a:solidFill>
          <a:ln w="12700">
            <a:solidFill>
              <a:srgbClr val="2A4A8F"/>
            </a:solidFill>
            <a:prstDash val="solid"/>
          </a:ln>
        </p:spPr>
      </p:sp>
      <p:sp>
        <p:nvSpPr>
          <p:cNvPr id="4" name="Text 2"/>
          <p:cNvSpPr txBox="1"/>
          <p:nvPr/>
        </p:nvSpPr>
        <p:spPr>
          <a:xfrm>
            <a:off x="914400" y="1965960"/>
            <a:ext cx="731520" cy="731520"/>
          </a:xfrm>
          <a:prstGeom prst="rect">
            <a:avLst/>
          </a:prstGeom>
          <a:noFill/>
          <a:ln/>
        </p:spPr>
        <p:txBody>
          <a:bodyPr wrap="square" lIns="0" tIns="0" rIns="0" bIns="0" rtlCol="0" anchor="ctr"/>
          <a:lstStyle/>
          <a:p>
            <a:pPr indent="0" marL="0">
              <a:buNone/>
            </a:pPr>
            <a:r>
              <a:rPr lang="en-US" sz="4000" b="1" dirty="0">
                <a:solidFill>
                  <a:srgbClr val="FF6B1A"/>
                </a:solidFill>
              </a:rPr>
              <a:t>1</a:t>
            </a:r>
            <a:endParaRPr lang="en-US" sz="4000" dirty="0"/>
          </a:p>
        </p:txBody>
      </p:sp>
      <p:sp>
        <p:nvSpPr>
          <p:cNvPr id="5" name="Text 3"/>
          <p:cNvSpPr txBox="1"/>
          <p:nvPr/>
        </p:nvSpPr>
        <p:spPr>
          <a:xfrm>
            <a:off x="914400" y="2697480"/>
            <a:ext cx="2926080" cy="1371600"/>
          </a:xfrm>
          <a:prstGeom prst="rect">
            <a:avLst/>
          </a:prstGeom>
          <a:noFill/>
          <a:ln/>
        </p:spPr>
        <p:txBody>
          <a:bodyPr wrap="square" lIns="0" tIns="0" rIns="0" bIns="0" rtlCol="0" anchor="t"/>
          <a:lstStyle/>
          <a:p>
            <a:pPr indent="0" marL="0">
              <a:spcAft>
                <a:spcPts val="400"/>
              </a:spcAft>
              <a:buNone/>
            </a:pPr>
            <a:r>
              <a:rPr lang="en-US" sz="1800" b="1" dirty="0">
                <a:solidFill>
                  <a:srgbClr val="FFFFFF"/>
                </a:solidFill>
              </a:rPr>
              <a:t>Dokumen SAP dibuat setelah disetujui</a:t>
            </a:r>
            <a:endParaRPr lang="en-US" sz="1800" dirty="0"/>
          </a:p>
          <a:p>
            <a:pPr indent="0" marL="0">
              <a:spcAft>
                <a:spcPts val="400"/>
              </a:spcAft>
              <a:buNone/>
            </a:pPr>
            <a:r>
              <a:rPr lang="en-US" sz="1400" dirty="0">
                <a:solidFill>
                  <a:srgbClr val="CADCFC"/>
                </a:solidFill>
              </a:rPr>
              <a:t>Selama status masih "Approval …", belum ada apa pun di SAP.</a:t>
            </a:r>
            <a:endParaRPr lang="en-US" sz="1800" dirty="0"/>
          </a:p>
        </p:txBody>
      </p:sp>
      <p:sp>
        <p:nvSpPr>
          <p:cNvPr id="6" name="Lonceng dan Giliran saya"/>
          <p:cNvSpPr/>
          <p:nvPr/>
        </p:nvSpPr>
        <p:spPr>
          <a:xfrm>
            <a:off x="4389120" y="1783080"/>
            <a:ext cx="3474720" cy="2377440"/>
          </a:xfrm>
          <a:prstGeom prst="roundRect">
            <a:avLst>
              <a:gd name="adj" fmla="val 4615"/>
            </a:avLst>
          </a:prstGeom>
          <a:solidFill>
            <a:srgbClr val="2A4A8F"/>
          </a:solidFill>
          <a:ln w="12700">
            <a:solidFill>
              <a:srgbClr val="2A4A8F"/>
            </a:solidFill>
            <a:prstDash val="solid"/>
          </a:ln>
        </p:spPr>
      </p:sp>
      <p:sp>
        <p:nvSpPr>
          <p:cNvPr id="7" name="Text 5"/>
          <p:cNvSpPr txBox="1"/>
          <p:nvPr/>
        </p:nvSpPr>
        <p:spPr>
          <a:xfrm>
            <a:off x="4663440" y="1965960"/>
            <a:ext cx="731520" cy="731520"/>
          </a:xfrm>
          <a:prstGeom prst="rect">
            <a:avLst/>
          </a:prstGeom>
          <a:noFill/>
          <a:ln/>
        </p:spPr>
        <p:txBody>
          <a:bodyPr wrap="square" lIns="0" tIns="0" rIns="0" bIns="0" rtlCol="0" anchor="ctr"/>
          <a:lstStyle/>
          <a:p>
            <a:pPr indent="0" marL="0">
              <a:buNone/>
            </a:pPr>
            <a:r>
              <a:rPr lang="en-US" sz="4000" b="1" dirty="0">
                <a:solidFill>
                  <a:srgbClr val="FF6B1A"/>
                </a:solidFill>
              </a:rPr>
              <a:t>2</a:t>
            </a:r>
            <a:endParaRPr lang="en-US" sz="4000" dirty="0"/>
          </a:p>
        </p:txBody>
      </p:sp>
      <p:sp>
        <p:nvSpPr>
          <p:cNvPr id="8" name="Text 6"/>
          <p:cNvSpPr txBox="1"/>
          <p:nvPr/>
        </p:nvSpPr>
        <p:spPr>
          <a:xfrm>
            <a:off x="4663440" y="2697480"/>
            <a:ext cx="2926080" cy="1371600"/>
          </a:xfrm>
          <a:prstGeom prst="rect">
            <a:avLst/>
          </a:prstGeom>
          <a:noFill/>
          <a:ln/>
        </p:spPr>
        <p:txBody>
          <a:bodyPr wrap="square" lIns="0" tIns="0" rIns="0" bIns="0" rtlCol="0" anchor="t"/>
          <a:lstStyle/>
          <a:p>
            <a:pPr indent="0" marL="0">
              <a:spcAft>
                <a:spcPts val="400"/>
              </a:spcAft>
              <a:buNone/>
            </a:pPr>
            <a:r>
              <a:rPr lang="en-US" sz="1800" b="1" dirty="0">
                <a:solidFill>
                  <a:srgbClr val="FFFFFF"/>
                </a:solidFill>
              </a:rPr>
              <a:t>Lonceng dan Giliran saya</a:t>
            </a:r>
            <a:endParaRPr lang="en-US" sz="1800" dirty="0"/>
          </a:p>
          <a:p>
            <a:pPr indent="0" marL="0">
              <a:spcAft>
                <a:spcPts val="400"/>
              </a:spcAft>
              <a:buNone/>
            </a:pPr>
            <a:r>
              <a:rPr lang="en-US" sz="1400" dirty="0">
                <a:solidFill>
                  <a:srgbClr val="CADCFC"/>
                </a:solidFill>
              </a:rPr>
              <a:t>Setiap peran langsung melihat tugas yang menunggunya.</a:t>
            </a:r>
            <a:endParaRPr lang="en-US" sz="1800" dirty="0"/>
          </a:p>
        </p:txBody>
      </p:sp>
      <p:sp>
        <p:nvSpPr>
          <p:cNvPr id="9" name="Tolak selalu dengan alasan"/>
          <p:cNvSpPr/>
          <p:nvPr/>
        </p:nvSpPr>
        <p:spPr>
          <a:xfrm>
            <a:off x="8138160" y="1783080"/>
            <a:ext cx="3474720" cy="2377440"/>
          </a:xfrm>
          <a:prstGeom prst="roundRect">
            <a:avLst>
              <a:gd name="adj" fmla="val 4615"/>
            </a:avLst>
          </a:prstGeom>
          <a:solidFill>
            <a:srgbClr val="2A4A8F"/>
          </a:solidFill>
          <a:ln w="12700">
            <a:solidFill>
              <a:srgbClr val="2A4A8F"/>
            </a:solidFill>
            <a:prstDash val="solid"/>
          </a:ln>
        </p:spPr>
      </p:sp>
      <p:sp>
        <p:nvSpPr>
          <p:cNvPr id="10" name="Text 8"/>
          <p:cNvSpPr txBox="1"/>
          <p:nvPr/>
        </p:nvSpPr>
        <p:spPr>
          <a:xfrm>
            <a:off x="8412480" y="1965960"/>
            <a:ext cx="731520" cy="731520"/>
          </a:xfrm>
          <a:prstGeom prst="rect">
            <a:avLst/>
          </a:prstGeom>
          <a:noFill/>
          <a:ln/>
        </p:spPr>
        <p:txBody>
          <a:bodyPr wrap="square" lIns="0" tIns="0" rIns="0" bIns="0" rtlCol="0" anchor="ctr"/>
          <a:lstStyle/>
          <a:p>
            <a:pPr indent="0" marL="0">
              <a:buNone/>
            </a:pPr>
            <a:r>
              <a:rPr lang="en-US" sz="4000" b="1" dirty="0">
                <a:solidFill>
                  <a:srgbClr val="FF6B1A"/>
                </a:solidFill>
              </a:rPr>
              <a:t>3</a:t>
            </a:r>
            <a:endParaRPr lang="en-US" sz="4000" dirty="0"/>
          </a:p>
        </p:txBody>
      </p:sp>
      <p:sp>
        <p:nvSpPr>
          <p:cNvPr id="11" name="Text 9"/>
          <p:cNvSpPr txBox="1"/>
          <p:nvPr/>
        </p:nvSpPr>
        <p:spPr>
          <a:xfrm>
            <a:off x="8412480" y="2697480"/>
            <a:ext cx="2926080" cy="1371600"/>
          </a:xfrm>
          <a:prstGeom prst="rect">
            <a:avLst/>
          </a:prstGeom>
          <a:noFill/>
          <a:ln/>
        </p:spPr>
        <p:txBody>
          <a:bodyPr wrap="square" lIns="0" tIns="0" rIns="0" bIns="0" rtlCol="0" anchor="t"/>
          <a:lstStyle/>
          <a:p>
            <a:pPr indent="0" marL="0">
              <a:spcAft>
                <a:spcPts val="400"/>
              </a:spcAft>
              <a:buNone/>
            </a:pPr>
            <a:r>
              <a:rPr lang="en-US" sz="1800" b="1" dirty="0">
                <a:solidFill>
                  <a:srgbClr val="FFFFFF"/>
                </a:solidFill>
              </a:rPr>
              <a:t>Tolak selalu dengan alasan</a:t>
            </a:r>
            <a:endParaRPr lang="en-US" sz="1800" dirty="0"/>
          </a:p>
          <a:p>
            <a:pPr indent="0" marL="0">
              <a:spcAft>
                <a:spcPts val="400"/>
              </a:spcAft>
              <a:buNone/>
            </a:pPr>
            <a:r>
              <a:rPr lang="en-US" sz="1400" dirty="0">
                <a:solidFill>
                  <a:srgbClr val="CADCFC"/>
                </a:solidFill>
              </a:rPr>
              <a:t>Dokumen kembali ke pembuatnya untuk diperbaiki dan diajukan ulang.</a:t>
            </a:r>
            <a:endParaRPr lang="en-US" sz="1800" dirty="0"/>
          </a:p>
        </p:txBody>
      </p:sp>
      <p:sp>
        <p:nvSpPr>
          <p:cNvPr id="12" name="Text 10"/>
          <p:cNvSpPr txBox="1"/>
          <p:nvPr/>
        </p:nvSpPr>
        <p:spPr>
          <a:xfrm>
            <a:off x="640080" y="4663440"/>
            <a:ext cx="10972800" cy="822960"/>
          </a:xfrm>
          <a:prstGeom prst="rect">
            <a:avLst/>
          </a:prstGeom>
          <a:noFill/>
          <a:ln/>
        </p:spPr>
        <p:txBody>
          <a:bodyPr wrap="square" lIns="0" tIns="0" rIns="0" bIns="0" rtlCol="0" anchor="t"/>
          <a:lstStyle/>
          <a:p>
            <a:pPr indent="0" marL="0">
              <a:buNone/>
            </a:pPr>
            <a:r>
              <a:rPr lang="en-US" sz="1400" b="1" dirty="0">
                <a:solidFill>
                  <a:srgbClr val="FF6B1A"/>
                </a:solidFill>
              </a:rPr>
              <a:t>Video pendamping</a:t>
            </a:r>
            <a:endParaRPr lang="en-US" sz="1400" dirty="0"/>
          </a:p>
          <a:p>
            <a:pPr indent="0" marL="0">
              <a:buNone/>
            </a:pPr>
            <a:r>
              <a:rPr lang="en-US" sz="1400" dirty="0">
                <a:solidFill>
                  <a:srgbClr val="FFFFFF"/>
                </a:solidFill>
              </a:rPr>
              <a:t>08_Alur_Lengkap.mp4 (tahap demi tahap, 4 menit) · 01–07 per peran · Manual Book PID POS per Peran</a:t>
            </a:r>
            <a:endParaRPr lang="en-US" sz="1400" dirty="0"/>
          </a:p>
        </p:txBody>
      </p:sp>
    </p:spTree>
  </p:cSld>
  <p:clrMapOvr>
    <a:masterClrMapping/>
  </p:clrMapOvr>
</p:sld>
</file>

<file path=ppt/theme/theme1.xml><?xml version="1.0" encoding="utf-8"?>
<a:theme xmlns:a="http://schemas.openxmlformats.org/drawingml/2006/main" name="PID POS">
  <a:themeElements>
    <a:clrScheme name="PID POS">
      <a:dk1>
        <a:srgbClr val="1B2437"/>
      </a:dk1>
      <a:lt1>
        <a:srgbClr val="FFFFFF"/>
      </a:lt1>
      <a:dk2>
        <a:srgbClr val="1F3B7A"/>
      </a:dk2>
      <a:lt2>
        <a:srgbClr val="EEF3FB"/>
      </a:lt2>
      <a:accent1>
        <a:srgbClr val="FF6B1A"/>
      </a:accent1>
      <a:accent2>
        <a:srgbClr val="3A7D3A"/>
      </a:accent2>
      <a:accent3>
        <a:srgbClr val="3D8BFF"/>
      </a:accent3>
      <a:accent4>
        <a:srgbClr val="C0392B"/>
      </a:accent4>
      <a:accent5>
        <a:srgbClr val="5B6B86"/>
      </a:accent5>
      <a:accent6>
        <a:srgbClr val="D5DEEC"/>
      </a:accent6>
      <a:hlink>
        <a:srgbClr val="1F3B7A"/>
      </a:hlink>
      <a:folHlink>
        <a:srgbClr val="5B6B86"/>
      </a:folHlink>
    </a:clrScheme>
    <a:fontScheme name="PID PO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PT Pelita Indonesia Djaya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Alur Lengkap PID POS</dc:title>
  <dc:subject>Dari pesan ke DC sampai Delivery Order</dc:subject>
  <dc:creator>PID POS</dc:creator>
  <cp:lastModifiedBy>PID POS</cp:lastModifiedBy>
  <cp:revision>1</cp:revision>
  <dcterms:created xsi:type="dcterms:W3CDTF">2026-10-23T01:59:45Z</dcterms:created>
  <dcterms:modified xsi:type="dcterms:W3CDTF">2026-10-23T01:59:45Z</dcterms:modified>
</cp:coreProperties>
</file>